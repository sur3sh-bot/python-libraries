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1"/>
  </p:notesMasterIdLst>
  <p:sldIdLst>
    <p:sldId id="256" r:id="rId2"/>
    <p:sldId id="257" r:id="rId3"/>
    <p:sldId id="422" r:id="rId4"/>
    <p:sldId id="423" r:id="rId5"/>
    <p:sldId id="424" r:id="rId6"/>
    <p:sldId id="425" r:id="rId7"/>
    <p:sldId id="426" r:id="rId8"/>
    <p:sldId id="421" r:id="rId9"/>
    <p:sldId id="259" r:id="rId10"/>
    <p:sldId id="258" r:id="rId11"/>
    <p:sldId id="261" r:id="rId12"/>
    <p:sldId id="260" r:id="rId13"/>
    <p:sldId id="273" r:id="rId14"/>
    <p:sldId id="264" r:id="rId15"/>
    <p:sldId id="263" r:id="rId16"/>
    <p:sldId id="274" r:id="rId17"/>
    <p:sldId id="404" r:id="rId18"/>
    <p:sldId id="265" r:id="rId19"/>
    <p:sldId id="266" r:id="rId20"/>
    <p:sldId id="267" r:id="rId21"/>
    <p:sldId id="268" r:id="rId22"/>
    <p:sldId id="269" r:id="rId23"/>
    <p:sldId id="271" r:id="rId24"/>
    <p:sldId id="272"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341" r:id="rId41"/>
    <p:sldId id="342" r:id="rId42"/>
    <p:sldId id="343"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405" r:id="rId79"/>
    <p:sldId id="325" r:id="rId80"/>
    <p:sldId id="326" r:id="rId81"/>
    <p:sldId id="327" r:id="rId82"/>
    <p:sldId id="328" r:id="rId83"/>
    <p:sldId id="334" r:id="rId84"/>
    <p:sldId id="335" r:id="rId85"/>
    <p:sldId id="336" r:id="rId86"/>
    <p:sldId id="337" r:id="rId87"/>
    <p:sldId id="338" r:id="rId88"/>
    <p:sldId id="339" r:id="rId89"/>
    <p:sldId id="340"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5" r:id="rId111"/>
    <p:sldId id="364" r:id="rId112"/>
    <p:sldId id="366" r:id="rId113"/>
    <p:sldId id="367" r:id="rId114"/>
    <p:sldId id="368" r:id="rId115"/>
    <p:sldId id="369" r:id="rId116"/>
    <p:sldId id="370" r:id="rId117"/>
    <p:sldId id="371" r:id="rId118"/>
    <p:sldId id="397" r:id="rId119"/>
    <p:sldId id="398" r:id="rId120"/>
    <p:sldId id="399" r:id="rId121"/>
    <p:sldId id="400" r:id="rId122"/>
    <p:sldId id="401" r:id="rId123"/>
    <p:sldId id="372" r:id="rId124"/>
    <p:sldId id="406" r:id="rId125"/>
    <p:sldId id="407" r:id="rId126"/>
    <p:sldId id="408" r:id="rId127"/>
    <p:sldId id="411" r:id="rId128"/>
    <p:sldId id="410" r:id="rId129"/>
    <p:sldId id="409" r:id="rId130"/>
    <p:sldId id="373" r:id="rId131"/>
    <p:sldId id="374" r:id="rId132"/>
    <p:sldId id="375" r:id="rId133"/>
    <p:sldId id="376" r:id="rId134"/>
    <p:sldId id="377" r:id="rId135"/>
    <p:sldId id="378" r:id="rId136"/>
    <p:sldId id="379" r:id="rId137"/>
    <p:sldId id="380" r:id="rId138"/>
    <p:sldId id="381" r:id="rId139"/>
    <p:sldId id="382" r:id="rId140"/>
    <p:sldId id="383" r:id="rId141"/>
    <p:sldId id="384" r:id="rId142"/>
    <p:sldId id="385" r:id="rId143"/>
    <p:sldId id="386" r:id="rId144"/>
    <p:sldId id="387" r:id="rId145"/>
    <p:sldId id="388" r:id="rId146"/>
    <p:sldId id="389" r:id="rId147"/>
    <p:sldId id="412" r:id="rId148"/>
    <p:sldId id="393" r:id="rId149"/>
    <p:sldId id="413" r:id="rId150"/>
    <p:sldId id="391" r:id="rId151"/>
    <p:sldId id="392" r:id="rId152"/>
    <p:sldId id="390" r:id="rId153"/>
    <p:sldId id="394" r:id="rId154"/>
    <p:sldId id="415" r:id="rId155"/>
    <p:sldId id="416" r:id="rId156"/>
    <p:sldId id="417" r:id="rId157"/>
    <p:sldId id="418" r:id="rId158"/>
    <p:sldId id="420" r:id="rId159"/>
    <p:sldId id="419" r:id="rId1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00" d="100"/>
          <a:sy n="100" d="100"/>
        </p:scale>
        <p:origin x="24"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C22A8-9591-4210-9BF8-DEFF77FDE572}" type="datetimeFigureOut">
              <a:rPr lang="en-IN" smtClean="0"/>
              <a:t>21-03-2026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201B3D-27D1-402F-9373-2E3A6CB9E767}" type="slidenum">
              <a:rPr lang="en-IN" smtClean="0"/>
              <a:t>‹#›</a:t>
            </a:fld>
            <a:endParaRPr lang="en-IN"/>
          </a:p>
        </p:txBody>
      </p:sp>
    </p:spTree>
    <p:extLst>
      <p:ext uri="{BB962C8B-B14F-4D97-AF65-F5344CB8AC3E}">
        <p14:creationId xmlns:p14="http://schemas.microsoft.com/office/powerpoint/2010/main" val="3674360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a:t>
            </a:fld>
            <a:endParaRPr lang="en-IN"/>
          </a:p>
        </p:txBody>
      </p:sp>
    </p:spTree>
    <p:extLst>
      <p:ext uri="{BB962C8B-B14F-4D97-AF65-F5344CB8AC3E}">
        <p14:creationId xmlns:p14="http://schemas.microsoft.com/office/powerpoint/2010/main" val="2116466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2</a:t>
            </a:fld>
            <a:endParaRPr lang="en-IN"/>
          </a:p>
        </p:txBody>
      </p:sp>
    </p:spTree>
    <p:extLst>
      <p:ext uri="{BB962C8B-B14F-4D97-AF65-F5344CB8AC3E}">
        <p14:creationId xmlns:p14="http://schemas.microsoft.com/office/powerpoint/2010/main" val="163272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3</a:t>
            </a:fld>
            <a:endParaRPr lang="en-IN"/>
          </a:p>
        </p:txBody>
      </p:sp>
    </p:spTree>
    <p:extLst>
      <p:ext uri="{BB962C8B-B14F-4D97-AF65-F5344CB8AC3E}">
        <p14:creationId xmlns:p14="http://schemas.microsoft.com/office/powerpoint/2010/main" val="163272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4</a:t>
            </a:fld>
            <a:endParaRPr lang="en-IN"/>
          </a:p>
        </p:txBody>
      </p:sp>
    </p:spTree>
    <p:extLst>
      <p:ext uri="{BB962C8B-B14F-4D97-AF65-F5344CB8AC3E}">
        <p14:creationId xmlns:p14="http://schemas.microsoft.com/office/powerpoint/2010/main" val="163272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5</a:t>
            </a:fld>
            <a:endParaRPr lang="en-IN"/>
          </a:p>
        </p:txBody>
      </p:sp>
    </p:spTree>
    <p:extLst>
      <p:ext uri="{BB962C8B-B14F-4D97-AF65-F5344CB8AC3E}">
        <p14:creationId xmlns:p14="http://schemas.microsoft.com/office/powerpoint/2010/main" val="163272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6</a:t>
            </a:fld>
            <a:endParaRPr lang="en-IN"/>
          </a:p>
        </p:txBody>
      </p:sp>
    </p:spTree>
    <p:extLst>
      <p:ext uri="{BB962C8B-B14F-4D97-AF65-F5344CB8AC3E}">
        <p14:creationId xmlns:p14="http://schemas.microsoft.com/office/powerpoint/2010/main" val="163272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7</a:t>
            </a:fld>
            <a:endParaRPr lang="en-IN"/>
          </a:p>
        </p:txBody>
      </p:sp>
    </p:spTree>
    <p:extLst>
      <p:ext uri="{BB962C8B-B14F-4D97-AF65-F5344CB8AC3E}">
        <p14:creationId xmlns:p14="http://schemas.microsoft.com/office/powerpoint/2010/main" val="163272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8</a:t>
            </a:fld>
            <a:endParaRPr lang="en-IN"/>
          </a:p>
        </p:txBody>
      </p:sp>
    </p:spTree>
    <p:extLst>
      <p:ext uri="{BB962C8B-B14F-4D97-AF65-F5344CB8AC3E}">
        <p14:creationId xmlns:p14="http://schemas.microsoft.com/office/powerpoint/2010/main" val="163272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9</a:t>
            </a:fld>
            <a:endParaRPr lang="en-IN"/>
          </a:p>
        </p:txBody>
      </p:sp>
    </p:spTree>
    <p:extLst>
      <p:ext uri="{BB962C8B-B14F-4D97-AF65-F5344CB8AC3E}">
        <p14:creationId xmlns:p14="http://schemas.microsoft.com/office/powerpoint/2010/main" val="3950405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10</a:t>
            </a:fld>
            <a:endParaRPr lang="en-IN"/>
          </a:p>
        </p:txBody>
      </p:sp>
    </p:spTree>
    <p:extLst>
      <p:ext uri="{BB962C8B-B14F-4D97-AF65-F5344CB8AC3E}">
        <p14:creationId xmlns:p14="http://schemas.microsoft.com/office/powerpoint/2010/main" val="24572184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11</a:t>
            </a:fld>
            <a:endParaRPr lang="en-IN"/>
          </a:p>
        </p:txBody>
      </p:sp>
    </p:spTree>
    <p:extLst>
      <p:ext uri="{BB962C8B-B14F-4D97-AF65-F5344CB8AC3E}">
        <p14:creationId xmlns:p14="http://schemas.microsoft.com/office/powerpoint/2010/main" val="1058138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12</a:t>
            </a:fld>
            <a:endParaRPr lang="en-IN"/>
          </a:p>
        </p:txBody>
      </p:sp>
    </p:spTree>
    <p:extLst>
      <p:ext uri="{BB962C8B-B14F-4D97-AF65-F5344CB8AC3E}">
        <p14:creationId xmlns:p14="http://schemas.microsoft.com/office/powerpoint/2010/main" val="4273901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13</a:t>
            </a:fld>
            <a:endParaRPr lang="en-IN"/>
          </a:p>
        </p:txBody>
      </p:sp>
    </p:spTree>
    <p:extLst>
      <p:ext uri="{BB962C8B-B14F-4D97-AF65-F5344CB8AC3E}">
        <p14:creationId xmlns:p14="http://schemas.microsoft.com/office/powerpoint/2010/main" val="1719645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14</a:t>
            </a:fld>
            <a:endParaRPr lang="en-IN"/>
          </a:p>
        </p:txBody>
      </p:sp>
    </p:spTree>
    <p:extLst>
      <p:ext uri="{BB962C8B-B14F-4D97-AF65-F5344CB8AC3E}">
        <p14:creationId xmlns:p14="http://schemas.microsoft.com/office/powerpoint/2010/main" val="1386486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15</a:t>
            </a:fld>
            <a:endParaRPr lang="en-IN"/>
          </a:p>
        </p:txBody>
      </p:sp>
    </p:spTree>
    <p:extLst>
      <p:ext uri="{BB962C8B-B14F-4D97-AF65-F5344CB8AC3E}">
        <p14:creationId xmlns:p14="http://schemas.microsoft.com/office/powerpoint/2010/main" val="24462337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16</a:t>
            </a:fld>
            <a:endParaRPr lang="en-IN"/>
          </a:p>
        </p:txBody>
      </p:sp>
    </p:spTree>
    <p:extLst>
      <p:ext uri="{BB962C8B-B14F-4D97-AF65-F5344CB8AC3E}">
        <p14:creationId xmlns:p14="http://schemas.microsoft.com/office/powerpoint/2010/main" val="3417691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17</a:t>
            </a:fld>
            <a:endParaRPr lang="en-IN"/>
          </a:p>
        </p:txBody>
      </p:sp>
    </p:spTree>
    <p:extLst>
      <p:ext uri="{BB962C8B-B14F-4D97-AF65-F5344CB8AC3E}">
        <p14:creationId xmlns:p14="http://schemas.microsoft.com/office/powerpoint/2010/main" val="34176911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18</a:t>
            </a:fld>
            <a:endParaRPr lang="en-IN"/>
          </a:p>
        </p:txBody>
      </p:sp>
    </p:spTree>
    <p:extLst>
      <p:ext uri="{BB962C8B-B14F-4D97-AF65-F5344CB8AC3E}">
        <p14:creationId xmlns:p14="http://schemas.microsoft.com/office/powerpoint/2010/main" val="35517661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19</a:t>
            </a:fld>
            <a:endParaRPr lang="en-IN"/>
          </a:p>
        </p:txBody>
      </p:sp>
    </p:spTree>
    <p:extLst>
      <p:ext uri="{BB962C8B-B14F-4D97-AF65-F5344CB8AC3E}">
        <p14:creationId xmlns:p14="http://schemas.microsoft.com/office/powerpoint/2010/main" val="4468339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20</a:t>
            </a:fld>
            <a:endParaRPr lang="en-IN"/>
          </a:p>
        </p:txBody>
      </p:sp>
    </p:spTree>
    <p:extLst>
      <p:ext uri="{BB962C8B-B14F-4D97-AF65-F5344CB8AC3E}">
        <p14:creationId xmlns:p14="http://schemas.microsoft.com/office/powerpoint/2010/main" val="2795541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21</a:t>
            </a:fld>
            <a:endParaRPr lang="en-IN"/>
          </a:p>
        </p:txBody>
      </p:sp>
    </p:spTree>
    <p:extLst>
      <p:ext uri="{BB962C8B-B14F-4D97-AF65-F5344CB8AC3E}">
        <p14:creationId xmlns:p14="http://schemas.microsoft.com/office/powerpoint/2010/main" val="20935882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22</a:t>
            </a:fld>
            <a:endParaRPr lang="en-IN"/>
          </a:p>
        </p:txBody>
      </p:sp>
    </p:spTree>
    <p:extLst>
      <p:ext uri="{BB962C8B-B14F-4D97-AF65-F5344CB8AC3E}">
        <p14:creationId xmlns:p14="http://schemas.microsoft.com/office/powerpoint/2010/main" val="8306276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23</a:t>
            </a:fld>
            <a:endParaRPr lang="en-IN"/>
          </a:p>
        </p:txBody>
      </p:sp>
    </p:spTree>
    <p:extLst>
      <p:ext uri="{BB962C8B-B14F-4D97-AF65-F5344CB8AC3E}">
        <p14:creationId xmlns:p14="http://schemas.microsoft.com/office/powerpoint/2010/main" val="32569959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24</a:t>
            </a:fld>
            <a:endParaRPr lang="en-IN"/>
          </a:p>
        </p:txBody>
      </p:sp>
    </p:spTree>
    <p:extLst>
      <p:ext uri="{BB962C8B-B14F-4D97-AF65-F5344CB8AC3E}">
        <p14:creationId xmlns:p14="http://schemas.microsoft.com/office/powerpoint/2010/main" val="32507721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25</a:t>
            </a:fld>
            <a:endParaRPr lang="en-IN"/>
          </a:p>
        </p:txBody>
      </p:sp>
    </p:spTree>
    <p:extLst>
      <p:ext uri="{BB962C8B-B14F-4D97-AF65-F5344CB8AC3E}">
        <p14:creationId xmlns:p14="http://schemas.microsoft.com/office/powerpoint/2010/main" val="6109420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26</a:t>
            </a:fld>
            <a:endParaRPr lang="en-IN"/>
          </a:p>
        </p:txBody>
      </p:sp>
    </p:spTree>
    <p:extLst>
      <p:ext uri="{BB962C8B-B14F-4D97-AF65-F5344CB8AC3E}">
        <p14:creationId xmlns:p14="http://schemas.microsoft.com/office/powerpoint/2010/main" val="40634761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27</a:t>
            </a:fld>
            <a:endParaRPr lang="en-IN"/>
          </a:p>
        </p:txBody>
      </p:sp>
    </p:spTree>
    <p:extLst>
      <p:ext uri="{BB962C8B-B14F-4D97-AF65-F5344CB8AC3E}">
        <p14:creationId xmlns:p14="http://schemas.microsoft.com/office/powerpoint/2010/main" val="20685257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28</a:t>
            </a:fld>
            <a:endParaRPr lang="en-IN"/>
          </a:p>
        </p:txBody>
      </p:sp>
    </p:spTree>
    <p:extLst>
      <p:ext uri="{BB962C8B-B14F-4D97-AF65-F5344CB8AC3E}">
        <p14:creationId xmlns:p14="http://schemas.microsoft.com/office/powerpoint/2010/main" val="22477337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29</a:t>
            </a:fld>
            <a:endParaRPr lang="en-IN"/>
          </a:p>
        </p:txBody>
      </p:sp>
    </p:spTree>
    <p:extLst>
      <p:ext uri="{BB962C8B-B14F-4D97-AF65-F5344CB8AC3E}">
        <p14:creationId xmlns:p14="http://schemas.microsoft.com/office/powerpoint/2010/main" val="33398956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30</a:t>
            </a:fld>
            <a:endParaRPr lang="en-IN"/>
          </a:p>
        </p:txBody>
      </p:sp>
    </p:spTree>
    <p:extLst>
      <p:ext uri="{BB962C8B-B14F-4D97-AF65-F5344CB8AC3E}">
        <p14:creationId xmlns:p14="http://schemas.microsoft.com/office/powerpoint/2010/main" val="20736773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31</a:t>
            </a:fld>
            <a:endParaRPr lang="en-IN"/>
          </a:p>
        </p:txBody>
      </p:sp>
    </p:spTree>
    <p:extLst>
      <p:ext uri="{BB962C8B-B14F-4D97-AF65-F5344CB8AC3E}">
        <p14:creationId xmlns:p14="http://schemas.microsoft.com/office/powerpoint/2010/main" val="3143792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32</a:t>
            </a:fld>
            <a:endParaRPr lang="en-IN"/>
          </a:p>
        </p:txBody>
      </p:sp>
    </p:spTree>
    <p:extLst>
      <p:ext uri="{BB962C8B-B14F-4D97-AF65-F5344CB8AC3E}">
        <p14:creationId xmlns:p14="http://schemas.microsoft.com/office/powerpoint/2010/main" val="22835511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33</a:t>
            </a:fld>
            <a:endParaRPr lang="en-IN"/>
          </a:p>
        </p:txBody>
      </p:sp>
    </p:spTree>
    <p:extLst>
      <p:ext uri="{BB962C8B-B14F-4D97-AF65-F5344CB8AC3E}">
        <p14:creationId xmlns:p14="http://schemas.microsoft.com/office/powerpoint/2010/main" val="34018372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34</a:t>
            </a:fld>
            <a:endParaRPr lang="en-IN"/>
          </a:p>
        </p:txBody>
      </p:sp>
    </p:spTree>
    <p:extLst>
      <p:ext uri="{BB962C8B-B14F-4D97-AF65-F5344CB8AC3E}">
        <p14:creationId xmlns:p14="http://schemas.microsoft.com/office/powerpoint/2010/main" val="11242814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35</a:t>
            </a:fld>
            <a:endParaRPr lang="en-IN"/>
          </a:p>
        </p:txBody>
      </p:sp>
    </p:spTree>
    <p:extLst>
      <p:ext uri="{BB962C8B-B14F-4D97-AF65-F5344CB8AC3E}">
        <p14:creationId xmlns:p14="http://schemas.microsoft.com/office/powerpoint/2010/main" val="10724347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36</a:t>
            </a:fld>
            <a:endParaRPr lang="en-IN"/>
          </a:p>
        </p:txBody>
      </p:sp>
    </p:spTree>
    <p:extLst>
      <p:ext uri="{BB962C8B-B14F-4D97-AF65-F5344CB8AC3E}">
        <p14:creationId xmlns:p14="http://schemas.microsoft.com/office/powerpoint/2010/main" val="22425707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37</a:t>
            </a:fld>
            <a:endParaRPr lang="en-IN"/>
          </a:p>
        </p:txBody>
      </p:sp>
    </p:spTree>
    <p:extLst>
      <p:ext uri="{BB962C8B-B14F-4D97-AF65-F5344CB8AC3E}">
        <p14:creationId xmlns:p14="http://schemas.microsoft.com/office/powerpoint/2010/main" val="42843043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38</a:t>
            </a:fld>
            <a:endParaRPr lang="en-IN"/>
          </a:p>
        </p:txBody>
      </p:sp>
    </p:spTree>
    <p:extLst>
      <p:ext uri="{BB962C8B-B14F-4D97-AF65-F5344CB8AC3E}">
        <p14:creationId xmlns:p14="http://schemas.microsoft.com/office/powerpoint/2010/main" val="294509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39</a:t>
            </a:fld>
            <a:endParaRPr lang="en-IN"/>
          </a:p>
        </p:txBody>
      </p:sp>
    </p:spTree>
    <p:extLst>
      <p:ext uri="{BB962C8B-B14F-4D97-AF65-F5344CB8AC3E}">
        <p14:creationId xmlns:p14="http://schemas.microsoft.com/office/powerpoint/2010/main" val="21459054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40</a:t>
            </a:fld>
            <a:endParaRPr lang="en-IN"/>
          </a:p>
        </p:txBody>
      </p:sp>
    </p:spTree>
    <p:extLst>
      <p:ext uri="{BB962C8B-B14F-4D97-AF65-F5344CB8AC3E}">
        <p14:creationId xmlns:p14="http://schemas.microsoft.com/office/powerpoint/2010/main" val="2832197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41</a:t>
            </a:fld>
            <a:endParaRPr lang="en-IN"/>
          </a:p>
        </p:txBody>
      </p:sp>
    </p:spTree>
    <p:extLst>
      <p:ext uri="{BB962C8B-B14F-4D97-AF65-F5344CB8AC3E}">
        <p14:creationId xmlns:p14="http://schemas.microsoft.com/office/powerpoint/2010/main" val="6597559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42</a:t>
            </a:fld>
            <a:endParaRPr lang="en-IN"/>
          </a:p>
        </p:txBody>
      </p:sp>
    </p:spTree>
    <p:extLst>
      <p:ext uri="{BB962C8B-B14F-4D97-AF65-F5344CB8AC3E}">
        <p14:creationId xmlns:p14="http://schemas.microsoft.com/office/powerpoint/2010/main" val="32126076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43</a:t>
            </a:fld>
            <a:endParaRPr lang="en-IN"/>
          </a:p>
        </p:txBody>
      </p:sp>
    </p:spTree>
    <p:extLst>
      <p:ext uri="{BB962C8B-B14F-4D97-AF65-F5344CB8AC3E}">
        <p14:creationId xmlns:p14="http://schemas.microsoft.com/office/powerpoint/2010/main" val="2739455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44</a:t>
            </a:fld>
            <a:endParaRPr lang="en-IN"/>
          </a:p>
        </p:txBody>
      </p:sp>
    </p:spTree>
    <p:extLst>
      <p:ext uri="{BB962C8B-B14F-4D97-AF65-F5344CB8AC3E}">
        <p14:creationId xmlns:p14="http://schemas.microsoft.com/office/powerpoint/2010/main" val="31494212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45</a:t>
            </a:fld>
            <a:endParaRPr lang="en-IN"/>
          </a:p>
        </p:txBody>
      </p:sp>
    </p:spTree>
    <p:extLst>
      <p:ext uri="{BB962C8B-B14F-4D97-AF65-F5344CB8AC3E}">
        <p14:creationId xmlns:p14="http://schemas.microsoft.com/office/powerpoint/2010/main" val="42901505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46</a:t>
            </a:fld>
            <a:endParaRPr lang="en-IN"/>
          </a:p>
        </p:txBody>
      </p:sp>
    </p:spTree>
    <p:extLst>
      <p:ext uri="{BB962C8B-B14F-4D97-AF65-F5344CB8AC3E}">
        <p14:creationId xmlns:p14="http://schemas.microsoft.com/office/powerpoint/2010/main" val="16973840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47</a:t>
            </a:fld>
            <a:endParaRPr lang="en-IN"/>
          </a:p>
        </p:txBody>
      </p:sp>
    </p:spTree>
    <p:extLst>
      <p:ext uri="{BB962C8B-B14F-4D97-AF65-F5344CB8AC3E}">
        <p14:creationId xmlns:p14="http://schemas.microsoft.com/office/powerpoint/2010/main" val="12374726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48</a:t>
            </a:fld>
            <a:endParaRPr lang="en-IN"/>
          </a:p>
        </p:txBody>
      </p:sp>
    </p:spTree>
    <p:extLst>
      <p:ext uri="{BB962C8B-B14F-4D97-AF65-F5344CB8AC3E}">
        <p14:creationId xmlns:p14="http://schemas.microsoft.com/office/powerpoint/2010/main" val="31501411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49</a:t>
            </a:fld>
            <a:endParaRPr lang="en-IN"/>
          </a:p>
        </p:txBody>
      </p:sp>
    </p:spTree>
    <p:extLst>
      <p:ext uri="{BB962C8B-B14F-4D97-AF65-F5344CB8AC3E}">
        <p14:creationId xmlns:p14="http://schemas.microsoft.com/office/powerpoint/2010/main" val="2029165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50</a:t>
            </a:fld>
            <a:endParaRPr lang="en-IN"/>
          </a:p>
        </p:txBody>
      </p:sp>
    </p:spTree>
    <p:extLst>
      <p:ext uri="{BB962C8B-B14F-4D97-AF65-F5344CB8AC3E}">
        <p14:creationId xmlns:p14="http://schemas.microsoft.com/office/powerpoint/2010/main" val="34565088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51</a:t>
            </a:fld>
            <a:endParaRPr lang="en-IN"/>
          </a:p>
        </p:txBody>
      </p:sp>
    </p:spTree>
    <p:extLst>
      <p:ext uri="{BB962C8B-B14F-4D97-AF65-F5344CB8AC3E}">
        <p14:creationId xmlns:p14="http://schemas.microsoft.com/office/powerpoint/2010/main" val="3709581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52</a:t>
            </a:fld>
            <a:endParaRPr lang="en-IN"/>
          </a:p>
        </p:txBody>
      </p:sp>
    </p:spTree>
    <p:extLst>
      <p:ext uri="{BB962C8B-B14F-4D97-AF65-F5344CB8AC3E}">
        <p14:creationId xmlns:p14="http://schemas.microsoft.com/office/powerpoint/2010/main" val="33175040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53</a:t>
            </a:fld>
            <a:endParaRPr lang="en-IN"/>
          </a:p>
        </p:txBody>
      </p:sp>
    </p:spTree>
    <p:extLst>
      <p:ext uri="{BB962C8B-B14F-4D97-AF65-F5344CB8AC3E}">
        <p14:creationId xmlns:p14="http://schemas.microsoft.com/office/powerpoint/2010/main" val="258341681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54</a:t>
            </a:fld>
            <a:endParaRPr lang="en-IN"/>
          </a:p>
        </p:txBody>
      </p:sp>
    </p:spTree>
    <p:extLst>
      <p:ext uri="{BB962C8B-B14F-4D97-AF65-F5344CB8AC3E}">
        <p14:creationId xmlns:p14="http://schemas.microsoft.com/office/powerpoint/2010/main" val="12389094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55</a:t>
            </a:fld>
            <a:endParaRPr lang="en-IN"/>
          </a:p>
        </p:txBody>
      </p:sp>
    </p:spTree>
    <p:extLst>
      <p:ext uri="{BB962C8B-B14F-4D97-AF65-F5344CB8AC3E}">
        <p14:creationId xmlns:p14="http://schemas.microsoft.com/office/powerpoint/2010/main" val="38097021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56</a:t>
            </a:fld>
            <a:endParaRPr lang="en-IN"/>
          </a:p>
        </p:txBody>
      </p:sp>
    </p:spTree>
    <p:extLst>
      <p:ext uri="{BB962C8B-B14F-4D97-AF65-F5344CB8AC3E}">
        <p14:creationId xmlns:p14="http://schemas.microsoft.com/office/powerpoint/2010/main" val="40610398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57</a:t>
            </a:fld>
            <a:endParaRPr lang="en-IN"/>
          </a:p>
        </p:txBody>
      </p:sp>
    </p:spTree>
    <p:extLst>
      <p:ext uri="{BB962C8B-B14F-4D97-AF65-F5344CB8AC3E}">
        <p14:creationId xmlns:p14="http://schemas.microsoft.com/office/powerpoint/2010/main" val="1803275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58</a:t>
            </a:fld>
            <a:endParaRPr lang="en-IN"/>
          </a:p>
        </p:txBody>
      </p:sp>
    </p:spTree>
    <p:extLst>
      <p:ext uri="{BB962C8B-B14F-4D97-AF65-F5344CB8AC3E}">
        <p14:creationId xmlns:p14="http://schemas.microsoft.com/office/powerpoint/2010/main" val="31948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59</a:t>
            </a:fld>
            <a:endParaRPr lang="en-IN"/>
          </a:p>
        </p:txBody>
      </p:sp>
    </p:spTree>
    <p:extLst>
      <p:ext uri="{BB962C8B-B14F-4D97-AF65-F5344CB8AC3E}">
        <p14:creationId xmlns:p14="http://schemas.microsoft.com/office/powerpoint/2010/main" val="13171017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60</a:t>
            </a:fld>
            <a:endParaRPr lang="en-IN"/>
          </a:p>
        </p:txBody>
      </p:sp>
    </p:spTree>
    <p:extLst>
      <p:ext uri="{BB962C8B-B14F-4D97-AF65-F5344CB8AC3E}">
        <p14:creationId xmlns:p14="http://schemas.microsoft.com/office/powerpoint/2010/main" val="4152106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61</a:t>
            </a:fld>
            <a:endParaRPr lang="en-IN"/>
          </a:p>
        </p:txBody>
      </p:sp>
    </p:spTree>
    <p:extLst>
      <p:ext uri="{BB962C8B-B14F-4D97-AF65-F5344CB8AC3E}">
        <p14:creationId xmlns:p14="http://schemas.microsoft.com/office/powerpoint/2010/main" val="12699934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62</a:t>
            </a:fld>
            <a:endParaRPr lang="en-IN"/>
          </a:p>
        </p:txBody>
      </p:sp>
    </p:spTree>
    <p:extLst>
      <p:ext uri="{BB962C8B-B14F-4D97-AF65-F5344CB8AC3E}">
        <p14:creationId xmlns:p14="http://schemas.microsoft.com/office/powerpoint/2010/main" val="215005844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63</a:t>
            </a:fld>
            <a:endParaRPr lang="en-IN"/>
          </a:p>
        </p:txBody>
      </p:sp>
    </p:spTree>
    <p:extLst>
      <p:ext uri="{BB962C8B-B14F-4D97-AF65-F5344CB8AC3E}">
        <p14:creationId xmlns:p14="http://schemas.microsoft.com/office/powerpoint/2010/main" val="40987927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64</a:t>
            </a:fld>
            <a:endParaRPr lang="en-IN"/>
          </a:p>
        </p:txBody>
      </p:sp>
    </p:spTree>
    <p:extLst>
      <p:ext uri="{BB962C8B-B14F-4D97-AF65-F5344CB8AC3E}">
        <p14:creationId xmlns:p14="http://schemas.microsoft.com/office/powerpoint/2010/main" val="205333403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65</a:t>
            </a:fld>
            <a:endParaRPr lang="en-IN"/>
          </a:p>
        </p:txBody>
      </p:sp>
    </p:spTree>
    <p:extLst>
      <p:ext uri="{BB962C8B-B14F-4D97-AF65-F5344CB8AC3E}">
        <p14:creationId xmlns:p14="http://schemas.microsoft.com/office/powerpoint/2010/main" val="209457913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66</a:t>
            </a:fld>
            <a:endParaRPr lang="en-IN"/>
          </a:p>
        </p:txBody>
      </p:sp>
    </p:spTree>
    <p:extLst>
      <p:ext uri="{BB962C8B-B14F-4D97-AF65-F5344CB8AC3E}">
        <p14:creationId xmlns:p14="http://schemas.microsoft.com/office/powerpoint/2010/main" val="163981663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67</a:t>
            </a:fld>
            <a:endParaRPr lang="en-IN"/>
          </a:p>
        </p:txBody>
      </p:sp>
    </p:spTree>
    <p:extLst>
      <p:ext uri="{BB962C8B-B14F-4D97-AF65-F5344CB8AC3E}">
        <p14:creationId xmlns:p14="http://schemas.microsoft.com/office/powerpoint/2010/main" val="146043393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68</a:t>
            </a:fld>
            <a:endParaRPr lang="en-IN"/>
          </a:p>
        </p:txBody>
      </p:sp>
    </p:spTree>
    <p:extLst>
      <p:ext uri="{BB962C8B-B14F-4D97-AF65-F5344CB8AC3E}">
        <p14:creationId xmlns:p14="http://schemas.microsoft.com/office/powerpoint/2010/main" val="32256005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69</a:t>
            </a:fld>
            <a:endParaRPr lang="en-IN"/>
          </a:p>
        </p:txBody>
      </p:sp>
    </p:spTree>
    <p:extLst>
      <p:ext uri="{BB962C8B-B14F-4D97-AF65-F5344CB8AC3E}">
        <p14:creationId xmlns:p14="http://schemas.microsoft.com/office/powerpoint/2010/main" val="310925520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70</a:t>
            </a:fld>
            <a:endParaRPr lang="en-IN"/>
          </a:p>
        </p:txBody>
      </p:sp>
    </p:spTree>
    <p:extLst>
      <p:ext uri="{BB962C8B-B14F-4D97-AF65-F5344CB8AC3E}">
        <p14:creationId xmlns:p14="http://schemas.microsoft.com/office/powerpoint/2010/main" val="185559110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71</a:t>
            </a:fld>
            <a:endParaRPr lang="en-IN"/>
          </a:p>
        </p:txBody>
      </p:sp>
    </p:spTree>
    <p:extLst>
      <p:ext uri="{BB962C8B-B14F-4D97-AF65-F5344CB8AC3E}">
        <p14:creationId xmlns:p14="http://schemas.microsoft.com/office/powerpoint/2010/main" val="379591276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72</a:t>
            </a:fld>
            <a:endParaRPr lang="en-IN"/>
          </a:p>
        </p:txBody>
      </p:sp>
    </p:spTree>
    <p:extLst>
      <p:ext uri="{BB962C8B-B14F-4D97-AF65-F5344CB8AC3E}">
        <p14:creationId xmlns:p14="http://schemas.microsoft.com/office/powerpoint/2010/main" val="7637118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73</a:t>
            </a:fld>
            <a:endParaRPr lang="en-IN"/>
          </a:p>
        </p:txBody>
      </p:sp>
    </p:spTree>
    <p:extLst>
      <p:ext uri="{BB962C8B-B14F-4D97-AF65-F5344CB8AC3E}">
        <p14:creationId xmlns:p14="http://schemas.microsoft.com/office/powerpoint/2010/main" val="32672996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74</a:t>
            </a:fld>
            <a:endParaRPr lang="en-IN"/>
          </a:p>
        </p:txBody>
      </p:sp>
    </p:spTree>
    <p:extLst>
      <p:ext uri="{BB962C8B-B14F-4D97-AF65-F5344CB8AC3E}">
        <p14:creationId xmlns:p14="http://schemas.microsoft.com/office/powerpoint/2010/main" val="421277201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75</a:t>
            </a:fld>
            <a:endParaRPr lang="en-IN"/>
          </a:p>
        </p:txBody>
      </p:sp>
    </p:spTree>
    <p:extLst>
      <p:ext uri="{BB962C8B-B14F-4D97-AF65-F5344CB8AC3E}">
        <p14:creationId xmlns:p14="http://schemas.microsoft.com/office/powerpoint/2010/main" val="334926976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76</a:t>
            </a:fld>
            <a:endParaRPr lang="en-IN"/>
          </a:p>
        </p:txBody>
      </p:sp>
    </p:spTree>
    <p:extLst>
      <p:ext uri="{BB962C8B-B14F-4D97-AF65-F5344CB8AC3E}">
        <p14:creationId xmlns:p14="http://schemas.microsoft.com/office/powerpoint/2010/main" val="372198781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77</a:t>
            </a:fld>
            <a:endParaRPr lang="en-IN"/>
          </a:p>
        </p:txBody>
      </p:sp>
    </p:spTree>
    <p:extLst>
      <p:ext uri="{BB962C8B-B14F-4D97-AF65-F5344CB8AC3E}">
        <p14:creationId xmlns:p14="http://schemas.microsoft.com/office/powerpoint/2010/main" val="423529122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78</a:t>
            </a:fld>
            <a:endParaRPr lang="en-IN"/>
          </a:p>
        </p:txBody>
      </p:sp>
    </p:spTree>
    <p:extLst>
      <p:ext uri="{BB962C8B-B14F-4D97-AF65-F5344CB8AC3E}">
        <p14:creationId xmlns:p14="http://schemas.microsoft.com/office/powerpoint/2010/main" val="423529122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79</a:t>
            </a:fld>
            <a:endParaRPr lang="en-IN"/>
          </a:p>
        </p:txBody>
      </p:sp>
    </p:spTree>
    <p:extLst>
      <p:ext uri="{BB962C8B-B14F-4D97-AF65-F5344CB8AC3E}">
        <p14:creationId xmlns:p14="http://schemas.microsoft.com/office/powerpoint/2010/main" val="29535085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80</a:t>
            </a:fld>
            <a:endParaRPr lang="en-IN"/>
          </a:p>
        </p:txBody>
      </p:sp>
    </p:spTree>
    <p:extLst>
      <p:ext uri="{BB962C8B-B14F-4D97-AF65-F5344CB8AC3E}">
        <p14:creationId xmlns:p14="http://schemas.microsoft.com/office/powerpoint/2010/main" val="339407445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81</a:t>
            </a:fld>
            <a:endParaRPr lang="en-IN"/>
          </a:p>
        </p:txBody>
      </p:sp>
    </p:spTree>
    <p:extLst>
      <p:ext uri="{BB962C8B-B14F-4D97-AF65-F5344CB8AC3E}">
        <p14:creationId xmlns:p14="http://schemas.microsoft.com/office/powerpoint/2010/main" val="313909150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82</a:t>
            </a:fld>
            <a:endParaRPr lang="en-IN"/>
          </a:p>
        </p:txBody>
      </p:sp>
    </p:spTree>
    <p:extLst>
      <p:ext uri="{BB962C8B-B14F-4D97-AF65-F5344CB8AC3E}">
        <p14:creationId xmlns:p14="http://schemas.microsoft.com/office/powerpoint/2010/main" val="338152887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83</a:t>
            </a:fld>
            <a:endParaRPr lang="en-IN"/>
          </a:p>
        </p:txBody>
      </p:sp>
    </p:spTree>
    <p:extLst>
      <p:ext uri="{BB962C8B-B14F-4D97-AF65-F5344CB8AC3E}">
        <p14:creationId xmlns:p14="http://schemas.microsoft.com/office/powerpoint/2010/main" val="347245108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84</a:t>
            </a:fld>
            <a:endParaRPr lang="en-IN"/>
          </a:p>
        </p:txBody>
      </p:sp>
    </p:spTree>
    <p:extLst>
      <p:ext uri="{BB962C8B-B14F-4D97-AF65-F5344CB8AC3E}">
        <p14:creationId xmlns:p14="http://schemas.microsoft.com/office/powerpoint/2010/main" val="12951668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85</a:t>
            </a:fld>
            <a:endParaRPr lang="en-IN"/>
          </a:p>
        </p:txBody>
      </p:sp>
    </p:spTree>
    <p:extLst>
      <p:ext uri="{BB962C8B-B14F-4D97-AF65-F5344CB8AC3E}">
        <p14:creationId xmlns:p14="http://schemas.microsoft.com/office/powerpoint/2010/main" val="308106255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86</a:t>
            </a:fld>
            <a:endParaRPr lang="en-IN"/>
          </a:p>
        </p:txBody>
      </p:sp>
    </p:spTree>
    <p:extLst>
      <p:ext uri="{BB962C8B-B14F-4D97-AF65-F5344CB8AC3E}">
        <p14:creationId xmlns:p14="http://schemas.microsoft.com/office/powerpoint/2010/main" val="218510610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87</a:t>
            </a:fld>
            <a:endParaRPr lang="en-IN"/>
          </a:p>
        </p:txBody>
      </p:sp>
    </p:spTree>
    <p:extLst>
      <p:ext uri="{BB962C8B-B14F-4D97-AF65-F5344CB8AC3E}">
        <p14:creationId xmlns:p14="http://schemas.microsoft.com/office/powerpoint/2010/main" val="69334722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88</a:t>
            </a:fld>
            <a:endParaRPr lang="en-IN"/>
          </a:p>
        </p:txBody>
      </p:sp>
    </p:spTree>
    <p:extLst>
      <p:ext uri="{BB962C8B-B14F-4D97-AF65-F5344CB8AC3E}">
        <p14:creationId xmlns:p14="http://schemas.microsoft.com/office/powerpoint/2010/main" val="356476660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89</a:t>
            </a:fld>
            <a:endParaRPr lang="en-IN"/>
          </a:p>
        </p:txBody>
      </p:sp>
    </p:spTree>
    <p:extLst>
      <p:ext uri="{BB962C8B-B14F-4D97-AF65-F5344CB8AC3E}">
        <p14:creationId xmlns:p14="http://schemas.microsoft.com/office/powerpoint/2010/main" val="110925871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90</a:t>
            </a:fld>
            <a:endParaRPr lang="en-IN"/>
          </a:p>
        </p:txBody>
      </p:sp>
    </p:spTree>
    <p:extLst>
      <p:ext uri="{BB962C8B-B14F-4D97-AF65-F5344CB8AC3E}">
        <p14:creationId xmlns:p14="http://schemas.microsoft.com/office/powerpoint/2010/main" val="314694792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91</a:t>
            </a:fld>
            <a:endParaRPr lang="en-IN"/>
          </a:p>
        </p:txBody>
      </p:sp>
    </p:spTree>
    <p:extLst>
      <p:ext uri="{BB962C8B-B14F-4D97-AF65-F5344CB8AC3E}">
        <p14:creationId xmlns:p14="http://schemas.microsoft.com/office/powerpoint/2010/main" val="101385377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92</a:t>
            </a:fld>
            <a:endParaRPr lang="en-IN"/>
          </a:p>
        </p:txBody>
      </p:sp>
    </p:spTree>
    <p:extLst>
      <p:ext uri="{BB962C8B-B14F-4D97-AF65-F5344CB8AC3E}">
        <p14:creationId xmlns:p14="http://schemas.microsoft.com/office/powerpoint/2010/main" val="307775374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93</a:t>
            </a:fld>
            <a:endParaRPr lang="en-IN"/>
          </a:p>
        </p:txBody>
      </p:sp>
    </p:spTree>
    <p:extLst>
      <p:ext uri="{BB962C8B-B14F-4D97-AF65-F5344CB8AC3E}">
        <p14:creationId xmlns:p14="http://schemas.microsoft.com/office/powerpoint/2010/main" val="300775081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94</a:t>
            </a:fld>
            <a:endParaRPr lang="en-IN"/>
          </a:p>
        </p:txBody>
      </p:sp>
    </p:spTree>
    <p:extLst>
      <p:ext uri="{BB962C8B-B14F-4D97-AF65-F5344CB8AC3E}">
        <p14:creationId xmlns:p14="http://schemas.microsoft.com/office/powerpoint/2010/main" val="303936120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95</a:t>
            </a:fld>
            <a:endParaRPr lang="en-IN"/>
          </a:p>
        </p:txBody>
      </p:sp>
    </p:spTree>
    <p:extLst>
      <p:ext uri="{BB962C8B-B14F-4D97-AF65-F5344CB8AC3E}">
        <p14:creationId xmlns:p14="http://schemas.microsoft.com/office/powerpoint/2010/main" val="13148375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96</a:t>
            </a:fld>
            <a:endParaRPr lang="en-IN"/>
          </a:p>
        </p:txBody>
      </p:sp>
    </p:spTree>
    <p:extLst>
      <p:ext uri="{BB962C8B-B14F-4D97-AF65-F5344CB8AC3E}">
        <p14:creationId xmlns:p14="http://schemas.microsoft.com/office/powerpoint/2010/main" val="171832265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97</a:t>
            </a:fld>
            <a:endParaRPr lang="en-IN"/>
          </a:p>
        </p:txBody>
      </p:sp>
    </p:spTree>
    <p:extLst>
      <p:ext uri="{BB962C8B-B14F-4D97-AF65-F5344CB8AC3E}">
        <p14:creationId xmlns:p14="http://schemas.microsoft.com/office/powerpoint/2010/main" val="75912879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98</a:t>
            </a:fld>
            <a:endParaRPr lang="en-IN"/>
          </a:p>
        </p:txBody>
      </p:sp>
    </p:spTree>
    <p:extLst>
      <p:ext uri="{BB962C8B-B14F-4D97-AF65-F5344CB8AC3E}">
        <p14:creationId xmlns:p14="http://schemas.microsoft.com/office/powerpoint/2010/main" val="151226440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99</a:t>
            </a:fld>
            <a:endParaRPr lang="en-IN"/>
          </a:p>
        </p:txBody>
      </p:sp>
    </p:spTree>
    <p:extLst>
      <p:ext uri="{BB962C8B-B14F-4D97-AF65-F5344CB8AC3E}">
        <p14:creationId xmlns:p14="http://schemas.microsoft.com/office/powerpoint/2010/main" val="357606843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100</a:t>
            </a:fld>
            <a:endParaRPr lang="en-IN"/>
          </a:p>
        </p:txBody>
      </p:sp>
    </p:spTree>
    <p:extLst>
      <p:ext uri="{BB962C8B-B14F-4D97-AF65-F5344CB8AC3E}">
        <p14:creationId xmlns:p14="http://schemas.microsoft.com/office/powerpoint/2010/main" val="164393258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101</a:t>
            </a:fld>
            <a:endParaRPr lang="en-IN"/>
          </a:p>
        </p:txBody>
      </p:sp>
    </p:spTree>
    <p:extLst>
      <p:ext uri="{BB962C8B-B14F-4D97-AF65-F5344CB8AC3E}">
        <p14:creationId xmlns:p14="http://schemas.microsoft.com/office/powerpoint/2010/main" val="157993458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102</a:t>
            </a:fld>
            <a:endParaRPr lang="en-IN"/>
          </a:p>
        </p:txBody>
      </p:sp>
    </p:spTree>
    <p:extLst>
      <p:ext uri="{BB962C8B-B14F-4D97-AF65-F5344CB8AC3E}">
        <p14:creationId xmlns:p14="http://schemas.microsoft.com/office/powerpoint/2010/main" val="180799214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103</a:t>
            </a:fld>
            <a:endParaRPr lang="en-IN"/>
          </a:p>
        </p:txBody>
      </p:sp>
    </p:spTree>
    <p:extLst>
      <p:ext uri="{BB962C8B-B14F-4D97-AF65-F5344CB8AC3E}">
        <p14:creationId xmlns:p14="http://schemas.microsoft.com/office/powerpoint/2010/main" val="225372117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104</a:t>
            </a:fld>
            <a:endParaRPr lang="en-IN"/>
          </a:p>
        </p:txBody>
      </p:sp>
    </p:spTree>
    <p:extLst>
      <p:ext uri="{BB962C8B-B14F-4D97-AF65-F5344CB8AC3E}">
        <p14:creationId xmlns:p14="http://schemas.microsoft.com/office/powerpoint/2010/main" val="110893099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105</a:t>
            </a:fld>
            <a:endParaRPr lang="en-IN"/>
          </a:p>
        </p:txBody>
      </p:sp>
    </p:spTree>
    <p:extLst>
      <p:ext uri="{BB962C8B-B14F-4D97-AF65-F5344CB8AC3E}">
        <p14:creationId xmlns:p14="http://schemas.microsoft.com/office/powerpoint/2010/main" val="168544409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106</a:t>
            </a:fld>
            <a:endParaRPr lang="en-IN"/>
          </a:p>
        </p:txBody>
      </p:sp>
    </p:spTree>
    <p:extLst>
      <p:ext uri="{BB962C8B-B14F-4D97-AF65-F5344CB8AC3E}">
        <p14:creationId xmlns:p14="http://schemas.microsoft.com/office/powerpoint/2010/main" val="96092123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107</a:t>
            </a:fld>
            <a:endParaRPr lang="en-IN"/>
          </a:p>
        </p:txBody>
      </p:sp>
    </p:spTree>
    <p:extLst>
      <p:ext uri="{BB962C8B-B14F-4D97-AF65-F5344CB8AC3E}">
        <p14:creationId xmlns:p14="http://schemas.microsoft.com/office/powerpoint/2010/main" val="381969376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108</a:t>
            </a:fld>
            <a:endParaRPr lang="en-IN"/>
          </a:p>
        </p:txBody>
      </p:sp>
    </p:spTree>
    <p:extLst>
      <p:ext uri="{BB962C8B-B14F-4D97-AF65-F5344CB8AC3E}">
        <p14:creationId xmlns:p14="http://schemas.microsoft.com/office/powerpoint/2010/main" val="221344316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109</a:t>
            </a:fld>
            <a:endParaRPr lang="en-IN"/>
          </a:p>
        </p:txBody>
      </p:sp>
    </p:spTree>
    <p:extLst>
      <p:ext uri="{BB962C8B-B14F-4D97-AF65-F5344CB8AC3E}">
        <p14:creationId xmlns:p14="http://schemas.microsoft.com/office/powerpoint/2010/main" val="423770753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110</a:t>
            </a:fld>
            <a:endParaRPr lang="en-IN"/>
          </a:p>
        </p:txBody>
      </p:sp>
    </p:spTree>
    <p:extLst>
      <p:ext uri="{BB962C8B-B14F-4D97-AF65-F5344CB8AC3E}">
        <p14:creationId xmlns:p14="http://schemas.microsoft.com/office/powerpoint/2010/main" val="75461472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111</a:t>
            </a:fld>
            <a:endParaRPr lang="en-IN"/>
          </a:p>
        </p:txBody>
      </p:sp>
    </p:spTree>
    <p:extLst>
      <p:ext uri="{BB962C8B-B14F-4D97-AF65-F5344CB8AC3E}">
        <p14:creationId xmlns:p14="http://schemas.microsoft.com/office/powerpoint/2010/main" val="245765355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112</a:t>
            </a:fld>
            <a:endParaRPr lang="en-IN"/>
          </a:p>
        </p:txBody>
      </p:sp>
    </p:spTree>
    <p:extLst>
      <p:ext uri="{BB962C8B-B14F-4D97-AF65-F5344CB8AC3E}">
        <p14:creationId xmlns:p14="http://schemas.microsoft.com/office/powerpoint/2010/main" val="109740446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113</a:t>
            </a:fld>
            <a:endParaRPr lang="en-IN"/>
          </a:p>
        </p:txBody>
      </p:sp>
    </p:spTree>
    <p:extLst>
      <p:ext uri="{BB962C8B-B14F-4D97-AF65-F5344CB8AC3E}">
        <p14:creationId xmlns:p14="http://schemas.microsoft.com/office/powerpoint/2010/main" val="208463762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114</a:t>
            </a:fld>
            <a:endParaRPr lang="en-IN"/>
          </a:p>
        </p:txBody>
      </p:sp>
    </p:spTree>
    <p:extLst>
      <p:ext uri="{BB962C8B-B14F-4D97-AF65-F5344CB8AC3E}">
        <p14:creationId xmlns:p14="http://schemas.microsoft.com/office/powerpoint/2010/main" val="372560928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115</a:t>
            </a:fld>
            <a:endParaRPr lang="en-IN"/>
          </a:p>
        </p:txBody>
      </p:sp>
    </p:spTree>
    <p:extLst>
      <p:ext uri="{BB962C8B-B14F-4D97-AF65-F5344CB8AC3E}">
        <p14:creationId xmlns:p14="http://schemas.microsoft.com/office/powerpoint/2010/main" val="369767517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116</a:t>
            </a:fld>
            <a:endParaRPr lang="en-IN"/>
          </a:p>
        </p:txBody>
      </p:sp>
    </p:spTree>
    <p:extLst>
      <p:ext uri="{BB962C8B-B14F-4D97-AF65-F5344CB8AC3E}">
        <p14:creationId xmlns:p14="http://schemas.microsoft.com/office/powerpoint/2010/main" val="89971821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117</a:t>
            </a:fld>
            <a:endParaRPr lang="en-IN"/>
          </a:p>
        </p:txBody>
      </p:sp>
    </p:spTree>
    <p:extLst>
      <p:ext uri="{BB962C8B-B14F-4D97-AF65-F5344CB8AC3E}">
        <p14:creationId xmlns:p14="http://schemas.microsoft.com/office/powerpoint/2010/main" val="160273785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118</a:t>
            </a:fld>
            <a:endParaRPr lang="en-IN"/>
          </a:p>
        </p:txBody>
      </p:sp>
    </p:spTree>
    <p:extLst>
      <p:ext uri="{BB962C8B-B14F-4D97-AF65-F5344CB8AC3E}">
        <p14:creationId xmlns:p14="http://schemas.microsoft.com/office/powerpoint/2010/main" val="271123891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119</a:t>
            </a:fld>
            <a:endParaRPr lang="en-IN"/>
          </a:p>
        </p:txBody>
      </p:sp>
    </p:spTree>
    <p:extLst>
      <p:ext uri="{BB962C8B-B14F-4D97-AF65-F5344CB8AC3E}">
        <p14:creationId xmlns:p14="http://schemas.microsoft.com/office/powerpoint/2010/main" val="380703820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120</a:t>
            </a:fld>
            <a:endParaRPr lang="en-IN"/>
          </a:p>
        </p:txBody>
      </p:sp>
    </p:spTree>
    <p:extLst>
      <p:ext uri="{BB962C8B-B14F-4D97-AF65-F5344CB8AC3E}">
        <p14:creationId xmlns:p14="http://schemas.microsoft.com/office/powerpoint/2010/main" val="256184207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121</a:t>
            </a:fld>
            <a:endParaRPr lang="en-IN"/>
          </a:p>
        </p:txBody>
      </p:sp>
    </p:spTree>
    <p:extLst>
      <p:ext uri="{BB962C8B-B14F-4D97-AF65-F5344CB8AC3E}">
        <p14:creationId xmlns:p14="http://schemas.microsoft.com/office/powerpoint/2010/main" val="55944657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122</a:t>
            </a:fld>
            <a:endParaRPr lang="en-IN"/>
          </a:p>
        </p:txBody>
      </p:sp>
    </p:spTree>
    <p:extLst>
      <p:ext uri="{BB962C8B-B14F-4D97-AF65-F5344CB8AC3E}">
        <p14:creationId xmlns:p14="http://schemas.microsoft.com/office/powerpoint/2010/main" val="1160845315"/>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123</a:t>
            </a:fld>
            <a:endParaRPr lang="en-IN"/>
          </a:p>
        </p:txBody>
      </p:sp>
    </p:spTree>
    <p:extLst>
      <p:ext uri="{BB962C8B-B14F-4D97-AF65-F5344CB8AC3E}">
        <p14:creationId xmlns:p14="http://schemas.microsoft.com/office/powerpoint/2010/main" val="27233831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124</a:t>
            </a:fld>
            <a:endParaRPr lang="en-IN"/>
          </a:p>
        </p:txBody>
      </p:sp>
    </p:spTree>
    <p:extLst>
      <p:ext uri="{BB962C8B-B14F-4D97-AF65-F5344CB8AC3E}">
        <p14:creationId xmlns:p14="http://schemas.microsoft.com/office/powerpoint/2010/main" val="27233831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125</a:t>
            </a:fld>
            <a:endParaRPr lang="en-IN"/>
          </a:p>
        </p:txBody>
      </p:sp>
    </p:spTree>
    <p:extLst>
      <p:ext uri="{BB962C8B-B14F-4D97-AF65-F5344CB8AC3E}">
        <p14:creationId xmlns:p14="http://schemas.microsoft.com/office/powerpoint/2010/main" val="27233831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126</a:t>
            </a:fld>
            <a:endParaRPr lang="en-IN"/>
          </a:p>
        </p:txBody>
      </p:sp>
    </p:spTree>
    <p:extLst>
      <p:ext uri="{BB962C8B-B14F-4D97-AF65-F5344CB8AC3E}">
        <p14:creationId xmlns:p14="http://schemas.microsoft.com/office/powerpoint/2010/main" val="272338317"/>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127</a:t>
            </a:fld>
            <a:endParaRPr lang="en-IN"/>
          </a:p>
        </p:txBody>
      </p:sp>
    </p:spTree>
    <p:extLst>
      <p:ext uri="{BB962C8B-B14F-4D97-AF65-F5344CB8AC3E}">
        <p14:creationId xmlns:p14="http://schemas.microsoft.com/office/powerpoint/2010/main" val="27233831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128</a:t>
            </a:fld>
            <a:endParaRPr lang="en-IN"/>
          </a:p>
        </p:txBody>
      </p:sp>
    </p:spTree>
    <p:extLst>
      <p:ext uri="{BB962C8B-B14F-4D97-AF65-F5344CB8AC3E}">
        <p14:creationId xmlns:p14="http://schemas.microsoft.com/office/powerpoint/2010/main" val="27233831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129</a:t>
            </a:fld>
            <a:endParaRPr lang="en-IN"/>
          </a:p>
        </p:txBody>
      </p:sp>
    </p:spTree>
    <p:extLst>
      <p:ext uri="{BB962C8B-B14F-4D97-AF65-F5344CB8AC3E}">
        <p14:creationId xmlns:p14="http://schemas.microsoft.com/office/powerpoint/2010/main" val="27233831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130</a:t>
            </a:fld>
            <a:endParaRPr lang="en-IN"/>
          </a:p>
        </p:txBody>
      </p:sp>
    </p:spTree>
    <p:extLst>
      <p:ext uri="{BB962C8B-B14F-4D97-AF65-F5344CB8AC3E}">
        <p14:creationId xmlns:p14="http://schemas.microsoft.com/office/powerpoint/2010/main" val="23083957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131</a:t>
            </a:fld>
            <a:endParaRPr lang="en-IN"/>
          </a:p>
        </p:txBody>
      </p:sp>
    </p:spTree>
    <p:extLst>
      <p:ext uri="{BB962C8B-B14F-4D97-AF65-F5344CB8AC3E}">
        <p14:creationId xmlns:p14="http://schemas.microsoft.com/office/powerpoint/2010/main" val="957936423"/>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132</a:t>
            </a:fld>
            <a:endParaRPr lang="en-IN"/>
          </a:p>
        </p:txBody>
      </p:sp>
    </p:spTree>
    <p:extLst>
      <p:ext uri="{BB962C8B-B14F-4D97-AF65-F5344CB8AC3E}">
        <p14:creationId xmlns:p14="http://schemas.microsoft.com/office/powerpoint/2010/main" val="69302787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133</a:t>
            </a:fld>
            <a:endParaRPr lang="en-IN"/>
          </a:p>
        </p:txBody>
      </p:sp>
    </p:spTree>
    <p:extLst>
      <p:ext uri="{BB962C8B-B14F-4D97-AF65-F5344CB8AC3E}">
        <p14:creationId xmlns:p14="http://schemas.microsoft.com/office/powerpoint/2010/main" val="3921192737"/>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134</a:t>
            </a:fld>
            <a:endParaRPr lang="en-IN"/>
          </a:p>
        </p:txBody>
      </p:sp>
    </p:spTree>
    <p:extLst>
      <p:ext uri="{BB962C8B-B14F-4D97-AF65-F5344CB8AC3E}">
        <p14:creationId xmlns:p14="http://schemas.microsoft.com/office/powerpoint/2010/main" val="230903797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135</a:t>
            </a:fld>
            <a:endParaRPr lang="en-IN"/>
          </a:p>
        </p:txBody>
      </p:sp>
    </p:spTree>
    <p:extLst>
      <p:ext uri="{BB962C8B-B14F-4D97-AF65-F5344CB8AC3E}">
        <p14:creationId xmlns:p14="http://schemas.microsoft.com/office/powerpoint/2010/main" val="346811926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136</a:t>
            </a:fld>
            <a:endParaRPr lang="en-IN"/>
          </a:p>
        </p:txBody>
      </p:sp>
    </p:spTree>
    <p:extLst>
      <p:ext uri="{BB962C8B-B14F-4D97-AF65-F5344CB8AC3E}">
        <p14:creationId xmlns:p14="http://schemas.microsoft.com/office/powerpoint/2010/main" val="1375740977"/>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137</a:t>
            </a:fld>
            <a:endParaRPr lang="en-IN"/>
          </a:p>
        </p:txBody>
      </p:sp>
    </p:spTree>
    <p:extLst>
      <p:ext uri="{BB962C8B-B14F-4D97-AF65-F5344CB8AC3E}">
        <p14:creationId xmlns:p14="http://schemas.microsoft.com/office/powerpoint/2010/main" val="2645706385"/>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138</a:t>
            </a:fld>
            <a:endParaRPr lang="en-IN"/>
          </a:p>
        </p:txBody>
      </p:sp>
    </p:spTree>
    <p:extLst>
      <p:ext uri="{BB962C8B-B14F-4D97-AF65-F5344CB8AC3E}">
        <p14:creationId xmlns:p14="http://schemas.microsoft.com/office/powerpoint/2010/main" val="222261030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139</a:t>
            </a:fld>
            <a:endParaRPr lang="en-IN"/>
          </a:p>
        </p:txBody>
      </p:sp>
    </p:spTree>
    <p:extLst>
      <p:ext uri="{BB962C8B-B14F-4D97-AF65-F5344CB8AC3E}">
        <p14:creationId xmlns:p14="http://schemas.microsoft.com/office/powerpoint/2010/main" val="406944256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140</a:t>
            </a:fld>
            <a:endParaRPr lang="en-IN"/>
          </a:p>
        </p:txBody>
      </p:sp>
    </p:spTree>
    <p:extLst>
      <p:ext uri="{BB962C8B-B14F-4D97-AF65-F5344CB8AC3E}">
        <p14:creationId xmlns:p14="http://schemas.microsoft.com/office/powerpoint/2010/main" val="3748353764"/>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141</a:t>
            </a:fld>
            <a:endParaRPr lang="en-IN"/>
          </a:p>
        </p:txBody>
      </p:sp>
    </p:spTree>
    <p:extLst>
      <p:ext uri="{BB962C8B-B14F-4D97-AF65-F5344CB8AC3E}">
        <p14:creationId xmlns:p14="http://schemas.microsoft.com/office/powerpoint/2010/main" val="259668865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142</a:t>
            </a:fld>
            <a:endParaRPr lang="en-IN"/>
          </a:p>
        </p:txBody>
      </p:sp>
    </p:spTree>
    <p:extLst>
      <p:ext uri="{BB962C8B-B14F-4D97-AF65-F5344CB8AC3E}">
        <p14:creationId xmlns:p14="http://schemas.microsoft.com/office/powerpoint/2010/main" val="236021113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143</a:t>
            </a:fld>
            <a:endParaRPr lang="en-IN"/>
          </a:p>
        </p:txBody>
      </p:sp>
    </p:spTree>
    <p:extLst>
      <p:ext uri="{BB962C8B-B14F-4D97-AF65-F5344CB8AC3E}">
        <p14:creationId xmlns:p14="http://schemas.microsoft.com/office/powerpoint/2010/main" val="414995032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144</a:t>
            </a:fld>
            <a:endParaRPr lang="en-IN"/>
          </a:p>
        </p:txBody>
      </p:sp>
    </p:spTree>
    <p:extLst>
      <p:ext uri="{BB962C8B-B14F-4D97-AF65-F5344CB8AC3E}">
        <p14:creationId xmlns:p14="http://schemas.microsoft.com/office/powerpoint/2010/main" val="3490413717"/>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145</a:t>
            </a:fld>
            <a:endParaRPr lang="en-IN"/>
          </a:p>
        </p:txBody>
      </p:sp>
    </p:spTree>
    <p:extLst>
      <p:ext uri="{BB962C8B-B14F-4D97-AF65-F5344CB8AC3E}">
        <p14:creationId xmlns:p14="http://schemas.microsoft.com/office/powerpoint/2010/main" val="3070910466"/>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146</a:t>
            </a:fld>
            <a:endParaRPr lang="en-IN"/>
          </a:p>
        </p:txBody>
      </p:sp>
    </p:spTree>
    <p:extLst>
      <p:ext uri="{BB962C8B-B14F-4D97-AF65-F5344CB8AC3E}">
        <p14:creationId xmlns:p14="http://schemas.microsoft.com/office/powerpoint/2010/main" val="30326678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147</a:t>
            </a:fld>
            <a:endParaRPr lang="en-IN"/>
          </a:p>
        </p:txBody>
      </p:sp>
    </p:spTree>
    <p:extLst>
      <p:ext uri="{BB962C8B-B14F-4D97-AF65-F5344CB8AC3E}">
        <p14:creationId xmlns:p14="http://schemas.microsoft.com/office/powerpoint/2010/main" val="303266783"/>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148</a:t>
            </a:fld>
            <a:endParaRPr lang="en-IN"/>
          </a:p>
        </p:txBody>
      </p:sp>
    </p:spTree>
    <p:extLst>
      <p:ext uri="{BB962C8B-B14F-4D97-AF65-F5344CB8AC3E}">
        <p14:creationId xmlns:p14="http://schemas.microsoft.com/office/powerpoint/2010/main" val="2600095713"/>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149</a:t>
            </a:fld>
            <a:endParaRPr lang="en-IN"/>
          </a:p>
        </p:txBody>
      </p:sp>
    </p:spTree>
    <p:extLst>
      <p:ext uri="{BB962C8B-B14F-4D97-AF65-F5344CB8AC3E}">
        <p14:creationId xmlns:p14="http://schemas.microsoft.com/office/powerpoint/2010/main" val="2600095713"/>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150</a:t>
            </a:fld>
            <a:endParaRPr lang="en-IN"/>
          </a:p>
        </p:txBody>
      </p:sp>
    </p:spTree>
    <p:extLst>
      <p:ext uri="{BB962C8B-B14F-4D97-AF65-F5344CB8AC3E}">
        <p14:creationId xmlns:p14="http://schemas.microsoft.com/office/powerpoint/2010/main" val="504276995"/>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151</a:t>
            </a:fld>
            <a:endParaRPr lang="en-IN"/>
          </a:p>
        </p:txBody>
      </p:sp>
    </p:spTree>
    <p:extLst>
      <p:ext uri="{BB962C8B-B14F-4D97-AF65-F5344CB8AC3E}">
        <p14:creationId xmlns:p14="http://schemas.microsoft.com/office/powerpoint/2010/main" val="364504437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152</a:t>
            </a:fld>
            <a:endParaRPr lang="en-IN"/>
          </a:p>
        </p:txBody>
      </p:sp>
    </p:spTree>
    <p:extLst>
      <p:ext uri="{BB962C8B-B14F-4D97-AF65-F5344CB8AC3E}">
        <p14:creationId xmlns:p14="http://schemas.microsoft.com/office/powerpoint/2010/main" val="1793064300"/>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153</a:t>
            </a:fld>
            <a:endParaRPr lang="en-IN"/>
          </a:p>
        </p:txBody>
      </p:sp>
    </p:spTree>
    <p:extLst>
      <p:ext uri="{BB962C8B-B14F-4D97-AF65-F5344CB8AC3E}">
        <p14:creationId xmlns:p14="http://schemas.microsoft.com/office/powerpoint/2010/main" val="1868455519"/>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5201B3D-27D1-402F-9373-2E3A6CB9E767}" type="slidenum">
              <a:rPr lang="en-IN" smtClean="0"/>
              <a:t>154</a:t>
            </a:fld>
            <a:endParaRPr lang="en-IN"/>
          </a:p>
        </p:txBody>
      </p:sp>
    </p:spTree>
    <p:extLst>
      <p:ext uri="{BB962C8B-B14F-4D97-AF65-F5344CB8AC3E}">
        <p14:creationId xmlns:p14="http://schemas.microsoft.com/office/powerpoint/2010/main" val="3645044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E30B211-710E-4384-AA11-265C6EA3008A}" type="datetime1">
              <a:rPr lang="en-IN" smtClean="0"/>
              <a:t>21-03-2026</a:t>
            </a:fld>
            <a:endParaRPr lang="en-IN"/>
          </a:p>
        </p:txBody>
      </p:sp>
      <p:sp>
        <p:nvSpPr>
          <p:cNvPr id="5" name="Footer Placeholder 4"/>
          <p:cNvSpPr>
            <a:spLocks noGrp="1"/>
          </p:cNvSpPr>
          <p:nvPr>
            <p:ph type="ftr" sz="quarter" idx="11"/>
          </p:nvPr>
        </p:nvSpPr>
        <p:spPr/>
        <p:txBody>
          <a:bodyPr/>
          <a:lstStyle/>
          <a:p>
            <a:r>
              <a:rPr lang="en-IN" smtClean="0"/>
              <a:t>Dr. Vijayalaxmi Mekali, Professor, Dept of CSE, KSIT</a:t>
            </a:r>
            <a:endParaRPr lang="en-IN"/>
          </a:p>
        </p:txBody>
      </p:sp>
      <p:sp>
        <p:nvSpPr>
          <p:cNvPr id="6" name="Slide Number Placeholder 5"/>
          <p:cNvSpPr>
            <a:spLocks noGrp="1"/>
          </p:cNvSpPr>
          <p:nvPr>
            <p:ph type="sldNum" sz="quarter" idx="12"/>
          </p:nvPr>
        </p:nvSpPr>
        <p:spPr/>
        <p:txBody>
          <a:bodyPr/>
          <a:lstStyle/>
          <a:p>
            <a:fld id="{9DBF8153-9B6B-4F96-B9F5-FB4D5D4160F7}" type="slidenum">
              <a:rPr lang="en-IN" smtClean="0"/>
              <a:t>‹#›</a:t>
            </a:fld>
            <a:endParaRPr lang="en-IN"/>
          </a:p>
        </p:txBody>
      </p:sp>
    </p:spTree>
    <p:extLst>
      <p:ext uri="{BB962C8B-B14F-4D97-AF65-F5344CB8AC3E}">
        <p14:creationId xmlns:p14="http://schemas.microsoft.com/office/powerpoint/2010/main" val="149345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EF01A92-1DE8-45B7-A386-D4737B267679}" type="datetime1">
              <a:rPr lang="en-IN" smtClean="0"/>
              <a:t>21-03-2026</a:t>
            </a:fld>
            <a:endParaRPr lang="en-IN"/>
          </a:p>
        </p:txBody>
      </p:sp>
      <p:sp>
        <p:nvSpPr>
          <p:cNvPr id="5" name="Footer Placeholder 4"/>
          <p:cNvSpPr>
            <a:spLocks noGrp="1"/>
          </p:cNvSpPr>
          <p:nvPr>
            <p:ph type="ftr" sz="quarter" idx="11"/>
          </p:nvPr>
        </p:nvSpPr>
        <p:spPr/>
        <p:txBody>
          <a:bodyPr/>
          <a:lstStyle/>
          <a:p>
            <a:r>
              <a:rPr lang="en-IN" smtClean="0"/>
              <a:t>Dr. Vijayalaxmi Mekali, Professor, Dept of CSE, KSIT</a:t>
            </a:r>
            <a:endParaRPr lang="en-IN"/>
          </a:p>
        </p:txBody>
      </p:sp>
      <p:sp>
        <p:nvSpPr>
          <p:cNvPr id="6" name="Slide Number Placeholder 5"/>
          <p:cNvSpPr>
            <a:spLocks noGrp="1"/>
          </p:cNvSpPr>
          <p:nvPr>
            <p:ph type="sldNum" sz="quarter" idx="12"/>
          </p:nvPr>
        </p:nvSpPr>
        <p:spPr/>
        <p:txBody>
          <a:bodyPr/>
          <a:lstStyle/>
          <a:p>
            <a:fld id="{9DBF8153-9B6B-4F96-B9F5-FB4D5D4160F7}" type="slidenum">
              <a:rPr lang="en-IN" smtClean="0"/>
              <a:t>‹#›</a:t>
            </a:fld>
            <a:endParaRPr lang="en-IN"/>
          </a:p>
        </p:txBody>
      </p:sp>
    </p:spTree>
    <p:extLst>
      <p:ext uri="{BB962C8B-B14F-4D97-AF65-F5344CB8AC3E}">
        <p14:creationId xmlns:p14="http://schemas.microsoft.com/office/powerpoint/2010/main" val="895671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F4A57AE-809E-4CE4-B94F-F17DA9BAF2A2}" type="datetime1">
              <a:rPr lang="en-IN" smtClean="0"/>
              <a:t>21-03-2026</a:t>
            </a:fld>
            <a:endParaRPr lang="en-IN"/>
          </a:p>
        </p:txBody>
      </p:sp>
      <p:sp>
        <p:nvSpPr>
          <p:cNvPr id="5" name="Footer Placeholder 4"/>
          <p:cNvSpPr>
            <a:spLocks noGrp="1"/>
          </p:cNvSpPr>
          <p:nvPr>
            <p:ph type="ftr" sz="quarter" idx="11"/>
          </p:nvPr>
        </p:nvSpPr>
        <p:spPr/>
        <p:txBody>
          <a:bodyPr/>
          <a:lstStyle/>
          <a:p>
            <a:r>
              <a:rPr lang="en-IN" smtClean="0"/>
              <a:t>Dr. Vijayalaxmi Mekali, Professor, Dept of CSE, KSIT</a:t>
            </a:r>
            <a:endParaRPr lang="en-IN"/>
          </a:p>
        </p:txBody>
      </p:sp>
      <p:sp>
        <p:nvSpPr>
          <p:cNvPr id="6" name="Slide Number Placeholder 5"/>
          <p:cNvSpPr>
            <a:spLocks noGrp="1"/>
          </p:cNvSpPr>
          <p:nvPr>
            <p:ph type="sldNum" sz="quarter" idx="12"/>
          </p:nvPr>
        </p:nvSpPr>
        <p:spPr/>
        <p:txBody>
          <a:bodyPr/>
          <a:lstStyle/>
          <a:p>
            <a:fld id="{9DBF8153-9B6B-4F96-B9F5-FB4D5D4160F7}" type="slidenum">
              <a:rPr lang="en-IN" smtClean="0"/>
              <a:t>‹#›</a:t>
            </a:fld>
            <a:endParaRPr lang="en-IN"/>
          </a:p>
        </p:txBody>
      </p:sp>
    </p:spTree>
    <p:extLst>
      <p:ext uri="{BB962C8B-B14F-4D97-AF65-F5344CB8AC3E}">
        <p14:creationId xmlns:p14="http://schemas.microsoft.com/office/powerpoint/2010/main" val="1493923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83D7005-D246-4C59-96F1-DE1B9BC37AA6}" type="datetime1">
              <a:rPr lang="en-IN" smtClean="0"/>
              <a:t>21-03-2026</a:t>
            </a:fld>
            <a:endParaRPr lang="en-IN"/>
          </a:p>
        </p:txBody>
      </p:sp>
      <p:sp>
        <p:nvSpPr>
          <p:cNvPr id="6" name="Footer Placeholder 5"/>
          <p:cNvSpPr>
            <a:spLocks noGrp="1"/>
          </p:cNvSpPr>
          <p:nvPr>
            <p:ph type="ftr" sz="quarter" idx="11"/>
          </p:nvPr>
        </p:nvSpPr>
        <p:spPr/>
        <p:txBody>
          <a:bodyPr/>
          <a:lstStyle/>
          <a:p>
            <a:r>
              <a:rPr lang="en-IN" smtClean="0"/>
              <a:t>Dr. Vijayalaxmi Mekali, Professor, Dept of CSE, KSIT</a:t>
            </a:r>
            <a:endParaRPr lang="en-IN"/>
          </a:p>
        </p:txBody>
      </p:sp>
      <p:sp>
        <p:nvSpPr>
          <p:cNvPr id="7" name="Slide Number Placeholder 6"/>
          <p:cNvSpPr>
            <a:spLocks noGrp="1"/>
          </p:cNvSpPr>
          <p:nvPr>
            <p:ph type="sldNum" sz="quarter" idx="12"/>
          </p:nvPr>
        </p:nvSpPr>
        <p:spPr/>
        <p:txBody>
          <a:bodyPr/>
          <a:lstStyle/>
          <a:p>
            <a:fld id="{9DBF8153-9B6B-4F96-B9F5-FB4D5D4160F7}" type="slidenum">
              <a:rPr lang="en-IN" smtClean="0"/>
              <a:t>‹#›</a:t>
            </a:fld>
            <a:endParaRPr lang="en-IN"/>
          </a:p>
        </p:txBody>
      </p:sp>
    </p:spTree>
    <p:extLst>
      <p:ext uri="{BB962C8B-B14F-4D97-AF65-F5344CB8AC3E}">
        <p14:creationId xmlns:p14="http://schemas.microsoft.com/office/powerpoint/2010/main" val="4164337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4A0811C-65B9-4393-A6C9-0C5155ED3229}" type="datetime1">
              <a:rPr lang="en-IN" smtClean="0"/>
              <a:t>21-03-2026</a:t>
            </a:fld>
            <a:endParaRPr lang="en-IN"/>
          </a:p>
        </p:txBody>
      </p:sp>
      <p:sp>
        <p:nvSpPr>
          <p:cNvPr id="8" name="Footer Placeholder 7"/>
          <p:cNvSpPr>
            <a:spLocks noGrp="1"/>
          </p:cNvSpPr>
          <p:nvPr>
            <p:ph type="ftr" sz="quarter" idx="11"/>
          </p:nvPr>
        </p:nvSpPr>
        <p:spPr/>
        <p:txBody>
          <a:bodyPr/>
          <a:lstStyle/>
          <a:p>
            <a:r>
              <a:rPr lang="en-IN" smtClean="0"/>
              <a:t>Dr. Vijayalaxmi Mekali, Professor, Dept of CSE, KSIT</a:t>
            </a:r>
            <a:endParaRPr lang="en-IN"/>
          </a:p>
        </p:txBody>
      </p:sp>
      <p:sp>
        <p:nvSpPr>
          <p:cNvPr id="9" name="Slide Number Placeholder 8"/>
          <p:cNvSpPr>
            <a:spLocks noGrp="1"/>
          </p:cNvSpPr>
          <p:nvPr>
            <p:ph type="sldNum" sz="quarter" idx="12"/>
          </p:nvPr>
        </p:nvSpPr>
        <p:spPr/>
        <p:txBody>
          <a:bodyPr/>
          <a:lstStyle/>
          <a:p>
            <a:fld id="{9DBF8153-9B6B-4F96-B9F5-FB4D5D4160F7}" type="slidenum">
              <a:rPr lang="en-IN" smtClean="0"/>
              <a:t>‹#›</a:t>
            </a:fld>
            <a:endParaRPr lang="en-IN"/>
          </a:p>
        </p:txBody>
      </p:sp>
    </p:spTree>
    <p:extLst>
      <p:ext uri="{BB962C8B-B14F-4D97-AF65-F5344CB8AC3E}">
        <p14:creationId xmlns:p14="http://schemas.microsoft.com/office/powerpoint/2010/main" val="2339391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3053EB1-B547-4411-BAD5-082272D8C2A6}" type="datetime1">
              <a:rPr lang="en-IN" smtClean="0"/>
              <a:t>21-03-2026</a:t>
            </a:fld>
            <a:endParaRPr lang="en-IN"/>
          </a:p>
        </p:txBody>
      </p:sp>
      <p:sp>
        <p:nvSpPr>
          <p:cNvPr id="4" name="Footer Placeholder 3"/>
          <p:cNvSpPr>
            <a:spLocks noGrp="1"/>
          </p:cNvSpPr>
          <p:nvPr>
            <p:ph type="ftr" sz="quarter" idx="11"/>
          </p:nvPr>
        </p:nvSpPr>
        <p:spPr/>
        <p:txBody>
          <a:bodyPr/>
          <a:lstStyle/>
          <a:p>
            <a:r>
              <a:rPr lang="en-IN" smtClean="0"/>
              <a:t>Dr. Vijayalaxmi Mekali, Professor, Dept of CSE, KSIT</a:t>
            </a:r>
            <a:endParaRPr lang="en-IN"/>
          </a:p>
        </p:txBody>
      </p:sp>
      <p:sp>
        <p:nvSpPr>
          <p:cNvPr id="5" name="Slide Number Placeholder 4"/>
          <p:cNvSpPr>
            <a:spLocks noGrp="1"/>
          </p:cNvSpPr>
          <p:nvPr>
            <p:ph type="sldNum" sz="quarter" idx="12"/>
          </p:nvPr>
        </p:nvSpPr>
        <p:spPr/>
        <p:txBody>
          <a:bodyPr/>
          <a:lstStyle/>
          <a:p>
            <a:fld id="{9DBF8153-9B6B-4F96-B9F5-FB4D5D4160F7}" type="slidenum">
              <a:rPr lang="en-IN" smtClean="0"/>
              <a:t>‹#›</a:t>
            </a:fld>
            <a:endParaRPr lang="en-IN"/>
          </a:p>
        </p:txBody>
      </p:sp>
    </p:spTree>
    <p:extLst>
      <p:ext uri="{BB962C8B-B14F-4D97-AF65-F5344CB8AC3E}">
        <p14:creationId xmlns:p14="http://schemas.microsoft.com/office/powerpoint/2010/main" val="1726245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43B1A2-312E-43E8-A2CE-922C9ADBBD58}" type="datetime1">
              <a:rPr lang="en-IN" smtClean="0"/>
              <a:t>21-03-2026</a:t>
            </a:fld>
            <a:endParaRPr lang="en-IN"/>
          </a:p>
        </p:txBody>
      </p:sp>
      <p:sp>
        <p:nvSpPr>
          <p:cNvPr id="3" name="Footer Placeholder 2"/>
          <p:cNvSpPr>
            <a:spLocks noGrp="1"/>
          </p:cNvSpPr>
          <p:nvPr>
            <p:ph type="ftr" sz="quarter" idx="11"/>
          </p:nvPr>
        </p:nvSpPr>
        <p:spPr/>
        <p:txBody>
          <a:bodyPr/>
          <a:lstStyle/>
          <a:p>
            <a:r>
              <a:rPr lang="en-IN" smtClean="0"/>
              <a:t>Dr. Vijayalaxmi Mekali, Professor, Dept of CSE, KSIT</a:t>
            </a:r>
            <a:endParaRPr lang="en-IN"/>
          </a:p>
        </p:txBody>
      </p:sp>
      <p:sp>
        <p:nvSpPr>
          <p:cNvPr id="4" name="Slide Number Placeholder 3"/>
          <p:cNvSpPr>
            <a:spLocks noGrp="1"/>
          </p:cNvSpPr>
          <p:nvPr>
            <p:ph type="sldNum" sz="quarter" idx="12"/>
          </p:nvPr>
        </p:nvSpPr>
        <p:spPr/>
        <p:txBody>
          <a:bodyPr/>
          <a:lstStyle/>
          <a:p>
            <a:fld id="{9DBF8153-9B6B-4F96-B9F5-FB4D5D4160F7}" type="slidenum">
              <a:rPr lang="en-IN" smtClean="0"/>
              <a:t>‹#›</a:t>
            </a:fld>
            <a:endParaRPr lang="en-IN"/>
          </a:p>
        </p:txBody>
      </p:sp>
    </p:spTree>
    <p:extLst>
      <p:ext uri="{BB962C8B-B14F-4D97-AF65-F5344CB8AC3E}">
        <p14:creationId xmlns:p14="http://schemas.microsoft.com/office/powerpoint/2010/main" val="3979123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722A9F-84E5-4D0D-96BE-876D1978333D}" type="datetime1">
              <a:rPr lang="en-IN" smtClean="0"/>
              <a:t>21-03-2026</a:t>
            </a:fld>
            <a:endParaRPr lang="en-IN"/>
          </a:p>
        </p:txBody>
      </p:sp>
      <p:sp>
        <p:nvSpPr>
          <p:cNvPr id="6" name="Footer Placeholder 5"/>
          <p:cNvSpPr>
            <a:spLocks noGrp="1"/>
          </p:cNvSpPr>
          <p:nvPr>
            <p:ph type="ftr" sz="quarter" idx="11"/>
          </p:nvPr>
        </p:nvSpPr>
        <p:spPr/>
        <p:txBody>
          <a:bodyPr/>
          <a:lstStyle/>
          <a:p>
            <a:r>
              <a:rPr lang="en-IN" smtClean="0"/>
              <a:t>Dr. Vijayalaxmi Mekali, Professor, Dept of CSE, KSIT</a:t>
            </a:r>
            <a:endParaRPr lang="en-IN"/>
          </a:p>
        </p:txBody>
      </p:sp>
      <p:sp>
        <p:nvSpPr>
          <p:cNvPr id="7" name="Slide Number Placeholder 6"/>
          <p:cNvSpPr>
            <a:spLocks noGrp="1"/>
          </p:cNvSpPr>
          <p:nvPr>
            <p:ph type="sldNum" sz="quarter" idx="12"/>
          </p:nvPr>
        </p:nvSpPr>
        <p:spPr/>
        <p:txBody>
          <a:bodyPr/>
          <a:lstStyle/>
          <a:p>
            <a:fld id="{9DBF8153-9B6B-4F96-B9F5-FB4D5D4160F7}" type="slidenum">
              <a:rPr lang="en-IN" smtClean="0"/>
              <a:t>‹#›</a:t>
            </a:fld>
            <a:endParaRPr lang="en-IN"/>
          </a:p>
        </p:txBody>
      </p:sp>
    </p:spTree>
    <p:extLst>
      <p:ext uri="{BB962C8B-B14F-4D97-AF65-F5344CB8AC3E}">
        <p14:creationId xmlns:p14="http://schemas.microsoft.com/office/powerpoint/2010/main" val="1658508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E3A300-6EE3-4CA9-8A3F-A49D220CC061}" type="datetime1">
              <a:rPr lang="en-IN" smtClean="0"/>
              <a:t>21-03-2026</a:t>
            </a:fld>
            <a:endParaRPr lang="en-IN"/>
          </a:p>
        </p:txBody>
      </p:sp>
      <p:sp>
        <p:nvSpPr>
          <p:cNvPr id="6" name="Footer Placeholder 5"/>
          <p:cNvSpPr>
            <a:spLocks noGrp="1"/>
          </p:cNvSpPr>
          <p:nvPr>
            <p:ph type="ftr" sz="quarter" idx="11"/>
          </p:nvPr>
        </p:nvSpPr>
        <p:spPr/>
        <p:txBody>
          <a:bodyPr/>
          <a:lstStyle/>
          <a:p>
            <a:r>
              <a:rPr lang="en-IN" smtClean="0"/>
              <a:t>Dr. Vijayalaxmi Mekali, Professor, Dept of CSE, KSIT</a:t>
            </a:r>
            <a:endParaRPr lang="en-IN"/>
          </a:p>
        </p:txBody>
      </p:sp>
      <p:sp>
        <p:nvSpPr>
          <p:cNvPr id="7" name="Slide Number Placeholder 6"/>
          <p:cNvSpPr>
            <a:spLocks noGrp="1"/>
          </p:cNvSpPr>
          <p:nvPr>
            <p:ph type="sldNum" sz="quarter" idx="12"/>
          </p:nvPr>
        </p:nvSpPr>
        <p:spPr/>
        <p:txBody>
          <a:bodyPr/>
          <a:lstStyle/>
          <a:p>
            <a:fld id="{9DBF8153-9B6B-4F96-B9F5-FB4D5D4160F7}" type="slidenum">
              <a:rPr lang="en-IN" smtClean="0"/>
              <a:t>‹#›</a:t>
            </a:fld>
            <a:endParaRPr lang="en-IN"/>
          </a:p>
        </p:txBody>
      </p:sp>
    </p:spTree>
    <p:extLst>
      <p:ext uri="{BB962C8B-B14F-4D97-AF65-F5344CB8AC3E}">
        <p14:creationId xmlns:p14="http://schemas.microsoft.com/office/powerpoint/2010/main" val="3499467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1989AD3-2C15-4506-AC2B-A531E8A42AF1}" type="datetime1">
              <a:rPr lang="en-IN" smtClean="0"/>
              <a:t>21-03-2026</a:t>
            </a:fld>
            <a:endParaRPr lang="en-IN"/>
          </a:p>
        </p:txBody>
      </p:sp>
      <p:sp>
        <p:nvSpPr>
          <p:cNvPr id="5" name="Footer Placeholder 4"/>
          <p:cNvSpPr>
            <a:spLocks noGrp="1"/>
          </p:cNvSpPr>
          <p:nvPr>
            <p:ph type="ftr" sz="quarter" idx="11"/>
          </p:nvPr>
        </p:nvSpPr>
        <p:spPr/>
        <p:txBody>
          <a:bodyPr/>
          <a:lstStyle/>
          <a:p>
            <a:r>
              <a:rPr lang="en-IN" smtClean="0"/>
              <a:t>Dr. Vijayalaxmi Mekali, Professor, Dept of CSE, KSIT</a:t>
            </a:r>
            <a:endParaRPr lang="en-IN"/>
          </a:p>
        </p:txBody>
      </p:sp>
      <p:sp>
        <p:nvSpPr>
          <p:cNvPr id="6" name="Slide Number Placeholder 5"/>
          <p:cNvSpPr>
            <a:spLocks noGrp="1"/>
          </p:cNvSpPr>
          <p:nvPr>
            <p:ph type="sldNum" sz="quarter" idx="12"/>
          </p:nvPr>
        </p:nvSpPr>
        <p:spPr/>
        <p:txBody>
          <a:bodyPr/>
          <a:lstStyle/>
          <a:p>
            <a:fld id="{9DBF8153-9B6B-4F96-B9F5-FB4D5D4160F7}" type="slidenum">
              <a:rPr lang="en-IN" smtClean="0"/>
              <a:t>‹#›</a:t>
            </a:fld>
            <a:endParaRPr lang="en-IN"/>
          </a:p>
        </p:txBody>
      </p:sp>
    </p:spTree>
    <p:extLst>
      <p:ext uri="{BB962C8B-B14F-4D97-AF65-F5344CB8AC3E}">
        <p14:creationId xmlns:p14="http://schemas.microsoft.com/office/powerpoint/2010/main" val="29104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7EBBE52-8425-43F9-A54B-8BB02A1800E5}" type="datetime1">
              <a:rPr lang="en-IN" smtClean="0"/>
              <a:t>21-03-2026</a:t>
            </a:fld>
            <a:endParaRPr lang="en-IN"/>
          </a:p>
        </p:txBody>
      </p:sp>
      <p:sp>
        <p:nvSpPr>
          <p:cNvPr id="5" name="Footer Placeholder 4"/>
          <p:cNvSpPr>
            <a:spLocks noGrp="1"/>
          </p:cNvSpPr>
          <p:nvPr>
            <p:ph type="ftr" sz="quarter" idx="11"/>
          </p:nvPr>
        </p:nvSpPr>
        <p:spPr/>
        <p:txBody>
          <a:bodyPr/>
          <a:lstStyle/>
          <a:p>
            <a:r>
              <a:rPr lang="en-IN" smtClean="0"/>
              <a:t>Dr. Vijayalaxmi Mekali, Professor, Dept of CSE, KSIT</a:t>
            </a:r>
            <a:endParaRPr lang="en-IN"/>
          </a:p>
        </p:txBody>
      </p:sp>
      <p:sp>
        <p:nvSpPr>
          <p:cNvPr id="6" name="Slide Number Placeholder 5"/>
          <p:cNvSpPr>
            <a:spLocks noGrp="1"/>
          </p:cNvSpPr>
          <p:nvPr>
            <p:ph type="sldNum" sz="quarter" idx="12"/>
          </p:nvPr>
        </p:nvSpPr>
        <p:spPr/>
        <p:txBody>
          <a:bodyPr/>
          <a:lstStyle/>
          <a:p>
            <a:fld id="{9DBF8153-9B6B-4F96-B9F5-FB4D5D4160F7}" type="slidenum">
              <a:rPr lang="en-IN" smtClean="0"/>
              <a:t>‹#›</a:t>
            </a:fld>
            <a:endParaRPr lang="en-IN"/>
          </a:p>
        </p:txBody>
      </p:sp>
    </p:spTree>
    <p:extLst>
      <p:ext uri="{BB962C8B-B14F-4D97-AF65-F5344CB8AC3E}">
        <p14:creationId xmlns:p14="http://schemas.microsoft.com/office/powerpoint/2010/main" val="4111403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71CB6D-652A-400D-A846-319AD2F9219F}" type="datetime1">
              <a:rPr lang="en-IN" smtClean="0"/>
              <a:t>21-03-2026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Dr. Vijayalaxmi Mekali, Professor, Dept of CSE, KSIT</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BF8153-9B6B-4F96-B9F5-FB4D5D4160F7}" type="slidenum">
              <a:rPr lang="en-IN" smtClean="0"/>
              <a:t>‹#›</a:t>
            </a:fld>
            <a:endParaRPr lang="en-IN"/>
          </a:p>
        </p:txBody>
      </p:sp>
    </p:spTree>
    <p:extLst>
      <p:ext uri="{BB962C8B-B14F-4D97-AF65-F5344CB8AC3E}">
        <p14:creationId xmlns:p14="http://schemas.microsoft.com/office/powerpoint/2010/main" val="36918214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3.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8"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82.png"/></Relationships>
</file>

<file path=ppt/slides/_rels/slide39.xml.rels><?xml version="1.0" encoding="UTF-8" standalone="yes"?>
<Relationships xmlns="http://schemas.openxmlformats.org/package/2006/relationships"><Relationship Id="rId8"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220.png"/><Relationship Id="rId5" Type="http://schemas.openxmlformats.org/officeDocument/2006/relationships/image" Target="../media/image2.pn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8" Type="http://schemas.openxmlformats.org/officeDocument/2006/relationships/image" Target="../media/image16.png"/><Relationship Id="rId7"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81.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16.png"/></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6.png"/><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16.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16.png"/></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79.xml"/><Relationship Id="rId7" Type="http://schemas.openxmlformats.org/officeDocument/2006/relationships/image" Target="../media/image26.png"/><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16.png"/><Relationship Id="rId5" Type="http://schemas.openxmlformats.org/officeDocument/2006/relationships/image" Target="../media/image1.png"/><Relationship Id="rId4" Type="http://schemas.openxmlformats.org/officeDocument/2006/relationships/image" Target="../media/image19.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82.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300.png"/><Relationship Id="rId2" Type="http://schemas.openxmlformats.org/officeDocument/2006/relationships/notesSlide" Target="../notesSlides/notesSlide82.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6.png"/><Relationship Id="rId4" Type="http://schemas.openxmlformats.org/officeDocument/2006/relationships/image" Target="../media/image1.png"/></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85.xml.rels><?xml version="1.0" encoding="UTF-8" standalone="yes"?>
<Relationships xmlns="http://schemas.openxmlformats.org/package/2006/relationships"><Relationship Id="rId8" Type="http://schemas.openxmlformats.org/officeDocument/2006/relationships/image" Target="../media/image16.png"/><Relationship Id="rId7"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1.xml"/><Relationship Id="rId6" Type="http://schemas.openxmlformats.org/officeDocument/2006/relationships/image" Target="../media/image85.png"/></Relationships>
</file>

<file path=ppt/slides/_rels/slide86.xml.rels><?xml version="1.0" encoding="UTF-8" standalone="yes"?>
<Relationships xmlns="http://schemas.openxmlformats.org/package/2006/relationships"><Relationship Id="rId8" Type="http://schemas.openxmlformats.org/officeDocument/2006/relationships/image" Target="../media/image16.png"/><Relationship Id="rId7"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1.xml"/><Relationship Id="rId6" Type="http://schemas.openxmlformats.org/officeDocument/2006/relationships/image" Target="../media/image86.png"/></Relationships>
</file>

<file path=ppt/slides/_rels/slide8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7.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png"/></Relationships>
</file>

<file path=ppt/slides/_rels/slide8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png"/></Relationships>
</file>

<file path=ppt/slides/_rels/slide8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png"/></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16.png"/></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16.png"/></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png"/></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png"/></Relationships>
</file>

<file path=ppt/slides/_rels/slide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3.xml"/><Relationship Id="rId1" Type="http://schemas.openxmlformats.org/officeDocument/2006/relationships/slideLayout" Target="../slideLayouts/slideLayout1.xml"/><Relationship Id="rId6" Type="http://schemas.openxmlformats.org/officeDocument/2006/relationships/image" Target="../media/image44.png"/><Relationship Id="rId4" Type="http://schemas.openxmlformats.org/officeDocument/2006/relationships/image" Target="../media/image16.png"/></Relationships>
</file>

<file path=ppt/slides/_rels/slide10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png"/></Relationships>
</file>

<file path=ppt/slides/_rels/slide10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png"/></Relationships>
</file>

<file path=ppt/slides/_rels/slide10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6.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16.png"/><Relationship Id="rId4" Type="http://schemas.openxmlformats.org/officeDocument/2006/relationships/image" Target="../media/image1.png"/></Relationships>
</file>

<file path=ppt/slides/_rels/slide107.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notesSlide" Target="../notesSlides/notesSlide107.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16.png"/><Relationship Id="rId4" Type="http://schemas.openxmlformats.org/officeDocument/2006/relationships/image" Target="../media/image1.png"/></Relationships>
</file>

<file path=ppt/slides/_rels/slide108.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1.png"/><Relationship Id="rId2" Type="http://schemas.openxmlformats.org/officeDocument/2006/relationships/notesSlide" Target="../notesSlides/notesSlide108.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16.png"/><Relationship Id="rId4" Type="http://schemas.openxmlformats.org/officeDocument/2006/relationships/image" Target="../media/image1.png"/></Relationships>
</file>

<file path=ppt/slides/_rels/slide109.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1.png"/><Relationship Id="rId2" Type="http://schemas.openxmlformats.org/officeDocument/2006/relationships/notesSlide" Target="../notesSlides/notesSlide109.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16.png"/><Relationship Id="rId4" Type="http://schemas.openxmlformats.org/officeDocument/2006/relationships/image" Target="../media/image1.png"/></Relationships>
</file>

<file path=ppt/slides/_rels/slide110.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1.png"/><Relationship Id="rId2" Type="http://schemas.openxmlformats.org/officeDocument/2006/relationships/notesSlide" Target="../notesSlides/notesSlide110.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16.png"/><Relationship Id="rId4" Type="http://schemas.openxmlformats.org/officeDocument/2006/relationships/image" Target="../media/image1.png"/></Relationships>
</file>

<file path=ppt/slides/_rels/slide111.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1.png"/><Relationship Id="rId2" Type="http://schemas.openxmlformats.org/officeDocument/2006/relationships/notesSlide" Target="../notesSlides/notesSlide111.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16.png"/><Relationship Id="rId4" Type="http://schemas.openxmlformats.org/officeDocument/2006/relationships/image" Target="../media/image1.png"/></Relationships>
</file>

<file path=ppt/slides/_rels/slide112.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1.png"/><Relationship Id="rId2" Type="http://schemas.openxmlformats.org/officeDocument/2006/relationships/notesSlide" Target="../notesSlides/notesSlide112.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16.png"/><Relationship Id="rId4" Type="http://schemas.openxmlformats.org/officeDocument/2006/relationships/image" Target="../media/image1.png"/></Relationships>
</file>

<file path=ppt/slides/_rels/slide113.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51.png"/><Relationship Id="rId2" Type="http://schemas.openxmlformats.org/officeDocument/2006/relationships/notesSlide" Target="../notesSlides/notesSlide113.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16.png"/><Relationship Id="rId4" Type="http://schemas.openxmlformats.org/officeDocument/2006/relationships/image" Target="../media/image1.png"/></Relationships>
</file>

<file path=ppt/slides/_rels/slide11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4.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16.png"/><Relationship Id="rId4" Type="http://schemas.openxmlformats.org/officeDocument/2006/relationships/image" Target="../media/image1.png"/></Relationships>
</file>

<file path=ppt/slides/_rels/slide1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5.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16.png"/></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7.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6.png"/></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image" Target="../media/image16.png"/></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6.png"/></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3.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16.png"/></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9.xml"/><Relationship Id="rId1"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image" Target="../media/image16.png"/></Relationships>
</file>

<file path=ppt/slides/_rels/slide1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2.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16.png"/></Relationships>
</file>

<file path=ppt/slides/_rels/slide1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3.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16.png"/></Relationships>
</file>

<file path=ppt/slides/_rels/slide1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4.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16.png"/></Relationships>
</file>

<file path=ppt/slides/_rels/slide1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5.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16.png"/></Relationships>
</file>

<file path=ppt/slides/_rels/slide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6.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16.png"/></Relationships>
</file>

<file path=ppt/slides/_rels/slide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7.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16.png"/></Relationships>
</file>

<file path=ppt/slides/_rels/slide1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8.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16.png"/></Relationships>
</file>

<file path=ppt/slides/_rels/slide1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9.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16.png"/></Relationships>
</file>

<file path=ppt/slides/_rels/slide1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0.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16.png"/></Relationships>
</file>

<file path=ppt/slides/_rels/slide1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1.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16.png"/></Relationships>
</file>

<file path=ppt/slides/_rels/slide1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2.xml"/><Relationship Id="rId1"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image" Target="../media/image16.png"/></Relationships>
</file>

<file path=ppt/slides/_rels/slide1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3.xml"/><Relationship Id="rId1"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image" Target="../media/image16.png"/></Relationships>
</file>

<file path=ppt/slides/_rels/slide1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4.xml"/><Relationship Id="rId1"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image" Target="../media/image16.png"/></Relationships>
</file>

<file path=ppt/slides/_rels/slide1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5.xml"/><Relationship Id="rId1"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image" Target="../media/image16.png"/></Relationships>
</file>

<file path=ppt/slides/_rels/slide1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6.xml"/><Relationship Id="rId1" Type="http://schemas.openxmlformats.org/officeDocument/2006/relationships/slideLayout" Target="../slideLayouts/slideLayout1.xml"/><Relationship Id="rId5" Type="http://schemas.openxmlformats.org/officeDocument/2006/relationships/image" Target="../media/image64.png"/><Relationship Id="rId4" Type="http://schemas.openxmlformats.org/officeDocument/2006/relationships/image" Target="../media/image16.png"/></Relationships>
</file>

<file path=ppt/slides/_rels/slide1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8.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16.png"/></Relationships>
</file>

<file path=ppt/slides/_rels/slide14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1.png"/><Relationship Id="rId7" Type="http://schemas.openxmlformats.org/officeDocument/2006/relationships/image" Target="../media/image68.png"/><Relationship Id="rId2" Type="http://schemas.openxmlformats.org/officeDocument/2006/relationships/notesSlide" Target="../notesSlides/notesSlide149.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4.png"/><Relationship Id="rId4" Type="http://schemas.openxmlformats.org/officeDocument/2006/relationships/image" Target="../media/image16.png"/></Relationships>
</file>

<file path=ppt/slides/_rels/slide1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0.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16.png"/></Relationships>
</file>

<file path=ppt/slides/_rels/slide1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2.xml"/><Relationship Id="rId1"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image" Target="../media/image16.png"/></Relationships>
</file>

<file path=ppt/slides/_rels/slide153.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1.png"/><Relationship Id="rId7" Type="http://schemas.openxmlformats.org/officeDocument/2006/relationships/image" Target="../media/image72.png"/><Relationship Id="rId2" Type="http://schemas.openxmlformats.org/officeDocument/2006/relationships/notesSlide" Target="../notesSlides/notesSlide153.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63.png"/><Relationship Id="rId10" Type="http://schemas.openxmlformats.org/officeDocument/2006/relationships/image" Target="../media/image75.png"/><Relationship Id="rId4" Type="http://schemas.openxmlformats.org/officeDocument/2006/relationships/image" Target="../media/image16.png"/><Relationship Id="rId9" Type="http://schemas.openxmlformats.org/officeDocument/2006/relationships/image" Target="../media/image74.png"/></Relationships>
</file>

<file path=ppt/slides/_rels/slide1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15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00634"/>
            <a:ext cx="9144000" cy="1125351"/>
          </a:xfrm>
        </p:spPr>
        <p:txBody>
          <a:bodyPr>
            <a:normAutofit fontScale="90000"/>
          </a:bodyPr>
          <a:lstStyle/>
          <a:p>
            <a:r>
              <a:rPr lang="en-IN" sz="4400" b="1" dirty="0" smtClean="0">
                <a:solidFill>
                  <a:srgbClr val="002060"/>
                </a:solidFill>
                <a:latin typeface="Times New Roman" panose="02020603050405020304" pitchFamily="18" charset="0"/>
                <a:cs typeface="Times New Roman" panose="02020603050405020304" pitchFamily="18" charset="0"/>
              </a:rPr>
              <a:t>K. S. Institute of Technology</a:t>
            </a:r>
            <a:r>
              <a:rPr lang="en-IN" sz="8000" b="1" dirty="0" smtClean="0">
                <a:solidFill>
                  <a:srgbClr val="002060"/>
                </a:solidFill>
                <a:latin typeface="Times New Roman" panose="02020603050405020304" pitchFamily="18" charset="0"/>
                <a:cs typeface="Times New Roman" panose="02020603050405020304" pitchFamily="18" charset="0"/>
              </a:rPr>
              <a:t/>
            </a:r>
            <a:br>
              <a:rPr lang="en-IN" sz="80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C00000"/>
                </a:solidFill>
                <a:latin typeface="Times New Roman" panose="02020603050405020304" pitchFamily="18" charset="0"/>
                <a:cs typeface="Times New Roman" panose="02020603050405020304" pitchFamily="18" charset="0"/>
              </a:rPr>
              <a:t>Department of Computer Science and Engineering</a:t>
            </a:r>
            <a:endParaRPr lang="en-IN" b="1" dirty="0"/>
          </a:p>
        </p:txBody>
      </p:sp>
      <p:sp>
        <p:nvSpPr>
          <p:cNvPr id="3" name="Subtitle 2"/>
          <p:cNvSpPr>
            <a:spLocks noGrp="1"/>
          </p:cNvSpPr>
          <p:nvPr>
            <p:ph type="subTitle" idx="1"/>
          </p:nvPr>
        </p:nvSpPr>
        <p:spPr>
          <a:xfrm>
            <a:off x="1524000" y="2026024"/>
            <a:ext cx="9144000" cy="3231776"/>
          </a:xfrm>
        </p:spPr>
        <p:txBody>
          <a:bodyPr>
            <a:normAutofit/>
          </a:bodyPr>
          <a:lstStyle/>
          <a:p>
            <a:r>
              <a:rPr lang="en-IN" sz="3200" b="1" dirty="0">
                <a:solidFill>
                  <a:srgbClr val="002060"/>
                </a:solidFill>
                <a:latin typeface="Times New Roman" panose="02020603050405020304" pitchFamily="18" charset="0"/>
                <a:cs typeface="Times New Roman" panose="02020603050405020304" pitchFamily="18" charset="0"/>
              </a:rPr>
              <a:t>Analysis and Design and of Algorithm - BCS401 </a:t>
            </a:r>
            <a:endParaRPr lang="en-IN" b="1" dirty="0" smtClean="0">
              <a:solidFill>
                <a:srgbClr val="002060"/>
              </a:solidFill>
              <a:latin typeface="Times New Roman" panose="02020603050405020304" pitchFamily="18" charset="0"/>
              <a:cs typeface="Times New Roman" panose="02020603050405020304" pitchFamily="18" charset="0"/>
            </a:endParaRPr>
          </a:p>
          <a:p>
            <a:endParaRPr lang="en-IN" b="1" dirty="0" smtClean="0">
              <a:solidFill>
                <a:srgbClr val="002060"/>
              </a:solidFill>
              <a:latin typeface="Times New Roman" panose="02020603050405020304" pitchFamily="18" charset="0"/>
              <a:cs typeface="Times New Roman" panose="02020603050405020304" pitchFamily="18" charset="0"/>
            </a:endParaRPr>
          </a:p>
          <a:p>
            <a:r>
              <a:rPr lang="en-IN" b="1" dirty="0" smtClean="0">
                <a:solidFill>
                  <a:srgbClr val="002060"/>
                </a:solidFill>
                <a:latin typeface="Times New Roman" panose="02020603050405020304" pitchFamily="18" charset="0"/>
                <a:cs typeface="Times New Roman" panose="02020603050405020304" pitchFamily="18" charset="0"/>
              </a:rPr>
              <a:t>Faculty Name: </a:t>
            </a:r>
            <a:r>
              <a:rPr lang="en-IN" b="1" dirty="0" err="1" smtClean="0">
                <a:solidFill>
                  <a:srgbClr val="002060"/>
                </a:solidFill>
                <a:latin typeface="Times New Roman" panose="02020603050405020304" pitchFamily="18" charset="0"/>
                <a:cs typeface="Times New Roman" panose="02020603050405020304" pitchFamily="18" charset="0"/>
              </a:rPr>
              <a:t>Vijayalaxmi</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err="1" smtClean="0">
                <a:solidFill>
                  <a:srgbClr val="002060"/>
                </a:solidFill>
                <a:latin typeface="Times New Roman" panose="02020603050405020304" pitchFamily="18" charset="0"/>
                <a:cs typeface="Times New Roman" panose="02020603050405020304" pitchFamily="18" charset="0"/>
              </a:rPr>
              <a:t>Mekali</a:t>
            </a:r>
            <a:endParaRPr lang="en-IN" b="1" dirty="0" smtClean="0">
              <a:solidFill>
                <a:srgbClr val="002060"/>
              </a:solidFill>
              <a:latin typeface="Times New Roman" panose="02020603050405020304" pitchFamily="18" charset="0"/>
              <a:cs typeface="Times New Roman" panose="02020603050405020304" pitchFamily="18" charset="0"/>
            </a:endParaRPr>
          </a:p>
          <a:p>
            <a:r>
              <a:rPr lang="en-IN" b="1" dirty="0" smtClean="0">
                <a:solidFill>
                  <a:srgbClr val="C00000"/>
                </a:solidFill>
                <a:latin typeface="Times New Roman" panose="02020603050405020304" pitchFamily="18" charset="0"/>
                <a:cs typeface="Times New Roman" panose="02020603050405020304" pitchFamily="18" charset="0"/>
              </a:rPr>
              <a:t>Professor, </a:t>
            </a:r>
            <a:r>
              <a:rPr lang="en-IN" b="1" dirty="0" err="1" smtClean="0">
                <a:solidFill>
                  <a:srgbClr val="C00000"/>
                </a:solidFill>
                <a:latin typeface="Times New Roman" panose="02020603050405020304" pitchFamily="18" charset="0"/>
                <a:cs typeface="Times New Roman" panose="02020603050405020304" pitchFamily="18" charset="0"/>
              </a:rPr>
              <a:t>Dept</a:t>
            </a:r>
            <a:r>
              <a:rPr lang="en-IN" b="1" dirty="0" smtClean="0">
                <a:solidFill>
                  <a:srgbClr val="C00000"/>
                </a:solidFill>
                <a:latin typeface="Times New Roman" panose="02020603050405020304" pitchFamily="18" charset="0"/>
                <a:cs typeface="Times New Roman" panose="02020603050405020304" pitchFamily="18" charset="0"/>
              </a:rPr>
              <a:t> of CSE</a:t>
            </a:r>
          </a:p>
          <a:p>
            <a:r>
              <a:rPr lang="en-IN" b="1" dirty="0" smtClean="0">
                <a:solidFill>
                  <a:srgbClr val="002060"/>
                </a:solidFill>
                <a:latin typeface="Times New Roman" panose="02020603050405020304" pitchFamily="18" charset="0"/>
                <a:cs typeface="Times New Roman" panose="02020603050405020304" pitchFamily="18" charset="0"/>
              </a:rPr>
              <a:t>KSIT, Bangalore</a:t>
            </a:r>
          </a:p>
          <a:p>
            <a:endParaRPr lang="en-IN" dirty="0"/>
          </a:p>
        </p:txBody>
      </p:sp>
      <p:sp>
        <p:nvSpPr>
          <p:cNvPr id="4" name="Date Placeholder 3"/>
          <p:cNvSpPr>
            <a:spLocks noGrp="1"/>
          </p:cNvSpPr>
          <p:nvPr>
            <p:ph type="dt" sz="half" idx="10"/>
          </p:nvPr>
        </p:nvSpPr>
        <p:spPr/>
        <p:txBody>
          <a:bodyPr/>
          <a:lstStyle/>
          <a:p>
            <a:fld id="{7A6B3CE4-B8EC-48A9-BD69-20F39F430ADA}" type="datetime1">
              <a:rPr lang="en-IN" smtClean="0"/>
              <a:t>22-03-2026</a:t>
            </a:fld>
            <a:endParaRPr lang="en-IN"/>
          </a:p>
        </p:txBody>
      </p:sp>
      <p:sp>
        <p:nvSpPr>
          <p:cNvPr id="5" name="Footer Placeholder 4"/>
          <p:cNvSpPr>
            <a:spLocks noGrp="1"/>
          </p:cNvSpPr>
          <p:nvPr>
            <p:ph type="ftr" sz="quarter" idx="11"/>
          </p:nvPr>
        </p:nvSpPr>
        <p:spPr/>
        <p:txBody>
          <a:bodyPr/>
          <a:lstStyle/>
          <a:p>
            <a:r>
              <a:rPr lang="en-IN" smtClean="0"/>
              <a:t>Dr. Vijayalaxmi Mekali, Professor, Dept of CSE, KSIT</a:t>
            </a:r>
            <a:endParaRPr lang="en-IN"/>
          </a:p>
        </p:txBody>
      </p:sp>
      <p:sp>
        <p:nvSpPr>
          <p:cNvPr id="6" name="Slide Number Placeholder 5"/>
          <p:cNvSpPr>
            <a:spLocks noGrp="1"/>
          </p:cNvSpPr>
          <p:nvPr>
            <p:ph type="sldNum" sz="quarter" idx="12"/>
          </p:nvPr>
        </p:nvSpPr>
        <p:spPr/>
        <p:txBody>
          <a:bodyPr/>
          <a:lstStyle/>
          <a:p>
            <a:fld id="{9DBF8153-9B6B-4F96-B9F5-FB4D5D4160F7}" type="slidenum">
              <a:rPr lang="en-IN" smtClean="0"/>
              <a:t>1</a:t>
            </a:fld>
            <a:endParaRPr lang="en-IN"/>
          </a:p>
        </p:txBody>
      </p:sp>
    </p:spTree>
    <p:extLst>
      <p:ext uri="{BB962C8B-B14F-4D97-AF65-F5344CB8AC3E}">
        <p14:creationId xmlns:p14="http://schemas.microsoft.com/office/powerpoint/2010/main" val="31108819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1966" y="172942"/>
            <a:ext cx="9144000" cy="1153834"/>
          </a:xfrm>
        </p:spPr>
        <p:txBody>
          <a:bodyPr>
            <a:noAutofit/>
          </a:bodyPr>
          <a:lstStyle/>
          <a:p>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a:t>
            </a:r>
            <a:r>
              <a:rPr lang="en-IN" sz="2000" b="1" dirty="0" smtClean="0">
                <a:solidFill>
                  <a:srgbClr val="C00000"/>
                </a:solidFill>
                <a:latin typeface="Times New Roman" panose="02020603050405020304" pitchFamily="18" charset="0"/>
                <a:cs typeface="Times New Roman" panose="02020603050405020304" pitchFamily="18" charset="0"/>
              </a:rPr>
              <a:t>2 : </a:t>
            </a:r>
            <a:r>
              <a:rPr lang="en-IN" sz="2000" b="1" dirty="0" smtClean="0">
                <a:solidFill>
                  <a:srgbClr val="C00000"/>
                </a:solidFill>
                <a:latin typeface="Times New Roman" panose="02020603050405020304" pitchFamily="18" charset="0"/>
                <a:cs typeface="Times New Roman" panose="02020603050405020304" pitchFamily="18" charset="0"/>
              </a:rPr>
              <a:t>Exhaustive Search</a:t>
            </a:r>
            <a:endParaRPr lang="en-IN" sz="3200" b="1" dirty="0"/>
          </a:p>
        </p:txBody>
      </p:sp>
      <p:sp>
        <p:nvSpPr>
          <p:cNvPr id="3" name="Subtitle 2"/>
          <p:cNvSpPr>
            <a:spLocks noGrp="1"/>
          </p:cNvSpPr>
          <p:nvPr>
            <p:ph type="subTitle" idx="1"/>
          </p:nvPr>
        </p:nvSpPr>
        <p:spPr>
          <a:xfrm>
            <a:off x="251010" y="1416424"/>
            <a:ext cx="11649637" cy="4939925"/>
          </a:xfrm>
        </p:spPr>
        <p:txBody>
          <a:bodyPr>
            <a:normAutofit/>
          </a:bodyPr>
          <a:lstStyle/>
          <a:p>
            <a:pPr algn="just"/>
            <a:r>
              <a:rPr lang="en-US" sz="2100" b="1" dirty="0">
                <a:solidFill>
                  <a:srgbClr val="C00000"/>
                </a:solidFill>
                <a:latin typeface="Times New Roman" panose="02020603050405020304" pitchFamily="18" charset="0"/>
                <a:cs typeface="Times New Roman" panose="02020603050405020304" pitchFamily="18" charset="0"/>
              </a:rPr>
              <a:t>Exhaustive Search (Brute Force) – Definition:</a:t>
            </a:r>
          </a:p>
          <a:p>
            <a:pPr algn="just"/>
            <a:r>
              <a:rPr lang="en-US" sz="2000" b="1" dirty="0">
                <a:solidFill>
                  <a:srgbClr val="002060"/>
                </a:solidFill>
                <a:latin typeface="Times New Roman" panose="02020603050405020304" pitchFamily="18" charset="0"/>
                <a:cs typeface="Times New Roman" panose="02020603050405020304" pitchFamily="18" charset="0"/>
              </a:rPr>
              <a:t>Exhaustive search is a problem-solving technique in which all possible solutions are systematically generated and checked, and the best or correct solution is selected. </a:t>
            </a:r>
          </a:p>
          <a:p>
            <a:pPr algn="just"/>
            <a:r>
              <a:rPr lang="en-US" sz="2000" b="1" dirty="0">
                <a:solidFill>
                  <a:srgbClr val="002060"/>
                </a:solidFill>
                <a:latin typeface="Times New Roman" panose="02020603050405020304" pitchFamily="18" charset="0"/>
                <a:cs typeface="Times New Roman" panose="02020603050405020304" pitchFamily="18" charset="0"/>
              </a:rPr>
              <a:t>Simple definition:</a:t>
            </a:r>
          </a:p>
          <a:p>
            <a:pPr algn="just"/>
            <a:r>
              <a:rPr lang="en-US" sz="2000" b="1" dirty="0">
                <a:solidFill>
                  <a:srgbClr val="002060"/>
                </a:solidFill>
                <a:latin typeface="Times New Roman" panose="02020603050405020304" pitchFamily="18" charset="0"/>
                <a:cs typeface="Times New Roman" panose="02020603050405020304" pitchFamily="18" charset="0"/>
              </a:rPr>
              <a:t>Exhaustive search is an algorithmic method that tries every possible solution to find the correct or optimal one. </a:t>
            </a:r>
          </a:p>
          <a:p>
            <a:pPr algn="just"/>
            <a:r>
              <a:rPr lang="en-US" sz="2000" b="1" dirty="0">
                <a:solidFill>
                  <a:srgbClr val="002060"/>
                </a:solidFill>
                <a:latin typeface="Times New Roman" panose="02020603050405020304" pitchFamily="18" charset="0"/>
                <a:cs typeface="Times New Roman" panose="02020603050405020304" pitchFamily="18" charset="0"/>
              </a:rPr>
              <a:t>Key points:</a:t>
            </a:r>
          </a:p>
          <a:p>
            <a:pPr algn="just"/>
            <a:r>
              <a:rPr lang="en-US" sz="2000" b="1" dirty="0">
                <a:solidFill>
                  <a:srgbClr val="002060"/>
                </a:solidFill>
                <a:latin typeface="Times New Roman" panose="02020603050405020304" pitchFamily="18" charset="0"/>
                <a:cs typeface="Times New Roman" panose="02020603050405020304" pitchFamily="18" charset="0"/>
              </a:rPr>
              <a:t>It checks each and every possible combination of the </a:t>
            </a:r>
            <a:r>
              <a:rPr lang="en-US" sz="2000" b="1" dirty="0" smtClean="0">
                <a:solidFill>
                  <a:srgbClr val="002060"/>
                </a:solidFill>
                <a:latin typeface="Times New Roman" panose="02020603050405020304" pitchFamily="18" charset="0"/>
                <a:cs typeface="Times New Roman" panose="02020603050405020304" pitchFamily="18" charset="0"/>
              </a:rPr>
              <a:t>problem. Also </a:t>
            </a:r>
            <a:r>
              <a:rPr lang="en-US" sz="2000" b="1" dirty="0">
                <a:solidFill>
                  <a:srgbClr val="002060"/>
                </a:solidFill>
                <a:latin typeface="Times New Roman" panose="02020603050405020304" pitchFamily="18" charset="0"/>
                <a:cs typeface="Times New Roman" panose="02020603050405020304" pitchFamily="18" charset="0"/>
              </a:rPr>
              <a:t>called brute-force method or generate-and-test approach. </a:t>
            </a:r>
            <a:r>
              <a:rPr lang="en-US" sz="2000" b="1" dirty="0" smtClean="0">
                <a:solidFill>
                  <a:srgbClr val="002060"/>
                </a:solidFill>
                <a:latin typeface="Times New Roman" panose="02020603050405020304" pitchFamily="18" charset="0"/>
                <a:cs typeface="Times New Roman" panose="02020603050405020304" pitchFamily="18" charset="0"/>
              </a:rPr>
              <a:t>Guarantees </a:t>
            </a:r>
            <a:r>
              <a:rPr lang="en-US" sz="2000" b="1" dirty="0">
                <a:solidFill>
                  <a:srgbClr val="002060"/>
                </a:solidFill>
                <a:latin typeface="Times New Roman" panose="02020603050405020304" pitchFamily="18" charset="0"/>
                <a:cs typeface="Times New Roman" panose="02020603050405020304" pitchFamily="18" charset="0"/>
              </a:rPr>
              <a:t>finding the correct/optimal solution if one exists. </a:t>
            </a:r>
            <a:r>
              <a:rPr lang="en-US" sz="2000" b="1" dirty="0" smtClean="0">
                <a:solidFill>
                  <a:srgbClr val="002060"/>
                </a:solidFill>
                <a:latin typeface="Times New Roman" panose="02020603050405020304" pitchFamily="18" charset="0"/>
                <a:cs typeface="Times New Roman" panose="02020603050405020304" pitchFamily="18" charset="0"/>
              </a:rPr>
              <a:t>Usually </a:t>
            </a:r>
            <a:r>
              <a:rPr lang="en-US" sz="2000" b="1" dirty="0">
                <a:solidFill>
                  <a:srgbClr val="002060"/>
                </a:solidFill>
                <a:latin typeface="Times New Roman" panose="02020603050405020304" pitchFamily="18" charset="0"/>
                <a:cs typeface="Times New Roman" panose="02020603050405020304" pitchFamily="18" charset="0"/>
              </a:rPr>
              <a:t>time-consuming for large problems (high complexity). </a:t>
            </a:r>
          </a:p>
          <a:p>
            <a:pPr algn="just"/>
            <a:r>
              <a:rPr lang="en-US" sz="2000" b="1" dirty="0">
                <a:solidFill>
                  <a:srgbClr val="002060"/>
                </a:solidFill>
                <a:latin typeface="Times New Roman" panose="02020603050405020304" pitchFamily="18" charset="0"/>
                <a:cs typeface="Times New Roman" panose="02020603050405020304" pitchFamily="18" charset="0"/>
              </a:rPr>
              <a:t>Example:</a:t>
            </a:r>
          </a:p>
          <a:p>
            <a:pPr algn="just"/>
            <a:r>
              <a:rPr lang="en-US" sz="2000" b="1" dirty="0">
                <a:solidFill>
                  <a:srgbClr val="002060"/>
                </a:solidFill>
                <a:latin typeface="Times New Roman" panose="02020603050405020304" pitchFamily="18" charset="0"/>
                <a:cs typeface="Times New Roman" panose="02020603050405020304" pitchFamily="18" charset="0"/>
              </a:rPr>
              <a:t>Trying all subsets in Knapsack problem </a:t>
            </a:r>
          </a:p>
          <a:p>
            <a:pPr algn="just"/>
            <a:r>
              <a:rPr lang="en-US" sz="2000" b="1" dirty="0">
                <a:solidFill>
                  <a:srgbClr val="002060"/>
                </a:solidFill>
                <a:latin typeface="Times New Roman" panose="02020603050405020304" pitchFamily="18" charset="0"/>
                <a:cs typeface="Times New Roman" panose="02020603050405020304" pitchFamily="18" charset="0"/>
              </a:rPr>
              <a:t>Checking all routes in Travelling Salesman Problem (TSP)</a:t>
            </a: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497267" y="159532"/>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85967" y="172943"/>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2</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D51FACDD-7075-4EBC-A6D6-20CB18035FC2}" type="datetime1">
              <a:rPr lang="en-IN" smtClean="0"/>
              <a:t>21-03-2026</a:t>
            </a:fld>
            <a:endParaRPr lang="en-IN"/>
          </a:p>
        </p:txBody>
      </p:sp>
    </p:spTree>
    <p:extLst>
      <p:ext uri="{BB962C8B-B14F-4D97-AF65-F5344CB8AC3E}">
        <p14:creationId xmlns:p14="http://schemas.microsoft.com/office/powerpoint/2010/main" val="26602645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1967" y="297180"/>
            <a:ext cx="9144000" cy="496196"/>
          </a:xfrm>
        </p:spPr>
        <p:txBody>
          <a:bodyPr>
            <a:noAutofit/>
          </a:bodyPr>
          <a:lstStyle/>
          <a:p>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a:t>
            </a:r>
            <a:r>
              <a:rPr lang="en-IN" sz="2000" b="1" dirty="0" smtClean="0">
                <a:solidFill>
                  <a:srgbClr val="C00000"/>
                </a:solidFill>
                <a:latin typeface="Times New Roman" panose="02020603050405020304" pitchFamily="18" charset="0"/>
                <a:cs typeface="Times New Roman" panose="02020603050405020304" pitchFamily="18" charset="0"/>
              </a:rPr>
              <a:t>2 : </a:t>
            </a:r>
            <a:r>
              <a:rPr lang="en-IN" sz="2000" b="1" dirty="0" smtClean="0">
                <a:solidFill>
                  <a:srgbClr val="C00000"/>
                </a:solidFill>
                <a:latin typeface="Times New Roman" panose="02020603050405020304" pitchFamily="18" charset="0"/>
                <a:cs typeface="Times New Roman" panose="02020603050405020304" pitchFamily="18" charset="0"/>
              </a:rPr>
              <a:t>Exhaustive Search</a:t>
            </a:r>
            <a:endParaRPr lang="en-IN" sz="3200" b="1" dirty="0"/>
          </a:p>
        </p:txBody>
      </p:sp>
      <p:sp>
        <p:nvSpPr>
          <p:cNvPr id="3" name="Subtitle 2"/>
          <p:cNvSpPr>
            <a:spLocks noGrp="1"/>
          </p:cNvSpPr>
          <p:nvPr>
            <p:ph type="subTitle" idx="1"/>
          </p:nvPr>
        </p:nvSpPr>
        <p:spPr>
          <a:xfrm>
            <a:off x="251010" y="1416424"/>
            <a:ext cx="11649637" cy="4939925"/>
          </a:xfrm>
        </p:spPr>
        <p:txBody>
          <a:bodyPr>
            <a:normAutofit lnSpcReduction="10000"/>
          </a:bodyPr>
          <a:lstStyle/>
          <a:p>
            <a:pPr algn="just"/>
            <a:r>
              <a:rPr lang="en-US" sz="2100" b="1" dirty="0">
                <a:solidFill>
                  <a:srgbClr val="C00000"/>
                </a:solidFill>
                <a:latin typeface="Times New Roman" panose="02020603050405020304" pitchFamily="18" charset="0"/>
                <a:cs typeface="Times New Roman" panose="02020603050405020304" pitchFamily="18" charset="0"/>
              </a:rPr>
              <a:t>Exhaustive Search (Brute Force) – Definition:</a:t>
            </a:r>
          </a:p>
          <a:p>
            <a:pPr algn="just"/>
            <a:r>
              <a:rPr lang="en-US" sz="2100" b="1" dirty="0">
                <a:solidFill>
                  <a:srgbClr val="002060"/>
                </a:solidFill>
                <a:latin typeface="Times New Roman" panose="02020603050405020304" pitchFamily="18" charset="0"/>
                <a:cs typeface="Times New Roman" panose="02020603050405020304" pitchFamily="18" charset="0"/>
              </a:rPr>
              <a:t>The Knapsack problem is a problem of selecting a subset of items, each with a given weight and value, to maximize the total </a:t>
            </a:r>
            <a:r>
              <a:rPr lang="en-US" sz="2100" b="1" dirty="0" smtClean="0">
                <a:solidFill>
                  <a:srgbClr val="002060"/>
                </a:solidFill>
                <a:latin typeface="Times New Roman" panose="02020603050405020304" pitchFamily="18" charset="0"/>
                <a:cs typeface="Times New Roman" panose="02020603050405020304" pitchFamily="18" charset="0"/>
              </a:rPr>
              <a:t>value (profit) </a:t>
            </a:r>
            <a:r>
              <a:rPr lang="en-US" sz="2100" b="1" dirty="0">
                <a:solidFill>
                  <a:srgbClr val="002060"/>
                </a:solidFill>
                <a:latin typeface="Times New Roman" panose="02020603050405020304" pitchFamily="18" charset="0"/>
                <a:cs typeface="Times New Roman" panose="02020603050405020304" pitchFamily="18" charset="0"/>
              </a:rPr>
              <a:t>without exceeding the capacity of the knapsack.</a:t>
            </a:r>
          </a:p>
          <a:p>
            <a:pPr algn="just"/>
            <a:r>
              <a:rPr lang="en-US" sz="2100" b="1" dirty="0">
                <a:solidFill>
                  <a:srgbClr val="002060"/>
                </a:solidFill>
                <a:latin typeface="Times New Roman" panose="02020603050405020304" pitchFamily="18" charset="0"/>
                <a:cs typeface="Times New Roman" panose="02020603050405020304" pitchFamily="18" charset="0"/>
              </a:rPr>
              <a:t>Formal Definition</a:t>
            </a:r>
          </a:p>
          <a:p>
            <a:pPr algn="just"/>
            <a:r>
              <a:rPr lang="en-US" sz="2100" b="1" dirty="0">
                <a:solidFill>
                  <a:srgbClr val="002060"/>
                </a:solidFill>
                <a:latin typeface="Times New Roman" panose="02020603050405020304" pitchFamily="18" charset="0"/>
                <a:cs typeface="Times New Roman" panose="02020603050405020304" pitchFamily="18" charset="0"/>
              </a:rPr>
              <a:t>Given:</a:t>
            </a:r>
          </a:p>
          <a:p>
            <a:pPr algn="just"/>
            <a:r>
              <a:rPr lang="en-US" sz="2100" b="1" dirty="0">
                <a:solidFill>
                  <a:srgbClr val="002060"/>
                </a:solidFill>
                <a:latin typeface="Times New Roman" panose="02020603050405020304" pitchFamily="18" charset="0"/>
                <a:cs typeface="Times New Roman" panose="02020603050405020304" pitchFamily="18" charset="0"/>
              </a:rPr>
              <a:t>A set of n items </a:t>
            </a:r>
          </a:p>
          <a:p>
            <a:pPr algn="just"/>
            <a:r>
              <a:rPr lang="en-US" sz="2100" b="1" dirty="0">
                <a:solidFill>
                  <a:srgbClr val="002060"/>
                </a:solidFill>
                <a:latin typeface="Times New Roman" panose="02020603050405020304" pitchFamily="18" charset="0"/>
                <a:cs typeface="Times New Roman" panose="02020603050405020304" pitchFamily="18" charset="0"/>
              </a:rPr>
              <a:t>Each item has: </a:t>
            </a:r>
          </a:p>
          <a:p>
            <a:pPr lvl="1" algn="just"/>
            <a:r>
              <a:rPr lang="en-US" sz="2100" b="1" dirty="0">
                <a:solidFill>
                  <a:srgbClr val="002060"/>
                </a:solidFill>
                <a:latin typeface="Times New Roman" panose="02020603050405020304" pitchFamily="18" charset="0"/>
                <a:cs typeface="Times New Roman" panose="02020603050405020304" pitchFamily="18" charset="0"/>
              </a:rPr>
              <a:t>Weight </a:t>
            </a:r>
            <a:r>
              <a:rPr lang="en-US" sz="2100" b="1" dirty="0" err="1" smtClean="0">
                <a:solidFill>
                  <a:srgbClr val="002060"/>
                </a:solidFill>
                <a:latin typeface="Times New Roman" panose="02020603050405020304" pitchFamily="18" charset="0"/>
                <a:cs typeface="Times New Roman" panose="02020603050405020304" pitchFamily="18" charset="0"/>
              </a:rPr>
              <a:t>w</a:t>
            </a:r>
            <a:r>
              <a:rPr lang="en-US" sz="2100" b="1" baseline="-25000" dirty="0" err="1" smtClean="0">
                <a:solidFill>
                  <a:srgbClr val="002060"/>
                </a:solidFill>
                <a:latin typeface="Times New Roman" panose="02020603050405020304" pitchFamily="18" charset="0"/>
                <a:cs typeface="Times New Roman" panose="02020603050405020304" pitchFamily="18" charset="0"/>
              </a:rPr>
              <a:t>i</a:t>
            </a:r>
            <a:r>
              <a:rPr lang="en-US" sz="2100" b="1" baseline="-25000" dirty="0" smtClean="0">
                <a:solidFill>
                  <a:srgbClr val="002060"/>
                </a:solidFill>
                <a:latin typeface="Times New Roman" panose="02020603050405020304" pitchFamily="18" charset="0"/>
                <a:cs typeface="Times New Roman" panose="02020603050405020304" pitchFamily="18" charset="0"/>
              </a:rPr>
              <a:t>​ </a:t>
            </a:r>
            <a:endParaRPr lang="en-US" sz="2100" b="1" baseline="-25000" dirty="0">
              <a:solidFill>
                <a:srgbClr val="002060"/>
              </a:solidFill>
              <a:latin typeface="Times New Roman" panose="02020603050405020304" pitchFamily="18" charset="0"/>
              <a:cs typeface="Times New Roman" panose="02020603050405020304" pitchFamily="18" charset="0"/>
            </a:endParaRPr>
          </a:p>
          <a:p>
            <a:pPr lvl="1" algn="just"/>
            <a:r>
              <a:rPr lang="en-US" sz="2100" b="1" dirty="0">
                <a:solidFill>
                  <a:srgbClr val="002060"/>
                </a:solidFill>
                <a:latin typeface="Times New Roman" panose="02020603050405020304" pitchFamily="18" charset="0"/>
                <a:cs typeface="Times New Roman" panose="02020603050405020304" pitchFamily="18" charset="0"/>
              </a:rPr>
              <a:t>Value (profit) </a:t>
            </a:r>
            <a:r>
              <a:rPr lang="en-US" sz="2100" b="1" dirty="0" smtClean="0">
                <a:solidFill>
                  <a:srgbClr val="002060"/>
                </a:solidFill>
                <a:latin typeface="Times New Roman" panose="02020603050405020304" pitchFamily="18" charset="0"/>
                <a:cs typeface="Times New Roman" panose="02020603050405020304" pitchFamily="18" charset="0"/>
              </a:rPr>
              <a:t>v</a:t>
            </a:r>
            <a:r>
              <a:rPr lang="en-US" sz="2100" b="1" baseline="-25000" dirty="0" smtClean="0">
                <a:solidFill>
                  <a:srgbClr val="002060"/>
                </a:solidFill>
                <a:latin typeface="Times New Roman" panose="02020603050405020304" pitchFamily="18" charset="0"/>
                <a:cs typeface="Times New Roman" panose="02020603050405020304" pitchFamily="18" charset="0"/>
              </a:rPr>
              <a:t>i</a:t>
            </a:r>
            <a:r>
              <a:rPr lang="en-US" sz="2100" b="1" dirty="0" smtClean="0">
                <a:solidFill>
                  <a:srgbClr val="002060"/>
                </a:solidFill>
                <a:latin typeface="Times New Roman" panose="02020603050405020304" pitchFamily="18" charset="0"/>
                <a:cs typeface="Times New Roman" panose="02020603050405020304" pitchFamily="18" charset="0"/>
              </a:rPr>
              <a:t> </a:t>
            </a:r>
            <a:endParaRPr lang="en-US" sz="2100" b="1" dirty="0">
              <a:solidFill>
                <a:srgbClr val="002060"/>
              </a:solidFill>
              <a:latin typeface="Times New Roman" panose="02020603050405020304" pitchFamily="18" charset="0"/>
              <a:cs typeface="Times New Roman" panose="02020603050405020304" pitchFamily="18" charset="0"/>
            </a:endParaRPr>
          </a:p>
          <a:p>
            <a:pPr algn="just"/>
            <a:r>
              <a:rPr lang="en-US" sz="2100" b="1" dirty="0">
                <a:solidFill>
                  <a:srgbClr val="002060"/>
                </a:solidFill>
                <a:latin typeface="Times New Roman" panose="02020603050405020304" pitchFamily="18" charset="0"/>
                <a:cs typeface="Times New Roman" panose="02020603050405020304" pitchFamily="18" charset="0"/>
              </a:rPr>
              <a:t>A knapsack with capacity </a:t>
            </a:r>
            <a:r>
              <a:rPr lang="en-US" sz="2100" b="1" dirty="0" smtClean="0">
                <a:solidFill>
                  <a:srgbClr val="002060"/>
                </a:solidFill>
                <a:latin typeface="Times New Roman" panose="02020603050405020304" pitchFamily="18" charset="0"/>
                <a:cs typeface="Times New Roman" panose="02020603050405020304" pitchFamily="18" charset="0"/>
              </a:rPr>
              <a:t>M</a:t>
            </a:r>
            <a:endParaRPr lang="en-US" sz="2100" b="1" dirty="0">
              <a:solidFill>
                <a:srgbClr val="002060"/>
              </a:solidFill>
              <a:latin typeface="Times New Roman" panose="02020603050405020304" pitchFamily="18" charset="0"/>
              <a:cs typeface="Times New Roman" panose="02020603050405020304" pitchFamily="18" charset="0"/>
            </a:endParaRPr>
          </a:p>
          <a:p>
            <a:pPr algn="l"/>
            <a:r>
              <a:rPr lang="en-US" sz="2100" b="1" dirty="0" smtClean="0">
                <a:solidFill>
                  <a:srgbClr val="C00000"/>
                </a:solidFill>
                <a:latin typeface="Times New Roman" panose="02020603050405020304" pitchFamily="18" charset="0"/>
                <a:cs typeface="Times New Roman" panose="02020603050405020304" pitchFamily="18" charset="0"/>
              </a:rPr>
              <a:t>Goal</a:t>
            </a:r>
            <a:r>
              <a:rPr lang="en-US" sz="2100" b="1" dirty="0">
                <a:solidFill>
                  <a:srgbClr val="C00000"/>
                </a:solidFill>
                <a:latin typeface="Times New Roman" panose="02020603050405020304" pitchFamily="18" charset="0"/>
                <a:cs typeface="Times New Roman" panose="02020603050405020304" pitchFamily="18" charset="0"/>
              </a:rPr>
              <a:t>:</a:t>
            </a:r>
            <a:r>
              <a:rPr lang="en-US" sz="2100" b="1" dirty="0">
                <a:solidFill>
                  <a:srgbClr val="002060"/>
                </a:solidFill>
                <a:latin typeface="Times New Roman" panose="02020603050405020304" pitchFamily="18" charset="0"/>
                <a:cs typeface="Times New Roman" panose="02020603050405020304" pitchFamily="18" charset="0"/>
              </a:rPr>
              <a:t/>
            </a:r>
            <a:br>
              <a:rPr lang="en-US" sz="2100" b="1" dirty="0">
                <a:solidFill>
                  <a:srgbClr val="002060"/>
                </a:solidFill>
                <a:latin typeface="Times New Roman" panose="02020603050405020304" pitchFamily="18" charset="0"/>
                <a:cs typeface="Times New Roman" panose="02020603050405020304" pitchFamily="18" charset="0"/>
              </a:rPr>
            </a:br>
            <a:r>
              <a:rPr lang="en-US" sz="2100" b="1" dirty="0">
                <a:solidFill>
                  <a:srgbClr val="002060"/>
                </a:solidFill>
                <a:latin typeface="Times New Roman" panose="02020603050405020304" pitchFamily="18" charset="0"/>
                <a:cs typeface="Times New Roman" panose="02020603050405020304" pitchFamily="18" charset="0"/>
              </a:rPr>
              <a:t>Select a subset of items such that:</a:t>
            </a:r>
          </a:p>
          <a:p>
            <a:pPr algn="just"/>
            <a:r>
              <a:rPr lang="en-US" sz="2100" b="1" dirty="0">
                <a:solidFill>
                  <a:srgbClr val="002060"/>
                </a:solidFill>
                <a:latin typeface="Times New Roman" panose="02020603050405020304" pitchFamily="18" charset="0"/>
                <a:cs typeface="Times New Roman" panose="02020603050405020304" pitchFamily="18" charset="0"/>
              </a:rPr>
              <a:t>Total </a:t>
            </a:r>
            <a:r>
              <a:rPr lang="en-US" sz="2100" b="1" dirty="0" smtClean="0">
                <a:solidFill>
                  <a:srgbClr val="002060"/>
                </a:solidFill>
                <a:latin typeface="Times New Roman" panose="02020603050405020304" pitchFamily="18" charset="0"/>
                <a:cs typeface="Times New Roman" panose="02020603050405020304" pitchFamily="18" charset="0"/>
              </a:rPr>
              <a:t>selected weight </a:t>
            </a:r>
            <a:r>
              <a:rPr lang="en-US" sz="2100" b="1" dirty="0">
                <a:solidFill>
                  <a:srgbClr val="002060"/>
                </a:solidFill>
                <a:latin typeface="Times New Roman" panose="02020603050405020304" pitchFamily="18" charset="0"/>
                <a:cs typeface="Times New Roman" panose="02020603050405020304" pitchFamily="18" charset="0"/>
              </a:rPr>
              <a:t>≤ </a:t>
            </a:r>
            <a:r>
              <a:rPr lang="en-US" sz="2100" b="1" dirty="0" smtClean="0">
                <a:solidFill>
                  <a:srgbClr val="002060"/>
                </a:solidFill>
                <a:latin typeface="Times New Roman" panose="02020603050405020304" pitchFamily="18" charset="0"/>
                <a:cs typeface="Times New Roman" panose="02020603050405020304" pitchFamily="18" charset="0"/>
              </a:rPr>
              <a:t>M</a:t>
            </a:r>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497267" y="159532"/>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85967" y="172943"/>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3</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D51FACDD-7075-4EBC-A6D6-20CB18035FC2}" type="datetime1">
              <a:rPr lang="en-IN" smtClean="0"/>
              <a:t>21-03-2026</a:t>
            </a:fld>
            <a:endParaRPr lang="en-IN"/>
          </a:p>
        </p:txBody>
      </p:sp>
    </p:spTree>
    <p:extLst>
      <p:ext uri="{BB962C8B-B14F-4D97-AF65-F5344CB8AC3E}">
        <p14:creationId xmlns:p14="http://schemas.microsoft.com/office/powerpoint/2010/main" val="3929596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1966" y="172942"/>
            <a:ext cx="9144000" cy="1153834"/>
          </a:xfrm>
        </p:spPr>
        <p:txBody>
          <a:bodyPr>
            <a:noAutofit/>
          </a:bodyPr>
          <a:lstStyle/>
          <a:p>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800" b="1" dirty="0" smtClean="0">
                <a:solidFill>
                  <a:srgbClr val="002060"/>
                </a:solidFill>
                <a:latin typeface="Times New Roman" panose="02020603050405020304" pitchFamily="18" charset="0"/>
                <a:cs typeface="Times New Roman" panose="02020603050405020304" pitchFamily="18" charset="0"/>
              </a:rPr>
              <a:t/>
            </a:r>
            <a:br>
              <a:rPr lang="en-IN" sz="28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000" b="1" dirty="0" smtClean="0">
                <a:solidFill>
                  <a:srgbClr val="C00000"/>
                </a:solidFill>
                <a:latin typeface="Times New Roman" panose="02020603050405020304" pitchFamily="18" charset="0"/>
                <a:cs typeface="Times New Roman" panose="02020603050405020304" pitchFamily="18" charset="0"/>
              </a:rPr>
              <a:t>Exhaustive Search</a:t>
            </a:r>
            <a:endParaRPr lang="en-IN" sz="3200" b="1" dirty="0"/>
          </a:p>
        </p:txBody>
      </p:sp>
      <p:sp>
        <p:nvSpPr>
          <p:cNvPr id="3" name="Subtitle 2"/>
          <p:cNvSpPr>
            <a:spLocks noGrp="1"/>
          </p:cNvSpPr>
          <p:nvPr>
            <p:ph type="subTitle" idx="1"/>
          </p:nvPr>
        </p:nvSpPr>
        <p:spPr>
          <a:xfrm>
            <a:off x="251010" y="1416424"/>
            <a:ext cx="11649637" cy="4939925"/>
          </a:xfrm>
        </p:spPr>
        <p:txBody>
          <a:bodyPr>
            <a:normAutofit/>
          </a:bodyPr>
          <a:lstStyle/>
          <a:p>
            <a:pPr algn="just"/>
            <a:r>
              <a:rPr lang="en-US" sz="2100" b="1" dirty="0">
                <a:solidFill>
                  <a:srgbClr val="C00000"/>
                </a:solidFill>
                <a:latin typeface="Times New Roman" panose="02020603050405020304" pitchFamily="18" charset="0"/>
                <a:cs typeface="Times New Roman" panose="02020603050405020304" pitchFamily="18" charset="0"/>
              </a:rPr>
              <a:t>Exhaustive Search (Brute Force) – Definition:</a:t>
            </a:r>
          </a:p>
          <a:p>
            <a:pPr lvl="0" algn="just"/>
            <a:r>
              <a:rPr lang="en-IN" sz="2100" b="1" dirty="0" smtClean="0">
                <a:solidFill>
                  <a:srgbClr val="002060"/>
                </a:solidFill>
                <a:latin typeface="Times New Roman" panose="02020603050405020304" pitchFamily="18" charset="0"/>
                <a:cs typeface="Times New Roman" panose="02020603050405020304" pitchFamily="18" charset="0"/>
              </a:rPr>
              <a:t>Solve </a:t>
            </a:r>
            <a:r>
              <a:rPr lang="en-IN" sz="2100" b="1" dirty="0">
                <a:solidFill>
                  <a:srgbClr val="002060"/>
                </a:solidFill>
                <a:latin typeface="Times New Roman" panose="02020603050405020304" pitchFamily="18" charset="0"/>
                <a:cs typeface="Times New Roman" panose="02020603050405020304" pitchFamily="18" charset="0"/>
              </a:rPr>
              <a:t>Knapsack problem using Exhaustive Search for the following </a:t>
            </a:r>
          </a:p>
          <a:p>
            <a:pPr lvl="0" algn="just"/>
            <a:r>
              <a:rPr lang="en-IN" sz="2100" b="1" dirty="0">
                <a:solidFill>
                  <a:srgbClr val="002060"/>
                </a:solidFill>
                <a:latin typeface="Times New Roman" panose="02020603050405020304" pitchFamily="18" charset="0"/>
                <a:cs typeface="Times New Roman" panose="02020603050405020304" pitchFamily="18" charset="0"/>
              </a:rPr>
              <a:t> Knapsack Capacity m=10 and number of items </a:t>
            </a:r>
            <a:r>
              <a:rPr lang="en-IN" sz="2100" b="1" dirty="0" smtClean="0">
                <a:solidFill>
                  <a:srgbClr val="002060"/>
                </a:solidFill>
                <a:latin typeface="Times New Roman" panose="02020603050405020304" pitchFamily="18" charset="0"/>
                <a:cs typeface="Times New Roman" panose="02020603050405020304" pitchFamily="18" charset="0"/>
              </a:rPr>
              <a:t>n=4</a:t>
            </a:r>
          </a:p>
          <a:p>
            <a:pPr lvl="0" algn="just"/>
            <a:endParaRPr lang="en-IN" sz="2100" b="1" dirty="0">
              <a:solidFill>
                <a:srgbClr val="002060"/>
              </a:solidFill>
              <a:latin typeface="Times New Roman" panose="02020603050405020304" pitchFamily="18" charset="0"/>
              <a:cs typeface="Times New Roman" panose="02020603050405020304" pitchFamily="18" charset="0"/>
            </a:endParaRPr>
          </a:p>
          <a:p>
            <a:pPr algn="just"/>
            <a:endParaRPr lang="en-US" sz="21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497267" y="159532"/>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85967" y="172943"/>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4</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D51FACDD-7075-4EBC-A6D6-20CB18035FC2}" type="datetime1">
              <a:rPr lang="en-IN" smtClean="0"/>
              <a:t>22-03-2026</a:t>
            </a:fld>
            <a:endParaRPr lang="en-IN"/>
          </a:p>
        </p:txBody>
      </p:sp>
      <p:graphicFrame>
        <p:nvGraphicFramePr>
          <p:cNvPr id="13" name="Table 12"/>
          <p:cNvGraphicFramePr>
            <a:graphicFrameLocks noGrp="1"/>
          </p:cNvGraphicFramePr>
          <p:nvPr>
            <p:extLst>
              <p:ext uri="{D42A27DB-BD31-4B8C-83A1-F6EECF244321}">
                <p14:modId xmlns:p14="http://schemas.microsoft.com/office/powerpoint/2010/main" val="1694973932"/>
              </p:ext>
            </p:extLst>
          </p:nvPr>
        </p:nvGraphicFramePr>
        <p:xfrm>
          <a:off x="2766377" y="2743994"/>
          <a:ext cx="2491423" cy="1431765"/>
        </p:xfrm>
        <a:graphic>
          <a:graphicData uri="http://schemas.openxmlformats.org/drawingml/2006/table">
            <a:tbl>
              <a:tblPr firstRow="1" firstCol="1" bandRow="1">
                <a:tableStyleId>{5C22544A-7EE6-4342-B048-85BDC9FD1C3A}</a:tableStyleId>
              </a:tblPr>
              <a:tblGrid>
                <a:gridCol w="571124"/>
                <a:gridCol w="747201"/>
                <a:gridCol w="1173098"/>
              </a:tblGrid>
              <a:tr h="286353">
                <a:tc>
                  <a:txBody>
                    <a:bodyPr/>
                    <a:lstStyle/>
                    <a:p>
                      <a:pPr algn="ctr">
                        <a:lnSpc>
                          <a:spcPct val="115000"/>
                        </a:lnSpc>
                        <a:spcAft>
                          <a:spcPts val="0"/>
                        </a:spcAft>
                      </a:pPr>
                      <a:r>
                        <a:rPr lang="en-IN" sz="1200" dirty="0">
                          <a:solidFill>
                            <a:srgbClr val="002060"/>
                          </a:solidFill>
                          <a:effectLst/>
                          <a:latin typeface="Times New Roman" pitchFamily="18" charset="0"/>
                          <a:cs typeface="Times New Roman" pitchFamily="18" charset="0"/>
                        </a:rPr>
                        <a:t>Item</a:t>
                      </a:r>
                      <a:endParaRPr lang="en-IN" sz="1100" dirty="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Weight</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Value/Profit</a:t>
                      </a:r>
                      <a:endParaRPr lang="en-IN" sz="1100">
                        <a:solidFill>
                          <a:srgbClr val="002060"/>
                        </a:solidFill>
                        <a:effectLst/>
                        <a:latin typeface="Times New Roman" pitchFamily="18" charset="0"/>
                        <a:ea typeface="Calibri"/>
                        <a:cs typeface="Times New Roman" pitchFamily="18" charset="0"/>
                      </a:endParaRPr>
                    </a:p>
                  </a:txBody>
                  <a:tcPr marL="68580" marR="68580" marT="0" marB="0"/>
                </a:tc>
              </a:tr>
              <a:tr h="286353">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1</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7</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42</a:t>
                      </a:r>
                      <a:endParaRPr lang="en-IN" sz="1100">
                        <a:solidFill>
                          <a:srgbClr val="002060"/>
                        </a:solidFill>
                        <a:effectLst/>
                        <a:latin typeface="Times New Roman" pitchFamily="18" charset="0"/>
                        <a:ea typeface="Calibri"/>
                        <a:cs typeface="Times New Roman" pitchFamily="18" charset="0"/>
                      </a:endParaRPr>
                    </a:p>
                  </a:txBody>
                  <a:tcPr marL="68580" marR="68580" marT="0" marB="0"/>
                </a:tc>
              </a:tr>
              <a:tr h="286353">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2</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3</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12</a:t>
                      </a:r>
                      <a:endParaRPr lang="en-IN" sz="1100">
                        <a:solidFill>
                          <a:srgbClr val="002060"/>
                        </a:solidFill>
                        <a:effectLst/>
                        <a:latin typeface="Times New Roman" pitchFamily="18" charset="0"/>
                        <a:ea typeface="Calibri"/>
                        <a:cs typeface="Times New Roman" pitchFamily="18" charset="0"/>
                      </a:endParaRPr>
                    </a:p>
                  </a:txBody>
                  <a:tcPr marL="68580" marR="68580" marT="0" marB="0"/>
                </a:tc>
              </a:tr>
              <a:tr h="286353">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3</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4</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40</a:t>
                      </a:r>
                      <a:endParaRPr lang="en-IN" sz="1100">
                        <a:solidFill>
                          <a:srgbClr val="002060"/>
                        </a:solidFill>
                        <a:effectLst/>
                        <a:latin typeface="Times New Roman" pitchFamily="18" charset="0"/>
                        <a:ea typeface="Calibri"/>
                        <a:cs typeface="Times New Roman" pitchFamily="18" charset="0"/>
                      </a:endParaRPr>
                    </a:p>
                  </a:txBody>
                  <a:tcPr marL="68580" marR="68580" marT="0" marB="0"/>
                </a:tc>
              </a:tr>
              <a:tr h="286353">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4</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5</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solidFill>
                            <a:srgbClr val="002060"/>
                          </a:solidFill>
                          <a:effectLst/>
                          <a:latin typeface="Times New Roman" pitchFamily="18" charset="0"/>
                          <a:cs typeface="Times New Roman" pitchFamily="18" charset="0"/>
                        </a:rPr>
                        <a:t>25</a:t>
                      </a:r>
                      <a:endParaRPr lang="en-IN" sz="1100" dirty="0">
                        <a:solidFill>
                          <a:srgbClr val="002060"/>
                        </a:solidFill>
                        <a:effectLst/>
                        <a:latin typeface="Times New Roman" pitchFamily="18" charset="0"/>
                        <a:ea typeface="Calibri"/>
                        <a:cs typeface="Times New Roman" pitchFamily="18" charset="0"/>
                      </a:endParaRPr>
                    </a:p>
                  </a:txBody>
                  <a:tcPr marL="68580" marR="68580" marT="0" marB="0"/>
                </a:tc>
              </a:tr>
            </a:tbl>
          </a:graphicData>
        </a:graphic>
      </p:graphicFrame>
    </p:spTree>
    <p:extLst>
      <p:ext uri="{BB962C8B-B14F-4D97-AF65-F5344CB8AC3E}">
        <p14:creationId xmlns:p14="http://schemas.microsoft.com/office/powerpoint/2010/main" val="24035462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1966" y="172942"/>
            <a:ext cx="9144000" cy="1153834"/>
          </a:xfrm>
        </p:spPr>
        <p:txBody>
          <a:bodyPr>
            <a:noAutofit/>
          </a:bodyPr>
          <a:lstStyle/>
          <a:p>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800" b="1" dirty="0" smtClean="0">
                <a:solidFill>
                  <a:srgbClr val="002060"/>
                </a:solidFill>
                <a:latin typeface="Times New Roman" panose="02020603050405020304" pitchFamily="18" charset="0"/>
                <a:cs typeface="Times New Roman" panose="02020603050405020304" pitchFamily="18" charset="0"/>
              </a:rPr>
              <a:t/>
            </a:r>
            <a:br>
              <a:rPr lang="en-IN" sz="28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000" b="1" dirty="0" smtClean="0">
                <a:solidFill>
                  <a:srgbClr val="C00000"/>
                </a:solidFill>
                <a:latin typeface="Times New Roman" panose="02020603050405020304" pitchFamily="18" charset="0"/>
                <a:cs typeface="Times New Roman" panose="02020603050405020304" pitchFamily="18" charset="0"/>
              </a:rPr>
              <a:t>Exhaustive Search</a:t>
            </a:r>
            <a:endParaRPr lang="en-IN" sz="3200" b="1" dirty="0"/>
          </a:p>
        </p:txBody>
      </p:sp>
      <p:sp>
        <p:nvSpPr>
          <p:cNvPr id="3" name="Subtitle 2"/>
          <p:cNvSpPr>
            <a:spLocks noGrp="1"/>
          </p:cNvSpPr>
          <p:nvPr>
            <p:ph type="subTitle" idx="1"/>
          </p:nvPr>
        </p:nvSpPr>
        <p:spPr>
          <a:xfrm>
            <a:off x="251010" y="1280160"/>
            <a:ext cx="11649637" cy="5076189"/>
          </a:xfrm>
        </p:spPr>
        <p:txBody>
          <a:bodyPr>
            <a:normAutofit/>
          </a:bodyPr>
          <a:lstStyle/>
          <a:p>
            <a:pPr lvl="0" algn="just">
              <a:spcBef>
                <a:spcPts val="0"/>
              </a:spcBef>
            </a:pPr>
            <a:r>
              <a:rPr lang="en-IN" sz="1800" b="1" dirty="0" smtClean="0">
                <a:solidFill>
                  <a:srgbClr val="002060"/>
                </a:solidFill>
                <a:latin typeface="Times New Roman" panose="02020603050405020304" pitchFamily="18" charset="0"/>
                <a:cs typeface="Times New Roman" panose="02020603050405020304" pitchFamily="18" charset="0"/>
              </a:rPr>
              <a:t>Solve </a:t>
            </a:r>
            <a:r>
              <a:rPr lang="en-IN" sz="1800" b="1" dirty="0">
                <a:solidFill>
                  <a:srgbClr val="002060"/>
                </a:solidFill>
                <a:latin typeface="Times New Roman" panose="02020603050405020304" pitchFamily="18" charset="0"/>
                <a:cs typeface="Times New Roman" panose="02020603050405020304" pitchFamily="18" charset="0"/>
              </a:rPr>
              <a:t>Knapsack problem using Exhaustive Search for the following </a:t>
            </a:r>
          </a:p>
          <a:p>
            <a:pPr lvl="0" algn="just">
              <a:spcBef>
                <a:spcPts val="0"/>
              </a:spcBef>
            </a:pPr>
            <a:r>
              <a:rPr lang="en-IN" sz="1800" b="1" dirty="0">
                <a:solidFill>
                  <a:srgbClr val="002060"/>
                </a:solidFill>
                <a:latin typeface="Times New Roman" panose="02020603050405020304" pitchFamily="18" charset="0"/>
                <a:cs typeface="Times New Roman" panose="02020603050405020304" pitchFamily="18" charset="0"/>
              </a:rPr>
              <a:t> Knapsack Capacity m=10 and number of items </a:t>
            </a:r>
            <a:r>
              <a:rPr lang="en-IN" sz="1800" b="1" dirty="0" smtClean="0">
                <a:solidFill>
                  <a:srgbClr val="002060"/>
                </a:solidFill>
                <a:latin typeface="Times New Roman" panose="02020603050405020304" pitchFamily="18" charset="0"/>
                <a:cs typeface="Times New Roman" panose="02020603050405020304" pitchFamily="18" charset="0"/>
              </a:rPr>
              <a:t>n=4</a:t>
            </a:r>
          </a:p>
          <a:p>
            <a:pPr lvl="0" algn="just"/>
            <a:endParaRPr lang="en-IN" sz="1800" b="1" dirty="0" smtClean="0">
              <a:solidFill>
                <a:srgbClr val="002060"/>
              </a:solidFill>
              <a:latin typeface="Times New Roman" panose="02020603050405020304" pitchFamily="18" charset="0"/>
              <a:cs typeface="Times New Roman" panose="02020603050405020304" pitchFamily="18" charset="0"/>
            </a:endParaRPr>
          </a:p>
          <a:p>
            <a:pPr lvl="0" algn="just"/>
            <a:endParaRPr lang="en-IN" sz="2100" b="1" dirty="0">
              <a:solidFill>
                <a:srgbClr val="002060"/>
              </a:solidFill>
              <a:latin typeface="Times New Roman" panose="02020603050405020304" pitchFamily="18" charset="0"/>
              <a:cs typeface="Times New Roman" panose="02020603050405020304" pitchFamily="18" charset="0"/>
            </a:endParaRPr>
          </a:p>
          <a:p>
            <a:pPr algn="just"/>
            <a:endParaRPr lang="en-US" sz="21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497267" y="159532"/>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85967" y="172943"/>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5</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D51FACDD-7075-4EBC-A6D6-20CB18035FC2}" type="datetime1">
              <a:rPr lang="en-IN" smtClean="0"/>
              <a:t>22-03-2026</a:t>
            </a:fld>
            <a:endParaRPr lang="en-IN"/>
          </a:p>
        </p:txBody>
      </p:sp>
      <p:graphicFrame>
        <p:nvGraphicFramePr>
          <p:cNvPr id="13" name="Table 12"/>
          <p:cNvGraphicFramePr>
            <a:graphicFrameLocks noGrp="1"/>
          </p:cNvGraphicFramePr>
          <p:nvPr>
            <p:extLst>
              <p:ext uri="{D42A27DB-BD31-4B8C-83A1-F6EECF244321}">
                <p14:modId xmlns:p14="http://schemas.microsoft.com/office/powerpoint/2010/main" val="759668694"/>
              </p:ext>
            </p:extLst>
          </p:nvPr>
        </p:nvGraphicFramePr>
        <p:xfrm>
          <a:off x="8288804" y="990184"/>
          <a:ext cx="2491423" cy="1431765"/>
        </p:xfrm>
        <a:graphic>
          <a:graphicData uri="http://schemas.openxmlformats.org/drawingml/2006/table">
            <a:tbl>
              <a:tblPr firstRow="1" firstCol="1" bandRow="1">
                <a:tableStyleId>{5C22544A-7EE6-4342-B048-85BDC9FD1C3A}</a:tableStyleId>
              </a:tblPr>
              <a:tblGrid>
                <a:gridCol w="571124"/>
                <a:gridCol w="747201"/>
                <a:gridCol w="1173098"/>
              </a:tblGrid>
              <a:tr h="286353">
                <a:tc>
                  <a:txBody>
                    <a:bodyPr/>
                    <a:lstStyle/>
                    <a:p>
                      <a:pPr algn="ctr">
                        <a:lnSpc>
                          <a:spcPct val="115000"/>
                        </a:lnSpc>
                        <a:spcAft>
                          <a:spcPts val="0"/>
                        </a:spcAft>
                      </a:pPr>
                      <a:r>
                        <a:rPr lang="en-IN" sz="1200" dirty="0">
                          <a:solidFill>
                            <a:srgbClr val="002060"/>
                          </a:solidFill>
                          <a:effectLst/>
                          <a:latin typeface="Times New Roman" pitchFamily="18" charset="0"/>
                          <a:cs typeface="Times New Roman" pitchFamily="18" charset="0"/>
                        </a:rPr>
                        <a:t>Item</a:t>
                      </a:r>
                      <a:endParaRPr lang="en-IN" sz="1100" dirty="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solidFill>
                            <a:srgbClr val="002060"/>
                          </a:solidFill>
                          <a:effectLst/>
                          <a:latin typeface="Times New Roman" pitchFamily="18" charset="0"/>
                          <a:cs typeface="Times New Roman" pitchFamily="18" charset="0"/>
                        </a:rPr>
                        <a:t>Weight</a:t>
                      </a:r>
                      <a:endParaRPr lang="en-IN" sz="1100" dirty="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Value/Profit</a:t>
                      </a:r>
                      <a:endParaRPr lang="en-IN" sz="1100">
                        <a:solidFill>
                          <a:srgbClr val="002060"/>
                        </a:solidFill>
                        <a:effectLst/>
                        <a:latin typeface="Times New Roman" pitchFamily="18" charset="0"/>
                        <a:ea typeface="Calibri"/>
                        <a:cs typeface="Times New Roman" pitchFamily="18" charset="0"/>
                      </a:endParaRPr>
                    </a:p>
                  </a:txBody>
                  <a:tcPr marL="68580" marR="68580" marT="0" marB="0"/>
                </a:tc>
              </a:tr>
              <a:tr h="286353">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1</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7</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solidFill>
                            <a:srgbClr val="002060"/>
                          </a:solidFill>
                          <a:effectLst/>
                          <a:latin typeface="Times New Roman" pitchFamily="18" charset="0"/>
                          <a:cs typeface="Times New Roman" pitchFamily="18" charset="0"/>
                        </a:rPr>
                        <a:t>42</a:t>
                      </a:r>
                      <a:endParaRPr lang="en-IN" sz="1100" dirty="0">
                        <a:solidFill>
                          <a:srgbClr val="002060"/>
                        </a:solidFill>
                        <a:effectLst/>
                        <a:latin typeface="Times New Roman" pitchFamily="18" charset="0"/>
                        <a:ea typeface="Calibri"/>
                        <a:cs typeface="Times New Roman" pitchFamily="18" charset="0"/>
                      </a:endParaRPr>
                    </a:p>
                  </a:txBody>
                  <a:tcPr marL="68580" marR="68580" marT="0" marB="0"/>
                </a:tc>
              </a:tr>
              <a:tr h="286353">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2</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3</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12</a:t>
                      </a:r>
                      <a:endParaRPr lang="en-IN" sz="1100">
                        <a:solidFill>
                          <a:srgbClr val="002060"/>
                        </a:solidFill>
                        <a:effectLst/>
                        <a:latin typeface="Times New Roman" pitchFamily="18" charset="0"/>
                        <a:ea typeface="Calibri"/>
                        <a:cs typeface="Times New Roman" pitchFamily="18" charset="0"/>
                      </a:endParaRPr>
                    </a:p>
                  </a:txBody>
                  <a:tcPr marL="68580" marR="68580" marT="0" marB="0"/>
                </a:tc>
              </a:tr>
              <a:tr h="286353">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3</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4</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40</a:t>
                      </a:r>
                      <a:endParaRPr lang="en-IN" sz="1100">
                        <a:solidFill>
                          <a:srgbClr val="002060"/>
                        </a:solidFill>
                        <a:effectLst/>
                        <a:latin typeface="Times New Roman" pitchFamily="18" charset="0"/>
                        <a:ea typeface="Calibri"/>
                        <a:cs typeface="Times New Roman" pitchFamily="18" charset="0"/>
                      </a:endParaRPr>
                    </a:p>
                  </a:txBody>
                  <a:tcPr marL="68580" marR="68580" marT="0" marB="0"/>
                </a:tc>
              </a:tr>
              <a:tr h="286353">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4</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a:solidFill>
                            <a:srgbClr val="002060"/>
                          </a:solidFill>
                          <a:effectLst/>
                          <a:latin typeface="Times New Roman" pitchFamily="18" charset="0"/>
                          <a:cs typeface="Times New Roman" pitchFamily="18" charset="0"/>
                        </a:rPr>
                        <a:t>5</a:t>
                      </a:r>
                      <a:endParaRPr lang="en-IN" sz="1100">
                        <a:solidFill>
                          <a:srgbClr val="002060"/>
                        </a:solidFill>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solidFill>
                            <a:srgbClr val="002060"/>
                          </a:solidFill>
                          <a:effectLst/>
                          <a:latin typeface="Times New Roman" pitchFamily="18" charset="0"/>
                          <a:cs typeface="Times New Roman" pitchFamily="18" charset="0"/>
                        </a:rPr>
                        <a:t>25</a:t>
                      </a:r>
                      <a:endParaRPr lang="en-IN" sz="1100" dirty="0">
                        <a:solidFill>
                          <a:srgbClr val="002060"/>
                        </a:solidFill>
                        <a:effectLst/>
                        <a:latin typeface="Times New Roman" pitchFamily="18" charset="0"/>
                        <a:ea typeface="Calibri"/>
                        <a:cs typeface="Times New Roman" pitchFamily="18" charset="0"/>
                      </a:endParaRPr>
                    </a:p>
                  </a:txBody>
                  <a:tcPr marL="68580" marR="68580" marT="0" marB="0"/>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235031211"/>
              </p:ext>
            </p:extLst>
          </p:nvPr>
        </p:nvGraphicFramePr>
        <p:xfrm>
          <a:off x="191520" y="2159219"/>
          <a:ext cx="5043420" cy="2877061"/>
        </p:xfrm>
        <a:graphic>
          <a:graphicData uri="http://schemas.openxmlformats.org/drawingml/2006/table">
            <a:tbl>
              <a:tblPr/>
              <a:tblGrid>
                <a:gridCol w="882900"/>
                <a:gridCol w="1173480"/>
                <a:gridCol w="1104900"/>
                <a:gridCol w="952500"/>
                <a:gridCol w="929640"/>
              </a:tblGrid>
              <a:tr h="255961">
                <a:tc>
                  <a:txBody>
                    <a:bodyPr/>
                    <a:lstStyle/>
                    <a:p>
                      <a:r>
                        <a:rPr lang="en-IN" sz="1200" b="1" kern="1200" dirty="0">
                          <a:solidFill>
                            <a:srgbClr val="002060"/>
                          </a:solidFill>
                          <a:latin typeface="Times New Roman" pitchFamily="18" charset="0"/>
                          <a:ea typeface="+mn-ea"/>
                          <a:cs typeface="Times New Roman" pitchFamily="18" charset="0"/>
                        </a:rPr>
                        <a:t>Subset</a:t>
                      </a:r>
                    </a:p>
                  </a:txBody>
                  <a:tcPr marL="63990" marR="63990" marT="31995" marB="31995" anchor="ctr">
                    <a:lnL>
                      <a:noFill/>
                    </a:lnL>
                    <a:lnR>
                      <a:noFill/>
                    </a:lnR>
                    <a:lnT>
                      <a:noFill/>
                    </a:lnT>
                    <a:lnB>
                      <a:noFill/>
                    </a:lnB>
                  </a:tcPr>
                </a:tc>
                <a:tc>
                  <a:txBody>
                    <a:bodyPr/>
                    <a:lstStyle/>
                    <a:p>
                      <a:r>
                        <a:rPr lang="en-IN" sz="1200" b="1" kern="1200" dirty="0">
                          <a:solidFill>
                            <a:srgbClr val="002060"/>
                          </a:solidFill>
                          <a:latin typeface="Times New Roman" pitchFamily="18" charset="0"/>
                          <a:ea typeface="+mn-ea"/>
                          <a:cs typeface="Times New Roman" pitchFamily="18" charset="0"/>
                        </a:rPr>
                        <a:t>Items Chosen</a:t>
                      </a:r>
                    </a:p>
                  </a:txBody>
                  <a:tcPr marL="63990" marR="63990" marT="31995" marB="31995" anchor="ctr">
                    <a:lnL>
                      <a:noFill/>
                    </a:lnL>
                    <a:lnR>
                      <a:noFill/>
                    </a:lnR>
                    <a:lnT>
                      <a:noFill/>
                    </a:lnT>
                    <a:lnB>
                      <a:noFill/>
                    </a:lnB>
                  </a:tcPr>
                </a:tc>
                <a:tc>
                  <a:txBody>
                    <a:bodyPr/>
                    <a:lstStyle/>
                    <a:p>
                      <a:r>
                        <a:rPr lang="en-IN" sz="1200" b="1" kern="1200" dirty="0">
                          <a:solidFill>
                            <a:srgbClr val="002060"/>
                          </a:solidFill>
                          <a:latin typeface="Times New Roman" pitchFamily="18" charset="0"/>
                          <a:ea typeface="+mn-ea"/>
                          <a:cs typeface="Times New Roman" pitchFamily="18" charset="0"/>
                        </a:rPr>
                        <a:t>Total Weight</a:t>
                      </a:r>
                    </a:p>
                  </a:txBody>
                  <a:tcPr marL="63990" marR="63990" marT="31995" marB="31995" anchor="ctr">
                    <a:lnL>
                      <a:noFill/>
                    </a:lnL>
                    <a:lnR>
                      <a:noFill/>
                    </a:lnR>
                    <a:lnT>
                      <a:noFill/>
                    </a:lnT>
                    <a:lnB>
                      <a:noFill/>
                    </a:lnB>
                  </a:tcPr>
                </a:tc>
                <a:tc>
                  <a:txBody>
                    <a:bodyPr/>
                    <a:lstStyle/>
                    <a:p>
                      <a:r>
                        <a:rPr lang="en-IN" sz="1200" b="1" kern="1200" dirty="0">
                          <a:solidFill>
                            <a:srgbClr val="002060"/>
                          </a:solidFill>
                          <a:latin typeface="Times New Roman" pitchFamily="18" charset="0"/>
                          <a:ea typeface="+mn-ea"/>
                          <a:cs typeface="Times New Roman" pitchFamily="18" charset="0"/>
                        </a:rPr>
                        <a:t>Total Value</a:t>
                      </a:r>
                    </a:p>
                  </a:txBody>
                  <a:tcPr marL="63990" marR="63990" marT="31995" marB="31995" anchor="ctr">
                    <a:lnL>
                      <a:noFill/>
                    </a:lnL>
                    <a:lnR>
                      <a:noFill/>
                    </a:lnR>
                    <a:lnT>
                      <a:noFill/>
                    </a:lnT>
                    <a:lnB>
                      <a:noFill/>
                    </a:lnB>
                  </a:tcPr>
                </a:tc>
                <a:tc>
                  <a:txBody>
                    <a:bodyPr/>
                    <a:lstStyle/>
                    <a:p>
                      <a:r>
                        <a:rPr lang="en-IN" sz="1200" b="1" kern="1200" dirty="0">
                          <a:solidFill>
                            <a:srgbClr val="002060"/>
                          </a:solidFill>
                          <a:latin typeface="Times New Roman" pitchFamily="18" charset="0"/>
                          <a:ea typeface="+mn-ea"/>
                          <a:cs typeface="Times New Roman" pitchFamily="18" charset="0"/>
                        </a:rPr>
                        <a:t>Valid (≤10)?</a:t>
                      </a:r>
                    </a:p>
                  </a:txBody>
                  <a:tcPr marL="63990" marR="63990" marT="31995" marB="31995" anchor="ctr">
                    <a:lnL>
                      <a:noFill/>
                    </a:lnL>
                    <a:lnR>
                      <a:noFill/>
                    </a:lnR>
                    <a:lnT>
                      <a:noFill/>
                    </a:lnT>
                    <a:lnB>
                      <a:noFill/>
                    </a:lnB>
                  </a:tcPr>
                </a:tc>
              </a:tr>
              <a:tr h="255961">
                <a:tc>
                  <a:txBody>
                    <a:bodyPr/>
                    <a:lstStyle/>
                    <a:p>
                      <a:r>
                        <a:rPr lang="en-IN" sz="1300" dirty="0">
                          <a:latin typeface="Times New Roman" pitchFamily="18" charset="0"/>
                          <a:cs typeface="Times New Roman" pitchFamily="18" charset="0"/>
                        </a:rPr>
                        <a:t>1</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0</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0</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dirty="0">
                          <a:latin typeface="Times New Roman" pitchFamily="18" charset="0"/>
                          <a:cs typeface="Times New Roman" pitchFamily="18" charset="0"/>
                        </a:rPr>
                        <a:t>2</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{1}</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7</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42</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a:latin typeface="Times New Roman" pitchFamily="18" charset="0"/>
                          <a:cs typeface="Times New Roman" pitchFamily="18" charset="0"/>
                        </a:rPr>
                        <a:t>3</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{2}</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3</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12</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a:latin typeface="Times New Roman" pitchFamily="18" charset="0"/>
                          <a:cs typeface="Times New Roman" pitchFamily="18" charset="0"/>
                        </a:rPr>
                        <a:t>4</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{3}</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4</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40</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a:latin typeface="Times New Roman" pitchFamily="18" charset="0"/>
                          <a:cs typeface="Times New Roman" pitchFamily="18" charset="0"/>
                        </a:rPr>
                        <a:t>5</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{4}</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5</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25</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a:latin typeface="Times New Roman" pitchFamily="18" charset="0"/>
                          <a:cs typeface="Times New Roman" pitchFamily="18" charset="0"/>
                        </a:rPr>
                        <a:t>6</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{1,2}</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10</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54</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a:latin typeface="Times New Roman" pitchFamily="18" charset="0"/>
                          <a:cs typeface="Times New Roman" pitchFamily="18" charset="0"/>
                        </a:rPr>
                        <a:t>7</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{1,3}</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11</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82</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a:latin typeface="Times New Roman" pitchFamily="18" charset="0"/>
                          <a:cs typeface="Times New Roman" pitchFamily="18" charset="0"/>
                        </a:rPr>
                        <a:t>8</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{1,4}</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12</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67</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a:latin typeface="Times New Roman" pitchFamily="18" charset="0"/>
                          <a:cs typeface="Times New Roman" pitchFamily="18" charset="0"/>
                        </a:rPr>
                        <a:t>9</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{2,3}</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7</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52</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a:latin typeface="Times New Roman" pitchFamily="18" charset="0"/>
                          <a:cs typeface="Times New Roman" pitchFamily="18" charset="0"/>
                        </a:rPr>
                        <a:t>10</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{2,4}</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8</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37</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a:t>
                      </a:r>
                    </a:p>
                  </a:txBody>
                  <a:tcPr marL="63990" marR="63990" marT="31995" marB="31995" anchor="ctr">
                    <a:lnL>
                      <a:noFill/>
                    </a:lnL>
                    <a:lnR>
                      <a:noFill/>
                    </a:lnR>
                    <a:lnT>
                      <a:noFill/>
                    </a:lnT>
                    <a:lnB>
                      <a:noFill/>
                    </a:lnB>
                  </a:tcPr>
                </a:tc>
              </a:tr>
            </a:tbl>
          </a:graphicData>
        </a:graphic>
      </p:graphicFrame>
      <p:sp>
        <p:nvSpPr>
          <p:cNvPr id="10" name="Rectangle 1"/>
          <p:cNvSpPr>
            <a:spLocks noChangeArrowheads="1"/>
          </p:cNvSpPr>
          <p:nvPr/>
        </p:nvSpPr>
        <p:spPr bwMode="auto">
          <a:xfrm>
            <a:off x="137158" y="1789887"/>
            <a:ext cx="65614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pitchFamily="34" charset="0"/>
                <a:cs typeface="Arial" pitchFamily="34" charset="0"/>
              </a:rPr>
              <a:t>Step 1: Generate All Possible Subsets (Exhaustive Search) :</a:t>
            </a:r>
            <a:r>
              <a:rPr kumimoji="0" lang="en-US" sz="1800" b="0" i="0" u="none" strike="noStrike" cap="none" normalizeH="0" baseline="0" dirty="0" smtClean="0">
                <a:ln>
                  <a:noFill/>
                </a:ln>
                <a:solidFill>
                  <a:schemeClr val="tx1"/>
                </a:solidFill>
                <a:effectLst/>
                <a:latin typeface="Arial" pitchFamily="34" charset="0"/>
                <a:cs typeface="Arial" pitchFamily="34" charset="0"/>
              </a:rPr>
              <a:t>2^4=16 subsets:</a:t>
            </a:r>
          </a:p>
        </p:txBody>
      </p:sp>
      <p:graphicFrame>
        <p:nvGraphicFramePr>
          <p:cNvPr id="12" name="Table 11"/>
          <p:cNvGraphicFramePr>
            <a:graphicFrameLocks noGrp="1"/>
          </p:cNvGraphicFramePr>
          <p:nvPr>
            <p:extLst>
              <p:ext uri="{D42A27DB-BD31-4B8C-83A1-F6EECF244321}">
                <p14:modId xmlns:p14="http://schemas.microsoft.com/office/powerpoint/2010/main" val="1955516388"/>
              </p:ext>
            </p:extLst>
          </p:nvPr>
        </p:nvGraphicFramePr>
        <p:xfrm>
          <a:off x="5281681" y="2626718"/>
          <a:ext cx="4464301" cy="2002410"/>
        </p:xfrm>
        <a:graphic>
          <a:graphicData uri="http://schemas.openxmlformats.org/drawingml/2006/table">
            <a:tbl>
              <a:tblPr/>
              <a:tblGrid>
                <a:gridCol w="672267"/>
                <a:gridCol w="865377"/>
                <a:gridCol w="811291"/>
                <a:gridCol w="823310"/>
                <a:gridCol w="1292056"/>
              </a:tblGrid>
              <a:tr h="255961">
                <a:tc>
                  <a:txBody>
                    <a:bodyPr/>
                    <a:lstStyle/>
                    <a:p>
                      <a:r>
                        <a:rPr lang="en-IN" sz="1200" b="1" dirty="0">
                          <a:solidFill>
                            <a:srgbClr val="002060"/>
                          </a:solidFill>
                          <a:latin typeface="Times New Roman" pitchFamily="18" charset="0"/>
                          <a:cs typeface="Times New Roman" pitchFamily="18" charset="0"/>
                        </a:rPr>
                        <a:t>Subset</a:t>
                      </a:r>
                    </a:p>
                  </a:txBody>
                  <a:tcPr marL="63990" marR="63990" marT="31995" marB="31995" anchor="ctr">
                    <a:lnL>
                      <a:noFill/>
                    </a:lnL>
                    <a:lnR>
                      <a:noFill/>
                    </a:lnR>
                    <a:lnT>
                      <a:noFill/>
                    </a:lnT>
                    <a:lnB>
                      <a:noFill/>
                    </a:lnB>
                  </a:tcPr>
                </a:tc>
                <a:tc>
                  <a:txBody>
                    <a:bodyPr/>
                    <a:lstStyle/>
                    <a:p>
                      <a:r>
                        <a:rPr lang="en-IN" sz="1200" b="1" dirty="0">
                          <a:solidFill>
                            <a:srgbClr val="002060"/>
                          </a:solidFill>
                          <a:latin typeface="Times New Roman" pitchFamily="18" charset="0"/>
                          <a:cs typeface="Times New Roman" pitchFamily="18" charset="0"/>
                        </a:rPr>
                        <a:t>Items Chosen</a:t>
                      </a:r>
                    </a:p>
                  </a:txBody>
                  <a:tcPr marL="63990" marR="63990" marT="31995" marB="31995" anchor="ctr">
                    <a:lnL>
                      <a:noFill/>
                    </a:lnL>
                    <a:lnR>
                      <a:noFill/>
                    </a:lnR>
                    <a:lnT>
                      <a:noFill/>
                    </a:lnT>
                    <a:lnB>
                      <a:noFill/>
                    </a:lnB>
                  </a:tcPr>
                </a:tc>
                <a:tc>
                  <a:txBody>
                    <a:bodyPr/>
                    <a:lstStyle/>
                    <a:p>
                      <a:r>
                        <a:rPr lang="en-IN" sz="1200" b="1" dirty="0">
                          <a:solidFill>
                            <a:srgbClr val="002060"/>
                          </a:solidFill>
                          <a:latin typeface="Times New Roman" pitchFamily="18" charset="0"/>
                          <a:cs typeface="Times New Roman" pitchFamily="18" charset="0"/>
                        </a:rPr>
                        <a:t>Total Weight</a:t>
                      </a:r>
                    </a:p>
                  </a:txBody>
                  <a:tcPr marL="63990" marR="63990" marT="31995" marB="31995" anchor="ctr">
                    <a:lnL>
                      <a:noFill/>
                    </a:lnL>
                    <a:lnR>
                      <a:noFill/>
                    </a:lnR>
                    <a:lnT>
                      <a:noFill/>
                    </a:lnT>
                    <a:lnB>
                      <a:noFill/>
                    </a:lnB>
                  </a:tcPr>
                </a:tc>
                <a:tc>
                  <a:txBody>
                    <a:bodyPr/>
                    <a:lstStyle/>
                    <a:p>
                      <a:r>
                        <a:rPr lang="en-IN" sz="1200" b="1" dirty="0">
                          <a:solidFill>
                            <a:srgbClr val="002060"/>
                          </a:solidFill>
                          <a:latin typeface="Times New Roman" pitchFamily="18" charset="0"/>
                          <a:cs typeface="Times New Roman" pitchFamily="18" charset="0"/>
                        </a:rPr>
                        <a:t>Total Value</a:t>
                      </a:r>
                    </a:p>
                  </a:txBody>
                  <a:tcPr marL="63990" marR="63990" marT="31995" marB="31995" anchor="ctr">
                    <a:lnL>
                      <a:noFill/>
                    </a:lnL>
                    <a:lnR>
                      <a:noFill/>
                    </a:lnR>
                    <a:lnT>
                      <a:noFill/>
                    </a:lnT>
                    <a:lnB>
                      <a:noFill/>
                    </a:lnB>
                  </a:tcPr>
                </a:tc>
                <a:tc>
                  <a:txBody>
                    <a:bodyPr/>
                    <a:lstStyle/>
                    <a:p>
                      <a:r>
                        <a:rPr lang="en-IN" sz="1200" b="1" dirty="0">
                          <a:solidFill>
                            <a:srgbClr val="002060"/>
                          </a:solidFill>
                          <a:latin typeface="Times New Roman" pitchFamily="18" charset="0"/>
                          <a:cs typeface="Times New Roman" pitchFamily="18" charset="0"/>
                        </a:rPr>
                        <a:t>Valid (≤10)?</a:t>
                      </a:r>
                    </a:p>
                  </a:txBody>
                  <a:tcPr marL="63990" marR="63990" marT="31995" marB="31995" anchor="ctr">
                    <a:lnL>
                      <a:noFill/>
                    </a:lnL>
                    <a:lnR>
                      <a:noFill/>
                    </a:lnR>
                    <a:lnT>
                      <a:noFill/>
                    </a:lnT>
                    <a:lnB>
                      <a:noFill/>
                    </a:lnB>
                  </a:tcPr>
                </a:tc>
              </a:tr>
              <a:tr h="255961">
                <a:tc>
                  <a:txBody>
                    <a:bodyPr/>
                    <a:lstStyle/>
                    <a:p>
                      <a:r>
                        <a:rPr lang="en-IN" sz="1300" dirty="0">
                          <a:latin typeface="Times New Roman" pitchFamily="18" charset="0"/>
                          <a:cs typeface="Times New Roman" pitchFamily="18" charset="0"/>
                        </a:rPr>
                        <a:t>11</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{3,4}</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9</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65</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dirty="0">
                          <a:latin typeface="Times New Roman" pitchFamily="18" charset="0"/>
                          <a:cs typeface="Times New Roman" pitchFamily="18" charset="0"/>
                        </a:rPr>
                        <a:t>12</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{1,2,3}</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14</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94</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a:latin typeface="Times New Roman" pitchFamily="18" charset="0"/>
                          <a:cs typeface="Times New Roman" pitchFamily="18" charset="0"/>
                        </a:rPr>
                        <a:t>13</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{1,2,4}</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15</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79</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a:latin typeface="Times New Roman" pitchFamily="18" charset="0"/>
                          <a:cs typeface="Times New Roman" pitchFamily="18" charset="0"/>
                        </a:rPr>
                        <a:t>14</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{1,3,4}</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16</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107</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a:latin typeface="Times New Roman" pitchFamily="18" charset="0"/>
                          <a:cs typeface="Times New Roman" pitchFamily="18" charset="0"/>
                        </a:rPr>
                        <a:t>15</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{2,3,4}</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12</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77</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a:t>
                      </a:r>
                    </a:p>
                  </a:txBody>
                  <a:tcPr marL="63990" marR="63990" marT="31995" marB="31995" anchor="ctr">
                    <a:lnL>
                      <a:noFill/>
                    </a:lnL>
                    <a:lnR>
                      <a:noFill/>
                    </a:lnR>
                    <a:lnT>
                      <a:noFill/>
                    </a:lnT>
                    <a:lnB>
                      <a:noFill/>
                    </a:lnB>
                  </a:tcPr>
                </a:tc>
              </a:tr>
              <a:tr h="255961">
                <a:tc>
                  <a:txBody>
                    <a:bodyPr/>
                    <a:lstStyle/>
                    <a:p>
                      <a:r>
                        <a:rPr lang="en-IN" sz="1300">
                          <a:latin typeface="Times New Roman" pitchFamily="18" charset="0"/>
                          <a:cs typeface="Times New Roman" pitchFamily="18" charset="0"/>
                        </a:rPr>
                        <a:t>16</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{1,2,3,4}</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19</a:t>
                      </a:r>
                    </a:p>
                  </a:txBody>
                  <a:tcPr marL="63990" marR="63990" marT="31995" marB="31995" anchor="ctr">
                    <a:lnL>
                      <a:noFill/>
                    </a:lnL>
                    <a:lnR>
                      <a:noFill/>
                    </a:lnR>
                    <a:lnT>
                      <a:noFill/>
                    </a:lnT>
                    <a:lnB>
                      <a:noFill/>
                    </a:lnB>
                  </a:tcPr>
                </a:tc>
                <a:tc>
                  <a:txBody>
                    <a:bodyPr/>
                    <a:lstStyle/>
                    <a:p>
                      <a:r>
                        <a:rPr lang="en-IN" sz="1300">
                          <a:latin typeface="Times New Roman" pitchFamily="18" charset="0"/>
                          <a:cs typeface="Times New Roman" pitchFamily="18" charset="0"/>
                        </a:rPr>
                        <a:t>119</a:t>
                      </a:r>
                    </a:p>
                  </a:txBody>
                  <a:tcPr marL="63990" marR="63990" marT="31995" marB="31995" anchor="ctr">
                    <a:lnL>
                      <a:noFill/>
                    </a:lnL>
                    <a:lnR>
                      <a:noFill/>
                    </a:lnR>
                    <a:lnT>
                      <a:noFill/>
                    </a:lnT>
                    <a:lnB>
                      <a:noFill/>
                    </a:lnB>
                  </a:tcPr>
                </a:tc>
                <a:tc>
                  <a:txBody>
                    <a:bodyPr/>
                    <a:lstStyle/>
                    <a:p>
                      <a:r>
                        <a:rPr lang="en-IN" sz="1300" dirty="0">
                          <a:latin typeface="Times New Roman" pitchFamily="18" charset="0"/>
                          <a:cs typeface="Times New Roman" pitchFamily="18" charset="0"/>
                        </a:rPr>
                        <a:t>✘</a:t>
                      </a:r>
                    </a:p>
                  </a:txBody>
                  <a:tcPr marL="63990" marR="63990" marT="31995" marB="31995" anchor="ctr">
                    <a:lnL>
                      <a:noFill/>
                    </a:lnL>
                    <a:lnR>
                      <a:noFill/>
                    </a:lnR>
                    <a:lnT>
                      <a:noFill/>
                    </a:lnT>
                    <a:lnB>
                      <a:noFill/>
                    </a:lnB>
                  </a:tcPr>
                </a:tc>
              </a:tr>
            </a:tbl>
          </a:graphicData>
        </a:graphic>
      </p:graphicFrame>
      <p:sp>
        <p:nvSpPr>
          <p:cNvPr id="11" name="TextBox 10"/>
          <p:cNvSpPr txBox="1"/>
          <p:nvPr/>
        </p:nvSpPr>
        <p:spPr>
          <a:xfrm>
            <a:off x="497267" y="5402580"/>
            <a:ext cx="3228913" cy="369332"/>
          </a:xfrm>
          <a:prstGeom prst="rect">
            <a:avLst/>
          </a:prstGeom>
          <a:noFill/>
        </p:spPr>
        <p:txBody>
          <a:bodyPr wrap="square" rtlCol="0">
            <a:spAutoFit/>
          </a:bodyPr>
          <a:lstStyle/>
          <a:p>
            <a:r>
              <a:rPr lang="en-US" b="1" dirty="0" smtClean="0">
                <a:solidFill>
                  <a:srgbClr val="002060"/>
                </a:solidFill>
                <a:latin typeface="Times New Roman" pitchFamily="18" charset="0"/>
                <a:cs typeface="Times New Roman" pitchFamily="18" charset="0"/>
              </a:rPr>
              <a:t>Optimal solution {3,4} = 65</a:t>
            </a:r>
            <a:endParaRPr lang="en-IN"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26536701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1966" y="172942"/>
            <a:ext cx="9144000" cy="1153834"/>
          </a:xfrm>
        </p:spPr>
        <p:txBody>
          <a:bodyPr>
            <a:noAutofit/>
          </a:bodyPr>
          <a:lstStyle/>
          <a:p>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a:t>
            </a:r>
            <a:r>
              <a:rPr lang="en-IN" sz="2000" b="1" dirty="0" smtClean="0">
                <a:solidFill>
                  <a:srgbClr val="C00000"/>
                </a:solidFill>
                <a:latin typeface="Times New Roman" panose="02020603050405020304" pitchFamily="18" charset="0"/>
                <a:cs typeface="Times New Roman" panose="02020603050405020304" pitchFamily="18" charset="0"/>
              </a:rPr>
              <a:t>2 : </a:t>
            </a:r>
            <a:r>
              <a:rPr lang="en-IN" sz="2000" b="1" dirty="0" smtClean="0">
                <a:solidFill>
                  <a:srgbClr val="C00000"/>
                </a:solidFill>
                <a:latin typeface="Times New Roman" panose="02020603050405020304" pitchFamily="18" charset="0"/>
                <a:cs typeface="Times New Roman" panose="02020603050405020304" pitchFamily="18" charset="0"/>
              </a:rPr>
              <a:t>Exhaustive Search</a:t>
            </a:r>
            <a:endParaRPr lang="en-IN" sz="3200" b="1" dirty="0"/>
          </a:p>
        </p:txBody>
      </p:sp>
      <p:sp>
        <p:nvSpPr>
          <p:cNvPr id="3" name="Subtitle 2"/>
          <p:cNvSpPr>
            <a:spLocks noGrp="1"/>
          </p:cNvSpPr>
          <p:nvPr>
            <p:ph type="subTitle" idx="1"/>
          </p:nvPr>
        </p:nvSpPr>
        <p:spPr>
          <a:xfrm>
            <a:off x="251010" y="1280160"/>
            <a:ext cx="11649637" cy="5076189"/>
          </a:xfrm>
        </p:spPr>
        <p:txBody>
          <a:bodyPr>
            <a:normAutofit/>
          </a:bodyPr>
          <a:lstStyle/>
          <a:p>
            <a:pPr algn="just"/>
            <a:endParaRPr lang="en-US" sz="2100" b="1" dirty="0" smtClean="0">
              <a:solidFill>
                <a:srgbClr val="002060"/>
              </a:solidFill>
              <a:latin typeface="Times New Roman" panose="02020603050405020304" pitchFamily="18" charset="0"/>
              <a:cs typeface="Times New Roman" panose="02020603050405020304" pitchFamily="18" charset="0"/>
            </a:endParaRPr>
          </a:p>
          <a:p>
            <a:pPr algn="just"/>
            <a:r>
              <a:rPr lang="en-US" sz="1800" b="1" dirty="0">
                <a:solidFill>
                  <a:srgbClr val="002060"/>
                </a:solidFill>
                <a:latin typeface="Times New Roman" pitchFamily="18" charset="0"/>
                <a:cs typeface="Times New Roman" pitchFamily="18" charset="0"/>
              </a:rPr>
              <a:t>The Travelling Salesman Problem (TSP) asks for the shortest possible tour that visits each city exactly once and returns to the starting city.</a:t>
            </a:r>
          </a:p>
          <a:p>
            <a:pPr algn="just"/>
            <a:r>
              <a:rPr lang="en-US" sz="1800" b="1" dirty="0">
                <a:solidFill>
                  <a:srgbClr val="002060"/>
                </a:solidFill>
                <a:latin typeface="Times New Roman" pitchFamily="18" charset="0"/>
                <a:cs typeface="Times New Roman" pitchFamily="18" charset="0"/>
              </a:rPr>
              <a:t>Formal Definition</a:t>
            </a:r>
          </a:p>
          <a:p>
            <a:pPr algn="just"/>
            <a:r>
              <a:rPr lang="en-US" sz="1800" b="1" dirty="0">
                <a:solidFill>
                  <a:srgbClr val="002060"/>
                </a:solidFill>
                <a:latin typeface="Times New Roman" pitchFamily="18" charset="0"/>
                <a:cs typeface="Times New Roman" pitchFamily="18" charset="0"/>
              </a:rPr>
              <a:t>Given:</a:t>
            </a:r>
          </a:p>
          <a:p>
            <a:pPr algn="just"/>
            <a:r>
              <a:rPr lang="en-US" sz="1800" b="1" dirty="0">
                <a:solidFill>
                  <a:srgbClr val="002060"/>
                </a:solidFill>
                <a:latin typeface="Times New Roman" pitchFamily="18" charset="0"/>
                <a:cs typeface="Times New Roman" pitchFamily="18" charset="0"/>
              </a:rPr>
              <a:t>A set of n cities </a:t>
            </a:r>
          </a:p>
          <a:p>
            <a:pPr algn="just"/>
            <a:r>
              <a:rPr lang="en-US" sz="1800" b="1" dirty="0">
                <a:solidFill>
                  <a:srgbClr val="002060"/>
                </a:solidFill>
                <a:latin typeface="Times New Roman" pitchFamily="18" charset="0"/>
                <a:cs typeface="Times New Roman" pitchFamily="18" charset="0"/>
              </a:rPr>
              <a:t>The distance (cost) between every pair of cities </a:t>
            </a:r>
          </a:p>
          <a:p>
            <a:pPr algn="just"/>
            <a:r>
              <a:rPr lang="en-US" sz="1800" b="1" dirty="0">
                <a:solidFill>
                  <a:srgbClr val="002060"/>
                </a:solidFill>
                <a:latin typeface="Times New Roman" pitchFamily="18" charset="0"/>
                <a:cs typeface="Times New Roman" pitchFamily="18" charset="0"/>
              </a:rPr>
              <a:t>Goal:</a:t>
            </a:r>
          </a:p>
          <a:p>
            <a:pPr algn="just"/>
            <a:r>
              <a:rPr lang="en-US" sz="1800" b="1" dirty="0">
                <a:solidFill>
                  <a:srgbClr val="002060"/>
                </a:solidFill>
                <a:latin typeface="Times New Roman" pitchFamily="18" charset="0"/>
                <a:cs typeface="Times New Roman" pitchFamily="18" charset="0"/>
              </a:rPr>
              <a:t>Find a minimum-cost Hamiltonian circuit, i.e.: </a:t>
            </a:r>
          </a:p>
          <a:p>
            <a:pPr lvl="1" algn="just"/>
            <a:r>
              <a:rPr lang="en-US" sz="1800" b="1" dirty="0">
                <a:solidFill>
                  <a:srgbClr val="002060"/>
                </a:solidFill>
                <a:latin typeface="Times New Roman" pitchFamily="18" charset="0"/>
                <a:cs typeface="Times New Roman" pitchFamily="18" charset="0"/>
              </a:rPr>
              <a:t>Visit each city exactly once </a:t>
            </a:r>
          </a:p>
          <a:p>
            <a:pPr lvl="1" algn="just"/>
            <a:r>
              <a:rPr lang="en-US" sz="1800" b="1" dirty="0">
                <a:solidFill>
                  <a:srgbClr val="002060"/>
                </a:solidFill>
                <a:latin typeface="Times New Roman" pitchFamily="18" charset="0"/>
                <a:cs typeface="Times New Roman" pitchFamily="18" charset="0"/>
              </a:rPr>
              <a:t>Return to the starting city </a:t>
            </a:r>
          </a:p>
          <a:p>
            <a:pPr lvl="1" algn="just"/>
            <a:r>
              <a:rPr lang="en-US" sz="1800" b="1" dirty="0">
                <a:solidFill>
                  <a:srgbClr val="002060"/>
                </a:solidFill>
                <a:latin typeface="Times New Roman" pitchFamily="18" charset="0"/>
                <a:cs typeface="Times New Roman" pitchFamily="18" charset="0"/>
              </a:rPr>
              <a:t>Minimize the total travel cost</a:t>
            </a: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497267" y="159532"/>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85967" y="172943"/>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6</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D51FACDD-7075-4EBC-A6D6-20CB18035FC2}" type="datetime1">
              <a:rPr lang="en-IN" smtClean="0"/>
              <a:t>22-03-2026</a:t>
            </a:fld>
            <a:endParaRPr lang="en-IN"/>
          </a:p>
        </p:txBody>
      </p:sp>
    </p:spTree>
    <p:extLst>
      <p:ext uri="{BB962C8B-B14F-4D97-AF65-F5344CB8AC3E}">
        <p14:creationId xmlns:p14="http://schemas.microsoft.com/office/powerpoint/2010/main" val="6307889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1966" y="172942"/>
            <a:ext cx="9144000" cy="1153834"/>
          </a:xfrm>
        </p:spPr>
        <p:txBody>
          <a:bodyPr>
            <a:noAutofit/>
          </a:bodyPr>
          <a:lstStyle/>
          <a:p>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800" b="1" dirty="0" smtClean="0">
                <a:solidFill>
                  <a:srgbClr val="002060"/>
                </a:solidFill>
                <a:latin typeface="Times New Roman" panose="02020603050405020304" pitchFamily="18" charset="0"/>
                <a:cs typeface="Times New Roman" panose="02020603050405020304" pitchFamily="18" charset="0"/>
              </a:rPr>
              <a:t/>
            </a:r>
            <a:br>
              <a:rPr lang="en-IN" sz="28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000" b="1" dirty="0" smtClean="0">
                <a:solidFill>
                  <a:srgbClr val="C00000"/>
                </a:solidFill>
                <a:latin typeface="Times New Roman" panose="02020603050405020304" pitchFamily="18" charset="0"/>
                <a:cs typeface="Times New Roman" panose="02020603050405020304" pitchFamily="18" charset="0"/>
              </a:rPr>
              <a:t>Exhaustive Search</a:t>
            </a:r>
            <a:endParaRPr lang="en-IN" sz="3200" b="1" dirty="0"/>
          </a:p>
        </p:txBody>
      </p:sp>
      <p:sp>
        <p:nvSpPr>
          <p:cNvPr id="3" name="Subtitle 2"/>
          <p:cNvSpPr>
            <a:spLocks noGrp="1"/>
          </p:cNvSpPr>
          <p:nvPr>
            <p:ph type="subTitle" idx="1"/>
          </p:nvPr>
        </p:nvSpPr>
        <p:spPr>
          <a:xfrm>
            <a:off x="251010" y="1280160"/>
            <a:ext cx="11649637" cy="5076189"/>
          </a:xfrm>
        </p:spPr>
        <p:txBody>
          <a:bodyPr>
            <a:normAutofit/>
          </a:bodyPr>
          <a:lstStyle/>
          <a:p>
            <a:pPr algn="just"/>
            <a:r>
              <a:rPr lang="en-US" sz="1800" b="1" dirty="0" smtClean="0">
                <a:solidFill>
                  <a:srgbClr val="002060"/>
                </a:solidFill>
                <a:latin typeface="Times New Roman" pitchFamily="18" charset="0"/>
                <a:cs typeface="Times New Roman" pitchFamily="18" charset="0"/>
              </a:rPr>
              <a:t>TSP </a:t>
            </a:r>
            <a:r>
              <a:rPr lang="en-US" sz="1800" b="1" dirty="0">
                <a:solidFill>
                  <a:srgbClr val="002060"/>
                </a:solidFill>
                <a:latin typeface="Times New Roman" pitchFamily="18" charset="0"/>
                <a:cs typeface="Times New Roman" pitchFamily="18" charset="0"/>
              </a:rPr>
              <a:t>using Exhaustive Search</a:t>
            </a:r>
          </a:p>
          <a:p>
            <a:pPr algn="just"/>
            <a:r>
              <a:rPr lang="en-US" sz="1800" b="1" dirty="0">
                <a:solidFill>
                  <a:srgbClr val="002060"/>
                </a:solidFill>
                <a:latin typeface="Times New Roman" pitchFamily="18" charset="0"/>
                <a:cs typeface="Times New Roman" pitchFamily="18" charset="0"/>
              </a:rPr>
              <a:t>From the given graph (cities a, b, c, d), the edge weights are:</a:t>
            </a:r>
          </a:p>
          <a:p>
            <a:pPr algn="just">
              <a:spcBef>
                <a:spcPts val="0"/>
              </a:spcBef>
            </a:pPr>
            <a:r>
              <a:rPr lang="en-US" sz="1800" b="1" dirty="0">
                <a:solidFill>
                  <a:srgbClr val="002060"/>
                </a:solidFill>
                <a:latin typeface="Times New Roman" pitchFamily="18" charset="0"/>
                <a:cs typeface="Times New Roman" pitchFamily="18" charset="0"/>
              </a:rPr>
              <a:t>a–b = 2 </a:t>
            </a:r>
          </a:p>
          <a:p>
            <a:pPr algn="just">
              <a:spcBef>
                <a:spcPts val="0"/>
              </a:spcBef>
            </a:pPr>
            <a:r>
              <a:rPr lang="en-US" sz="1800" b="1" dirty="0">
                <a:solidFill>
                  <a:srgbClr val="002060"/>
                </a:solidFill>
                <a:latin typeface="Times New Roman" pitchFamily="18" charset="0"/>
                <a:cs typeface="Times New Roman" pitchFamily="18" charset="0"/>
              </a:rPr>
              <a:t>b–d = 3 </a:t>
            </a:r>
          </a:p>
          <a:p>
            <a:pPr algn="just">
              <a:spcBef>
                <a:spcPts val="0"/>
              </a:spcBef>
            </a:pPr>
            <a:r>
              <a:rPr lang="en-US" sz="1800" b="1" dirty="0">
                <a:solidFill>
                  <a:srgbClr val="002060"/>
                </a:solidFill>
                <a:latin typeface="Times New Roman" pitchFamily="18" charset="0"/>
                <a:cs typeface="Times New Roman" pitchFamily="18" charset="0"/>
              </a:rPr>
              <a:t>d–c = 1 </a:t>
            </a:r>
          </a:p>
          <a:p>
            <a:pPr algn="just">
              <a:spcBef>
                <a:spcPts val="0"/>
              </a:spcBef>
            </a:pPr>
            <a:r>
              <a:rPr lang="en-US" sz="1800" b="1" dirty="0">
                <a:solidFill>
                  <a:srgbClr val="002060"/>
                </a:solidFill>
                <a:latin typeface="Times New Roman" pitchFamily="18" charset="0"/>
                <a:cs typeface="Times New Roman" pitchFamily="18" charset="0"/>
              </a:rPr>
              <a:t>c–a = 5 </a:t>
            </a:r>
            <a:endParaRPr lang="en-US" sz="1800" dirty="0">
              <a:latin typeface="Times New Roman" pitchFamily="18" charset="0"/>
              <a:cs typeface="Times New Roman" pitchFamily="18" charset="0"/>
            </a:endParaRPr>
          </a:p>
          <a:p>
            <a:pPr algn="just">
              <a:spcBef>
                <a:spcPts val="0"/>
              </a:spcBef>
            </a:pPr>
            <a:r>
              <a:rPr lang="en-US" sz="1800" b="1" dirty="0">
                <a:solidFill>
                  <a:srgbClr val="002060"/>
                </a:solidFill>
                <a:latin typeface="Times New Roman" pitchFamily="18" charset="0"/>
                <a:cs typeface="Times New Roman" pitchFamily="18" charset="0"/>
              </a:rPr>
              <a:t>a–d = 7 </a:t>
            </a:r>
          </a:p>
          <a:p>
            <a:pPr algn="just">
              <a:spcBef>
                <a:spcPts val="0"/>
              </a:spcBef>
            </a:pPr>
            <a:r>
              <a:rPr lang="en-US" sz="1800" b="1" dirty="0">
                <a:solidFill>
                  <a:srgbClr val="002060"/>
                </a:solidFill>
                <a:latin typeface="Times New Roman" pitchFamily="18" charset="0"/>
                <a:cs typeface="Times New Roman" pitchFamily="18" charset="0"/>
              </a:rPr>
              <a:t>b–c = 8 </a:t>
            </a: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497267" y="159532"/>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85967" y="172943"/>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2" y="6492875"/>
            <a:ext cx="10734955" cy="365125"/>
          </a:xfrm>
        </p:spPr>
        <p:txBody>
          <a:bodyPr/>
          <a:lstStyle/>
          <a:p>
            <a:pPr algn="just"/>
            <a:r>
              <a:rPr lang="en-IN" sz="1600" b="1" dirty="0" err="1" smtClean="0">
                <a:solidFill>
                  <a:srgbClr val="C00000"/>
                </a:solidFill>
                <a:latin typeface="Times New Roman" panose="02020603050405020304" pitchFamily="18" charset="0"/>
                <a:cs typeface="Times New Roman" panose="02020603050405020304" pitchFamily="18" charset="0"/>
              </a:rPr>
              <a:t>Dr.</a:t>
            </a:r>
            <a:r>
              <a:rPr lang="en-IN" sz="1600" b="1" dirty="0" smtClean="0">
                <a:solidFill>
                  <a:srgbClr val="C00000"/>
                </a:solidFill>
                <a:latin typeface="Times New Roman" panose="02020603050405020304" pitchFamily="18" charset="0"/>
                <a:cs typeface="Times New Roman" panose="02020603050405020304" pitchFamily="18" charset="0"/>
              </a:rPr>
              <a:t> </a:t>
            </a:r>
            <a:r>
              <a:rPr lang="en-IN" sz="1600" b="1" dirty="0" err="1" smtClean="0">
                <a:solidFill>
                  <a:srgbClr val="C00000"/>
                </a:solidFill>
                <a:latin typeface="Times New Roman" panose="02020603050405020304" pitchFamily="18" charset="0"/>
                <a:cs typeface="Times New Roman" panose="02020603050405020304" pitchFamily="18" charset="0"/>
              </a:rPr>
              <a:t>Vijayalaxmi</a:t>
            </a:r>
            <a:r>
              <a:rPr lang="en-IN" sz="1600" b="1" dirty="0" smtClean="0">
                <a:solidFill>
                  <a:srgbClr val="C00000"/>
                </a:solidFill>
                <a:latin typeface="Times New Roman" panose="02020603050405020304" pitchFamily="18" charset="0"/>
                <a:cs typeface="Times New Roman" panose="02020603050405020304" pitchFamily="18" charset="0"/>
              </a:rPr>
              <a:t> </a:t>
            </a:r>
            <a:r>
              <a:rPr lang="en-IN" sz="1600" b="1" dirty="0" err="1" smtClean="0">
                <a:solidFill>
                  <a:srgbClr val="C00000"/>
                </a:solidFill>
                <a:latin typeface="Times New Roman" panose="02020603050405020304" pitchFamily="18" charset="0"/>
                <a:cs typeface="Times New Roman" panose="02020603050405020304" pitchFamily="18" charset="0"/>
              </a:rPr>
              <a:t>Mekali</a:t>
            </a:r>
            <a:r>
              <a:rPr lang="en-IN" sz="1600" b="1" dirty="0" smtClean="0">
                <a:solidFill>
                  <a:srgbClr val="C00000"/>
                </a:solidFill>
                <a:latin typeface="Times New Roman" panose="02020603050405020304" pitchFamily="18" charset="0"/>
                <a:cs typeface="Times New Roman" panose="02020603050405020304" pitchFamily="18" charset="0"/>
              </a:rPr>
              <a:t>, Professor, </a:t>
            </a:r>
            <a:r>
              <a:rPr lang="en-IN" sz="1600" b="1" dirty="0" err="1" smtClean="0">
                <a:solidFill>
                  <a:srgbClr val="C00000"/>
                </a:solidFill>
                <a:latin typeface="Times New Roman" panose="02020603050405020304" pitchFamily="18" charset="0"/>
                <a:cs typeface="Times New Roman" panose="02020603050405020304" pitchFamily="18" charset="0"/>
              </a:rPr>
              <a:t>Dept</a:t>
            </a:r>
            <a:r>
              <a:rPr lang="en-IN" sz="1600" b="1" dirty="0" smtClean="0">
                <a:solidFill>
                  <a:srgbClr val="C00000"/>
                </a:solidFill>
                <a:latin typeface="Times New Roman" panose="02020603050405020304" pitchFamily="18" charset="0"/>
                <a:cs typeface="Times New Roman" panose="02020603050405020304" pitchFamily="18" charset="0"/>
              </a:rPr>
              <a: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7</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D51FACDD-7075-4EBC-A6D6-20CB18035FC2}" type="datetime1">
              <a:rPr lang="en-IN" smtClean="0"/>
              <a:t>22-03-2026</a:t>
            </a:fld>
            <a:endParaRPr lang="en-IN"/>
          </a:p>
        </p:txBody>
      </p:sp>
      <p:graphicFrame>
        <p:nvGraphicFramePr>
          <p:cNvPr id="9" name="Table 8"/>
          <p:cNvGraphicFramePr>
            <a:graphicFrameLocks noGrp="1"/>
          </p:cNvGraphicFramePr>
          <p:nvPr>
            <p:extLst>
              <p:ext uri="{D42A27DB-BD31-4B8C-83A1-F6EECF244321}">
                <p14:modId xmlns:p14="http://schemas.microsoft.com/office/powerpoint/2010/main" val="26563631"/>
              </p:ext>
            </p:extLst>
          </p:nvPr>
        </p:nvGraphicFramePr>
        <p:xfrm>
          <a:off x="1592580" y="2957354"/>
          <a:ext cx="7025640" cy="2560320"/>
        </p:xfrm>
        <a:graphic>
          <a:graphicData uri="http://schemas.openxmlformats.org/drawingml/2006/table">
            <a:tbl>
              <a:tblPr/>
              <a:tblGrid>
                <a:gridCol w="1249680"/>
                <a:gridCol w="2179320"/>
                <a:gridCol w="1965960"/>
                <a:gridCol w="1630680"/>
              </a:tblGrid>
              <a:tr h="0">
                <a:tc>
                  <a:txBody>
                    <a:bodyPr/>
                    <a:lstStyle/>
                    <a:p>
                      <a:pPr algn="ctr"/>
                      <a:r>
                        <a:rPr lang="en-IN" b="1" dirty="0">
                          <a:solidFill>
                            <a:srgbClr val="002060"/>
                          </a:solidFill>
                          <a:latin typeface="Times New Roman" pitchFamily="18" charset="0"/>
                          <a:cs typeface="Times New Roman" pitchFamily="18" charset="0"/>
                        </a:rPr>
                        <a:t>Tour</a:t>
                      </a:r>
                    </a:p>
                  </a:txBody>
                  <a:tcPr anchor="ctr">
                    <a:lnL>
                      <a:noFill/>
                    </a:lnL>
                    <a:lnR>
                      <a:noFill/>
                    </a:lnR>
                    <a:lnT>
                      <a:noFill/>
                    </a:lnT>
                    <a:lnB>
                      <a:noFill/>
                    </a:lnB>
                  </a:tcPr>
                </a:tc>
                <a:tc>
                  <a:txBody>
                    <a:bodyPr/>
                    <a:lstStyle/>
                    <a:p>
                      <a:pPr algn="ctr"/>
                      <a:r>
                        <a:rPr lang="en-IN" b="1" dirty="0">
                          <a:solidFill>
                            <a:srgbClr val="002060"/>
                          </a:solidFill>
                          <a:latin typeface="Times New Roman" pitchFamily="18" charset="0"/>
                          <a:cs typeface="Times New Roman" pitchFamily="18" charset="0"/>
                        </a:rPr>
                        <a:t>Path</a:t>
                      </a:r>
                    </a:p>
                  </a:txBody>
                  <a:tcPr anchor="ctr">
                    <a:lnL>
                      <a:noFill/>
                    </a:lnL>
                    <a:lnR>
                      <a:noFill/>
                    </a:lnR>
                    <a:lnT>
                      <a:noFill/>
                    </a:lnT>
                    <a:lnB>
                      <a:noFill/>
                    </a:lnB>
                  </a:tcPr>
                </a:tc>
                <a:tc>
                  <a:txBody>
                    <a:bodyPr/>
                    <a:lstStyle/>
                    <a:p>
                      <a:pPr algn="ctr"/>
                      <a:r>
                        <a:rPr lang="en-IN" b="1" dirty="0">
                          <a:solidFill>
                            <a:srgbClr val="002060"/>
                          </a:solidFill>
                          <a:latin typeface="Times New Roman" pitchFamily="18" charset="0"/>
                          <a:cs typeface="Times New Roman" pitchFamily="18" charset="0"/>
                        </a:rPr>
                        <a:t>Cost Calculation</a:t>
                      </a:r>
                    </a:p>
                  </a:txBody>
                  <a:tcPr anchor="ctr">
                    <a:lnL>
                      <a:noFill/>
                    </a:lnL>
                    <a:lnR>
                      <a:noFill/>
                    </a:lnR>
                    <a:lnT>
                      <a:noFill/>
                    </a:lnT>
                    <a:lnB>
                      <a:noFill/>
                    </a:lnB>
                  </a:tcPr>
                </a:tc>
                <a:tc>
                  <a:txBody>
                    <a:bodyPr/>
                    <a:lstStyle/>
                    <a:p>
                      <a:pPr algn="ctr"/>
                      <a:r>
                        <a:rPr lang="en-IN" b="1" dirty="0">
                          <a:solidFill>
                            <a:srgbClr val="002060"/>
                          </a:solidFill>
                          <a:latin typeface="Times New Roman" pitchFamily="18" charset="0"/>
                          <a:cs typeface="Times New Roman" pitchFamily="18" charset="0"/>
                        </a:rPr>
                        <a:t>Total Cost</a:t>
                      </a:r>
                    </a:p>
                  </a:txBody>
                  <a:tcPr anchor="ctr">
                    <a:lnL>
                      <a:noFill/>
                    </a:lnL>
                    <a:lnR>
                      <a:noFill/>
                    </a:lnR>
                    <a:lnT>
                      <a:noFill/>
                    </a:lnT>
                    <a:lnB>
                      <a:noFill/>
                    </a:lnB>
                  </a:tcPr>
                </a:tc>
              </a:tr>
              <a:tr h="0">
                <a:tc>
                  <a:txBody>
                    <a:bodyPr/>
                    <a:lstStyle/>
                    <a:p>
                      <a:pPr algn="ctr"/>
                      <a:r>
                        <a:rPr lang="en-IN" dirty="0">
                          <a:latin typeface="Times New Roman" pitchFamily="18" charset="0"/>
                          <a:cs typeface="Times New Roman" pitchFamily="18" charset="0"/>
                        </a:rPr>
                        <a:t>1</a:t>
                      </a:r>
                    </a:p>
                  </a:txBody>
                  <a:tcPr anchor="ctr">
                    <a:lnL>
                      <a:noFill/>
                    </a:lnL>
                    <a:lnR>
                      <a:noFill/>
                    </a:lnR>
                    <a:lnT>
                      <a:noFill/>
                    </a:lnT>
                    <a:lnB>
                      <a:noFill/>
                    </a:lnB>
                  </a:tcPr>
                </a:tc>
                <a:tc>
                  <a:txBody>
                    <a:bodyPr/>
                    <a:lstStyle/>
                    <a:p>
                      <a:r>
                        <a:rPr lang="pt-BR" dirty="0">
                          <a:latin typeface="Times New Roman" pitchFamily="18" charset="0"/>
                          <a:cs typeface="Times New Roman" pitchFamily="18" charset="0"/>
                        </a:rPr>
                        <a:t>a → b → c → d → a</a:t>
                      </a:r>
                    </a:p>
                  </a:txBody>
                  <a:tcPr anchor="ctr">
                    <a:lnL>
                      <a:noFill/>
                    </a:lnL>
                    <a:lnR>
                      <a:noFill/>
                    </a:lnR>
                    <a:lnT>
                      <a:noFill/>
                    </a:lnT>
                    <a:lnB>
                      <a:noFill/>
                    </a:lnB>
                  </a:tcPr>
                </a:tc>
                <a:tc>
                  <a:txBody>
                    <a:bodyPr/>
                    <a:lstStyle/>
                    <a:p>
                      <a:r>
                        <a:rPr lang="en-IN">
                          <a:latin typeface="Times New Roman" pitchFamily="18" charset="0"/>
                          <a:cs typeface="Times New Roman" pitchFamily="18" charset="0"/>
                        </a:rPr>
                        <a:t>2 + 8 + 1 + 7</a:t>
                      </a:r>
                    </a:p>
                  </a:txBody>
                  <a:tcPr anchor="ctr">
                    <a:lnL>
                      <a:noFill/>
                    </a:lnL>
                    <a:lnR>
                      <a:noFill/>
                    </a:lnR>
                    <a:lnT>
                      <a:noFill/>
                    </a:lnT>
                    <a:lnB>
                      <a:noFill/>
                    </a:lnB>
                  </a:tcPr>
                </a:tc>
                <a:tc>
                  <a:txBody>
                    <a:bodyPr/>
                    <a:lstStyle/>
                    <a:p>
                      <a:r>
                        <a:rPr lang="en-IN">
                          <a:latin typeface="Times New Roman" pitchFamily="18" charset="0"/>
                          <a:cs typeface="Times New Roman" pitchFamily="18" charset="0"/>
                        </a:rPr>
                        <a:t>18</a:t>
                      </a:r>
                    </a:p>
                  </a:txBody>
                  <a:tcPr anchor="ctr">
                    <a:lnL>
                      <a:noFill/>
                    </a:lnL>
                    <a:lnR>
                      <a:noFill/>
                    </a:lnR>
                    <a:lnT>
                      <a:noFill/>
                    </a:lnT>
                    <a:lnB>
                      <a:noFill/>
                    </a:lnB>
                  </a:tcPr>
                </a:tc>
              </a:tr>
              <a:tr h="0">
                <a:tc>
                  <a:txBody>
                    <a:bodyPr/>
                    <a:lstStyle/>
                    <a:p>
                      <a:pPr algn="ctr"/>
                      <a:r>
                        <a:rPr lang="en-IN" dirty="0">
                          <a:latin typeface="Times New Roman" pitchFamily="18" charset="0"/>
                          <a:cs typeface="Times New Roman" pitchFamily="18" charset="0"/>
                        </a:rPr>
                        <a:t>2</a:t>
                      </a:r>
                    </a:p>
                  </a:txBody>
                  <a:tcPr anchor="ctr">
                    <a:lnL>
                      <a:noFill/>
                    </a:lnL>
                    <a:lnR>
                      <a:noFill/>
                    </a:lnR>
                    <a:lnT>
                      <a:noFill/>
                    </a:lnT>
                    <a:lnB>
                      <a:noFill/>
                    </a:lnB>
                  </a:tcPr>
                </a:tc>
                <a:tc>
                  <a:txBody>
                    <a:bodyPr/>
                    <a:lstStyle/>
                    <a:p>
                      <a:r>
                        <a:rPr lang="pt-BR" dirty="0">
                          <a:latin typeface="Times New Roman" pitchFamily="18" charset="0"/>
                          <a:cs typeface="Times New Roman" pitchFamily="18" charset="0"/>
                        </a:rPr>
                        <a:t>a → b → d → c → a</a:t>
                      </a:r>
                    </a:p>
                  </a:txBody>
                  <a:tcPr anchor="ctr">
                    <a:lnL>
                      <a:noFill/>
                    </a:lnL>
                    <a:lnR>
                      <a:noFill/>
                    </a:lnR>
                    <a:lnT>
                      <a:noFill/>
                    </a:lnT>
                    <a:lnB>
                      <a:noFill/>
                    </a:lnB>
                  </a:tcPr>
                </a:tc>
                <a:tc>
                  <a:txBody>
                    <a:bodyPr/>
                    <a:lstStyle/>
                    <a:p>
                      <a:r>
                        <a:rPr lang="en-IN" dirty="0">
                          <a:latin typeface="Times New Roman" pitchFamily="18" charset="0"/>
                          <a:cs typeface="Times New Roman" pitchFamily="18" charset="0"/>
                        </a:rPr>
                        <a:t>2 + 3 + 1 + 5</a:t>
                      </a:r>
                    </a:p>
                  </a:txBody>
                  <a:tcPr anchor="ctr">
                    <a:lnL>
                      <a:noFill/>
                    </a:lnL>
                    <a:lnR>
                      <a:noFill/>
                    </a:lnR>
                    <a:lnT>
                      <a:noFill/>
                    </a:lnT>
                    <a:lnB>
                      <a:noFill/>
                    </a:lnB>
                  </a:tcPr>
                </a:tc>
                <a:tc>
                  <a:txBody>
                    <a:bodyPr/>
                    <a:lstStyle/>
                    <a:p>
                      <a:r>
                        <a:rPr lang="en-IN" b="1">
                          <a:latin typeface="Times New Roman" pitchFamily="18" charset="0"/>
                          <a:cs typeface="Times New Roman" pitchFamily="18" charset="0"/>
                        </a:rPr>
                        <a:t>11</a:t>
                      </a:r>
                      <a:r>
                        <a:rPr lang="en-IN">
                          <a:latin typeface="Times New Roman" pitchFamily="18" charset="0"/>
                          <a:cs typeface="Times New Roman" pitchFamily="18" charset="0"/>
                        </a:rPr>
                        <a:t> ✅</a:t>
                      </a:r>
                    </a:p>
                  </a:txBody>
                  <a:tcPr anchor="ctr">
                    <a:lnL>
                      <a:noFill/>
                    </a:lnL>
                    <a:lnR>
                      <a:noFill/>
                    </a:lnR>
                    <a:lnT>
                      <a:noFill/>
                    </a:lnT>
                    <a:lnB>
                      <a:noFill/>
                    </a:lnB>
                  </a:tcPr>
                </a:tc>
              </a:tr>
              <a:tr h="0">
                <a:tc>
                  <a:txBody>
                    <a:bodyPr/>
                    <a:lstStyle/>
                    <a:p>
                      <a:pPr algn="ctr"/>
                      <a:r>
                        <a:rPr lang="en-IN" dirty="0">
                          <a:latin typeface="Times New Roman" pitchFamily="18" charset="0"/>
                          <a:cs typeface="Times New Roman" pitchFamily="18" charset="0"/>
                        </a:rPr>
                        <a:t>3</a:t>
                      </a:r>
                    </a:p>
                  </a:txBody>
                  <a:tcPr anchor="ctr">
                    <a:lnL>
                      <a:noFill/>
                    </a:lnL>
                    <a:lnR>
                      <a:noFill/>
                    </a:lnR>
                    <a:lnT>
                      <a:noFill/>
                    </a:lnT>
                    <a:lnB>
                      <a:noFill/>
                    </a:lnB>
                  </a:tcPr>
                </a:tc>
                <a:tc>
                  <a:txBody>
                    <a:bodyPr/>
                    <a:lstStyle/>
                    <a:p>
                      <a:r>
                        <a:rPr lang="pt-BR">
                          <a:latin typeface="Times New Roman" pitchFamily="18" charset="0"/>
                          <a:cs typeface="Times New Roman" pitchFamily="18" charset="0"/>
                        </a:rPr>
                        <a:t>a → c → b → d → a</a:t>
                      </a:r>
                    </a:p>
                  </a:txBody>
                  <a:tcPr anchor="ctr">
                    <a:lnL>
                      <a:noFill/>
                    </a:lnL>
                    <a:lnR>
                      <a:noFill/>
                    </a:lnR>
                    <a:lnT>
                      <a:noFill/>
                    </a:lnT>
                    <a:lnB>
                      <a:noFill/>
                    </a:lnB>
                  </a:tcPr>
                </a:tc>
                <a:tc>
                  <a:txBody>
                    <a:bodyPr/>
                    <a:lstStyle/>
                    <a:p>
                      <a:r>
                        <a:rPr lang="en-IN" dirty="0">
                          <a:latin typeface="Times New Roman" pitchFamily="18" charset="0"/>
                          <a:cs typeface="Times New Roman" pitchFamily="18" charset="0"/>
                        </a:rPr>
                        <a:t>5 + 8 + 3 + 7</a:t>
                      </a:r>
                    </a:p>
                  </a:txBody>
                  <a:tcPr anchor="ctr">
                    <a:lnL>
                      <a:noFill/>
                    </a:lnL>
                    <a:lnR>
                      <a:noFill/>
                    </a:lnR>
                    <a:lnT>
                      <a:noFill/>
                    </a:lnT>
                    <a:lnB>
                      <a:noFill/>
                    </a:lnB>
                  </a:tcPr>
                </a:tc>
                <a:tc>
                  <a:txBody>
                    <a:bodyPr/>
                    <a:lstStyle/>
                    <a:p>
                      <a:r>
                        <a:rPr lang="en-IN">
                          <a:latin typeface="Times New Roman" pitchFamily="18" charset="0"/>
                          <a:cs typeface="Times New Roman" pitchFamily="18" charset="0"/>
                        </a:rPr>
                        <a:t>23</a:t>
                      </a:r>
                    </a:p>
                  </a:txBody>
                  <a:tcPr anchor="ctr">
                    <a:lnL>
                      <a:noFill/>
                    </a:lnL>
                    <a:lnR>
                      <a:noFill/>
                    </a:lnR>
                    <a:lnT>
                      <a:noFill/>
                    </a:lnT>
                    <a:lnB>
                      <a:noFill/>
                    </a:lnB>
                  </a:tcPr>
                </a:tc>
              </a:tr>
              <a:tr h="0">
                <a:tc>
                  <a:txBody>
                    <a:bodyPr/>
                    <a:lstStyle/>
                    <a:p>
                      <a:pPr algn="ctr"/>
                      <a:r>
                        <a:rPr lang="en-IN" dirty="0">
                          <a:latin typeface="Times New Roman" pitchFamily="18" charset="0"/>
                          <a:cs typeface="Times New Roman" pitchFamily="18" charset="0"/>
                        </a:rPr>
                        <a:t>4</a:t>
                      </a:r>
                    </a:p>
                  </a:txBody>
                  <a:tcPr anchor="ctr">
                    <a:lnL>
                      <a:noFill/>
                    </a:lnL>
                    <a:lnR>
                      <a:noFill/>
                    </a:lnR>
                    <a:lnT>
                      <a:noFill/>
                    </a:lnT>
                    <a:lnB>
                      <a:noFill/>
                    </a:lnB>
                  </a:tcPr>
                </a:tc>
                <a:tc>
                  <a:txBody>
                    <a:bodyPr/>
                    <a:lstStyle/>
                    <a:p>
                      <a:r>
                        <a:rPr lang="pt-BR" dirty="0">
                          <a:latin typeface="Times New Roman" pitchFamily="18" charset="0"/>
                          <a:cs typeface="Times New Roman" pitchFamily="18" charset="0"/>
                        </a:rPr>
                        <a:t>a → c → d → b → a</a:t>
                      </a:r>
                    </a:p>
                  </a:txBody>
                  <a:tcPr anchor="ctr">
                    <a:lnL>
                      <a:noFill/>
                    </a:lnL>
                    <a:lnR>
                      <a:noFill/>
                    </a:lnR>
                    <a:lnT>
                      <a:noFill/>
                    </a:lnT>
                    <a:lnB>
                      <a:noFill/>
                    </a:lnB>
                  </a:tcPr>
                </a:tc>
                <a:tc>
                  <a:txBody>
                    <a:bodyPr/>
                    <a:lstStyle/>
                    <a:p>
                      <a:r>
                        <a:rPr lang="en-IN" dirty="0">
                          <a:latin typeface="Times New Roman" pitchFamily="18" charset="0"/>
                          <a:cs typeface="Times New Roman" pitchFamily="18" charset="0"/>
                        </a:rPr>
                        <a:t>5 + 1 + 3 + 2</a:t>
                      </a:r>
                    </a:p>
                  </a:txBody>
                  <a:tcPr anchor="ctr">
                    <a:lnL>
                      <a:noFill/>
                    </a:lnL>
                    <a:lnR>
                      <a:noFill/>
                    </a:lnR>
                    <a:lnT>
                      <a:noFill/>
                    </a:lnT>
                    <a:lnB>
                      <a:noFill/>
                    </a:lnB>
                  </a:tcPr>
                </a:tc>
                <a:tc>
                  <a:txBody>
                    <a:bodyPr/>
                    <a:lstStyle/>
                    <a:p>
                      <a:r>
                        <a:rPr lang="en-IN" b="1">
                          <a:latin typeface="Times New Roman" pitchFamily="18" charset="0"/>
                          <a:cs typeface="Times New Roman" pitchFamily="18" charset="0"/>
                        </a:rPr>
                        <a:t>11</a:t>
                      </a:r>
                      <a:r>
                        <a:rPr lang="en-IN">
                          <a:latin typeface="Times New Roman" pitchFamily="18" charset="0"/>
                          <a:cs typeface="Times New Roman" pitchFamily="18" charset="0"/>
                        </a:rPr>
                        <a:t> ✅</a:t>
                      </a:r>
                    </a:p>
                  </a:txBody>
                  <a:tcPr anchor="ctr">
                    <a:lnL>
                      <a:noFill/>
                    </a:lnL>
                    <a:lnR>
                      <a:noFill/>
                    </a:lnR>
                    <a:lnT>
                      <a:noFill/>
                    </a:lnT>
                    <a:lnB>
                      <a:noFill/>
                    </a:lnB>
                  </a:tcPr>
                </a:tc>
              </a:tr>
              <a:tr h="0">
                <a:tc>
                  <a:txBody>
                    <a:bodyPr/>
                    <a:lstStyle/>
                    <a:p>
                      <a:pPr algn="ctr"/>
                      <a:r>
                        <a:rPr lang="en-IN" dirty="0">
                          <a:latin typeface="Times New Roman" pitchFamily="18" charset="0"/>
                          <a:cs typeface="Times New Roman" pitchFamily="18" charset="0"/>
                        </a:rPr>
                        <a:t>5</a:t>
                      </a:r>
                    </a:p>
                  </a:txBody>
                  <a:tcPr anchor="ctr">
                    <a:lnL>
                      <a:noFill/>
                    </a:lnL>
                    <a:lnR>
                      <a:noFill/>
                    </a:lnR>
                    <a:lnT>
                      <a:noFill/>
                    </a:lnT>
                    <a:lnB>
                      <a:noFill/>
                    </a:lnB>
                  </a:tcPr>
                </a:tc>
                <a:tc>
                  <a:txBody>
                    <a:bodyPr/>
                    <a:lstStyle/>
                    <a:p>
                      <a:r>
                        <a:rPr lang="pt-BR">
                          <a:latin typeface="Times New Roman" pitchFamily="18" charset="0"/>
                          <a:cs typeface="Times New Roman" pitchFamily="18" charset="0"/>
                        </a:rPr>
                        <a:t>a → d → b → c → a</a:t>
                      </a:r>
                    </a:p>
                  </a:txBody>
                  <a:tcPr anchor="ctr">
                    <a:lnL>
                      <a:noFill/>
                    </a:lnL>
                    <a:lnR>
                      <a:noFill/>
                    </a:lnR>
                    <a:lnT>
                      <a:noFill/>
                    </a:lnT>
                    <a:lnB>
                      <a:noFill/>
                    </a:lnB>
                  </a:tcPr>
                </a:tc>
                <a:tc>
                  <a:txBody>
                    <a:bodyPr/>
                    <a:lstStyle/>
                    <a:p>
                      <a:r>
                        <a:rPr lang="en-IN">
                          <a:latin typeface="Times New Roman" pitchFamily="18" charset="0"/>
                          <a:cs typeface="Times New Roman" pitchFamily="18" charset="0"/>
                        </a:rPr>
                        <a:t>7 + 3 + 8 + 5</a:t>
                      </a:r>
                    </a:p>
                  </a:txBody>
                  <a:tcPr anchor="ctr">
                    <a:lnL>
                      <a:noFill/>
                    </a:lnL>
                    <a:lnR>
                      <a:noFill/>
                    </a:lnR>
                    <a:lnT>
                      <a:noFill/>
                    </a:lnT>
                    <a:lnB>
                      <a:noFill/>
                    </a:lnB>
                  </a:tcPr>
                </a:tc>
                <a:tc>
                  <a:txBody>
                    <a:bodyPr/>
                    <a:lstStyle/>
                    <a:p>
                      <a:r>
                        <a:rPr lang="en-IN" dirty="0">
                          <a:latin typeface="Times New Roman" pitchFamily="18" charset="0"/>
                          <a:cs typeface="Times New Roman" pitchFamily="18" charset="0"/>
                        </a:rPr>
                        <a:t>23</a:t>
                      </a:r>
                    </a:p>
                  </a:txBody>
                  <a:tcPr anchor="ctr">
                    <a:lnL>
                      <a:noFill/>
                    </a:lnL>
                    <a:lnR>
                      <a:noFill/>
                    </a:lnR>
                    <a:lnT>
                      <a:noFill/>
                    </a:lnT>
                    <a:lnB>
                      <a:noFill/>
                    </a:lnB>
                  </a:tcPr>
                </a:tc>
              </a:tr>
              <a:tr h="0">
                <a:tc>
                  <a:txBody>
                    <a:bodyPr/>
                    <a:lstStyle/>
                    <a:p>
                      <a:pPr algn="ctr"/>
                      <a:r>
                        <a:rPr lang="en-IN" dirty="0">
                          <a:latin typeface="Times New Roman" pitchFamily="18" charset="0"/>
                          <a:cs typeface="Times New Roman" pitchFamily="18" charset="0"/>
                        </a:rPr>
                        <a:t>6</a:t>
                      </a:r>
                    </a:p>
                  </a:txBody>
                  <a:tcPr anchor="ctr">
                    <a:lnL>
                      <a:noFill/>
                    </a:lnL>
                    <a:lnR>
                      <a:noFill/>
                    </a:lnR>
                    <a:lnT>
                      <a:noFill/>
                    </a:lnT>
                    <a:lnB>
                      <a:noFill/>
                    </a:lnB>
                  </a:tcPr>
                </a:tc>
                <a:tc>
                  <a:txBody>
                    <a:bodyPr/>
                    <a:lstStyle/>
                    <a:p>
                      <a:r>
                        <a:rPr lang="pt-BR">
                          <a:latin typeface="Times New Roman" pitchFamily="18" charset="0"/>
                          <a:cs typeface="Times New Roman" pitchFamily="18" charset="0"/>
                        </a:rPr>
                        <a:t>a → d → c → b → a</a:t>
                      </a:r>
                    </a:p>
                  </a:txBody>
                  <a:tcPr anchor="ctr">
                    <a:lnL>
                      <a:noFill/>
                    </a:lnL>
                    <a:lnR>
                      <a:noFill/>
                    </a:lnR>
                    <a:lnT>
                      <a:noFill/>
                    </a:lnT>
                    <a:lnB>
                      <a:noFill/>
                    </a:lnB>
                  </a:tcPr>
                </a:tc>
                <a:tc>
                  <a:txBody>
                    <a:bodyPr/>
                    <a:lstStyle/>
                    <a:p>
                      <a:r>
                        <a:rPr lang="en-IN">
                          <a:latin typeface="Times New Roman" pitchFamily="18" charset="0"/>
                          <a:cs typeface="Times New Roman" pitchFamily="18" charset="0"/>
                        </a:rPr>
                        <a:t>7 + 1 + 8 + 2</a:t>
                      </a:r>
                    </a:p>
                  </a:txBody>
                  <a:tcPr anchor="ctr">
                    <a:lnL>
                      <a:noFill/>
                    </a:lnL>
                    <a:lnR>
                      <a:noFill/>
                    </a:lnR>
                    <a:lnT>
                      <a:noFill/>
                    </a:lnT>
                    <a:lnB>
                      <a:noFill/>
                    </a:lnB>
                  </a:tcPr>
                </a:tc>
                <a:tc>
                  <a:txBody>
                    <a:bodyPr/>
                    <a:lstStyle/>
                    <a:p>
                      <a:r>
                        <a:rPr lang="en-IN" dirty="0">
                          <a:latin typeface="Times New Roman" pitchFamily="18" charset="0"/>
                          <a:cs typeface="Times New Roman" pitchFamily="18" charset="0"/>
                        </a:rPr>
                        <a:t>18</a:t>
                      </a:r>
                    </a:p>
                  </a:txBody>
                  <a:tcPr anchor="ctr">
                    <a:lnL>
                      <a:noFill/>
                    </a:lnL>
                    <a:lnR>
                      <a:noFill/>
                    </a:lnR>
                    <a:lnT>
                      <a:noFill/>
                    </a:lnT>
                    <a:lnB>
                      <a:noFill/>
                    </a:lnB>
                  </a:tcPr>
                </a:tc>
              </a:tr>
            </a:tbl>
          </a:graphicData>
        </a:graphic>
      </p:graphicFrame>
      <p:sp>
        <p:nvSpPr>
          <p:cNvPr id="10" name="Rectangle 1"/>
          <p:cNvSpPr>
            <a:spLocks noChangeArrowheads="1"/>
          </p:cNvSpPr>
          <p:nvPr/>
        </p:nvSpPr>
        <p:spPr bwMode="auto">
          <a:xfrm>
            <a:off x="2377438" y="2052677"/>
            <a:ext cx="513588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Step 1: List All Possible Tours</a:t>
            </a:r>
          </a:p>
          <a:p>
            <a:pPr marL="0" marR="0" lvl="0" indent="0" algn="l" defTabSz="914400" rtl="0" eaLnBrk="0" fontAlgn="base" latinLnBrk="0" hangingPunct="0">
              <a:lnSpc>
                <a:spcPct val="100000"/>
              </a:lnSpc>
              <a:spcBef>
                <a:spcPct val="0"/>
              </a:spcBef>
              <a:spcAft>
                <a:spcPct val="0"/>
              </a:spcAft>
              <a:buClrTx/>
              <a:buSzTx/>
              <a:buFontTx/>
              <a:buNone/>
              <a:tabLst/>
            </a:pPr>
            <a:r>
              <a:rPr lang="en-US" dirty="0">
                <a:latin typeface="Times New Roman" pitchFamily="18" charset="0"/>
                <a:cs typeface="Times New Roman" pitchFamily="18" charset="0"/>
              </a:rPr>
              <a:t>Fix starting city as </a:t>
            </a: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a</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(to avoid duplicates).</a:t>
            </a:r>
            <a:b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b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Total tours = (n−1)!=3!=6(n-1)! = 3! = 6(n−1)!=3!=6</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 name="TextBox 10"/>
          <p:cNvSpPr txBox="1"/>
          <p:nvPr/>
        </p:nvSpPr>
        <p:spPr>
          <a:xfrm>
            <a:off x="1467651" y="5522713"/>
            <a:ext cx="6530861" cy="923330"/>
          </a:xfrm>
          <a:prstGeom prst="rect">
            <a:avLst/>
          </a:prstGeom>
          <a:noFill/>
        </p:spPr>
        <p:txBody>
          <a:bodyPr wrap="square" rtlCol="0">
            <a:spAutoFit/>
          </a:bodyPr>
          <a:lstStyle/>
          <a:p>
            <a:r>
              <a:rPr lang="en-US" b="1" dirty="0" smtClean="0">
                <a:solidFill>
                  <a:srgbClr val="002060"/>
                </a:solidFill>
                <a:latin typeface="Times New Roman" pitchFamily="18" charset="0"/>
                <a:cs typeface="Times New Roman" pitchFamily="18" charset="0"/>
              </a:rPr>
              <a:t>Optimal solution </a:t>
            </a:r>
          </a:p>
          <a:p>
            <a:r>
              <a:rPr lang="pt-BR" b="1" dirty="0" smtClean="0">
                <a:solidFill>
                  <a:srgbClr val="FF0000"/>
                </a:solidFill>
                <a:latin typeface="Times New Roman" pitchFamily="18" charset="0"/>
                <a:cs typeface="Times New Roman" pitchFamily="18" charset="0"/>
              </a:rPr>
              <a:t>a </a:t>
            </a:r>
            <a:r>
              <a:rPr lang="pt-BR" b="1" dirty="0">
                <a:solidFill>
                  <a:srgbClr val="FF0000"/>
                </a:solidFill>
                <a:latin typeface="Times New Roman" pitchFamily="18" charset="0"/>
                <a:cs typeface="Times New Roman" pitchFamily="18" charset="0"/>
              </a:rPr>
              <a:t>→ b → d → c → </a:t>
            </a:r>
            <a:r>
              <a:rPr lang="pt-BR" b="1" dirty="0" smtClean="0">
                <a:solidFill>
                  <a:srgbClr val="FF0000"/>
                </a:solidFill>
                <a:latin typeface="Times New Roman" pitchFamily="18" charset="0"/>
                <a:cs typeface="Times New Roman" pitchFamily="18" charset="0"/>
              </a:rPr>
              <a:t>a = 11</a:t>
            </a:r>
          </a:p>
          <a:p>
            <a:r>
              <a:rPr lang="pt-BR" b="1" dirty="0" smtClean="0">
                <a:solidFill>
                  <a:srgbClr val="FF0000"/>
                </a:solidFill>
                <a:latin typeface="Times New Roman" pitchFamily="18" charset="0"/>
                <a:cs typeface="Times New Roman" pitchFamily="18" charset="0"/>
              </a:rPr>
              <a:t>a </a:t>
            </a:r>
            <a:r>
              <a:rPr lang="pt-BR" b="1" dirty="0">
                <a:solidFill>
                  <a:srgbClr val="FF0000"/>
                </a:solidFill>
                <a:latin typeface="Times New Roman" pitchFamily="18" charset="0"/>
                <a:cs typeface="Times New Roman" pitchFamily="18" charset="0"/>
              </a:rPr>
              <a:t>→ c → d → b → </a:t>
            </a:r>
            <a:r>
              <a:rPr lang="pt-BR" b="1" dirty="0" smtClean="0">
                <a:solidFill>
                  <a:srgbClr val="FF0000"/>
                </a:solidFill>
                <a:latin typeface="Times New Roman" pitchFamily="18" charset="0"/>
                <a:cs typeface="Times New Roman" pitchFamily="18" charset="0"/>
              </a:rPr>
              <a:t>a = 11</a:t>
            </a:r>
            <a:endParaRPr lang="en-IN"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1995802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1966" y="172942"/>
            <a:ext cx="9144000" cy="1153834"/>
          </a:xfrm>
        </p:spPr>
        <p:txBody>
          <a:bodyPr>
            <a:noAutofit/>
          </a:bodyPr>
          <a:lstStyle/>
          <a:p>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800" b="1" dirty="0">
                <a:solidFill>
                  <a:srgbClr val="002060"/>
                </a:solidFill>
                <a:latin typeface="Times New Roman" panose="02020603050405020304" pitchFamily="18" charset="0"/>
                <a:cs typeface="Times New Roman" panose="02020603050405020304" pitchFamily="18" charset="0"/>
              </a:rPr>
              <a:t>Analysis </a:t>
            </a:r>
            <a:r>
              <a:rPr lang="en-IN" sz="2800" b="1" dirty="0" smtClean="0">
                <a:solidFill>
                  <a:srgbClr val="002060"/>
                </a:solidFill>
                <a:latin typeface="Times New Roman" panose="02020603050405020304" pitchFamily="18" charset="0"/>
                <a:cs typeface="Times New Roman" panose="02020603050405020304" pitchFamily="18" charset="0"/>
              </a:rPr>
              <a:t>and Design </a:t>
            </a:r>
            <a:r>
              <a:rPr lang="en-IN" sz="2800" b="1" dirty="0">
                <a:solidFill>
                  <a:srgbClr val="002060"/>
                </a:solidFill>
                <a:latin typeface="Times New Roman" panose="02020603050405020304" pitchFamily="18" charset="0"/>
                <a:cs typeface="Times New Roman" panose="02020603050405020304" pitchFamily="18" charset="0"/>
              </a:rPr>
              <a:t>and </a:t>
            </a:r>
            <a:r>
              <a:rPr lang="en-IN" sz="2800" b="1" dirty="0" smtClean="0">
                <a:solidFill>
                  <a:srgbClr val="002060"/>
                </a:solidFill>
                <a:latin typeface="Times New Roman" panose="02020603050405020304" pitchFamily="18" charset="0"/>
                <a:cs typeface="Times New Roman" panose="02020603050405020304" pitchFamily="18" charset="0"/>
              </a:rPr>
              <a:t>of Algorithm - </a:t>
            </a:r>
            <a:r>
              <a:rPr lang="en-IN" sz="2800" b="1" dirty="0" smtClean="0">
                <a:solidFill>
                  <a:srgbClr val="002060"/>
                </a:solidFill>
                <a:latin typeface="Times New Roman" panose="02020603050405020304" pitchFamily="18" charset="0"/>
                <a:cs typeface="Times New Roman" panose="02020603050405020304" pitchFamily="18" charset="0"/>
              </a:rPr>
              <a:t>B</a:t>
            </a:r>
            <a:r>
              <a:rPr lang="en-IN" sz="2800" b="1" dirty="0" smtClean="0">
                <a:solidFill>
                  <a:srgbClr val="002060"/>
                </a:solidFill>
                <a:latin typeface="Times New Roman" panose="02020603050405020304" pitchFamily="18" charset="0"/>
                <a:cs typeface="Times New Roman" panose="02020603050405020304" pitchFamily="18" charset="0"/>
              </a:rPr>
              <a:t>CS401</a:t>
            </a:r>
            <a:r>
              <a:rPr lang="en-IN" sz="2800" b="1" dirty="0" smtClean="0">
                <a:solidFill>
                  <a:srgbClr val="002060"/>
                </a:solidFill>
                <a:latin typeface="Times New Roman" panose="02020603050405020304" pitchFamily="18" charset="0"/>
                <a:cs typeface="Times New Roman" panose="02020603050405020304" pitchFamily="18" charset="0"/>
              </a:rPr>
              <a:t/>
            </a:r>
            <a:br>
              <a:rPr lang="en-IN" sz="28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a:t>
            </a:r>
            <a:endParaRPr lang="en-IN" sz="3200" b="1" dirty="0"/>
          </a:p>
        </p:txBody>
      </p:sp>
      <p:sp>
        <p:nvSpPr>
          <p:cNvPr id="3" name="Subtitle 2"/>
          <p:cNvSpPr>
            <a:spLocks noGrp="1"/>
          </p:cNvSpPr>
          <p:nvPr>
            <p:ph type="subTitle" idx="1"/>
          </p:nvPr>
        </p:nvSpPr>
        <p:spPr>
          <a:xfrm>
            <a:off x="251010" y="1416424"/>
            <a:ext cx="11649637" cy="4939925"/>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Divide and Conquer is best known algorithm design technique. </a:t>
            </a:r>
          </a:p>
          <a:p>
            <a:pPr algn="just"/>
            <a:r>
              <a:rPr lang="en-IN" b="1" dirty="0" smtClean="0">
                <a:solidFill>
                  <a:srgbClr val="C00000"/>
                </a:solidFill>
                <a:latin typeface="Times New Roman" panose="02020603050405020304" pitchFamily="18" charset="0"/>
                <a:cs typeface="Times New Roman" panose="02020603050405020304" pitchFamily="18" charset="0"/>
              </a:rPr>
              <a:t>Divide and Conquer algorithm works according to the following general plan </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A problem instance is divided into several smaller instances of the same problem (smaller sub problems of same size)</a:t>
            </a:r>
          </a:p>
          <a:p>
            <a:pPr marL="342900" indent="-342900" algn="just">
              <a:buFont typeface="Arial" panose="020B0604020202020204" pitchFamily="34" charset="0"/>
              <a:buChar char="•"/>
            </a:pPr>
            <a:r>
              <a:rPr lang="en-IN" sz="2000" b="1" dirty="0" smtClean="0">
                <a:solidFill>
                  <a:srgbClr val="C00000"/>
                </a:solidFill>
                <a:latin typeface="Times New Roman" panose="02020603050405020304" pitchFamily="18" charset="0"/>
                <a:cs typeface="Times New Roman" panose="02020603050405020304" pitchFamily="18" charset="0"/>
              </a:rPr>
              <a:t>Smaller instances are solved (recursively)</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Solution obtained from smaller instances are combined to get the solution for the original problem.</a:t>
            </a:r>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497267" y="159532"/>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85967" y="172943"/>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8</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D51FACDD-7075-4EBC-A6D6-20CB18035FC2}" type="datetime1">
              <a:rPr lang="en-IN" smtClean="0"/>
              <a:t>22-03-2026</a:t>
            </a:fld>
            <a:endParaRPr lang="en-IN"/>
          </a:p>
        </p:txBody>
      </p:sp>
    </p:spTree>
    <p:extLst>
      <p:ext uri="{BB962C8B-B14F-4D97-AF65-F5344CB8AC3E}">
        <p14:creationId xmlns:p14="http://schemas.microsoft.com/office/powerpoint/2010/main" val="35343128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49137"/>
            <a:ext cx="9144000" cy="509561"/>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251010" y="1416424"/>
            <a:ext cx="11649637" cy="4939925"/>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Divide and Conquer Methodology-</a:t>
            </a:r>
            <a:r>
              <a:rPr lang="en-IN" sz="2000" b="1" dirty="0" smtClean="0">
                <a:solidFill>
                  <a:srgbClr val="C00000"/>
                </a:solidFill>
                <a:latin typeface="Times New Roman" panose="02020603050405020304" pitchFamily="18" charset="0"/>
                <a:ea typeface="+mj-ea"/>
                <a:cs typeface="Times New Roman" panose="02020603050405020304" pitchFamily="18" charset="0"/>
              </a:rPr>
              <a:t>Example</a:t>
            </a:r>
          </a:p>
          <a:p>
            <a:pPr algn="just"/>
            <a:r>
              <a:rPr lang="en-IN" sz="2000" b="1" dirty="0" smtClean="0">
                <a:solidFill>
                  <a:srgbClr val="C00000"/>
                </a:solidFill>
                <a:latin typeface="Times New Roman" panose="02020603050405020304" pitchFamily="18" charset="0"/>
                <a:ea typeface="+mj-ea"/>
                <a:cs typeface="Times New Roman" panose="02020603050405020304" pitchFamily="18" charset="0"/>
              </a:rPr>
              <a:t>Detecting Counterfeit coin problem</a:t>
            </a:r>
          </a:p>
          <a:p>
            <a:pPr algn="just"/>
            <a:r>
              <a:rPr lang="en-IN" sz="2000" b="1" dirty="0" smtClean="0">
                <a:solidFill>
                  <a:srgbClr val="C00000"/>
                </a:solidFill>
                <a:latin typeface="Times New Roman" panose="02020603050405020304" pitchFamily="18" charset="0"/>
                <a:ea typeface="+mj-ea"/>
                <a:cs typeface="Times New Roman" panose="02020603050405020304" pitchFamily="18" charset="0"/>
              </a:rPr>
              <a:t>Collection of 16 COINS, in that one is counterfeit coin. Problem to detect </a:t>
            </a:r>
            <a:r>
              <a:rPr lang="en-IN" sz="2000" b="1" dirty="0" smtClean="0">
                <a:solidFill>
                  <a:srgbClr val="C00000"/>
                </a:solidFill>
                <a:latin typeface="Times New Roman" panose="02020603050405020304" pitchFamily="18" charset="0"/>
                <a:cs typeface="Times New Roman" panose="02020603050405020304" pitchFamily="18" charset="0"/>
              </a:rPr>
              <a:t>counterfeit coin (Duplicate coin with light weight)</a:t>
            </a:r>
          </a:p>
          <a:p>
            <a:pPr algn="just"/>
            <a:r>
              <a:rPr lang="en-IN" sz="2000" b="1" dirty="0" smtClean="0">
                <a:solidFill>
                  <a:srgbClr val="C00000"/>
                </a:solidFill>
                <a:latin typeface="Times New Roman" panose="02020603050405020304" pitchFamily="18" charset="0"/>
                <a:ea typeface="+mj-ea"/>
                <a:cs typeface="Times New Roman" panose="02020603050405020304" pitchFamily="18" charset="0"/>
              </a:rPr>
              <a:t>Solution:</a:t>
            </a:r>
            <a:endParaRPr lang="en-IN" sz="2000" b="1" dirty="0">
              <a:solidFill>
                <a:srgbClr val="C00000"/>
              </a:solidFill>
              <a:latin typeface="Times New Roman" panose="02020603050405020304" pitchFamily="18" charset="0"/>
              <a:ea typeface="+mj-ea"/>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497267" y="159532"/>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85967" y="172943"/>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9</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 name="Oval 8"/>
          <p:cNvSpPr/>
          <p:nvPr/>
        </p:nvSpPr>
        <p:spPr>
          <a:xfrm>
            <a:off x="4264817" y="2783634"/>
            <a:ext cx="2689412" cy="820178"/>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rgbClr val="C00000"/>
                </a:solidFill>
                <a:latin typeface="Times New Roman" panose="02020603050405020304" pitchFamily="18" charset="0"/>
                <a:cs typeface="Times New Roman" panose="02020603050405020304" pitchFamily="18" charset="0"/>
              </a:rPr>
              <a:t>16 </a:t>
            </a:r>
            <a:r>
              <a:rPr lang="en-IN" b="1" dirty="0" smtClean="0">
                <a:solidFill>
                  <a:srgbClr val="C00000"/>
                </a:solidFill>
                <a:latin typeface="Times New Roman" panose="02020603050405020304" pitchFamily="18" charset="0"/>
                <a:cs typeface="Times New Roman" panose="02020603050405020304" pitchFamily="18" charset="0"/>
              </a:rPr>
              <a:t>COINS-</a:t>
            </a:r>
            <a:r>
              <a:rPr lang="en-IN" b="1" dirty="0">
                <a:solidFill>
                  <a:srgbClr val="C00000"/>
                </a:solidFill>
                <a:latin typeface="Times New Roman" panose="02020603050405020304" pitchFamily="18" charset="0"/>
                <a:cs typeface="Times New Roman" panose="02020603050405020304" pitchFamily="18" charset="0"/>
              </a:rPr>
              <a:t> one is counterfeit coin</a:t>
            </a:r>
          </a:p>
        </p:txBody>
      </p:sp>
      <p:sp>
        <p:nvSpPr>
          <p:cNvPr id="10" name="Oval 9"/>
          <p:cNvSpPr/>
          <p:nvPr/>
        </p:nvSpPr>
        <p:spPr>
          <a:xfrm>
            <a:off x="3209364" y="3693459"/>
            <a:ext cx="1635010" cy="598119"/>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smtClean="0">
                <a:solidFill>
                  <a:srgbClr val="C00000"/>
                </a:solidFill>
                <a:latin typeface="Times New Roman" panose="02020603050405020304" pitchFamily="18" charset="0"/>
                <a:cs typeface="Times New Roman" panose="02020603050405020304" pitchFamily="18" charset="0"/>
              </a:rPr>
              <a:t>8 COINS-Set A</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11" name="Oval 10"/>
          <p:cNvSpPr/>
          <p:nvPr/>
        </p:nvSpPr>
        <p:spPr>
          <a:xfrm>
            <a:off x="6212923" y="3481766"/>
            <a:ext cx="1643975" cy="741359"/>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b="1" dirty="0" smtClean="0">
              <a:solidFill>
                <a:srgbClr val="C00000"/>
              </a:solidFill>
              <a:latin typeface="Times New Roman" panose="02020603050405020304" pitchFamily="18" charset="0"/>
              <a:cs typeface="Times New Roman" panose="02020603050405020304" pitchFamily="18" charset="0"/>
            </a:endParaRPr>
          </a:p>
          <a:p>
            <a:r>
              <a:rPr lang="en-IN" b="1" dirty="0" smtClean="0">
                <a:solidFill>
                  <a:srgbClr val="C00000"/>
                </a:solidFill>
                <a:latin typeface="Times New Roman" panose="02020603050405020304" pitchFamily="18" charset="0"/>
                <a:cs typeface="Times New Roman" panose="02020603050405020304" pitchFamily="18" charset="0"/>
              </a:rPr>
              <a:t>8 COINS Set B</a:t>
            </a:r>
          </a:p>
          <a:p>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12" name="Oval 11"/>
          <p:cNvSpPr/>
          <p:nvPr/>
        </p:nvSpPr>
        <p:spPr>
          <a:xfrm>
            <a:off x="4322497" y="4221821"/>
            <a:ext cx="1669055" cy="827483"/>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b="1" dirty="0" smtClean="0">
              <a:solidFill>
                <a:srgbClr val="C00000"/>
              </a:solidFill>
              <a:latin typeface="Times New Roman" panose="02020603050405020304" pitchFamily="18" charset="0"/>
              <a:cs typeface="Times New Roman" panose="02020603050405020304" pitchFamily="18" charset="0"/>
            </a:endParaRPr>
          </a:p>
          <a:p>
            <a:r>
              <a:rPr lang="en-IN" b="1" dirty="0" smtClean="0">
                <a:solidFill>
                  <a:srgbClr val="C00000"/>
                </a:solidFill>
                <a:latin typeface="Times New Roman" panose="02020603050405020304" pitchFamily="18" charset="0"/>
                <a:cs typeface="Times New Roman" panose="02020603050405020304" pitchFamily="18" charset="0"/>
              </a:rPr>
              <a:t>4 COINS</a:t>
            </a:r>
          </a:p>
          <a:p>
            <a:r>
              <a:rPr lang="en-IN" b="1" dirty="0" smtClean="0">
                <a:solidFill>
                  <a:srgbClr val="C00000"/>
                </a:solidFill>
                <a:latin typeface="Times New Roman" panose="02020603050405020304" pitchFamily="18" charset="0"/>
                <a:cs typeface="Times New Roman" panose="02020603050405020304" pitchFamily="18" charset="0"/>
              </a:rPr>
              <a:t>Set A2</a:t>
            </a:r>
          </a:p>
          <a:p>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13" name="Oval 12"/>
          <p:cNvSpPr/>
          <p:nvPr/>
        </p:nvSpPr>
        <p:spPr>
          <a:xfrm>
            <a:off x="1843855" y="4191786"/>
            <a:ext cx="1530581" cy="729849"/>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a:solidFill>
                  <a:srgbClr val="C00000"/>
                </a:solidFill>
                <a:latin typeface="Times New Roman" panose="02020603050405020304" pitchFamily="18" charset="0"/>
                <a:cs typeface="Times New Roman" panose="02020603050405020304" pitchFamily="18" charset="0"/>
              </a:rPr>
              <a:t>4</a:t>
            </a:r>
            <a:r>
              <a:rPr lang="en-IN" sz="1600" b="1" dirty="0" smtClean="0">
                <a:solidFill>
                  <a:srgbClr val="C00000"/>
                </a:solidFill>
                <a:latin typeface="Times New Roman" panose="02020603050405020304" pitchFamily="18" charset="0"/>
                <a:cs typeface="Times New Roman" panose="02020603050405020304" pitchFamily="18" charset="0"/>
              </a:rPr>
              <a:t> COINS</a:t>
            </a:r>
          </a:p>
          <a:p>
            <a:r>
              <a:rPr lang="en-IN" sz="1600" b="1" dirty="0" smtClean="0">
                <a:solidFill>
                  <a:srgbClr val="C00000"/>
                </a:solidFill>
                <a:latin typeface="Times New Roman" panose="02020603050405020304" pitchFamily="18" charset="0"/>
                <a:cs typeface="Times New Roman" panose="02020603050405020304" pitchFamily="18" charset="0"/>
              </a:rPr>
              <a:t>Set A1</a:t>
            </a:r>
            <a:endParaRPr lang="en-IN" sz="1600" b="1" dirty="0">
              <a:solidFill>
                <a:srgbClr val="C00000"/>
              </a:solidFill>
              <a:latin typeface="Times New Roman" panose="02020603050405020304" pitchFamily="18" charset="0"/>
              <a:cs typeface="Times New Roman" panose="02020603050405020304" pitchFamily="18" charset="0"/>
            </a:endParaRPr>
          </a:p>
        </p:txBody>
      </p:sp>
      <p:cxnSp>
        <p:nvCxnSpPr>
          <p:cNvPr id="14" name="Straight Arrow Connector 13"/>
          <p:cNvCxnSpPr/>
          <p:nvPr/>
        </p:nvCxnSpPr>
        <p:spPr>
          <a:xfrm flipH="1">
            <a:off x="3766011" y="3308072"/>
            <a:ext cx="559174" cy="385388"/>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6954229" y="3129062"/>
            <a:ext cx="498806" cy="433993"/>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607496" y="3193723"/>
            <a:ext cx="2036145" cy="369332"/>
          </a:xfrm>
          <a:prstGeom prst="rect">
            <a:avLst/>
          </a:prstGeom>
          <a:noFill/>
        </p:spPr>
        <p:txBody>
          <a:bodyPr wrap="square" rtlCol="0">
            <a:spAutoFit/>
          </a:bodyPr>
          <a:lstStyle/>
          <a:p>
            <a:r>
              <a:rPr lang="en-IN" dirty="0" smtClean="0">
                <a:solidFill>
                  <a:srgbClr val="C00000"/>
                </a:solidFill>
                <a:latin typeface="Times New Roman" panose="02020603050405020304" pitchFamily="18" charset="0"/>
                <a:cs typeface="Times New Roman" panose="02020603050405020304" pitchFamily="18" charset="0"/>
              </a:rPr>
              <a:t>Check the weight</a:t>
            </a:r>
            <a:endParaRPr lang="en-IN" dirty="0">
              <a:solidFill>
                <a:srgbClr val="C00000"/>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2289040" y="3112434"/>
            <a:ext cx="2036145" cy="369332"/>
          </a:xfrm>
          <a:prstGeom prst="rect">
            <a:avLst/>
          </a:prstGeom>
          <a:noFill/>
        </p:spPr>
        <p:txBody>
          <a:bodyPr wrap="square" rtlCol="0">
            <a:spAutoFit/>
          </a:bodyPr>
          <a:lstStyle/>
          <a:p>
            <a:r>
              <a:rPr lang="en-IN" dirty="0" smtClean="0">
                <a:solidFill>
                  <a:srgbClr val="C00000"/>
                </a:solidFill>
                <a:latin typeface="Times New Roman" panose="02020603050405020304" pitchFamily="18" charset="0"/>
                <a:cs typeface="Times New Roman" panose="02020603050405020304" pitchFamily="18" charset="0"/>
              </a:rPr>
              <a:t>Check the weight</a:t>
            </a:r>
            <a:endParaRPr lang="en-IN" dirty="0">
              <a:solidFill>
                <a:srgbClr val="C00000"/>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8670490" y="3569924"/>
            <a:ext cx="3073088" cy="646331"/>
          </a:xfrm>
          <a:prstGeom prst="rect">
            <a:avLst/>
          </a:prstGeom>
          <a:noFill/>
        </p:spPr>
        <p:txBody>
          <a:bodyPr wrap="square" rtlCol="0">
            <a:spAutoFit/>
          </a:bodyPr>
          <a:lstStyle/>
          <a:p>
            <a:r>
              <a:rPr lang="en-IN" dirty="0" smtClean="0">
                <a:solidFill>
                  <a:srgbClr val="C00000"/>
                </a:solidFill>
                <a:latin typeface="Times New Roman" panose="02020603050405020304" pitchFamily="18" charset="0"/>
                <a:cs typeface="Times New Roman" panose="02020603050405020304" pitchFamily="18" charset="0"/>
              </a:rPr>
              <a:t>Let weight of A&lt; B, so Set A contains counterfeit coin</a:t>
            </a:r>
            <a:endParaRPr lang="en-IN" dirty="0">
              <a:solidFill>
                <a:srgbClr val="C00000"/>
              </a:solidFill>
              <a:latin typeface="Times New Roman" panose="02020603050405020304" pitchFamily="18" charset="0"/>
              <a:cs typeface="Times New Roman" panose="02020603050405020304" pitchFamily="18" charset="0"/>
            </a:endParaRPr>
          </a:p>
        </p:txBody>
      </p:sp>
      <p:cxnSp>
        <p:nvCxnSpPr>
          <p:cNvPr id="19" name="Straight Arrow Connector 18"/>
          <p:cNvCxnSpPr/>
          <p:nvPr/>
        </p:nvCxnSpPr>
        <p:spPr>
          <a:xfrm flipH="1">
            <a:off x="2791916" y="4000779"/>
            <a:ext cx="454820" cy="236872"/>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4802558" y="3969454"/>
            <a:ext cx="484060" cy="314741"/>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8670490" y="4284195"/>
            <a:ext cx="3073088" cy="646331"/>
          </a:xfrm>
          <a:prstGeom prst="rect">
            <a:avLst/>
          </a:prstGeom>
          <a:noFill/>
        </p:spPr>
        <p:txBody>
          <a:bodyPr wrap="square" rtlCol="0">
            <a:spAutoFit/>
          </a:bodyPr>
          <a:lstStyle/>
          <a:p>
            <a:r>
              <a:rPr lang="en-IN" dirty="0" smtClean="0">
                <a:solidFill>
                  <a:srgbClr val="C00000"/>
                </a:solidFill>
                <a:latin typeface="Times New Roman" panose="02020603050405020304" pitchFamily="18" charset="0"/>
                <a:cs typeface="Times New Roman" panose="02020603050405020304" pitchFamily="18" charset="0"/>
              </a:rPr>
              <a:t>Let weight of A1&lt; A2, so Set A1 contains counterfeit coin</a:t>
            </a:r>
            <a:endParaRPr lang="en-IN" dirty="0">
              <a:solidFill>
                <a:srgbClr val="C00000"/>
              </a:solidFill>
              <a:latin typeface="Times New Roman" panose="02020603050405020304" pitchFamily="18" charset="0"/>
              <a:cs typeface="Times New Roman" panose="02020603050405020304" pitchFamily="18" charset="0"/>
            </a:endParaRPr>
          </a:p>
        </p:txBody>
      </p:sp>
      <p:sp>
        <p:nvSpPr>
          <p:cNvPr id="25" name="Oval 24"/>
          <p:cNvSpPr/>
          <p:nvPr/>
        </p:nvSpPr>
        <p:spPr>
          <a:xfrm>
            <a:off x="2898739" y="4955373"/>
            <a:ext cx="1530581" cy="665715"/>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smtClean="0">
                <a:solidFill>
                  <a:srgbClr val="C00000"/>
                </a:solidFill>
                <a:latin typeface="Times New Roman" panose="02020603050405020304" pitchFamily="18" charset="0"/>
                <a:cs typeface="Times New Roman" panose="02020603050405020304" pitchFamily="18" charset="0"/>
              </a:rPr>
              <a:t>2 COINS</a:t>
            </a:r>
          </a:p>
          <a:p>
            <a:r>
              <a:rPr lang="en-IN" sz="1600" b="1" dirty="0" smtClean="0">
                <a:solidFill>
                  <a:srgbClr val="C00000"/>
                </a:solidFill>
                <a:latin typeface="Times New Roman" panose="02020603050405020304" pitchFamily="18" charset="0"/>
                <a:cs typeface="Times New Roman" panose="02020603050405020304" pitchFamily="18" charset="0"/>
              </a:rPr>
              <a:t>Set A4</a:t>
            </a:r>
            <a:endParaRPr lang="en-IN" sz="1600" b="1" dirty="0">
              <a:solidFill>
                <a:srgbClr val="C00000"/>
              </a:solidFill>
              <a:latin typeface="Times New Roman" panose="02020603050405020304" pitchFamily="18" charset="0"/>
              <a:cs typeface="Times New Roman" panose="02020603050405020304" pitchFamily="18" charset="0"/>
            </a:endParaRPr>
          </a:p>
        </p:txBody>
      </p:sp>
      <p:sp>
        <p:nvSpPr>
          <p:cNvPr id="26" name="Oval 25"/>
          <p:cNvSpPr/>
          <p:nvPr/>
        </p:nvSpPr>
        <p:spPr>
          <a:xfrm>
            <a:off x="616884" y="4922774"/>
            <a:ext cx="1530581" cy="651175"/>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smtClean="0">
                <a:solidFill>
                  <a:srgbClr val="C00000"/>
                </a:solidFill>
                <a:latin typeface="Times New Roman" panose="02020603050405020304" pitchFamily="18" charset="0"/>
                <a:cs typeface="Times New Roman" panose="02020603050405020304" pitchFamily="18" charset="0"/>
              </a:rPr>
              <a:t>2 COINS</a:t>
            </a:r>
          </a:p>
          <a:p>
            <a:r>
              <a:rPr lang="en-IN" sz="1600" b="1" dirty="0" smtClean="0">
                <a:solidFill>
                  <a:srgbClr val="C00000"/>
                </a:solidFill>
                <a:latin typeface="Times New Roman" panose="02020603050405020304" pitchFamily="18" charset="0"/>
                <a:cs typeface="Times New Roman" panose="02020603050405020304" pitchFamily="18" charset="0"/>
              </a:rPr>
              <a:t>Set A3</a:t>
            </a:r>
            <a:endParaRPr lang="en-IN" sz="1600" b="1" dirty="0">
              <a:solidFill>
                <a:srgbClr val="C00000"/>
              </a:solidFill>
              <a:latin typeface="Times New Roman" panose="02020603050405020304" pitchFamily="18" charset="0"/>
              <a:cs typeface="Times New Roman" panose="02020603050405020304" pitchFamily="18" charset="0"/>
            </a:endParaRPr>
          </a:p>
        </p:txBody>
      </p:sp>
      <p:cxnSp>
        <p:nvCxnSpPr>
          <p:cNvPr id="28" name="Straight Arrow Connector 27"/>
          <p:cNvCxnSpPr/>
          <p:nvPr/>
        </p:nvCxnSpPr>
        <p:spPr>
          <a:xfrm>
            <a:off x="3365910" y="4632327"/>
            <a:ext cx="298120" cy="31515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1395074" y="4684763"/>
            <a:ext cx="454820" cy="236872"/>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670490" y="4947482"/>
            <a:ext cx="3073088" cy="646331"/>
          </a:xfrm>
          <a:prstGeom prst="rect">
            <a:avLst/>
          </a:prstGeom>
          <a:noFill/>
        </p:spPr>
        <p:txBody>
          <a:bodyPr wrap="square" rtlCol="0">
            <a:spAutoFit/>
          </a:bodyPr>
          <a:lstStyle/>
          <a:p>
            <a:r>
              <a:rPr lang="en-IN" dirty="0" smtClean="0">
                <a:solidFill>
                  <a:srgbClr val="C00000"/>
                </a:solidFill>
                <a:latin typeface="Times New Roman" panose="02020603050405020304" pitchFamily="18" charset="0"/>
                <a:cs typeface="Times New Roman" panose="02020603050405020304" pitchFamily="18" charset="0"/>
              </a:rPr>
              <a:t>Let weight of A3&lt; A4, so Set A3 contains counterfeit coin</a:t>
            </a:r>
            <a:endParaRPr lang="en-IN" dirty="0">
              <a:solidFill>
                <a:srgbClr val="C00000"/>
              </a:solidFill>
              <a:latin typeface="Times New Roman" panose="02020603050405020304" pitchFamily="18" charset="0"/>
              <a:cs typeface="Times New Roman" panose="02020603050405020304" pitchFamily="18" charset="0"/>
            </a:endParaRPr>
          </a:p>
        </p:txBody>
      </p:sp>
      <p:sp>
        <p:nvSpPr>
          <p:cNvPr id="32" name="Oval 31"/>
          <p:cNvSpPr/>
          <p:nvPr/>
        </p:nvSpPr>
        <p:spPr>
          <a:xfrm>
            <a:off x="91903" y="5705174"/>
            <a:ext cx="1530581" cy="651175"/>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smtClean="0">
                <a:solidFill>
                  <a:srgbClr val="C00000"/>
                </a:solidFill>
                <a:latin typeface="Times New Roman" panose="02020603050405020304" pitchFamily="18" charset="0"/>
                <a:cs typeface="Times New Roman" panose="02020603050405020304" pitchFamily="18" charset="0"/>
              </a:rPr>
              <a:t>1 COINS</a:t>
            </a:r>
          </a:p>
          <a:p>
            <a:r>
              <a:rPr lang="en-IN" sz="1600" b="1" dirty="0" smtClean="0">
                <a:solidFill>
                  <a:srgbClr val="C00000"/>
                </a:solidFill>
                <a:latin typeface="Times New Roman" panose="02020603050405020304" pitchFamily="18" charset="0"/>
                <a:cs typeface="Times New Roman" panose="02020603050405020304" pitchFamily="18" charset="0"/>
              </a:rPr>
              <a:t>Set A5</a:t>
            </a:r>
            <a:endParaRPr lang="en-IN" sz="1600" b="1" dirty="0">
              <a:solidFill>
                <a:srgbClr val="C00000"/>
              </a:solidFill>
              <a:latin typeface="Times New Roman" panose="02020603050405020304" pitchFamily="18" charset="0"/>
              <a:cs typeface="Times New Roman" panose="02020603050405020304" pitchFamily="18" charset="0"/>
            </a:endParaRPr>
          </a:p>
        </p:txBody>
      </p:sp>
      <p:sp>
        <p:nvSpPr>
          <p:cNvPr id="33" name="Oval 32"/>
          <p:cNvSpPr/>
          <p:nvPr/>
        </p:nvSpPr>
        <p:spPr>
          <a:xfrm>
            <a:off x="1716155" y="5599563"/>
            <a:ext cx="1530581" cy="651175"/>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a:solidFill>
                  <a:srgbClr val="C00000"/>
                </a:solidFill>
                <a:latin typeface="Times New Roman" panose="02020603050405020304" pitchFamily="18" charset="0"/>
                <a:cs typeface="Times New Roman" panose="02020603050405020304" pitchFamily="18" charset="0"/>
              </a:rPr>
              <a:t>1</a:t>
            </a:r>
            <a:r>
              <a:rPr lang="en-IN" sz="1600" b="1" dirty="0" smtClean="0">
                <a:solidFill>
                  <a:srgbClr val="C00000"/>
                </a:solidFill>
                <a:latin typeface="Times New Roman" panose="02020603050405020304" pitchFamily="18" charset="0"/>
                <a:cs typeface="Times New Roman" panose="02020603050405020304" pitchFamily="18" charset="0"/>
              </a:rPr>
              <a:t> COINS</a:t>
            </a:r>
          </a:p>
          <a:p>
            <a:r>
              <a:rPr lang="en-IN" sz="1600" b="1" dirty="0" smtClean="0">
                <a:solidFill>
                  <a:srgbClr val="C00000"/>
                </a:solidFill>
                <a:latin typeface="Times New Roman" panose="02020603050405020304" pitchFamily="18" charset="0"/>
                <a:cs typeface="Times New Roman" panose="02020603050405020304" pitchFamily="18" charset="0"/>
              </a:rPr>
              <a:t>Set A6</a:t>
            </a:r>
            <a:endParaRPr lang="en-IN" sz="1600" b="1" dirty="0">
              <a:solidFill>
                <a:srgbClr val="C00000"/>
              </a:solidFill>
              <a:latin typeface="Times New Roman" panose="02020603050405020304" pitchFamily="18" charset="0"/>
              <a:cs typeface="Times New Roman" panose="02020603050405020304" pitchFamily="18" charset="0"/>
            </a:endParaRPr>
          </a:p>
        </p:txBody>
      </p:sp>
      <p:sp>
        <p:nvSpPr>
          <p:cNvPr id="34" name="TextBox 33"/>
          <p:cNvSpPr txBox="1"/>
          <p:nvPr/>
        </p:nvSpPr>
        <p:spPr>
          <a:xfrm>
            <a:off x="6320354" y="5574691"/>
            <a:ext cx="3073088" cy="64633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Let weight of A5&lt; A6, so Set A5 is counterfeit coin</a:t>
            </a:r>
            <a:endParaRPr lang="en-IN" b="1" dirty="0">
              <a:solidFill>
                <a:srgbClr val="002060"/>
              </a:solidFill>
              <a:latin typeface="Times New Roman" panose="02020603050405020304" pitchFamily="18" charset="0"/>
              <a:cs typeface="Times New Roman" panose="02020603050405020304" pitchFamily="18" charset="0"/>
            </a:endParaRPr>
          </a:p>
        </p:txBody>
      </p:sp>
      <p:cxnSp>
        <p:nvCxnSpPr>
          <p:cNvPr id="35" name="Straight Arrow Connector 34"/>
          <p:cNvCxnSpPr/>
          <p:nvPr/>
        </p:nvCxnSpPr>
        <p:spPr>
          <a:xfrm>
            <a:off x="2139980" y="5336374"/>
            <a:ext cx="298120" cy="31515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32" idx="1"/>
          </p:cNvCxnSpPr>
          <p:nvPr/>
        </p:nvCxnSpPr>
        <p:spPr>
          <a:xfrm flipH="1">
            <a:off x="316051" y="5305933"/>
            <a:ext cx="313043" cy="494603"/>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F1471287-BB74-4558-8571-9B78D506409F}" type="datetime1">
              <a:rPr lang="en-IN" smtClean="0"/>
              <a:t>21-03-2026</a:t>
            </a:fld>
            <a:endParaRPr lang="en-IN"/>
          </a:p>
        </p:txBody>
      </p:sp>
    </p:spTree>
    <p:extLst>
      <p:ext uri="{BB962C8B-B14F-4D97-AF65-F5344CB8AC3E}">
        <p14:creationId xmlns:p14="http://schemas.microsoft.com/office/powerpoint/2010/main" val="25387614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1966" y="172942"/>
            <a:ext cx="9144000" cy="1153834"/>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Introduction</a:t>
            </a:r>
            <a:br>
              <a:rPr lang="en-IN" sz="2000" b="1" dirty="0" smtClean="0">
                <a:solidFill>
                  <a:srgbClr val="C00000"/>
                </a:solidFill>
                <a:latin typeface="Times New Roman" panose="02020603050405020304" pitchFamily="18" charset="0"/>
                <a:cs typeface="Times New Roman" panose="02020603050405020304" pitchFamily="18" charset="0"/>
              </a:rPr>
            </a:br>
            <a:r>
              <a:rPr lang="en-IN" sz="2000" b="1" dirty="0">
                <a:solidFill>
                  <a:srgbClr val="C00000"/>
                </a:solidFill>
                <a:latin typeface="Times New Roman" panose="02020603050405020304" pitchFamily="18" charset="0"/>
                <a:cs typeface="Times New Roman" panose="02020603050405020304" pitchFamily="18" charset="0"/>
              </a:rPr>
              <a:t/>
            </a:r>
            <a:br>
              <a:rPr lang="en-IN" sz="2000" b="1" dirty="0">
                <a:solidFill>
                  <a:srgbClr val="C00000"/>
                </a:solidFill>
                <a:latin typeface="Times New Roman" panose="02020603050405020304" pitchFamily="18" charset="0"/>
                <a:cs typeface="Times New Roman" panose="02020603050405020304" pitchFamily="18" charset="0"/>
              </a:rPr>
            </a:br>
            <a:endParaRPr lang="en-IN" sz="3200" b="1" dirty="0"/>
          </a:p>
        </p:txBody>
      </p:sp>
      <p:sp>
        <p:nvSpPr>
          <p:cNvPr id="3" name="Subtitle 2"/>
          <p:cNvSpPr>
            <a:spLocks noGrp="1"/>
          </p:cNvSpPr>
          <p:nvPr>
            <p:ph type="subTitle" idx="1"/>
          </p:nvPr>
        </p:nvSpPr>
        <p:spPr>
          <a:xfrm>
            <a:off x="277905" y="896282"/>
            <a:ext cx="11649637" cy="5460068"/>
          </a:xfrm>
        </p:spPr>
        <p:txBody>
          <a:bodyPr>
            <a:normAutofit fontScale="92500" lnSpcReduction="10000"/>
          </a:bodyPr>
          <a:lstStyle/>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r>
              <a:rPr lang="en-IN" sz="2000" b="1" dirty="0" smtClean="0">
                <a:solidFill>
                  <a:srgbClr val="002060"/>
                </a:solidFill>
                <a:latin typeface="Times New Roman" panose="02020603050405020304" pitchFamily="18" charset="0"/>
                <a:cs typeface="Times New Roman" panose="02020603050405020304" pitchFamily="18" charset="0"/>
              </a:rPr>
              <a:t>                   Fig1.1   Divide and Conquer Technique</a:t>
            </a:r>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497267" y="159532"/>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85967" y="172943"/>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10</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 name="Oval 8"/>
          <p:cNvSpPr/>
          <p:nvPr/>
        </p:nvSpPr>
        <p:spPr>
          <a:xfrm>
            <a:off x="4768660" y="1063077"/>
            <a:ext cx="3388659" cy="995082"/>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smtClean="0">
                <a:solidFill>
                  <a:srgbClr val="002060"/>
                </a:solidFill>
                <a:latin typeface="Times New Roman" panose="02020603050405020304" pitchFamily="18" charset="0"/>
                <a:cs typeface="Times New Roman" panose="02020603050405020304" pitchFamily="18" charset="0"/>
              </a:rPr>
              <a:t>Problem       of size </a:t>
            </a:r>
            <a:r>
              <a:rPr lang="en-IN" b="1" dirty="0" smtClean="0">
                <a:solidFill>
                  <a:srgbClr val="C00000"/>
                </a:solidFill>
                <a:latin typeface="Times New Roman" panose="02020603050405020304" pitchFamily="18" charset="0"/>
                <a:cs typeface="Times New Roman" panose="02020603050405020304" pitchFamily="18" charset="0"/>
              </a:rPr>
              <a:t>n</a:t>
            </a:r>
            <a:endParaRPr lang="en-IN" b="1" dirty="0">
              <a:solidFill>
                <a:srgbClr val="C00000"/>
              </a:solidFill>
              <a:latin typeface="Times New Roman" panose="02020603050405020304" pitchFamily="18" charset="0"/>
              <a:cs typeface="Times New Roman" panose="02020603050405020304" pitchFamily="18" charset="0"/>
            </a:endParaRPr>
          </a:p>
        </p:txBody>
      </p:sp>
      <p:cxnSp>
        <p:nvCxnSpPr>
          <p:cNvPr id="11" name="Straight Connector 10"/>
          <p:cNvCxnSpPr>
            <a:stCxn id="9" idx="0"/>
            <a:endCxn id="9" idx="4"/>
          </p:cNvCxnSpPr>
          <p:nvPr/>
        </p:nvCxnSpPr>
        <p:spPr>
          <a:xfrm>
            <a:off x="6462990" y="1063077"/>
            <a:ext cx="0" cy="995082"/>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7231155" y="2262887"/>
            <a:ext cx="3388659" cy="995082"/>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Sub Problem 2 of size </a:t>
            </a:r>
            <a:r>
              <a:rPr lang="en-IN" b="1" dirty="0" smtClean="0">
                <a:solidFill>
                  <a:srgbClr val="C00000"/>
                </a:solidFill>
                <a:latin typeface="Times New Roman" panose="02020603050405020304" pitchFamily="18" charset="0"/>
                <a:cs typeface="Times New Roman" panose="02020603050405020304" pitchFamily="18" charset="0"/>
              </a:rPr>
              <a:t>n/2</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13" name="Oval 12"/>
          <p:cNvSpPr/>
          <p:nvPr/>
        </p:nvSpPr>
        <p:spPr>
          <a:xfrm>
            <a:off x="2767851" y="2303835"/>
            <a:ext cx="3388659" cy="995082"/>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Sub Problem 1 of size </a:t>
            </a:r>
            <a:r>
              <a:rPr lang="en-IN" b="1" dirty="0" smtClean="0">
                <a:solidFill>
                  <a:srgbClr val="C00000"/>
                </a:solidFill>
                <a:latin typeface="Times New Roman" panose="02020603050405020304" pitchFamily="18" charset="0"/>
                <a:cs typeface="Times New Roman" panose="02020603050405020304" pitchFamily="18" charset="0"/>
              </a:rPr>
              <a:t>n/2</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3193674" y="3657411"/>
            <a:ext cx="2375647" cy="8141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2060"/>
                </a:solidFill>
                <a:latin typeface="Times New Roman" panose="02020603050405020304" pitchFamily="18" charset="0"/>
                <a:cs typeface="Times New Roman" panose="02020603050405020304" pitchFamily="18" charset="0"/>
              </a:rPr>
              <a:t>Solution to </a:t>
            </a:r>
            <a:endParaRPr lang="en-IN" b="1" dirty="0" smtClean="0">
              <a:solidFill>
                <a:srgbClr val="002060"/>
              </a:solidFill>
              <a:latin typeface="Times New Roman" panose="02020603050405020304" pitchFamily="18" charset="0"/>
              <a:cs typeface="Times New Roman" panose="02020603050405020304" pitchFamily="18" charset="0"/>
            </a:endParaRPr>
          </a:p>
          <a:p>
            <a:pPr algn="ctr"/>
            <a:r>
              <a:rPr lang="en-IN" b="1" dirty="0" smtClean="0">
                <a:solidFill>
                  <a:srgbClr val="002060"/>
                </a:solidFill>
                <a:latin typeface="Times New Roman" panose="02020603050405020304" pitchFamily="18" charset="0"/>
                <a:cs typeface="Times New Roman" panose="02020603050405020304" pitchFamily="18" charset="0"/>
              </a:rPr>
              <a:t>Sub Problem </a:t>
            </a:r>
            <a:r>
              <a:rPr lang="en-IN" b="1" dirty="0">
                <a:solidFill>
                  <a:srgbClr val="002060"/>
                </a:solidFill>
                <a:latin typeface="Times New Roman" panose="02020603050405020304" pitchFamily="18" charset="0"/>
                <a:cs typeface="Times New Roman" panose="02020603050405020304" pitchFamily="18" charset="0"/>
              </a:rPr>
              <a:t>1</a:t>
            </a:r>
          </a:p>
        </p:txBody>
      </p:sp>
      <p:sp>
        <p:nvSpPr>
          <p:cNvPr id="15" name="Rectangle 14"/>
          <p:cNvSpPr/>
          <p:nvPr/>
        </p:nvSpPr>
        <p:spPr>
          <a:xfrm>
            <a:off x="8023411" y="3589854"/>
            <a:ext cx="2375647" cy="835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2060"/>
                </a:solidFill>
                <a:latin typeface="Times New Roman" panose="02020603050405020304" pitchFamily="18" charset="0"/>
                <a:cs typeface="Times New Roman" panose="02020603050405020304" pitchFamily="18" charset="0"/>
              </a:rPr>
              <a:t>Solution to </a:t>
            </a:r>
            <a:endParaRPr lang="en-IN" b="1" dirty="0" smtClean="0">
              <a:solidFill>
                <a:srgbClr val="002060"/>
              </a:solidFill>
              <a:latin typeface="Times New Roman" panose="02020603050405020304" pitchFamily="18" charset="0"/>
              <a:cs typeface="Times New Roman" panose="02020603050405020304" pitchFamily="18" charset="0"/>
            </a:endParaRPr>
          </a:p>
          <a:p>
            <a:pPr algn="ctr"/>
            <a:r>
              <a:rPr lang="en-IN" b="1" dirty="0" smtClean="0">
                <a:solidFill>
                  <a:srgbClr val="002060"/>
                </a:solidFill>
                <a:latin typeface="Times New Roman" panose="02020603050405020304" pitchFamily="18" charset="0"/>
                <a:cs typeface="Times New Roman" panose="02020603050405020304" pitchFamily="18" charset="0"/>
              </a:rPr>
              <a:t>Sub Problem 2</a:t>
            </a:r>
            <a:endParaRPr lang="en-IN" b="1" dirty="0">
              <a:solidFill>
                <a:srgbClr val="002060"/>
              </a:solidFill>
              <a:latin typeface="Times New Roman" panose="02020603050405020304" pitchFamily="18" charset="0"/>
              <a:cs typeface="Times New Roman" panose="02020603050405020304" pitchFamily="18" charset="0"/>
            </a:endParaRPr>
          </a:p>
        </p:txBody>
      </p:sp>
      <p:cxnSp>
        <p:nvCxnSpPr>
          <p:cNvPr id="18" name="Straight Arrow Connector 17"/>
          <p:cNvCxnSpPr>
            <a:stCxn id="13" idx="4"/>
          </p:cNvCxnSpPr>
          <p:nvPr/>
        </p:nvCxnSpPr>
        <p:spPr>
          <a:xfrm flipH="1">
            <a:off x="4462180" y="3298917"/>
            <a:ext cx="1" cy="367554"/>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8914275" y="3257969"/>
            <a:ext cx="1" cy="367554"/>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p:cNvCxnSpPr/>
          <p:nvPr/>
        </p:nvCxnSpPr>
        <p:spPr>
          <a:xfrm>
            <a:off x="4368052" y="4513284"/>
            <a:ext cx="4829736" cy="242046"/>
          </a:xfrm>
          <a:prstGeom prst="bentConnector3">
            <a:avLst>
              <a:gd name="adj1" fmla="val -116"/>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15" idx="2"/>
          </p:cNvCxnSpPr>
          <p:nvPr/>
        </p:nvCxnSpPr>
        <p:spPr>
          <a:xfrm flipH="1">
            <a:off x="9211234" y="4425157"/>
            <a:ext cx="1" cy="33017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5608540" y="4996162"/>
            <a:ext cx="2375647" cy="814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2060"/>
                </a:solidFill>
                <a:latin typeface="Times New Roman" panose="02020603050405020304" pitchFamily="18" charset="0"/>
                <a:cs typeface="Times New Roman" panose="02020603050405020304" pitchFamily="18" charset="0"/>
              </a:rPr>
              <a:t>Solution to </a:t>
            </a:r>
            <a:endParaRPr lang="en-IN" b="1" dirty="0" smtClean="0">
              <a:solidFill>
                <a:srgbClr val="002060"/>
              </a:solidFill>
              <a:latin typeface="Times New Roman" panose="02020603050405020304" pitchFamily="18" charset="0"/>
              <a:cs typeface="Times New Roman" panose="02020603050405020304" pitchFamily="18" charset="0"/>
            </a:endParaRPr>
          </a:p>
          <a:p>
            <a:pPr algn="ctr"/>
            <a:r>
              <a:rPr lang="en-IN" b="1" dirty="0" smtClean="0">
                <a:solidFill>
                  <a:srgbClr val="002060"/>
                </a:solidFill>
                <a:latin typeface="Times New Roman" panose="02020603050405020304" pitchFamily="18" charset="0"/>
                <a:cs typeface="Times New Roman" panose="02020603050405020304" pitchFamily="18" charset="0"/>
              </a:rPr>
              <a:t>Original Problem </a:t>
            </a:r>
            <a:endParaRPr lang="en-IN" b="1" dirty="0">
              <a:solidFill>
                <a:srgbClr val="002060"/>
              </a:solidFill>
              <a:latin typeface="Times New Roman" panose="02020603050405020304" pitchFamily="18" charset="0"/>
              <a:cs typeface="Times New Roman" panose="02020603050405020304" pitchFamily="18" charset="0"/>
            </a:endParaRPr>
          </a:p>
        </p:txBody>
      </p:sp>
      <p:cxnSp>
        <p:nvCxnSpPr>
          <p:cNvPr id="45" name="Straight Arrow Connector 44"/>
          <p:cNvCxnSpPr/>
          <p:nvPr/>
        </p:nvCxnSpPr>
        <p:spPr>
          <a:xfrm flipH="1">
            <a:off x="6796364" y="4754116"/>
            <a:ext cx="3" cy="24819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endCxn id="13" idx="0"/>
          </p:cNvCxnSpPr>
          <p:nvPr/>
        </p:nvCxnSpPr>
        <p:spPr>
          <a:xfrm flipH="1">
            <a:off x="4462181" y="1918447"/>
            <a:ext cx="559174" cy="385388"/>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7905187" y="1812484"/>
            <a:ext cx="504265" cy="491351"/>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85E81419-E3B9-4010-AE7B-A9A4FFCF6E4E}" type="datetime1">
              <a:rPr lang="en-IN" smtClean="0"/>
              <a:t>21-03-2026</a:t>
            </a:fld>
            <a:endParaRPr lang="en-IN"/>
          </a:p>
        </p:txBody>
      </p:sp>
    </p:spTree>
    <p:extLst>
      <p:ext uri="{BB962C8B-B14F-4D97-AF65-F5344CB8AC3E}">
        <p14:creationId xmlns:p14="http://schemas.microsoft.com/office/powerpoint/2010/main" val="36968428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85022" y="1053330"/>
            <a:ext cx="11649637" cy="5296314"/>
          </a:xfrm>
        </p:spPr>
        <p:txBody>
          <a:bodyPr>
            <a:normAutofit lnSpcReduction="10000"/>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Control Abstraction of Divide and Conquer</a:t>
            </a:r>
          </a:p>
          <a:p>
            <a:pPr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Type  </a:t>
            </a:r>
            <a:r>
              <a:rPr lang="en-IN" b="1" dirty="0" err="1" smtClean="0">
                <a:solidFill>
                  <a:srgbClr val="002060"/>
                </a:solidFill>
                <a:latin typeface="Times New Roman" panose="02020603050405020304" pitchFamily="18" charset="0"/>
                <a:cs typeface="Times New Roman" panose="02020603050405020304" pitchFamily="18" charset="0"/>
              </a:rPr>
              <a:t>DandC</a:t>
            </a:r>
            <a:r>
              <a:rPr lang="en-IN" b="1" dirty="0" smtClean="0">
                <a:solidFill>
                  <a:srgbClr val="002060"/>
                </a:solidFill>
                <a:latin typeface="Times New Roman" panose="02020603050405020304" pitchFamily="18" charset="0"/>
                <a:cs typeface="Times New Roman" panose="02020603050405020304" pitchFamily="18" charset="0"/>
              </a:rPr>
              <a:t> (P)</a:t>
            </a:r>
          </a:p>
          <a:p>
            <a:pPr algn="just"/>
            <a:r>
              <a:rPr lang="en-IN" b="1" dirty="0" smtClean="0">
                <a:solidFill>
                  <a:srgbClr val="002060"/>
                </a:solidFill>
                <a:latin typeface="Times New Roman" panose="02020603050405020304" pitchFamily="18" charset="0"/>
                <a:cs typeface="Times New Roman" panose="02020603050405020304" pitchFamily="18" charset="0"/>
              </a:rPr>
              <a:t>{</a:t>
            </a:r>
          </a:p>
          <a:p>
            <a:pPr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if small (P)   </a:t>
            </a:r>
          </a:p>
          <a:p>
            <a:pPr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return S(P);</a:t>
            </a:r>
          </a:p>
          <a:p>
            <a:pPr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else</a:t>
            </a:r>
          </a:p>
          <a:p>
            <a:pPr algn="just"/>
            <a:r>
              <a:rPr lang="en-IN" b="1" dirty="0" smtClean="0">
                <a:solidFill>
                  <a:srgbClr val="002060"/>
                </a:solidFill>
                <a:latin typeface="Times New Roman" panose="02020603050405020304" pitchFamily="18" charset="0"/>
                <a:cs typeface="Times New Roman" panose="02020603050405020304" pitchFamily="18" charset="0"/>
              </a:rPr>
              <a:t>         {</a:t>
            </a:r>
          </a:p>
          <a:p>
            <a:pPr algn="just"/>
            <a:r>
              <a:rPr lang="en-IN" b="1" dirty="0" smtClean="0">
                <a:solidFill>
                  <a:srgbClr val="002060"/>
                </a:solidFill>
                <a:latin typeface="Times New Roman" panose="02020603050405020304" pitchFamily="18" charset="0"/>
                <a:cs typeface="Times New Roman" panose="02020603050405020304" pitchFamily="18" charset="0"/>
              </a:rPr>
              <a:t>              Divide P into smaller instances  P1, P2, …..</a:t>
            </a:r>
            <a:r>
              <a:rPr lang="en-IN" b="1" dirty="0" err="1" smtClean="0">
                <a:solidFill>
                  <a:srgbClr val="002060"/>
                </a:solidFill>
                <a:latin typeface="Times New Roman" panose="02020603050405020304" pitchFamily="18" charset="0"/>
                <a:cs typeface="Times New Roman" panose="02020603050405020304" pitchFamily="18" charset="0"/>
              </a:rPr>
              <a:t>Pn</a:t>
            </a:r>
            <a:r>
              <a:rPr lang="en-IN" b="1" dirty="0" smtClean="0">
                <a:solidFill>
                  <a:srgbClr val="002060"/>
                </a:solidFill>
                <a:latin typeface="Times New Roman" panose="02020603050405020304" pitchFamily="18" charset="0"/>
                <a:cs typeface="Times New Roman" panose="02020603050405020304" pitchFamily="18" charset="0"/>
              </a:rPr>
              <a:t>,   n≥1</a:t>
            </a:r>
          </a:p>
          <a:p>
            <a:pPr algn="just"/>
            <a:r>
              <a:rPr lang="en-IN" b="1" dirty="0" smtClean="0">
                <a:solidFill>
                  <a:srgbClr val="002060"/>
                </a:solidFill>
                <a:latin typeface="Times New Roman" panose="02020603050405020304" pitchFamily="18" charset="0"/>
                <a:cs typeface="Times New Roman" panose="02020603050405020304" pitchFamily="18" charset="0"/>
              </a:rPr>
              <a:t>              Apply </a:t>
            </a:r>
            <a:r>
              <a:rPr lang="en-IN" b="1" dirty="0" err="1" smtClean="0">
                <a:solidFill>
                  <a:srgbClr val="002060"/>
                </a:solidFill>
                <a:latin typeface="Times New Roman" panose="02020603050405020304" pitchFamily="18" charset="0"/>
                <a:cs typeface="Times New Roman" panose="02020603050405020304" pitchFamily="18" charset="0"/>
              </a:rPr>
              <a:t>DandC</a:t>
            </a:r>
            <a:r>
              <a:rPr lang="en-IN" b="1" dirty="0" smtClean="0">
                <a:solidFill>
                  <a:srgbClr val="002060"/>
                </a:solidFill>
                <a:latin typeface="Times New Roman" panose="02020603050405020304" pitchFamily="18" charset="0"/>
                <a:cs typeface="Times New Roman" panose="02020603050405020304" pitchFamily="18" charset="0"/>
              </a:rPr>
              <a:t> each of smaller instances </a:t>
            </a:r>
          </a:p>
          <a:p>
            <a:pPr algn="just"/>
            <a:r>
              <a:rPr lang="en-IN" b="1" dirty="0" smtClean="0">
                <a:solidFill>
                  <a:srgbClr val="002060"/>
                </a:solidFill>
                <a:latin typeface="Times New Roman" panose="02020603050405020304" pitchFamily="18" charset="0"/>
                <a:cs typeface="Times New Roman" panose="02020603050405020304" pitchFamily="18" charset="0"/>
              </a:rPr>
              <a:t>              Return Combine (</a:t>
            </a:r>
            <a:r>
              <a:rPr lang="en-IN" b="1" dirty="0" err="1" smtClean="0">
                <a:solidFill>
                  <a:srgbClr val="002060"/>
                </a:solidFill>
                <a:latin typeface="Times New Roman" panose="02020603050405020304" pitchFamily="18" charset="0"/>
                <a:cs typeface="Times New Roman" panose="02020603050405020304" pitchFamily="18" charset="0"/>
              </a:rPr>
              <a:t>DandC</a:t>
            </a:r>
            <a:r>
              <a:rPr lang="en-IN" b="1" dirty="0" smtClean="0">
                <a:solidFill>
                  <a:srgbClr val="002060"/>
                </a:solidFill>
                <a:latin typeface="Times New Roman" panose="02020603050405020304" pitchFamily="18" charset="0"/>
                <a:cs typeface="Times New Roman" panose="02020603050405020304" pitchFamily="18" charset="0"/>
              </a:rPr>
              <a:t>(P1), </a:t>
            </a:r>
            <a:r>
              <a:rPr lang="en-IN" b="1" dirty="0" err="1" smtClean="0">
                <a:solidFill>
                  <a:srgbClr val="002060"/>
                </a:solidFill>
                <a:latin typeface="Times New Roman" panose="02020603050405020304" pitchFamily="18" charset="0"/>
                <a:cs typeface="Times New Roman" panose="02020603050405020304" pitchFamily="18" charset="0"/>
              </a:rPr>
              <a:t>DandC</a:t>
            </a:r>
            <a:r>
              <a:rPr lang="en-IN" b="1" dirty="0" smtClean="0">
                <a:solidFill>
                  <a:srgbClr val="002060"/>
                </a:solidFill>
                <a:latin typeface="Times New Roman" panose="02020603050405020304" pitchFamily="18" charset="0"/>
                <a:cs typeface="Times New Roman" panose="02020603050405020304" pitchFamily="18" charset="0"/>
              </a:rPr>
              <a:t>(P2), ….. </a:t>
            </a:r>
            <a:r>
              <a:rPr lang="en-IN" b="1" dirty="0" err="1" smtClean="0">
                <a:solidFill>
                  <a:srgbClr val="002060"/>
                </a:solidFill>
                <a:latin typeface="Times New Roman" panose="02020603050405020304" pitchFamily="18" charset="0"/>
                <a:cs typeface="Times New Roman" panose="02020603050405020304" pitchFamily="18" charset="0"/>
              </a:rPr>
              <a:t>DandC</a:t>
            </a:r>
            <a:r>
              <a:rPr lang="en-IN" b="1" dirty="0" smtClean="0">
                <a:solidFill>
                  <a:srgbClr val="002060"/>
                </a:solidFill>
                <a:latin typeface="Times New Roman" panose="02020603050405020304" pitchFamily="18" charset="0"/>
                <a:cs typeface="Times New Roman" panose="02020603050405020304" pitchFamily="18" charset="0"/>
              </a:rPr>
              <a:t>(</a:t>
            </a:r>
            <a:r>
              <a:rPr lang="en-IN" b="1" dirty="0" err="1" smtClean="0">
                <a:solidFill>
                  <a:srgbClr val="002060"/>
                </a:solidFill>
                <a:latin typeface="Times New Roman" panose="02020603050405020304" pitchFamily="18" charset="0"/>
                <a:cs typeface="Times New Roman" panose="02020603050405020304" pitchFamily="18" charset="0"/>
              </a:rPr>
              <a:t>Pn</a:t>
            </a:r>
            <a:r>
              <a:rPr lang="en-IN" b="1" dirty="0" smtClean="0">
                <a:solidFill>
                  <a:srgbClr val="002060"/>
                </a:solidFill>
                <a:latin typeface="Times New Roman" panose="02020603050405020304" pitchFamily="18" charset="0"/>
                <a:cs typeface="Times New Roman" panose="02020603050405020304" pitchFamily="18" charset="0"/>
              </a:rPr>
              <a:t>)), </a:t>
            </a:r>
          </a:p>
          <a:p>
            <a:pPr algn="just"/>
            <a:r>
              <a:rPr lang="en-IN" b="1" dirty="0" smtClean="0">
                <a:solidFill>
                  <a:srgbClr val="002060"/>
                </a:solidFill>
                <a:latin typeface="Times New Roman" panose="02020603050405020304" pitchFamily="18" charset="0"/>
                <a:cs typeface="Times New Roman" panose="02020603050405020304" pitchFamily="18" charset="0"/>
              </a:rPr>
              <a:t>          }</a:t>
            </a:r>
          </a:p>
          <a:p>
            <a:pPr algn="just"/>
            <a:r>
              <a:rPr lang="en-IN" b="1" dirty="0">
                <a:solidFill>
                  <a:srgbClr val="002060"/>
                </a:solidFill>
                <a:latin typeface="Times New Roman" panose="02020603050405020304" pitchFamily="18" charset="0"/>
                <a:cs typeface="Times New Roman" panose="02020603050405020304" pitchFamily="18" charset="0"/>
              </a:rPr>
              <a:t>}</a:t>
            </a:r>
            <a:endParaRPr lang="en-IN"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11</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6630644" y="2684707"/>
            <a:ext cx="4646675" cy="923330"/>
          </a:xfrm>
          <a:prstGeom prst="rect">
            <a:avLst/>
          </a:prstGeom>
          <a:noFill/>
        </p:spPr>
        <p:txBody>
          <a:bodyPr wrap="square" rtlCol="0">
            <a:spAutoFit/>
          </a:bodyPr>
          <a:lstStyle/>
          <a:p>
            <a:r>
              <a:rPr lang="en-IN" b="1" dirty="0">
                <a:solidFill>
                  <a:srgbClr val="C00000"/>
                </a:solidFill>
                <a:latin typeface="Times New Roman" panose="02020603050405020304" pitchFamily="18" charset="0"/>
                <a:cs typeface="Times New Roman" panose="02020603050405020304" pitchFamily="18" charset="0"/>
              </a:rPr>
              <a:t>Where P is problem, </a:t>
            </a:r>
          </a:p>
          <a:p>
            <a:r>
              <a:rPr lang="en-IN" b="1" dirty="0">
                <a:solidFill>
                  <a:srgbClr val="C00000"/>
                </a:solidFill>
                <a:latin typeface="Times New Roman" panose="02020603050405020304" pitchFamily="18" charset="0"/>
                <a:cs typeface="Times New Roman" panose="02020603050405020304" pitchFamily="18" charset="0"/>
              </a:rPr>
              <a:t> small (P)  Boolean valued function, returns true if P is very small.</a:t>
            </a:r>
          </a:p>
        </p:txBody>
      </p:sp>
      <p:sp>
        <p:nvSpPr>
          <p:cNvPr id="6" name="Date Placeholder 5"/>
          <p:cNvSpPr>
            <a:spLocks noGrp="1"/>
          </p:cNvSpPr>
          <p:nvPr>
            <p:ph type="dt" sz="half" idx="10"/>
          </p:nvPr>
        </p:nvSpPr>
        <p:spPr/>
        <p:txBody>
          <a:bodyPr/>
          <a:lstStyle/>
          <a:p>
            <a:fld id="{2BC837B2-1BF2-492B-9B78-7A8E8FFA50B0}" type="datetime1">
              <a:rPr lang="en-IN" smtClean="0"/>
              <a:t>21-03-2026</a:t>
            </a:fld>
            <a:endParaRPr lang="en-IN"/>
          </a:p>
        </p:txBody>
      </p:sp>
    </p:spTree>
    <p:extLst>
      <p:ext uri="{BB962C8B-B14F-4D97-AF65-F5344CB8AC3E}">
        <p14:creationId xmlns:p14="http://schemas.microsoft.com/office/powerpoint/2010/main" val="17113102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85022" y="1053330"/>
            <a:ext cx="11649637" cy="5296314"/>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The recurrence relation</a:t>
            </a: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12</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2376603" y="2708880"/>
            <a:ext cx="6233997" cy="1754326"/>
          </a:xfrm>
          <a:prstGeom prst="rect">
            <a:avLst/>
          </a:prstGeom>
          <a:noFill/>
        </p:spPr>
        <p:txBody>
          <a:bodyPr wrap="square" rtlCol="0">
            <a:spAutoFit/>
          </a:bodyPr>
          <a:lstStyle/>
          <a:p>
            <a:r>
              <a:rPr lang="en-IN" b="1" dirty="0" smtClean="0">
                <a:solidFill>
                  <a:srgbClr val="C00000"/>
                </a:solidFill>
                <a:latin typeface="Times New Roman" panose="02020603050405020304" pitchFamily="18" charset="0"/>
                <a:cs typeface="Times New Roman" panose="02020603050405020304" pitchFamily="18" charset="0"/>
              </a:rPr>
              <a:t>Where,</a:t>
            </a:r>
          </a:p>
          <a:p>
            <a:r>
              <a:rPr lang="en-IN" b="1" dirty="0" smtClean="0">
                <a:solidFill>
                  <a:srgbClr val="002060"/>
                </a:solidFill>
                <a:latin typeface="Times New Roman" panose="02020603050405020304" pitchFamily="18" charset="0"/>
                <a:cs typeface="Times New Roman" panose="02020603050405020304" pitchFamily="18" charset="0"/>
              </a:rPr>
              <a:t>T(n)</a:t>
            </a:r>
            <a:r>
              <a:rPr lang="en-IN" b="1" dirty="0" smtClean="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a:t>
            </a:r>
            <a:r>
              <a:rPr lang="en-IN" b="1" dirty="0" smtClean="0">
                <a:solidFill>
                  <a:srgbClr val="C00000"/>
                </a:solidFill>
                <a:latin typeface="Times New Roman" panose="02020603050405020304" pitchFamily="18" charset="0"/>
                <a:cs typeface="Times New Roman" panose="02020603050405020304" pitchFamily="18" charset="0"/>
              </a:rPr>
              <a:t> time for </a:t>
            </a:r>
            <a:r>
              <a:rPr lang="en-IN" b="1" dirty="0" err="1" smtClean="0">
                <a:solidFill>
                  <a:srgbClr val="C00000"/>
                </a:solidFill>
                <a:latin typeface="Times New Roman" panose="02020603050405020304" pitchFamily="18" charset="0"/>
                <a:cs typeface="Times New Roman" panose="02020603050405020304" pitchFamily="18" charset="0"/>
              </a:rPr>
              <a:t>DandC</a:t>
            </a:r>
            <a:r>
              <a:rPr lang="en-IN" b="1" dirty="0" smtClean="0">
                <a:solidFill>
                  <a:srgbClr val="C00000"/>
                </a:solidFill>
                <a:latin typeface="Times New Roman" panose="02020603050405020304" pitchFamily="18" charset="0"/>
                <a:cs typeface="Times New Roman" panose="02020603050405020304" pitchFamily="18" charset="0"/>
              </a:rPr>
              <a:t>, </a:t>
            </a:r>
          </a:p>
          <a:p>
            <a:r>
              <a:rPr lang="en-IN" b="1" dirty="0">
                <a:solidFill>
                  <a:srgbClr val="002060"/>
                </a:solidFill>
                <a:latin typeface="Times New Roman" panose="02020603050405020304" pitchFamily="18" charset="0"/>
                <a:cs typeface="Times New Roman" panose="02020603050405020304" pitchFamily="18" charset="0"/>
              </a:rPr>
              <a:t>n</a:t>
            </a:r>
            <a:r>
              <a:rPr lang="en-IN" b="1" dirty="0" smtClean="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  input size</a:t>
            </a:r>
            <a:r>
              <a:rPr lang="en-IN" b="1" dirty="0" smtClean="0">
                <a:solidFill>
                  <a:srgbClr val="C00000"/>
                </a:solidFill>
                <a:latin typeface="Times New Roman" panose="02020603050405020304" pitchFamily="18" charset="0"/>
                <a:cs typeface="Times New Roman" panose="02020603050405020304" pitchFamily="18" charset="0"/>
              </a:rPr>
              <a:t> </a:t>
            </a:r>
            <a:r>
              <a:rPr lang="en-IN" b="1" dirty="0">
                <a:solidFill>
                  <a:srgbClr val="C00000"/>
                </a:solidFill>
                <a:latin typeface="Times New Roman" panose="02020603050405020304" pitchFamily="18" charset="0"/>
                <a:cs typeface="Times New Roman" panose="02020603050405020304" pitchFamily="18" charset="0"/>
              </a:rPr>
              <a:t>is problem, </a:t>
            </a:r>
          </a:p>
          <a:p>
            <a:r>
              <a:rPr lang="en-IN" b="1" dirty="0">
                <a:solidFill>
                  <a:srgbClr val="002060"/>
                </a:solidFill>
                <a:latin typeface="Times New Roman" panose="02020603050405020304" pitchFamily="18" charset="0"/>
                <a:cs typeface="Times New Roman" panose="02020603050405020304" pitchFamily="18" charset="0"/>
              </a:rPr>
              <a:t>g(n) </a:t>
            </a:r>
            <a:r>
              <a:rPr lang="en-IN" b="1" dirty="0" smtClean="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 Time to compute answer directly from small input</a:t>
            </a:r>
          </a:p>
          <a:p>
            <a:r>
              <a:rPr lang="en-IN" b="1" dirty="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f(n) </a:t>
            </a:r>
            <a:r>
              <a:rPr lang="en-IN" b="1" dirty="0" smtClean="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 Time to divide the problem and combining the solution.</a:t>
            </a:r>
            <a:endParaRPr lang="en-IN" b="1"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p:cNvSpPr txBox="1"/>
              <p:nvPr/>
            </p:nvSpPr>
            <p:spPr>
              <a:xfrm>
                <a:off x="690273" y="1600155"/>
                <a:ext cx="8210536" cy="976614"/>
              </a:xfrm>
              <a:prstGeom prst="rect">
                <a:avLst/>
              </a:prstGeom>
              <a:noFill/>
              <a:ln>
                <a:solidFill>
                  <a:schemeClr val="accent1"/>
                </a:solidFill>
              </a:ln>
            </p:spPr>
            <p:txBody>
              <a:bodyPr wrap="square" rtlCol="0">
                <a:spAutoFit/>
              </a:bodyPr>
              <a:lstStyle/>
              <a:p>
                <a:r>
                  <a:rPr lang="en-IN" b="1" dirty="0" smtClean="0">
                    <a:solidFill>
                      <a:srgbClr val="FF0000"/>
                    </a:solidFill>
                    <a:cs typeface="Times New Roman" panose="02020603050405020304" pitchFamily="18" charset="0"/>
                  </a:rPr>
                  <a:t>T</a:t>
                </a:r>
                <a14:m>
                  <m:oMath xmlns:m="http://schemas.openxmlformats.org/officeDocument/2006/math">
                    <m:r>
                      <a:rPr lang="en-IN" b="1" i="1" smtClean="0">
                        <a:solidFill>
                          <a:srgbClr val="FF0000"/>
                        </a:solidFill>
                        <a:latin typeface="Cambria Math" panose="02040503050406030204" pitchFamily="18" charset="0"/>
                        <a:cs typeface="Times New Roman" panose="02020603050405020304" pitchFamily="18" charset="0"/>
                      </a:rPr>
                      <m:t>(</m:t>
                    </m:r>
                    <m:r>
                      <a:rPr lang="en-IN" b="1" i="1" smtClean="0">
                        <a:solidFill>
                          <a:srgbClr val="FF0000"/>
                        </a:solidFill>
                        <a:latin typeface="Cambria Math" panose="02040503050406030204" pitchFamily="18" charset="0"/>
                        <a:cs typeface="Times New Roman" panose="02020603050405020304" pitchFamily="18" charset="0"/>
                      </a:rPr>
                      <m:t>𝒏</m:t>
                    </m:r>
                    <m:r>
                      <a:rPr lang="en-IN" b="1" i="1" smtClean="0">
                        <a:solidFill>
                          <a:srgbClr val="FF0000"/>
                        </a:solidFill>
                        <a:latin typeface="Cambria Math" panose="02040503050406030204" pitchFamily="18" charset="0"/>
                        <a:cs typeface="Times New Roman" panose="02020603050405020304" pitchFamily="18" charset="0"/>
                      </a:rPr>
                      <m:t>)=</m:t>
                    </m:r>
                    <m:d>
                      <m:dPr>
                        <m:begChr m:val="{"/>
                        <m:endChr m:val="}"/>
                        <m:ctrlPr>
                          <a:rPr lang="pt-BR" b="1" i="1" smtClean="0">
                            <a:solidFill>
                              <a:srgbClr val="002060"/>
                            </a:solidFill>
                            <a:latin typeface="Cambria Math"/>
                            <a:cs typeface="Times New Roman" panose="02020603050405020304" pitchFamily="18" charset="0"/>
                          </a:rPr>
                        </m:ctrlPr>
                      </m:dPr>
                      <m:e>
                        <m:eqArr>
                          <m:eqArrPr>
                            <m:ctrlPr>
                              <a:rPr lang="en-IN" b="1" i="1" smtClean="0">
                                <a:solidFill>
                                  <a:srgbClr val="002060"/>
                                </a:solidFill>
                                <a:latin typeface="Cambria Math"/>
                                <a:cs typeface="Times New Roman" panose="02020603050405020304" pitchFamily="18" charset="0"/>
                              </a:rPr>
                            </m:ctrlPr>
                          </m:eqArrPr>
                          <m:e>
                            <m:r>
                              <a:rPr lang="en-IN" b="1" i="1" smtClean="0">
                                <a:solidFill>
                                  <a:srgbClr val="002060"/>
                                </a:solidFill>
                                <a:latin typeface="Cambria Math" panose="02040503050406030204" pitchFamily="18" charset="0"/>
                                <a:cs typeface="Times New Roman" panose="02020603050405020304" pitchFamily="18" charset="0"/>
                              </a:rPr>
                              <m:t>𝒈</m:t>
                            </m:r>
                            <m:d>
                              <m:dPr>
                                <m:ctrlPr>
                                  <a:rPr lang="en-IN" b="1" i="1" smtClean="0">
                                    <a:solidFill>
                                      <a:srgbClr val="002060"/>
                                    </a:solidFill>
                                    <a:latin typeface="Cambria Math"/>
                                    <a:cs typeface="Times New Roman" panose="02020603050405020304" pitchFamily="18" charset="0"/>
                                  </a:rPr>
                                </m:ctrlPr>
                              </m:dPr>
                              <m:e>
                                <m:r>
                                  <a:rPr lang="en-IN" b="1" i="1" smtClean="0">
                                    <a:solidFill>
                                      <a:srgbClr val="002060"/>
                                    </a:solidFill>
                                    <a:latin typeface="Cambria Math" panose="02040503050406030204" pitchFamily="18" charset="0"/>
                                    <a:cs typeface="Times New Roman" panose="02020603050405020304" pitchFamily="18" charset="0"/>
                                  </a:rPr>
                                  <m:t>𝒏</m:t>
                                </m:r>
                              </m:e>
                            </m:d>
                            <m:r>
                              <a:rPr lang="en-IN" b="1" i="1" smtClean="0">
                                <a:solidFill>
                                  <a:srgbClr val="002060"/>
                                </a:solidFill>
                                <a:latin typeface="Cambria Math" panose="02040503050406030204" pitchFamily="18" charset="0"/>
                                <a:cs typeface="Times New Roman" panose="02020603050405020304" pitchFamily="18" charset="0"/>
                              </a:rPr>
                              <m:t>                                                                                          </m:t>
                            </m:r>
                            <m:r>
                              <a:rPr lang="en-IN" b="1" i="1" smtClean="0">
                                <a:solidFill>
                                  <a:srgbClr val="002060"/>
                                </a:solidFill>
                                <a:latin typeface="Cambria Math" panose="02040503050406030204" pitchFamily="18" charset="0"/>
                                <a:cs typeface="Times New Roman" panose="02020603050405020304" pitchFamily="18" charset="0"/>
                              </a:rPr>
                              <m:t>𝒊𝒇</m:t>
                            </m:r>
                            <m:r>
                              <a:rPr lang="en-IN" b="1" i="1" smtClean="0">
                                <a:solidFill>
                                  <a:srgbClr val="002060"/>
                                </a:solidFill>
                                <a:latin typeface="Cambria Math" panose="02040503050406030204" pitchFamily="18" charset="0"/>
                                <a:cs typeface="Times New Roman" panose="02020603050405020304" pitchFamily="18" charset="0"/>
                              </a:rPr>
                              <m:t>  </m:t>
                            </m:r>
                            <m:r>
                              <a:rPr lang="en-IN" b="1" i="1" smtClean="0">
                                <a:solidFill>
                                  <a:srgbClr val="002060"/>
                                </a:solidFill>
                                <a:latin typeface="Cambria Math" panose="02040503050406030204" pitchFamily="18" charset="0"/>
                                <a:cs typeface="Times New Roman" panose="02020603050405020304" pitchFamily="18" charset="0"/>
                              </a:rPr>
                              <m:t>𝒏</m:t>
                            </m:r>
                            <m:r>
                              <a:rPr lang="en-IN" b="1" i="1" smtClean="0">
                                <a:solidFill>
                                  <a:srgbClr val="002060"/>
                                </a:solidFill>
                                <a:latin typeface="Cambria Math" panose="02040503050406030204" pitchFamily="18" charset="0"/>
                                <a:cs typeface="Times New Roman" panose="02020603050405020304" pitchFamily="18" charset="0"/>
                              </a:rPr>
                              <m:t> </m:t>
                            </m:r>
                            <m:r>
                              <a:rPr lang="en-IN" b="1" i="1" smtClean="0">
                                <a:solidFill>
                                  <a:srgbClr val="002060"/>
                                </a:solidFill>
                                <a:latin typeface="Cambria Math" panose="02040503050406030204" pitchFamily="18" charset="0"/>
                                <a:cs typeface="Times New Roman" panose="02020603050405020304" pitchFamily="18" charset="0"/>
                              </a:rPr>
                              <m:t>𝒔𝒎𝒂𝒍𝒍</m:t>
                            </m:r>
                          </m:e>
                          <m:e/>
                          <m:e>
                            <m:r>
                              <a:rPr lang="en-IN" b="1" i="1" smtClean="0">
                                <a:solidFill>
                                  <a:srgbClr val="002060"/>
                                </a:solidFill>
                                <a:latin typeface="Cambria Math" panose="02040503050406030204" pitchFamily="18" charset="0"/>
                                <a:cs typeface="Times New Roman" panose="02020603050405020304" pitchFamily="18" charset="0"/>
                              </a:rPr>
                              <m:t>𝑻</m:t>
                            </m:r>
                            <m:d>
                              <m:dPr>
                                <m:ctrlPr>
                                  <a:rPr lang="en-IN" b="1" i="1" smtClean="0">
                                    <a:solidFill>
                                      <a:srgbClr val="002060"/>
                                    </a:solidFill>
                                    <a:latin typeface="Cambria Math"/>
                                    <a:cs typeface="Times New Roman" panose="02020603050405020304" pitchFamily="18" charset="0"/>
                                  </a:rPr>
                                </m:ctrlPr>
                              </m:dPr>
                              <m:e>
                                <m:r>
                                  <a:rPr lang="en-IN" b="1" i="1" smtClean="0">
                                    <a:solidFill>
                                      <a:srgbClr val="002060"/>
                                    </a:solidFill>
                                    <a:latin typeface="Cambria Math" panose="02040503050406030204" pitchFamily="18" charset="0"/>
                                    <a:cs typeface="Times New Roman" panose="02020603050405020304" pitchFamily="18" charset="0"/>
                                  </a:rPr>
                                  <m:t>𝒏</m:t>
                                </m:r>
                                <m:r>
                                  <a:rPr lang="en-IN" b="1" i="1" baseline="-25000" smtClean="0">
                                    <a:solidFill>
                                      <a:srgbClr val="002060"/>
                                    </a:solidFill>
                                    <a:latin typeface="Cambria Math" panose="02040503050406030204" pitchFamily="18" charset="0"/>
                                    <a:cs typeface="Times New Roman" panose="02020603050405020304" pitchFamily="18" charset="0"/>
                                  </a:rPr>
                                  <m:t>𝟏</m:t>
                                </m:r>
                              </m:e>
                            </m:d>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𝑻</m:t>
                            </m:r>
                            <m:d>
                              <m:dPr>
                                <m:ctrlPr>
                                  <a:rPr lang="en-IN" b="1" i="1" smtClean="0">
                                    <a:solidFill>
                                      <a:srgbClr val="002060"/>
                                    </a:solidFill>
                                    <a:latin typeface="Cambria Math"/>
                                    <a:cs typeface="Times New Roman" panose="02020603050405020304" pitchFamily="18" charset="0"/>
                                  </a:rPr>
                                </m:ctrlPr>
                              </m:dPr>
                              <m:e>
                                <m:r>
                                  <a:rPr lang="en-IN" b="1" i="1" smtClean="0">
                                    <a:solidFill>
                                      <a:srgbClr val="002060"/>
                                    </a:solidFill>
                                    <a:latin typeface="Cambria Math" panose="02040503050406030204" pitchFamily="18" charset="0"/>
                                    <a:cs typeface="Times New Roman" panose="02020603050405020304" pitchFamily="18" charset="0"/>
                                  </a:rPr>
                                  <m:t>𝒏</m:t>
                                </m:r>
                                <m:r>
                                  <a:rPr lang="en-IN" b="1" i="1" baseline="-25000" smtClean="0">
                                    <a:solidFill>
                                      <a:srgbClr val="002060"/>
                                    </a:solidFill>
                                    <a:latin typeface="Cambria Math" panose="02040503050406030204" pitchFamily="18" charset="0"/>
                                    <a:cs typeface="Times New Roman" panose="02020603050405020304" pitchFamily="18" charset="0"/>
                                  </a:rPr>
                                  <m:t>𝟐</m:t>
                                </m:r>
                              </m:e>
                            </m:d>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𝑻</m:t>
                            </m:r>
                            <m:d>
                              <m:dPr>
                                <m:ctrlPr>
                                  <a:rPr lang="en-IN" b="1" i="1" smtClean="0">
                                    <a:solidFill>
                                      <a:srgbClr val="002060"/>
                                    </a:solidFill>
                                    <a:latin typeface="Cambria Math"/>
                                    <a:cs typeface="Times New Roman" panose="02020603050405020304" pitchFamily="18" charset="0"/>
                                  </a:rPr>
                                </m:ctrlPr>
                              </m:dPr>
                              <m:e>
                                <m:r>
                                  <a:rPr lang="en-IN" b="1" i="1" smtClean="0">
                                    <a:solidFill>
                                      <a:srgbClr val="002060"/>
                                    </a:solidFill>
                                    <a:latin typeface="Cambria Math" panose="02040503050406030204" pitchFamily="18" charset="0"/>
                                    <a:cs typeface="Times New Roman" panose="02020603050405020304" pitchFamily="18" charset="0"/>
                                  </a:rPr>
                                  <m:t>𝒏</m:t>
                                </m:r>
                                <m:r>
                                  <a:rPr lang="en-IN" b="1" i="1" baseline="-25000" smtClean="0">
                                    <a:solidFill>
                                      <a:srgbClr val="002060"/>
                                    </a:solidFill>
                                    <a:latin typeface="Cambria Math" panose="02040503050406030204" pitchFamily="18" charset="0"/>
                                    <a:cs typeface="Times New Roman" panose="02020603050405020304" pitchFamily="18" charset="0"/>
                                  </a:rPr>
                                  <m:t>𝟑</m:t>
                                </m:r>
                              </m:e>
                            </m:d>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𝑻</m:t>
                            </m:r>
                            <m:d>
                              <m:dPr>
                                <m:ctrlPr>
                                  <a:rPr lang="en-IN" b="1" i="1" smtClean="0">
                                    <a:solidFill>
                                      <a:srgbClr val="002060"/>
                                    </a:solidFill>
                                    <a:latin typeface="Cambria Math"/>
                                    <a:cs typeface="Times New Roman" panose="02020603050405020304" pitchFamily="18" charset="0"/>
                                  </a:rPr>
                                </m:ctrlPr>
                              </m:dPr>
                              <m:e>
                                <m:r>
                                  <a:rPr lang="en-IN" b="1" i="1" smtClean="0">
                                    <a:solidFill>
                                      <a:srgbClr val="002060"/>
                                    </a:solidFill>
                                    <a:latin typeface="Cambria Math" panose="02040503050406030204" pitchFamily="18" charset="0"/>
                                    <a:cs typeface="Times New Roman" panose="02020603050405020304" pitchFamily="18" charset="0"/>
                                  </a:rPr>
                                  <m:t>𝒏</m:t>
                                </m:r>
                                <m:r>
                                  <a:rPr lang="en-IN" b="1" i="1" baseline="-25000" smtClean="0">
                                    <a:solidFill>
                                      <a:srgbClr val="002060"/>
                                    </a:solidFill>
                                    <a:latin typeface="Cambria Math" panose="02040503050406030204" pitchFamily="18" charset="0"/>
                                    <a:cs typeface="Times New Roman" panose="02020603050405020304" pitchFamily="18" charset="0"/>
                                  </a:rPr>
                                  <m:t>𝒌</m:t>
                                </m:r>
                              </m:e>
                            </m:d>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𝒇</m:t>
                            </m:r>
                            <m:d>
                              <m:dPr>
                                <m:ctrlPr>
                                  <a:rPr lang="en-IN" b="1" i="1" smtClean="0">
                                    <a:solidFill>
                                      <a:srgbClr val="002060"/>
                                    </a:solidFill>
                                    <a:latin typeface="Cambria Math"/>
                                    <a:cs typeface="Times New Roman" panose="02020603050405020304" pitchFamily="18" charset="0"/>
                                  </a:rPr>
                                </m:ctrlPr>
                              </m:dPr>
                              <m:e>
                                <m:r>
                                  <a:rPr lang="en-IN" b="1" i="1" smtClean="0">
                                    <a:solidFill>
                                      <a:srgbClr val="002060"/>
                                    </a:solidFill>
                                    <a:latin typeface="Cambria Math" panose="02040503050406030204" pitchFamily="18" charset="0"/>
                                    <a:cs typeface="Times New Roman" panose="02020603050405020304" pitchFamily="18" charset="0"/>
                                  </a:rPr>
                                  <m:t>𝒏</m:t>
                                </m:r>
                              </m:e>
                            </m:d>
                            <m:r>
                              <a:rPr lang="en-IN" b="1" i="1" smtClean="0">
                                <a:solidFill>
                                  <a:srgbClr val="002060"/>
                                </a:solidFill>
                                <a:latin typeface="Cambria Math" panose="02040503050406030204" pitchFamily="18" charset="0"/>
                                <a:cs typeface="Times New Roman" panose="02020603050405020304" pitchFamily="18" charset="0"/>
                              </a:rPr>
                              <m:t>           </m:t>
                            </m:r>
                            <m:r>
                              <a:rPr lang="en-IN" b="1" i="1" smtClean="0">
                                <a:solidFill>
                                  <a:srgbClr val="002060"/>
                                </a:solidFill>
                                <a:latin typeface="Cambria Math" panose="02040503050406030204" pitchFamily="18" charset="0"/>
                                <a:cs typeface="Times New Roman" panose="02020603050405020304" pitchFamily="18" charset="0"/>
                              </a:rPr>
                              <m:t>𝑶𝒕𝒉𝒆𝒓𝒘𝒊𝒔𝒆</m:t>
                            </m:r>
                          </m:e>
                        </m:eqArr>
                      </m:e>
                    </m:d>
                  </m:oMath>
                </a14:m>
                <a:endParaRPr lang="en-IN" sz="28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690273" y="1600155"/>
                <a:ext cx="8210536" cy="976614"/>
              </a:xfrm>
              <a:prstGeom prst="rect">
                <a:avLst/>
              </a:prstGeom>
              <a:blipFill rotWithShape="1">
                <a:blip r:embed="rId5"/>
                <a:stretch>
                  <a:fillRect l="-519"/>
                </a:stretch>
              </a:blipFill>
              <a:ln>
                <a:solidFill>
                  <a:schemeClr val="accent1"/>
                </a:solidFill>
              </a:ln>
            </p:spPr>
            <p:txBody>
              <a:bodyPr/>
              <a:lstStyle/>
              <a:p>
                <a:r>
                  <a:rPr lang="en-IN">
                    <a:noFill/>
                  </a:rPr>
                  <a:t> </a:t>
                </a:r>
              </a:p>
            </p:txBody>
          </p:sp>
        </mc:Fallback>
      </mc:AlternateContent>
      <p:sp>
        <p:nvSpPr>
          <p:cNvPr id="6" name="Date Placeholder 5"/>
          <p:cNvSpPr>
            <a:spLocks noGrp="1"/>
          </p:cNvSpPr>
          <p:nvPr>
            <p:ph type="dt" sz="half" idx="10"/>
          </p:nvPr>
        </p:nvSpPr>
        <p:spPr/>
        <p:txBody>
          <a:bodyPr/>
          <a:lstStyle/>
          <a:p>
            <a:fld id="{31A03AF1-2310-4ECF-832C-FF59BDAC4AFF}" type="datetime1">
              <a:rPr lang="en-IN" smtClean="0"/>
              <a:t>21-03-2026</a:t>
            </a:fld>
            <a:endParaRPr lang="en-IN"/>
          </a:p>
        </p:txBody>
      </p:sp>
    </p:spTree>
    <p:extLst>
      <p:ext uri="{BB962C8B-B14F-4D97-AF65-F5344CB8AC3E}">
        <p14:creationId xmlns:p14="http://schemas.microsoft.com/office/powerpoint/2010/main" val="3469865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85022" y="856034"/>
            <a:ext cx="11922367" cy="5493610"/>
          </a:xfrm>
        </p:spPr>
        <p:txBody>
          <a:bodyPr>
            <a:normAutofit/>
          </a:bodyPr>
          <a:lstStyle/>
          <a:p>
            <a:pPr algn="just"/>
            <a:r>
              <a:rPr lang="en-IN" sz="3200" b="1" dirty="0" smtClean="0">
                <a:solidFill>
                  <a:srgbClr val="00B0F0"/>
                </a:solidFill>
                <a:latin typeface="Times New Roman" panose="02020603050405020304" pitchFamily="18" charset="0"/>
                <a:cs typeface="Times New Roman" panose="02020603050405020304" pitchFamily="18" charset="0"/>
              </a:rPr>
              <a:t>Masters theorem</a:t>
            </a:r>
          </a:p>
          <a:p>
            <a:pPr algn="just"/>
            <a:r>
              <a:rPr lang="en-IN" b="1" dirty="0" smtClean="0">
                <a:solidFill>
                  <a:srgbClr val="002060"/>
                </a:solidFill>
                <a:latin typeface="Times New Roman" panose="02020603050405020304" pitchFamily="18" charset="0"/>
                <a:cs typeface="Times New Roman" panose="02020603050405020304" pitchFamily="18" charset="0"/>
              </a:rPr>
              <a:t> In divide and conq</a:t>
            </a:r>
            <a:r>
              <a:rPr lang="en-IN" b="1" dirty="0">
                <a:solidFill>
                  <a:srgbClr val="002060"/>
                </a:solidFill>
                <a:latin typeface="Times New Roman" panose="02020603050405020304" pitchFamily="18" charset="0"/>
                <a:cs typeface="Times New Roman" panose="02020603050405020304" pitchFamily="18" charset="0"/>
              </a:rPr>
              <a:t>uer</a:t>
            </a:r>
            <a:r>
              <a:rPr lang="en-IN" b="1" dirty="0" smtClean="0">
                <a:solidFill>
                  <a:srgbClr val="C0000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technique problem instance of </a:t>
            </a:r>
            <a:r>
              <a:rPr lang="en-IN" b="1" dirty="0" smtClean="0">
                <a:solidFill>
                  <a:srgbClr val="00B0F0"/>
                </a:solidFill>
                <a:latin typeface="Times New Roman" panose="02020603050405020304" pitchFamily="18" charset="0"/>
                <a:cs typeface="Times New Roman" panose="02020603050405020304" pitchFamily="18" charset="0"/>
              </a:rPr>
              <a:t>size n </a:t>
            </a:r>
            <a:r>
              <a:rPr lang="en-IN" b="1" dirty="0" smtClean="0">
                <a:solidFill>
                  <a:srgbClr val="002060"/>
                </a:solidFill>
                <a:latin typeface="Times New Roman" panose="02020603050405020304" pitchFamily="18" charset="0"/>
                <a:cs typeface="Times New Roman" panose="02020603050405020304" pitchFamily="18" charset="0"/>
              </a:rPr>
              <a:t>is divided into </a:t>
            </a:r>
            <a:r>
              <a:rPr lang="en-IN" b="1" dirty="0" smtClean="0">
                <a:solidFill>
                  <a:srgbClr val="00B0F0"/>
                </a:solidFill>
                <a:latin typeface="Times New Roman" panose="02020603050405020304" pitchFamily="18" charset="0"/>
                <a:cs typeface="Times New Roman" panose="02020603050405020304" pitchFamily="18" charset="0"/>
              </a:rPr>
              <a:t>two instances of size n/2.</a:t>
            </a:r>
          </a:p>
          <a:p>
            <a:pPr algn="just"/>
            <a:r>
              <a:rPr lang="en-IN" b="1" dirty="0" smtClean="0">
                <a:solidFill>
                  <a:srgbClr val="C00000"/>
                </a:solidFill>
                <a:latin typeface="Times New Roman" panose="02020603050405020304" pitchFamily="18" charset="0"/>
                <a:cs typeface="Times New Roman" panose="02020603050405020304" pitchFamily="18" charset="0"/>
              </a:rPr>
              <a:t>More generally, </a:t>
            </a:r>
            <a:r>
              <a:rPr lang="en-US" b="1" dirty="0" smtClean="0">
                <a:solidFill>
                  <a:srgbClr val="C00000"/>
                </a:solidFill>
                <a:latin typeface="Times New Roman" panose="02020603050405020304" pitchFamily="18" charset="0"/>
                <a:cs typeface="Times New Roman" panose="02020603050405020304" pitchFamily="18" charset="0"/>
              </a:rPr>
              <a:t>an </a:t>
            </a:r>
            <a:r>
              <a:rPr lang="en-US" b="1" dirty="0">
                <a:solidFill>
                  <a:srgbClr val="C00000"/>
                </a:solidFill>
                <a:latin typeface="Times New Roman" panose="02020603050405020304" pitchFamily="18" charset="0"/>
                <a:cs typeface="Times New Roman" panose="02020603050405020304" pitchFamily="18" charset="0"/>
              </a:rPr>
              <a:t>instance of </a:t>
            </a:r>
            <a:r>
              <a:rPr lang="en-US" b="1" dirty="0">
                <a:solidFill>
                  <a:srgbClr val="00B0F0"/>
                </a:solidFill>
                <a:latin typeface="Times New Roman" panose="02020603050405020304" pitchFamily="18" charset="0"/>
                <a:cs typeface="Times New Roman" panose="02020603050405020304" pitchFamily="18" charset="0"/>
              </a:rPr>
              <a:t>size </a:t>
            </a:r>
            <a:r>
              <a:rPr lang="en-US" b="1" i="1" dirty="0">
                <a:solidFill>
                  <a:srgbClr val="00B0F0"/>
                </a:solidFill>
                <a:latin typeface="Times New Roman" panose="02020603050405020304" pitchFamily="18" charset="0"/>
                <a:cs typeface="Times New Roman" panose="02020603050405020304" pitchFamily="18" charset="0"/>
              </a:rPr>
              <a:t>n </a:t>
            </a:r>
            <a:r>
              <a:rPr lang="en-US" b="1" dirty="0">
                <a:solidFill>
                  <a:srgbClr val="C00000"/>
                </a:solidFill>
                <a:latin typeface="Times New Roman" panose="02020603050405020304" pitchFamily="18" charset="0"/>
                <a:cs typeface="Times New Roman" panose="02020603050405020304" pitchFamily="18" charset="0"/>
              </a:rPr>
              <a:t>can be divided into </a:t>
            </a:r>
            <a:r>
              <a:rPr lang="en-US" b="1" i="1" dirty="0">
                <a:solidFill>
                  <a:srgbClr val="00B0F0"/>
                </a:solidFill>
                <a:latin typeface="Times New Roman" panose="02020603050405020304" pitchFamily="18" charset="0"/>
                <a:cs typeface="Times New Roman" panose="02020603050405020304" pitchFamily="18" charset="0"/>
              </a:rPr>
              <a:t>b </a:t>
            </a:r>
            <a:r>
              <a:rPr lang="en-US" b="1" dirty="0">
                <a:solidFill>
                  <a:srgbClr val="00B0F0"/>
                </a:solidFill>
                <a:latin typeface="Times New Roman" panose="02020603050405020304" pitchFamily="18" charset="0"/>
                <a:cs typeface="Times New Roman" panose="02020603050405020304" pitchFamily="18" charset="0"/>
              </a:rPr>
              <a:t>instances of size </a:t>
            </a:r>
            <a:r>
              <a:rPr lang="en-US" b="1" i="1" dirty="0">
                <a:solidFill>
                  <a:srgbClr val="00B0F0"/>
                </a:solidFill>
                <a:latin typeface="Times New Roman" panose="02020603050405020304" pitchFamily="18" charset="0"/>
                <a:cs typeface="Times New Roman" panose="02020603050405020304" pitchFamily="18" charset="0"/>
              </a:rPr>
              <a:t>n/b</a:t>
            </a:r>
            <a:r>
              <a:rPr lang="en-US" b="1" dirty="0">
                <a:solidFill>
                  <a:srgbClr val="C00000"/>
                </a:solidFill>
                <a:latin typeface="Times New Roman" panose="02020603050405020304" pitchFamily="18" charset="0"/>
                <a:cs typeface="Times New Roman" panose="02020603050405020304" pitchFamily="18" charset="0"/>
              </a:rPr>
              <a:t>, with </a:t>
            </a:r>
            <a:r>
              <a:rPr lang="en-US" b="1" i="1" dirty="0">
                <a:solidFill>
                  <a:srgbClr val="00B0F0"/>
                </a:solidFill>
                <a:latin typeface="Times New Roman" panose="02020603050405020304" pitchFamily="18" charset="0"/>
                <a:cs typeface="Times New Roman" panose="02020603050405020304" pitchFamily="18" charset="0"/>
              </a:rPr>
              <a:t>a </a:t>
            </a:r>
            <a:r>
              <a:rPr lang="en-US" b="1" dirty="0">
                <a:solidFill>
                  <a:srgbClr val="00B0F0"/>
                </a:solidFill>
                <a:latin typeface="Times New Roman" panose="02020603050405020304" pitchFamily="18" charset="0"/>
                <a:cs typeface="Times New Roman" panose="02020603050405020304" pitchFamily="18" charset="0"/>
              </a:rPr>
              <a:t>of </a:t>
            </a:r>
            <a:r>
              <a:rPr lang="en-US" b="1" dirty="0" smtClean="0">
                <a:solidFill>
                  <a:srgbClr val="00B0F0"/>
                </a:solidFill>
                <a:latin typeface="Times New Roman" panose="02020603050405020304" pitchFamily="18" charset="0"/>
                <a:cs typeface="Times New Roman" panose="02020603050405020304" pitchFamily="18" charset="0"/>
              </a:rPr>
              <a:t>them needing </a:t>
            </a:r>
            <a:r>
              <a:rPr lang="en-US" b="1" dirty="0">
                <a:solidFill>
                  <a:srgbClr val="00B0F0"/>
                </a:solidFill>
                <a:latin typeface="Times New Roman" panose="02020603050405020304" pitchFamily="18" charset="0"/>
                <a:cs typeface="Times New Roman" panose="02020603050405020304" pitchFamily="18" charset="0"/>
              </a:rPr>
              <a:t>to be solved</a:t>
            </a:r>
            <a:r>
              <a:rPr lang="en-US" b="1" dirty="0">
                <a:solidFill>
                  <a:srgbClr val="C00000"/>
                </a:solidFill>
                <a:latin typeface="Times New Roman" panose="02020603050405020304" pitchFamily="18" charset="0"/>
                <a:cs typeface="Times New Roman" panose="02020603050405020304" pitchFamily="18" charset="0"/>
              </a:rPr>
              <a:t>. (Here, </a:t>
            </a:r>
            <a:r>
              <a:rPr lang="en-US" b="1" i="1" dirty="0">
                <a:solidFill>
                  <a:srgbClr val="C00000"/>
                </a:solidFill>
                <a:latin typeface="Times New Roman" panose="02020603050405020304" pitchFamily="18" charset="0"/>
                <a:cs typeface="Times New Roman" panose="02020603050405020304" pitchFamily="18" charset="0"/>
              </a:rPr>
              <a:t>a </a:t>
            </a:r>
            <a:r>
              <a:rPr lang="en-US" b="1" dirty="0">
                <a:solidFill>
                  <a:srgbClr val="C00000"/>
                </a:solidFill>
                <a:latin typeface="Times New Roman" panose="02020603050405020304" pitchFamily="18" charset="0"/>
                <a:cs typeface="Times New Roman" panose="02020603050405020304" pitchFamily="18" charset="0"/>
              </a:rPr>
              <a:t>and </a:t>
            </a:r>
            <a:r>
              <a:rPr lang="en-US" b="1" i="1" dirty="0">
                <a:solidFill>
                  <a:srgbClr val="C00000"/>
                </a:solidFill>
                <a:latin typeface="Times New Roman" panose="02020603050405020304" pitchFamily="18" charset="0"/>
                <a:cs typeface="Times New Roman" panose="02020603050405020304" pitchFamily="18" charset="0"/>
              </a:rPr>
              <a:t>b </a:t>
            </a:r>
            <a:r>
              <a:rPr lang="en-US" b="1" dirty="0">
                <a:solidFill>
                  <a:srgbClr val="C00000"/>
                </a:solidFill>
                <a:latin typeface="Times New Roman" panose="02020603050405020304" pitchFamily="18" charset="0"/>
                <a:cs typeface="Times New Roman" panose="02020603050405020304" pitchFamily="18" charset="0"/>
              </a:rPr>
              <a:t>are constants; </a:t>
            </a:r>
            <a:r>
              <a:rPr lang="en-US" b="1" i="1" dirty="0">
                <a:solidFill>
                  <a:srgbClr val="C00000"/>
                </a:solidFill>
                <a:latin typeface="Times New Roman" panose="02020603050405020304" pitchFamily="18" charset="0"/>
                <a:cs typeface="Times New Roman" panose="02020603050405020304" pitchFamily="18" charset="0"/>
              </a:rPr>
              <a:t>a </a:t>
            </a:r>
            <a:r>
              <a:rPr lang="en-US" b="1" dirty="0">
                <a:solidFill>
                  <a:srgbClr val="C00000"/>
                </a:solidFill>
                <a:latin typeface="Times New Roman" panose="02020603050405020304" pitchFamily="18" charset="0"/>
                <a:cs typeface="Times New Roman" panose="02020603050405020304" pitchFamily="18" charset="0"/>
              </a:rPr>
              <a:t>≥ 1 and </a:t>
            </a:r>
            <a:r>
              <a:rPr lang="en-US" b="1" i="1" dirty="0">
                <a:solidFill>
                  <a:srgbClr val="C00000"/>
                </a:solidFill>
                <a:latin typeface="Times New Roman" panose="02020603050405020304" pitchFamily="18" charset="0"/>
                <a:cs typeface="Times New Roman" panose="02020603050405020304" pitchFamily="18" charset="0"/>
              </a:rPr>
              <a:t>b &gt; </a:t>
            </a:r>
            <a:r>
              <a:rPr lang="en-US" b="1" dirty="0">
                <a:solidFill>
                  <a:srgbClr val="C00000"/>
                </a:solidFill>
                <a:latin typeface="Times New Roman" panose="02020603050405020304" pitchFamily="18" charset="0"/>
                <a:cs typeface="Times New Roman" panose="02020603050405020304" pitchFamily="18" charset="0"/>
              </a:rPr>
              <a:t>1.) </a:t>
            </a:r>
            <a:r>
              <a:rPr lang="en-US" b="1" dirty="0" smtClean="0">
                <a:solidFill>
                  <a:srgbClr val="C00000"/>
                </a:solidFill>
                <a:latin typeface="Times New Roman" panose="02020603050405020304" pitchFamily="18" charset="0"/>
                <a:cs typeface="Times New Roman" panose="02020603050405020304" pitchFamily="18" charset="0"/>
              </a:rPr>
              <a:t>Assuming that </a:t>
            </a:r>
            <a:r>
              <a:rPr lang="en-US" b="1" dirty="0">
                <a:solidFill>
                  <a:srgbClr val="00B0F0"/>
                </a:solidFill>
                <a:latin typeface="Times New Roman" panose="02020603050405020304" pitchFamily="18" charset="0"/>
                <a:cs typeface="Times New Roman" panose="02020603050405020304" pitchFamily="18" charset="0"/>
              </a:rPr>
              <a:t>size </a:t>
            </a:r>
            <a:r>
              <a:rPr lang="en-US" b="1" i="1" dirty="0">
                <a:solidFill>
                  <a:srgbClr val="FF0000"/>
                </a:solidFill>
                <a:latin typeface="Times New Roman" panose="02020603050405020304" pitchFamily="18" charset="0"/>
                <a:cs typeface="Times New Roman" panose="02020603050405020304" pitchFamily="18" charset="0"/>
              </a:rPr>
              <a:t>n</a:t>
            </a:r>
            <a:r>
              <a:rPr lang="en-US" b="1" i="1" dirty="0">
                <a:solidFill>
                  <a:srgbClr val="00B0F0"/>
                </a:solidFill>
                <a:latin typeface="Times New Roman" panose="02020603050405020304" pitchFamily="18" charset="0"/>
                <a:cs typeface="Times New Roman" panose="02020603050405020304" pitchFamily="18" charset="0"/>
              </a:rPr>
              <a:t> </a:t>
            </a:r>
            <a:r>
              <a:rPr lang="en-US" b="1" dirty="0">
                <a:solidFill>
                  <a:srgbClr val="00B0F0"/>
                </a:solidFill>
                <a:latin typeface="Times New Roman" panose="02020603050405020304" pitchFamily="18" charset="0"/>
                <a:cs typeface="Times New Roman" panose="02020603050405020304" pitchFamily="18" charset="0"/>
              </a:rPr>
              <a:t>is a power of </a:t>
            </a:r>
            <a:r>
              <a:rPr lang="en-US" b="1" i="1" dirty="0">
                <a:solidFill>
                  <a:srgbClr val="FF0000"/>
                </a:solidFill>
                <a:latin typeface="Times New Roman" panose="02020603050405020304" pitchFamily="18" charset="0"/>
                <a:cs typeface="Times New Roman" panose="02020603050405020304" pitchFamily="18" charset="0"/>
              </a:rPr>
              <a:t>b</a:t>
            </a:r>
            <a:r>
              <a:rPr lang="en-US" b="1" i="1" dirty="0">
                <a:solidFill>
                  <a:srgbClr val="00B0F0"/>
                </a:solidFill>
                <a:latin typeface="Times New Roman" panose="02020603050405020304" pitchFamily="18" charset="0"/>
                <a:cs typeface="Times New Roman" panose="02020603050405020304" pitchFamily="18" charset="0"/>
              </a:rPr>
              <a:t> </a:t>
            </a:r>
            <a:r>
              <a:rPr lang="en-US" b="1" dirty="0">
                <a:solidFill>
                  <a:srgbClr val="00B0F0"/>
                </a:solidFill>
                <a:latin typeface="Times New Roman" panose="02020603050405020304" pitchFamily="18" charset="0"/>
                <a:cs typeface="Times New Roman" panose="02020603050405020304" pitchFamily="18" charset="0"/>
              </a:rPr>
              <a:t>to simplify our analysis, we get the following recurrence</a:t>
            </a:r>
          </a:p>
          <a:p>
            <a:pPr algn="just"/>
            <a:r>
              <a:rPr lang="en-IN" b="1" dirty="0" smtClean="0">
                <a:solidFill>
                  <a:srgbClr val="002060"/>
                </a:solidFill>
                <a:latin typeface="Times New Roman" panose="02020603050405020304" pitchFamily="18" charset="0"/>
                <a:cs typeface="Times New Roman" panose="02020603050405020304" pitchFamily="18" charset="0"/>
              </a:rPr>
              <a:t>The </a:t>
            </a:r>
            <a:r>
              <a:rPr lang="en-IN" b="1" dirty="0">
                <a:solidFill>
                  <a:srgbClr val="002060"/>
                </a:solidFill>
                <a:latin typeface="Times New Roman" panose="02020603050405020304" pitchFamily="18" charset="0"/>
                <a:cs typeface="Times New Roman" panose="02020603050405020304" pitchFamily="18" charset="0"/>
              </a:rPr>
              <a:t>recurrence relation for divide and conquer</a:t>
            </a:r>
          </a:p>
          <a:p>
            <a:endParaRPr lang="en-IN" b="1" dirty="0" smtClean="0">
              <a:solidFill>
                <a:srgbClr val="00B0F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13</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Box 8"/>
              <p:cNvSpPr txBox="1"/>
              <p:nvPr/>
            </p:nvSpPr>
            <p:spPr>
              <a:xfrm>
                <a:off x="719455" y="3738683"/>
                <a:ext cx="7743609" cy="1074910"/>
              </a:xfrm>
              <a:prstGeom prst="rect">
                <a:avLst/>
              </a:prstGeom>
              <a:noFill/>
              <a:ln>
                <a:solidFill>
                  <a:schemeClr val="accent1"/>
                </a:solidFill>
              </a:ln>
            </p:spPr>
            <p:txBody>
              <a:bodyPr wrap="square" rtlCol="0">
                <a:spAutoFit/>
              </a:bodyPr>
              <a:lstStyle/>
              <a:p>
                <a:r>
                  <a:rPr lang="en-IN" sz="2000" b="1" dirty="0" smtClean="0">
                    <a:solidFill>
                      <a:srgbClr val="FF0000"/>
                    </a:solidFill>
                    <a:cs typeface="Times New Roman" panose="02020603050405020304" pitchFamily="18" charset="0"/>
                  </a:rPr>
                  <a:t>T</a:t>
                </a:r>
                <a14:m>
                  <m:oMath xmlns:m="http://schemas.openxmlformats.org/officeDocument/2006/math">
                    <m:r>
                      <a:rPr lang="en-IN" sz="2000" b="1" i="1" smtClean="0">
                        <a:solidFill>
                          <a:srgbClr val="FF0000"/>
                        </a:solidFill>
                        <a:latin typeface="Cambria Math" panose="02040503050406030204" pitchFamily="18" charset="0"/>
                        <a:cs typeface="Times New Roman" panose="02020603050405020304" pitchFamily="18" charset="0"/>
                      </a:rPr>
                      <m:t>(</m:t>
                    </m:r>
                    <m:r>
                      <a:rPr lang="en-IN" sz="2000" b="1" i="1" smtClean="0">
                        <a:solidFill>
                          <a:srgbClr val="FF0000"/>
                        </a:solidFill>
                        <a:latin typeface="Cambria Math" panose="02040503050406030204" pitchFamily="18" charset="0"/>
                        <a:cs typeface="Times New Roman" panose="02020603050405020304" pitchFamily="18" charset="0"/>
                      </a:rPr>
                      <m:t>𝒏</m:t>
                    </m:r>
                    <m:r>
                      <a:rPr lang="en-IN" sz="2000" b="1" i="1" smtClean="0">
                        <a:solidFill>
                          <a:srgbClr val="FF0000"/>
                        </a:solidFill>
                        <a:latin typeface="Cambria Math" panose="02040503050406030204" pitchFamily="18" charset="0"/>
                        <a:cs typeface="Times New Roman" panose="02020603050405020304" pitchFamily="18" charset="0"/>
                      </a:rPr>
                      <m:t>)=</m:t>
                    </m:r>
                    <m:d>
                      <m:dPr>
                        <m:begChr m:val="{"/>
                        <m:endChr m:val="}"/>
                        <m:ctrlPr>
                          <a:rPr lang="pt-BR" sz="2000" b="1" i="1" smtClean="0">
                            <a:solidFill>
                              <a:srgbClr val="002060"/>
                            </a:solidFill>
                            <a:latin typeface="Cambria Math"/>
                            <a:cs typeface="Times New Roman" panose="02020603050405020304" pitchFamily="18" charset="0"/>
                          </a:rPr>
                        </m:ctrlPr>
                      </m:dPr>
                      <m:e>
                        <m:eqArr>
                          <m:eqArrPr>
                            <m:ctrlPr>
                              <a:rPr lang="en-IN" sz="2000" b="1" i="1" smtClean="0">
                                <a:solidFill>
                                  <a:srgbClr val="002060"/>
                                </a:solidFill>
                                <a:latin typeface="Cambria Math"/>
                                <a:cs typeface="Times New Roman" panose="02020603050405020304" pitchFamily="18" charset="0"/>
                              </a:rPr>
                            </m:ctrlPr>
                          </m:eqArrPr>
                          <m:e>
                            <m:r>
                              <a:rPr lang="en-IN" sz="2000" b="1" i="1" smtClean="0">
                                <a:solidFill>
                                  <a:srgbClr val="002060"/>
                                </a:solidFill>
                                <a:latin typeface="Cambria Math" panose="02040503050406030204" pitchFamily="18" charset="0"/>
                                <a:cs typeface="Times New Roman" panose="02020603050405020304" pitchFamily="18" charset="0"/>
                              </a:rPr>
                              <m:t>𝑻</m:t>
                            </m:r>
                            <m:d>
                              <m:dPr>
                                <m:ctrlPr>
                                  <a:rPr lang="en-IN" sz="2000" b="1" i="1" smtClean="0">
                                    <a:solidFill>
                                      <a:srgbClr val="002060"/>
                                    </a:solidFill>
                                    <a:latin typeface="Cambria Math"/>
                                    <a:cs typeface="Times New Roman" panose="02020603050405020304" pitchFamily="18" charset="0"/>
                                  </a:rPr>
                                </m:ctrlPr>
                              </m:dPr>
                              <m:e>
                                <m:r>
                                  <a:rPr lang="en-IN" sz="2000" b="1" i="1" smtClean="0">
                                    <a:solidFill>
                                      <a:srgbClr val="002060"/>
                                    </a:solidFill>
                                    <a:latin typeface="Cambria Math" panose="02040503050406030204" pitchFamily="18" charset="0"/>
                                    <a:cs typeface="Times New Roman" panose="02020603050405020304" pitchFamily="18" charset="0"/>
                                  </a:rPr>
                                  <m:t>𝟏</m:t>
                                </m:r>
                              </m:e>
                            </m:d>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
                          <m:e>
                            <m:r>
                              <a:rPr lang="en-IN" sz="2000" b="1" i="1" smtClean="0">
                                <a:solidFill>
                                  <a:srgbClr val="002060"/>
                                </a:solidFill>
                                <a:latin typeface="Cambria Math" panose="02040503050406030204" pitchFamily="18" charset="0"/>
                                <a:cs typeface="Times New Roman" panose="02020603050405020304" pitchFamily="18" charset="0"/>
                              </a:rPr>
                              <m:t>𝒂𝑻</m:t>
                            </m:r>
                            <m:d>
                              <m:dPr>
                                <m:ctrlPr>
                                  <a:rPr lang="en-IN" sz="2000" b="1" i="1" smtClean="0">
                                    <a:solidFill>
                                      <a:srgbClr val="002060"/>
                                    </a:solidFill>
                                    <a:latin typeface="Cambria Math"/>
                                    <a:cs typeface="Times New Roman" panose="02020603050405020304" pitchFamily="18" charset="0"/>
                                  </a:rPr>
                                </m:ctrlPr>
                              </m:dPr>
                              <m:e>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𝒃</m:t>
                                </m:r>
                              </m:e>
                            </m:d>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&gt;</m:t>
                            </m:r>
                            <m:r>
                              <a:rPr lang="en-IN" sz="2000" b="1" i="1" smtClean="0">
                                <a:solidFill>
                                  <a:srgbClr val="002060"/>
                                </a:solidFill>
                                <a:latin typeface="Cambria Math" panose="02040503050406030204" pitchFamily="18" charset="0"/>
                                <a:cs typeface="Times New Roman" panose="02020603050405020304" pitchFamily="18" charset="0"/>
                              </a:rPr>
                              <m:t>𝟏</m:t>
                            </m:r>
                          </m:e>
                        </m:eqArr>
                      </m:e>
                    </m:d>
                  </m:oMath>
                </a14:m>
                <a:endParaRPr lang="en-IN" sz="28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719455" y="3738683"/>
                <a:ext cx="7743609" cy="1074910"/>
              </a:xfrm>
              <a:prstGeom prst="rect">
                <a:avLst/>
              </a:prstGeom>
              <a:blipFill rotWithShape="0">
                <a:blip r:embed="rId5"/>
                <a:stretch>
                  <a:fillRect l="-708"/>
                </a:stretch>
              </a:blipFill>
              <a:ln>
                <a:solidFill>
                  <a:schemeClr val="accent1"/>
                </a:solidFill>
              </a:ln>
            </p:spPr>
            <p:txBody>
              <a:bodyPr/>
              <a:lstStyle/>
              <a:p>
                <a:r>
                  <a:rPr lang="en-IN">
                    <a:noFill/>
                  </a:rPr>
                  <a:t> </a:t>
                </a:r>
              </a:p>
            </p:txBody>
          </p:sp>
        </mc:Fallback>
      </mc:AlternateContent>
      <p:sp>
        <p:nvSpPr>
          <p:cNvPr id="10" name="TextBox 9"/>
          <p:cNvSpPr txBox="1"/>
          <p:nvPr/>
        </p:nvSpPr>
        <p:spPr>
          <a:xfrm>
            <a:off x="262114" y="4813593"/>
            <a:ext cx="7089984" cy="1477328"/>
          </a:xfrm>
          <a:prstGeom prst="rect">
            <a:avLst/>
          </a:prstGeom>
          <a:noFill/>
        </p:spPr>
        <p:txBody>
          <a:bodyPr wrap="square" rtlCol="0">
            <a:spAutoFit/>
          </a:bodyPr>
          <a:lstStyle/>
          <a:p>
            <a:r>
              <a:rPr lang="en-IN" b="1" dirty="0" smtClean="0">
                <a:solidFill>
                  <a:srgbClr val="C00000"/>
                </a:solidFill>
                <a:latin typeface="Times New Roman" panose="02020603050405020304" pitchFamily="18" charset="0"/>
                <a:cs typeface="Times New Roman" panose="02020603050405020304" pitchFamily="18" charset="0"/>
              </a:rPr>
              <a:t>Where,</a:t>
            </a:r>
          </a:p>
          <a:p>
            <a:r>
              <a:rPr lang="en-IN" b="1" dirty="0">
                <a:solidFill>
                  <a:srgbClr val="002060"/>
                </a:solidFill>
                <a:latin typeface="Times New Roman" panose="02020603050405020304" pitchFamily="18" charset="0"/>
                <a:cs typeface="Times New Roman" panose="02020603050405020304" pitchFamily="18" charset="0"/>
              </a:rPr>
              <a:t>a</a:t>
            </a:r>
            <a:r>
              <a:rPr lang="en-IN" b="1" dirty="0" smtClean="0">
                <a:solidFill>
                  <a:srgbClr val="002060"/>
                </a:solidFill>
                <a:latin typeface="Times New Roman" panose="02020603050405020304" pitchFamily="18" charset="0"/>
                <a:cs typeface="Times New Roman" panose="02020603050405020304" pitchFamily="18" charset="0"/>
              </a:rPr>
              <a:t> and b   </a:t>
            </a:r>
            <a:r>
              <a:rPr lang="en-IN" b="1" dirty="0" smtClean="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a:t>
            </a:r>
            <a:r>
              <a:rPr lang="en-IN" b="1" dirty="0" smtClean="0">
                <a:solidFill>
                  <a:srgbClr val="C00000"/>
                </a:solidFill>
                <a:latin typeface="Times New Roman" panose="02020603050405020304" pitchFamily="18" charset="0"/>
                <a:cs typeface="Times New Roman" panose="02020603050405020304" pitchFamily="18" charset="0"/>
              </a:rPr>
              <a:t> known as  constants. </a:t>
            </a:r>
          </a:p>
          <a:p>
            <a:r>
              <a:rPr lang="en-IN" b="1" dirty="0" smtClean="0">
                <a:solidFill>
                  <a:srgbClr val="002060"/>
                </a:solidFill>
                <a:latin typeface="Times New Roman" panose="02020603050405020304" pitchFamily="18" charset="0"/>
                <a:cs typeface="Times New Roman" panose="02020603050405020304" pitchFamily="18" charset="0"/>
              </a:rPr>
              <a:t>T(1) </a:t>
            </a:r>
            <a:r>
              <a:rPr lang="en-IN" b="1" dirty="0" smtClean="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 assume that its value is known</a:t>
            </a:r>
            <a:r>
              <a:rPr lang="en-IN" b="1" dirty="0" smtClean="0">
                <a:solidFill>
                  <a:srgbClr val="C00000"/>
                </a:solidFill>
                <a:latin typeface="Times New Roman" panose="02020603050405020304" pitchFamily="18" charset="0"/>
                <a:cs typeface="Times New Roman" panose="02020603050405020304" pitchFamily="18" charset="0"/>
              </a:rPr>
              <a:t>, </a:t>
            </a:r>
            <a:endParaRPr lang="en-IN" b="1" dirty="0">
              <a:solidFill>
                <a:srgbClr val="C00000"/>
              </a:solidFill>
              <a:latin typeface="Times New Roman" panose="02020603050405020304" pitchFamily="18" charset="0"/>
              <a:cs typeface="Times New Roman" panose="02020603050405020304" pitchFamily="18" charset="0"/>
            </a:endParaRPr>
          </a:p>
          <a:p>
            <a:r>
              <a:rPr lang="en-IN" b="1" dirty="0" smtClean="0">
                <a:solidFill>
                  <a:srgbClr val="002060"/>
                </a:solidFill>
                <a:latin typeface="Times New Roman" panose="02020603050405020304" pitchFamily="18" charset="0"/>
                <a:cs typeface="Times New Roman" panose="02020603050405020304" pitchFamily="18" charset="0"/>
              </a:rPr>
              <a:t>n </a:t>
            </a:r>
            <a:r>
              <a:rPr lang="en-IN" b="1" dirty="0" smtClean="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 power of </a:t>
            </a:r>
            <a:r>
              <a:rPr lang="en-IN" b="1" dirty="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b </a:t>
            </a:r>
            <a:r>
              <a:rPr lang="en-IN" b="1" dirty="0" err="1"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ie</a:t>
            </a:r>
            <a:r>
              <a:rPr lang="en-IN" b="1" dirty="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n=</a:t>
            </a:r>
            <a:r>
              <a:rPr lang="en-IN" b="1" dirty="0" err="1"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b</a:t>
            </a:r>
            <a:r>
              <a:rPr lang="en-IN" b="1" baseline="30000" dirty="0" err="1"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k</a:t>
            </a:r>
            <a:endParaRPr lang="en-IN" b="1" baseline="30000" dirty="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endParaRPr>
          </a:p>
          <a:p>
            <a:r>
              <a:rPr lang="en-IN" b="1" dirty="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f(n</a:t>
            </a:r>
            <a:r>
              <a:rPr lang="en-IN" b="1" dirty="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a:t>
            </a:r>
            <a:r>
              <a:rPr lang="en-IN" b="1" dirty="0" smtClean="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 Time to divide the problem and combining the solution.</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8610600" y="3738683"/>
            <a:ext cx="3396789" cy="2585323"/>
          </a:xfrm>
          <a:prstGeom prst="rect">
            <a:avLst/>
          </a:prstGeom>
          <a:noFill/>
        </p:spPr>
        <p:txBody>
          <a:bodyPr wrap="square" rtlCol="0">
            <a:spAutoFit/>
          </a:bodyPr>
          <a:lstStyle/>
          <a:p>
            <a:pPr marL="285750" indent="-285750">
              <a:buFont typeface="Arial" panose="020B0604020202020204" pitchFamily="34" charset="0"/>
              <a:buChar char="•"/>
            </a:pPr>
            <a:r>
              <a:rPr lang="en-IN" b="1" dirty="0" smtClean="0">
                <a:solidFill>
                  <a:srgbClr val="00B0F0"/>
                </a:solidFill>
                <a:latin typeface="Times New Roman" panose="02020603050405020304" pitchFamily="18" charset="0"/>
                <a:cs typeface="Times New Roman" panose="02020603050405020304" pitchFamily="18" charset="0"/>
              </a:rPr>
              <a:t>This recurrence relation is called general divide and conquer  recurrence relation.</a:t>
            </a:r>
          </a:p>
          <a:p>
            <a:pPr marL="285750" indent="-285750">
              <a:buFont typeface="Arial" panose="020B0604020202020204" pitchFamily="34" charset="0"/>
              <a:buChar char="•"/>
            </a:pPr>
            <a:endParaRPr lang="en-US" b="1" dirty="0" smtClean="0">
              <a:solidFill>
                <a:srgbClr val="00B0F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smtClean="0">
                <a:solidFill>
                  <a:srgbClr val="00B0F0"/>
                </a:solidFill>
                <a:latin typeface="Times New Roman" panose="02020603050405020304" pitchFamily="18" charset="0"/>
                <a:cs typeface="Times New Roman" panose="02020603050405020304" pitchFamily="18" charset="0"/>
              </a:rPr>
              <a:t>The </a:t>
            </a:r>
            <a:r>
              <a:rPr lang="en-US" b="1" dirty="0">
                <a:solidFill>
                  <a:srgbClr val="00B0F0"/>
                </a:solidFill>
                <a:latin typeface="Times New Roman" panose="02020603050405020304" pitchFamily="18" charset="0"/>
                <a:cs typeface="Times New Roman" panose="02020603050405020304" pitchFamily="18" charset="0"/>
              </a:rPr>
              <a:t>order of growth of its solution T (n</a:t>
            </a:r>
            <a:r>
              <a:rPr lang="en-US" b="1" dirty="0" smtClean="0">
                <a:solidFill>
                  <a:srgbClr val="00B0F0"/>
                </a:solidFill>
                <a:latin typeface="Times New Roman" panose="02020603050405020304" pitchFamily="18" charset="0"/>
                <a:cs typeface="Times New Roman" panose="02020603050405020304" pitchFamily="18" charset="0"/>
              </a:rPr>
              <a:t>) depends </a:t>
            </a:r>
            <a:r>
              <a:rPr lang="en-US" b="1" dirty="0">
                <a:solidFill>
                  <a:srgbClr val="00B0F0"/>
                </a:solidFill>
                <a:latin typeface="Times New Roman" panose="02020603050405020304" pitchFamily="18" charset="0"/>
                <a:cs typeface="Times New Roman" panose="02020603050405020304" pitchFamily="18" charset="0"/>
              </a:rPr>
              <a:t>on the values of the constants a and b and the order of growth of </a:t>
            </a:r>
            <a:r>
              <a:rPr lang="en-US" b="1" dirty="0" smtClean="0">
                <a:solidFill>
                  <a:srgbClr val="00B0F0"/>
                </a:solidFill>
                <a:latin typeface="Times New Roman" panose="02020603050405020304" pitchFamily="18" charset="0"/>
                <a:cs typeface="Times New Roman" panose="02020603050405020304" pitchFamily="18" charset="0"/>
              </a:rPr>
              <a:t>the </a:t>
            </a:r>
            <a:r>
              <a:rPr lang="en-IN" b="1" dirty="0" smtClean="0">
                <a:solidFill>
                  <a:srgbClr val="00B0F0"/>
                </a:solidFill>
                <a:latin typeface="Times New Roman" panose="02020603050405020304" pitchFamily="18" charset="0"/>
                <a:cs typeface="Times New Roman" panose="02020603050405020304" pitchFamily="18" charset="0"/>
              </a:rPr>
              <a:t>function </a:t>
            </a:r>
            <a:r>
              <a:rPr lang="en-IN" b="1" dirty="0">
                <a:solidFill>
                  <a:srgbClr val="00B0F0"/>
                </a:solidFill>
                <a:latin typeface="Times New Roman" panose="02020603050405020304" pitchFamily="18" charset="0"/>
                <a:cs typeface="Times New Roman" panose="02020603050405020304" pitchFamily="18" charset="0"/>
              </a:rPr>
              <a:t>f (n).</a:t>
            </a:r>
          </a:p>
        </p:txBody>
      </p:sp>
      <p:sp>
        <p:nvSpPr>
          <p:cNvPr id="6" name="Date Placeholder 5"/>
          <p:cNvSpPr>
            <a:spLocks noGrp="1"/>
          </p:cNvSpPr>
          <p:nvPr>
            <p:ph type="dt" sz="half" idx="10"/>
          </p:nvPr>
        </p:nvSpPr>
        <p:spPr/>
        <p:txBody>
          <a:bodyPr/>
          <a:lstStyle/>
          <a:p>
            <a:fld id="{B223C978-7D30-48B7-B23F-77EFEECAB31E}" type="datetime1">
              <a:rPr lang="en-IN" smtClean="0"/>
              <a:t>21-03-2026</a:t>
            </a:fld>
            <a:endParaRPr lang="en-IN"/>
          </a:p>
        </p:txBody>
      </p:sp>
    </p:spTree>
    <p:extLst>
      <p:ext uri="{BB962C8B-B14F-4D97-AF65-F5344CB8AC3E}">
        <p14:creationId xmlns:p14="http://schemas.microsoft.com/office/powerpoint/2010/main" val="375495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85022" y="856034"/>
            <a:ext cx="11649637" cy="5493610"/>
          </a:xfrm>
        </p:spPr>
        <p:txBody>
          <a:bodyPr>
            <a:normAutofit/>
          </a:bodyPr>
          <a:lstStyle/>
          <a:p>
            <a:pPr algn="just"/>
            <a:r>
              <a:rPr lang="en-US" b="1" dirty="0" smtClean="0">
                <a:latin typeface="Times New Roman" panose="02020603050405020304" pitchFamily="18" charset="0"/>
                <a:cs typeface="Times New Roman" panose="02020603050405020304" pitchFamily="18" charset="0"/>
              </a:rPr>
              <a:t>The efficiency analysis of many divide-and-conquer algorithms is greatly </a:t>
            </a:r>
            <a:r>
              <a:rPr lang="en-US" b="1" dirty="0">
                <a:latin typeface="Times New Roman" panose="02020603050405020304" pitchFamily="18" charset="0"/>
                <a:cs typeface="Times New Roman" panose="02020603050405020304" pitchFamily="18" charset="0"/>
              </a:rPr>
              <a:t>simplified by </a:t>
            </a:r>
            <a:r>
              <a:rPr lang="en-US" b="1" dirty="0" smtClean="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following </a:t>
            </a:r>
            <a:r>
              <a:rPr lang="en-US" b="1" dirty="0" smtClean="0">
                <a:solidFill>
                  <a:srgbClr val="00B0F0"/>
                </a:solidFill>
                <a:latin typeface="Times New Roman" panose="02020603050405020304" pitchFamily="18" charset="0"/>
                <a:cs typeface="Times New Roman" panose="02020603050405020304" pitchFamily="18" charset="0"/>
              </a:rPr>
              <a:t>master theorem</a:t>
            </a:r>
          </a:p>
          <a:p>
            <a:pPr algn="just"/>
            <a:endParaRPr lang="en-US" b="1" dirty="0" smtClean="0">
              <a:solidFill>
                <a:srgbClr val="00B0F0"/>
              </a:solidFill>
              <a:latin typeface="Times New Roman" panose="02020603050405020304" pitchFamily="18" charset="0"/>
              <a:cs typeface="Times New Roman" panose="02020603050405020304" pitchFamily="18" charset="0"/>
            </a:endParaRPr>
          </a:p>
          <a:p>
            <a:pPr algn="just"/>
            <a:r>
              <a:rPr lang="en-US" b="1" dirty="0" smtClean="0">
                <a:solidFill>
                  <a:srgbClr val="00B0F0"/>
                </a:solidFill>
                <a:latin typeface="Times New Roman" panose="02020603050405020304" pitchFamily="18" charset="0"/>
                <a:cs typeface="Times New Roman" panose="02020603050405020304" pitchFamily="18" charset="0"/>
              </a:rPr>
              <a:t>Master theorem: If f(n) </a:t>
            </a:r>
            <a:r>
              <a:rPr lang="az-Cyrl-AZ" b="1" dirty="0" smtClean="0">
                <a:solidFill>
                  <a:srgbClr val="00B0F0"/>
                </a:solidFill>
                <a:latin typeface="Times New Roman" panose="02020603050405020304" pitchFamily="18" charset="0"/>
                <a:cs typeface="Times New Roman" panose="02020603050405020304" pitchFamily="18" charset="0"/>
              </a:rPr>
              <a:t>Є</a:t>
            </a:r>
            <a:r>
              <a:rPr lang="en-IN" b="1" dirty="0" smtClean="0">
                <a:solidFill>
                  <a:srgbClr val="00B0F0"/>
                </a:solidFill>
                <a:latin typeface="Times New Roman" panose="02020603050405020304" pitchFamily="18" charset="0"/>
                <a:cs typeface="Times New Roman" panose="02020603050405020304" pitchFamily="18" charset="0"/>
              </a:rPr>
              <a:t> </a:t>
            </a:r>
            <a:r>
              <a:rPr lang="el-GR" b="1" dirty="0" smtClean="0">
                <a:solidFill>
                  <a:srgbClr val="00B0F0"/>
                </a:solidFill>
                <a:latin typeface="Times New Roman" panose="02020603050405020304" pitchFamily="18" charset="0"/>
                <a:cs typeface="Times New Roman" panose="02020603050405020304" pitchFamily="18" charset="0"/>
              </a:rPr>
              <a:t>Θ</a:t>
            </a:r>
            <a:r>
              <a:rPr lang="en-IN" b="1" dirty="0" smtClean="0">
                <a:solidFill>
                  <a:srgbClr val="00B0F0"/>
                </a:solidFill>
                <a:latin typeface="Times New Roman" panose="02020603050405020304" pitchFamily="18" charset="0"/>
                <a:cs typeface="Times New Roman" panose="02020603050405020304" pitchFamily="18" charset="0"/>
              </a:rPr>
              <a:t>(</a:t>
            </a:r>
            <a:r>
              <a:rPr lang="en-IN" b="1" dirty="0" err="1" smtClean="0">
                <a:solidFill>
                  <a:srgbClr val="00B0F0"/>
                </a:solidFill>
                <a:latin typeface="Times New Roman" panose="02020603050405020304" pitchFamily="18" charset="0"/>
                <a:cs typeface="Times New Roman" panose="02020603050405020304" pitchFamily="18" charset="0"/>
              </a:rPr>
              <a:t>n</a:t>
            </a:r>
            <a:r>
              <a:rPr lang="en-IN" b="1" baseline="30000" dirty="0" err="1" smtClean="0">
                <a:solidFill>
                  <a:srgbClr val="00B0F0"/>
                </a:solidFill>
                <a:latin typeface="Times New Roman" panose="02020603050405020304" pitchFamily="18" charset="0"/>
                <a:cs typeface="Times New Roman" panose="02020603050405020304" pitchFamily="18" charset="0"/>
              </a:rPr>
              <a:t>d</a:t>
            </a:r>
            <a:r>
              <a:rPr lang="en-IN" b="1" dirty="0" smtClean="0">
                <a:solidFill>
                  <a:srgbClr val="00B0F0"/>
                </a:solidFill>
                <a:latin typeface="Times New Roman" panose="02020603050405020304" pitchFamily="18" charset="0"/>
                <a:cs typeface="Times New Roman" panose="02020603050405020304" pitchFamily="18" charset="0"/>
              </a:rPr>
              <a:t>) where d ≥ 0 in the recurrence relation then</a:t>
            </a:r>
          </a:p>
          <a:p>
            <a:pPr algn="just"/>
            <a:r>
              <a:rPr lang="en-IN" b="1" dirty="0" smtClean="0">
                <a:solidFill>
                  <a:srgbClr val="00B0F0"/>
                </a:solidFill>
                <a:latin typeface="Times New Roman" panose="02020603050405020304" pitchFamily="18" charset="0"/>
                <a:cs typeface="Times New Roman" panose="02020603050405020304" pitchFamily="18" charset="0"/>
              </a:rPr>
              <a:t> </a:t>
            </a:r>
          </a:p>
          <a:p>
            <a:pPr algn="just"/>
            <a:r>
              <a:rPr lang="en-IN" b="1" dirty="0" smtClean="0">
                <a:solidFill>
                  <a:srgbClr val="002060"/>
                </a:solidFill>
                <a:latin typeface="Times New Roman" panose="02020603050405020304" pitchFamily="18" charset="0"/>
                <a:cs typeface="Times New Roman" panose="02020603050405020304" pitchFamily="18" charset="0"/>
              </a:rPr>
              <a:t>T(n)</a:t>
            </a:r>
            <a:r>
              <a:rPr lang="az-Cyrl-AZ" b="1" dirty="0">
                <a:solidFill>
                  <a:srgbClr val="002060"/>
                </a:solidFill>
                <a:latin typeface="Times New Roman" panose="02020603050405020304" pitchFamily="18" charset="0"/>
                <a:cs typeface="Times New Roman" panose="02020603050405020304" pitchFamily="18" charset="0"/>
              </a:rPr>
              <a:t> </a:t>
            </a:r>
            <a:r>
              <a:rPr lang="az-Cyrl-AZ" b="1" dirty="0" smtClean="0">
                <a:solidFill>
                  <a:srgbClr val="002060"/>
                </a:solidFill>
                <a:latin typeface="Times New Roman" panose="02020603050405020304" pitchFamily="18" charset="0"/>
                <a:cs typeface="Times New Roman" panose="02020603050405020304" pitchFamily="18" charset="0"/>
              </a:rPr>
              <a:t>Є</a:t>
            </a:r>
            <a:endParaRPr lang="en-IN" b="1" dirty="0">
              <a:solidFill>
                <a:srgbClr val="00B0F0"/>
              </a:solidFill>
              <a:latin typeface="Times New Roman" panose="02020603050405020304" pitchFamily="18" charset="0"/>
              <a:cs typeface="Times New Roman" panose="02020603050405020304" pitchFamily="18" charset="0"/>
            </a:endParaRPr>
          </a:p>
          <a:p>
            <a:pPr algn="just"/>
            <a:endParaRPr lang="en-US" b="1" dirty="0" smtClean="0">
              <a:latin typeface="Times New Roman" panose="02020603050405020304" pitchFamily="18" charset="0"/>
              <a:cs typeface="Times New Roman" panose="02020603050405020304" pitchFamily="18" charset="0"/>
            </a:endParaRPr>
          </a:p>
          <a:p>
            <a:pPr algn="just"/>
            <a:endParaRPr lang="en-US" b="1" dirty="0" smtClean="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Analogous </a:t>
            </a:r>
            <a:r>
              <a:rPr lang="en-US" b="1" dirty="0">
                <a:latin typeface="Times New Roman" panose="02020603050405020304" pitchFamily="18" charset="0"/>
                <a:cs typeface="Times New Roman" panose="02020603050405020304" pitchFamily="18" charset="0"/>
              </a:rPr>
              <a:t>results hold for the O and </a:t>
            </a:r>
            <a:r>
              <a:rPr lang="el-GR" b="1" dirty="0" smtClean="0">
                <a:latin typeface="Times New Roman" panose="02020603050405020304" pitchFamily="18" charset="0"/>
                <a:cs typeface="Times New Roman" panose="02020603050405020304" pitchFamily="18" charset="0"/>
              </a:rPr>
              <a:t>Ω</a:t>
            </a:r>
            <a:r>
              <a:rPr lang="en-IN" b="1"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notations</a:t>
            </a:r>
            <a:r>
              <a:rPr lang="en-US" b="1" dirty="0">
                <a:latin typeface="Times New Roman" panose="02020603050405020304" pitchFamily="18" charset="0"/>
                <a:cs typeface="Times New Roman" panose="02020603050405020304" pitchFamily="18" charset="0"/>
              </a:rPr>
              <a:t>, too.</a:t>
            </a:r>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14</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BE46C1A9-9A41-4EAD-8882-B928C4927185}" type="datetime1">
              <a:rPr lang="en-IN" smtClean="0"/>
              <a:t>21-03-2026</a:t>
            </a:fld>
            <a:endParaRPr lang="en-IN"/>
          </a:p>
        </p:txBody>
      </p:sp>
      <p:graphicFrame>
        <p:nvGraphicFramePr>
          <p:cNvPr id="9" name="Object 8"/>
          <p:cNvGraphicFramePr>
            <a:graphicFrameLocks noChangeAspect="1"/>
          </p:cNvGraphicFramePr>
          <p:nvPr>
            <p:extLst>
              <p:ext uri="{D42A27DB-BD31-4B8C-83A1-F6EECF244321}">
                <p14:modId xmlns:p14="http://schemas.microsoft.com/office/powerpoint/2010/main" val="1995960590"/>
              </p:ext>
            </p:extLst>
          </p:nvPr>
        </p:nvGraphicFramePr>
        <p:xfrm>
          <a:off x="1424774" y="2530904"/>
          <a:ext cx="4016439" cy="2408668"/>
        </p:xfrm>
        <a:graphic>
          <a:graphicData uri="http://schemas.openxmlformats.org/presentationml/2006/ole">
            <mc:AlternateContent xmlns:mc="http://schemas.openxmlformats.org/markup-compatibility/2006">
              <mc:Choice xmlns:v="urn:schemas-microsoft-com:vml" Requires="v">
                <p:oleObj spid="_x0000_s1080" name="Bitmap Image" r:id="rId6" imgW="2133720" imgH="1280160" progId="Paint.Picture">
                  <p:embed/>
                </p:oleObj>
              </mc:Choice>
              <mc:Fallback>
                <p:oleObj name="Bitmap Image" r:id="rId6" imgW="2133720" imgH="1280160" progId="Paint.Picture">
                  <p:embed/>
                  <p:pic>
                    <p:nvPicPr>
                      <p:cNvPr id="0" name=""/>
                      <p:cNvPicPr/>
                      <p:nvPr/>
                    </p:nvPicPr>
                    <p:blipFill>
                      <a:blip r:embed="rId7"/>
                      <a:stretch>
                        <a:fillRect/>
                      </a:stretch>
                    </p:blipFill>
                    <p:spPr>
                      <a:xfrm>
                        <a:off x="1424774" y="2530904"/>
                        <a:ext cx="4016439" cy="2408668"/>
                      </a:xfrm>
                      <a:prstGeom prst="rect">
                        <a:avLst/>
                      </a:prstGeom>
                    </p:spPr>
                  </p:pic>
                </p:oleObj>
              </mc:Fallback>
            </mc:AlternateContent>
          </a:graphicData>
        </a:graphic>
      </p:graphicFrame>
      <p:sp>
        <p:nvSpPr>
          <p:cNvPr id="10" name="Left Brace 9"/>
          <p:cNvSpPr/>
          <p:nvPr/>
        </p:nvSpPr>
        <p:spPr>
          <a:xfrm>
            <a:off x="1345721" y="2656936"/>
            <a:ext cx="158107" cy="2082704"/>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5599400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85022" y="856034"/>
                <a:ext cx="11649637" cy="5493610"/>
              </a:xfrm>
            </p:spPr>
            <p:txBody>
              <a:bodyPr>
                <a:normAutofit fontScale="92500" lnSpcReduction="10000"/>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let us consider algorithm for which a=2 and b=2, Let T(1)=2 and f(n)=n Find the recurrence relation.</a:t>
                </a:r>
              </a:p>
              <a:p>
                <a:pPr algn="just"/>
                <a:r>
                  <a:rPr lang="en-IN" b="1" dirty="0" smtClean="0">
                    <a:solidFill>
                      <a:srgbClr val="002060"/>
                    </a:solidFill>
                    <a:latin typeface="Times New Roman" panose="02020603050405020304" pitchFamily="18" charset="0"/>
                    <a:cs typeface="Times New Roman" panose="02020603050405020304" pitchFamily="18" charset="0"/>
                  </a:rPr>
                  <a:t>Solution:</a:t>
                </a:r>
              </a:p>
              <a:p>
                <a:pPr algn="just"/>
                <a:r>
                  <a:rPr lang="en-IN" b="1" dirty="0">
                    <a:solidFill>
                      <a:srgbClr val="002060"/>
                    </a:solidFill>
                    <a:latin typeface="Times New Roman" panose="02020603050405020304" pitchFamily="18" charset="0"/>
                    <a:cs typeface="Times New Roman" panose="02020603050405020304" pitchFamily="18" charset="0"/>
                  </a:rPr>
                  <a:t>f(n)=</a:t>
                </a:r>
                <a:r>
                  <a:rPr lang="en-IN" b="1" dirty="0" smtClean="0">
                    <a:solidFill>
                      <a:srgbClr val="002060"/>
                    </a:solidFill>
                    <a:latin typeface="Times New Roman" panose="02020603050405020304" pitchFamily="18" charset="0"/>
                    <a:cs typeface="Times New Roman" panose="02020603050405020304" pitchFamily="18" charset="0"/>
                  </a:rPr>
                  <a:t>n  </a:t>
                </a:r>
                <a:r>
                  <a:rPr lang="en-IN" b="1" dirty="0" err="1" smtClean="0">
                    <a:solidFill>
                      <a:srgbClr val="002060"/>
                    </a:solidFill>
                    <a:latin typeface="Times New Roman" panose="02020603050405020304" pitchFamily="18" charset="0"/>
                    <a:cs typeface="Times New Roman" panose="02020603050405020304" pitchFamily="18" charset="0"/>
                  </a:rPr>
                  <a:t>i</a:t>
                </a:r>
                <a:r>
                  <a:rPr lang="en-IN" b="1" dirty="0" smtClean="0">
                    <a:solidFill>
                      <a:srgbClr val="002060"/>
                    </a:solidFill>
                    <a:latin typeface="Times New Roman" panose="02020603050405020304" pitchFamily="18" charset="0"/>
                    <a:cs typeface="Times New Roman" panose="02020603050405020304" pitchFamily="18" charset="0"/>
                  </a:rPr>
                  <a:t> e f(n) </a:t>
                </a:r>
                <a:r>
                  <a:rPr lang="az-Cyrl-AZ" b="1" dirty="0" smtClean="0">
                    <a:solidFill>
                      <a:srgbClr val="00B0F0"/>
                    </a:solidFill>
                    <a:latin typeface="Times New Roman" panose="02020603050405020304" pitchFamily="18" charset="0"/>
                    <a:cs typeface="Times New Roman" panose="02020603050405020304" pitchFamily="18" charset="0"/>
                  </a:rPr>
                  <a:t>Є</a:t>
                </a:r>
                <a:r>
                  <a:rPr lang="en-IN" b="1" dirty="0" smtClean="0">
                    <a:solidFill>
                      <a:srgbClr val="00B0F0"/>
                    </a:solidFill>
                    <a:latin typeface="Times New Roman" panose="02020603050405020304" pitchFamily="18" charset="0"/>
                    <a:cs typeface="Times New Roman" panose="02020603050405020304" pitchFamily="18" charset="0"/>
                  </a:rPr>
                  <a:t> </a:t>
                </a:r>
                <a:r>
                  <a:rPr lang="en-IN" b="1" dirty="0" err="1" smtClean="0">
                    <a:solidFill>
                      <a:srgbClr val="00B0F0"/>
                    </a:solidFill>
                    <a:latin typeface="Times New Roman" panose="02020603050405020304" pitchFamily="18" charset="0"/>
                    <a:cs typeface="Times New Roman" panose="02020603050405020304" pitchFamily="18" charset="0"/>
                  </a:rPr>
                  <a:t>n</a:t>
                </a:r>
                <a:r>
                  <a:rPr lang="en-IN" b="1" baseline="30000" dirty="0" err="1" smtClean="0">
                    <a:solidFill>
                      <a:srgbClr val="00B0F0"/>
                    </a:solidFill>
                    <a:latin typeface="Times New Roman" panose="02020603050405020304" pitchFamily="18" charset="0"/>
                    <a:cs typeface="Times New Roman" panose="02020603050405020304" pitchFamily="18" charset="0"/>
                  </a:rPr>
                  <a:t>d</a:t>
                </a:r>
                <a:r>
                  <a:rPr lang="en-IN" b="1" baseline="30000" dirty="0" smtClean="0">
                    <a:solidFill>
                      <a:srgbClr val="00B0F0"/>
                    </a:solidFill>
                    <a:latin typeface="Times New Roman" panose="02020603050405020304" pitchFamily="18" charset="0"/>
                    <a:cs typeface="Times New Roman" panose="02020603050405020304" pitchFamily="18" charset="0"/>
                  </a:rPr>
                  <a:t> </a:t>
                </a:r>
                <a:r>
                  <a:rPr lang="en-IN" b="1" dirty="0">
                    <a:solidFill>
                      <a:srgbClr val="00B0F0"/>
                    </a:solidFill>
                    <a:latin typeface="Times New Roman" panose="02020603050405020304" pitchFamily="18" charset="0"/>
                    <a:cs typeface="Times New Roman" panose="02020603050405020304" pitchFamily="18" charset="0"/>
                  </a:rPr>
                  <a:t>(in this </a:t>
                </a:r>
                <a:r>
                  <a:rPr lang="en-IN" b="1" dirty="0" smtClean="0">
                    <a:solidFill>
                      <a:srgbClr val="00B0F0"/>
                    </a:solidFill>
                    <a:latin typeface="Times New Roman" panose="02020603050405020304" pitchFamily="18" charset="0"/>
                    <a:cs typeface="Times New Roman" panose="02020603050405020304" pitchFamily="18" charset="0"/>
                  </a:rPr>
                  <a:t>case n</a:t>
                </a:r>
                <a:r>
                  <a:rPr lang="en-IN" b="1" baseline="30000" dirty="0" smtClean="0">
                    <a:solidFill>
                      <a:srgbClr val="00B0F0"/>
                    </a:solidFill>
                    <a:latin typeface="Times New Roman" panose="02020603050405020304" pitchFamily="18" charset="0"/>
                    <a:cs typeface="Times New Roman" panose="02020603050405020304" pitchFamily="18" charset="0"/>
                  </a:rPr>
                  <a:t>1</a:t>
                </a:r>
                <a:r>
                  <a:rPr lang="en-IN" b="1" dirty="0" smtClean="0">
                    <a:solidFill>
                      <a:srgbClr val="00B0F0"/>
                    </a:solidFill>
                    <a:latin typeface="Times New Roman" panose="02020603050405020304" pitchFamily="18" charset="0"/>
                    <a:cs typeface="Times New Roman" panose="02020603050405020304" pitchFamily="18" charset="0"/>
                  </a:rPr>
                  <a:t> means d=1</a:t>
                </a:r>
                <a:r>
                  <a:rPr lang="en-IN" b="1" dirty="0">
                    <a:solidFill>
                      <a:srgbClr val="00B0F0"/>
                    </a:solidFill>
                    <a:latin typeface="Times New Roman" panose="02020603050405020304" pitchFamily="18" charset="0"/>
                    <a:cs typeface="Times New Roman" panose="02020603050405020304" pitchFamily="18" charset="0"/>
                  </a:rPr>
                  <a:t>)</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baseline="30000" dirty="0" smtClean="0">
                    <a:solidFill>
                      <a:srgbClr val="00B0F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T(n)= 2 </a:t>
                </a:r>
                <a:r>
                  <a:rPr lang="en-IN" sz="3600"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a:t>
                </a:r>
                <a14:m>
                  <m:oMath xmlns:m="http://schemas.openxmlformats.org/officeDocument/2006/math">
                    <m:f>
                      <m:fPr>
                        <m:ctrlPr>
                          <a:rPr lang="en-IN" b="1" i="1" smtClean="0">
                            <a:solidFill>
                              <a:srgbClr val="002060"/>
                            </a:solidFill>
                            <a:latin typeface="Cambria Math"/>
                            <a:cs typeface="Times New Roman" panose="02020603050405020304" pitchFamily="18" charset="0"/>
                          </a:rPr>
                        </m:ctrlPr>
                      </m:fPr>
                      <m:num>
                        <m:r>
                          <a:rPr lang="en-IN" b="1" i="1" smtClean="0">
                            <a:solidFill>
                              <a:srgbClr val="002060"/>
                            </a:solidFill>
                            <a:latin typeface="Cambria Math" panose="02040503050406030204" pitchFamily="18" charset="0"/>
                            <a:cs typeface="Times New Roman" panose="02020603050405020304" pitchFamily="18" charset="0"/>
                          </a:rPr>
                          <m:t>𝒏</m:t>
                        </m:r>
                      </m:num>
                      <m:den>
                        <m:r>
                          <a:rPr lang="en-IN" b="1" i="1" smtClean="0">
                            <a:solidFill>
                              <a:srgbClr val="002060"/>
                            </a:solidFill>
                            <a:latin typeface="Cambria Math" panose="02040503050406030204" pitchFamily="18" charset="0"/>
                            <a:cs typeface="Times New Roman" panose="02020603050405020304" pitchFamily="18" charset="0"/>
                          </a:rPr>
                          <m:t>𝟐</m:t>
                        </m:r>
                      </m:den>
                    </m:f>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𝒏</m:t>
                    </m:r>
                  </m:oMath>
                </a14:m>
                <a:endParaRPr lang="en-IN" b="1" dirty="0" smtClean="0">
                  <a:solidFill>
                    <a:srgbClr val="002060"/>
                  </a:solidFill>
                  <a:latin typeface="Times New Roman" panose="02020603050405020304" pitchFamily="18" charset="0"/>
                  <a:cs typeface="Times New Roman" panose="02020603050405020304" pitchFamily="18" charset="0"/>
                </a:endParaRPr>
              </a:p>
              <a:p>
                <a:pPr algn="just">
                  <a:lnSpc>
                    <a:spcPct val="100000"/>
                  </a:lnSpc>
                </a:pP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 2 </a:t>
                </a:r>
                <a:r>
                  <a:rPr lang="en-IN" sz="3200" b="1" dirty="0" smtClean="0">
                    <a:solidFill>
                      <a:srgbClr val="002060"/>
                    </a:solidFill>
                    <a:latin typeface="Times New Roman" panose="02020603050405020304" pitchFamily="18" charset="0"/>
                    <a:cs typeface="Times New Roman" panose="02020603050405020304" pitchFamily="18" charset="0"/>
                  </a:rPr>
                  <a:t>.</a:t>
                </a:r>
                <a:r>
                  <a:rPr lang="en-IN" b="1" dirty="0" smtClean="0">
                    <a:solidFill>
                      <a:srgbClr val="002060"/>
                    </a:solidFill>
                    <a:latin typeface="Times New Roman" panose="02020603050405020304" pitchFamily="18" charset="0"/>
                    <a:cs typeface="Times New Roman" panose="02020603050405020304" pitchFamily="18" charset="0"/>
                  </a:rPr>
                  <a:t> (2 </a:t>
                </a:r>
                <a:r>
                  <a:rPr lang="en-IN" sz="3600"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a:t>
                </a:r>
                <a14:m>
                  <m:oMath xmlns:m="http://schemas.openxmlformats.org/officeDocument/2006/math">
                    <m:f>
                      <m:fPr>
                        <m:ctrlPr>
                          <a:rPr lang="en-IN" b="1" i="1" smtClean="0">
                            <a:solidFill>
                              <a:srgbClr val="002060"/>
                            </a:solidFill>
                            <a:latin typeface="Cambria Math"/>
                            <a:cs typeface="Times New Roman" panose="02020603050405020304" pitchFamily="18" charset="0"/>
                          </a:rPr>
                        </m:ctrlPr>
                      </m:fPr>
                      <m:num>
                        <m:r>
                          <a:rPr lang="en-IN" b="1" i="1" smtClean="0">
                            <a:solidFill>
                              <a:srgbClr val="002060"/>
                            </a:solidFill>
                            <a:latin typeface="Cambria Math" panose="02040503050406030204" pitchFamily="18" charset="0"/>
                            <a:cs typeface="Times New Roman" panose="02020603050405020304" pitchFamily="18" charset="0"/>
                          </a:rPr>
                          <m:t>𝒏</m:t>
                        </m:r>
                      </m:num>
                      <m:den>
                        <m:r>
                          <a:rPr lang="en-IN" b="1" i="1" smtClean="0">
                            <a:solidFill>
                              <a:srgbClr val="002060"/>
                            </a:solidFill>
                            <a:latin typeface="Cambria Math" panose="02040503050406030204" pitchFamily="18" charset="0"/>
                            <a:cs typeface="Times New Roman" panose="02020603050405020304" pitchFamily="18" charset="0"/>
                          </a:rPr>
                          <m:t>𝟒</m:t>
                        </m:r>
                      </m:den>
                    </m:f>
                    <m:r>
                      <a:rPr lang="en-IN" b="1" i="1" smtClean="0">
                        <a:solidFill>
                          <a:srgbClr val="002060"/>
                        </a:solidFill>
                        <a:latin typeface="Cambria Math" panose="02040503050406030204" pitchFamily="18" charset="0"/>
                        <a:cs typeface="Times New Roman" panose="02020603050405020304" pitchFamily="18" charset="0"/>
                      </a:rPr>
                      <m:t>)+</m:t>
                    </m:r>
                    <m:f>
                      <m:fPr>
                        <m:ctrlPr>
                          <a:rPr lang="en-IN" b="1" i="1" smtClean="0">
                            <a:solidFill>
                              <a:srgbClr val="002060"/>
                            </a:solidFill>
                            <a:latin typeface="Cambria Math"/>
                            <a:cs typeface="Times New Roman" panose="02020603050405020304" pitchFamily="18" charset="0"/>
                          </a:rPr>
                        </m:ctrlPr>
                      </m:fPr>
                      <m:num>
                        <m:r>
                          <a:rPr lang="en-IN" b="1" i="1" smtClean="0">
                            <a:solidFill>
                              <a:srgbClr val="002060"/>
                            </a:solidFill>
                            <a:latin typeface="Cambria Math" panose="02040503050406030204" pitchFamily="18" charset="0"/>
                            <a:cs typeface="Times New Roman" panose="02020603050405020304" pitchFamily="18" charset="0"/>
                          </a:rPr>
                          <m:t>𝒏</m:t>
                        </m:r>
                      </m:num>
                      <m:den>
                        <m:r>
                          <a:rPr lang="en-IN" b="1" i="1" smtClean="0">
                            <a:solidFill>
                              <a:srgbClr val="002060"/>
                            </a:solidFill>
                            <a:latin typeface="Cambria Math" panose="02040503050406030204" pitchFamily="18" charset="0"/>
                            <a:cs typeface="Times New Roman" panose="02020603050405020304" pitchFamily="18" charset="0"/>
                          </a:rPr>
                          <m:t>𝟐</m:t>
                        </m:r>
                      </m:den>
                    </m:f>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𝒏</m:t>
                    </m:r>
                  </m:oMath>
                </a14:m>
                <a:endParaRPr lang="en-IN" b="1" dirty="0" smtClean="0">
                  <a:solidFill>
                    <a:srgbClr val="002060"/>
                  </a:solidFill>
                  <a:latin typeface="Times New Roman" panose="02020603050405020304" pitchFamily="18" charset="0"/>
                  <a:cs typeface="Times New Roman" panose="02020603050405020304" pitchFamily="18" charset="0"/>
                </a:endParaRPr>
              </a:p>
              <a:p>
                <a:pPr algn="just">
                  <a:lnSpc>
                    <a:spcPct val="100000"/>
                  </a:lnSpc>
                </a:pPr>
                <a:r>
                  <a:rPr lang="en-IN" b="1" dirty="0" smtClean="0">
                    <a:solidFill>
                      <a:srgbClr val="002060"/>
                    </a:solidFill>
                    <a:latin typeface="Times New Roman" panose="02020603050405020304" pitchFamily="18" charset="0"/>
                    <a:cs typeface="Times New Roman" panose="02020603050405020304" pitchFamily="18" charset="0"/>
                  </a:rPr>
                  <a:t>        = 4T(</a:t>
                </a:r>
                <a14:m>
                  <m:oMath xmlns:m="http://schemas.openxmlformats.org/officeDocument/2006/math">
                    <m:f>
                      <m:fPr>
                        <m:ctrlPr>
                          <a:rPr lang="en-IN" b="1" i="1" smtClean="0">
                            <a:solidFill>
                              <a:srgbClr val="002060"/>
                            </a:solidFill>
                            <a:latin typeface="Cambria Math"/>
                            <a:cs typeface="Times New Roman" panose="02020603050405020304" pitchFamily="18" charset="0"/>
                          </a:rPr>
                        </m:ctrlPr>
                      </m:fPr>
                      <m:num>
                        <m:r>
                          <a:rPr lang="en-IN" b="1" i="1" smtClean="0">
                            <a:solidFill>
                              <a:srgbClr val="002060"/>
                            </a:solidFill>
                            <a:latin typeface="Cambria Math" panose="02040503050406030204" pitchFamily="18" charset="0"/>
                            <a:cs typeface="Times New Roman" panose="02020603050405020304" pitchFamily="18" charset="0"/>
                          </a:rPr>
                          <m:t>𝒏</m:t>
                        </m:r>
                      </m:num>
                      <m:den>
                        <m:r>
                          <a:rPr lang="en-IN" b="1" i="1" smtClean="0">
                            <a:solidFill>
                              <a:srgbClr val="002060"/>
                            </a:solidFill>
                            <a:latin typeface="Cambria Math" panose="02040503050406030204" pitchFamily="18" charset="0"/>
                            <a:cs typeface="Times New Roman" panose="02020603050405020304" pitchFamily="18" charset="0"/>
                          </a:rPr>
                          <m:t>𝟒</m:t>
                        </m:r>
                      </m:den>
                    </m:f>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𝒏</m:t>
                    </m:r>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𝒏</m:t>
                    </m:r>
                  </m:oMath>
                </a14:m>
                <a:endParaRPr lang="en-IN" b="1" dirty="0" smtClean="0">
                  <a:solidFill>
                    <a:srgbClr val="002060"/>
                  </a:solidFill>
                  <a:latin typeface="Times New Roman" panose="02020603050405020304" pitchFamily="18" charset="0"/>
                  <a:cs typeface="Times New Roman" panose="02020603050405020304" pitchFamily="18" charset="0"/>
                </a:endParaRPr>
              </a:p>
              <a:p>
                <a:pPr algn="just">
                  <a:lnSpc>
                    <a:spcPct val="100000"/>
                  </a:lnSpc>
                </a:pPr>
                <a:r>
                  <a:rPr lang="en-IN" b="1" dirty="0" smtClean="0">
                    <a:solidFill>
                      <a:srgbClr val="002060"/>
                    </a:solidFill>
                    <a:latin typeface="Times New Roman" panose="02020603050405020304" pitchFamily="18" charset="0"/>
                    <a:cs typeface="Times New Roman" panose="02020603050405020304" pitchFamily="18" charset="0"/>
                  </a:rPr>
                  <a:t>        = 4T(</a:t>
                </a:r>
                <a14:m>
                  <m:oMath xmlns:m="http://schemas.openxmlformats.org/officeDocument/2006/math">
                    <m:f>
                      <m:fPr>
                        <m:ctrlPr>
                          <a:rPr lang="en-IN" b="1" i="1" smtClean="0">
                            <a:solidFill>
                              <a:srgbClr val="002060"/>
                            </a:solidFill>
                            <a:latin typeface="Cambria Math"/>
                            <a:cs typeface="Times New Roman" panose="02020603050405020304" pitchFamily="18" charset="0"/>
                          </a:rPr>
                        </m:ctrlPr>
                      </m:fPr>
                      <m:num>
                        <m:r>
                          <a:rPr lang="en-IN" b="1" i="1" smtClean="0">
                            <a:solidFill>
                              <a:srgbClr val="002060"/>
                            </a:solidFill>
                            <a:latin typeface="Cambria Math" panose="02040503050406030204" pitchFamily="18" charset="0"/>
                            <a:cs typeface="Times New Roman" panose="02020603050405020304" pitchFamily="18" charset="0"/>
                          </a:rPr>
                          <m:t>𝒏</m:t>
                        </m:r>
                      </m:num>
                      <m:den>
                        <m:r>
                          <a:rPr lang="en-IN" b="1" i="1" smtClean="0">
                            <a:solidFill>
                              <a:srgbClr val="002060"/>
                            </a:solidFill>
                            <a:latin typeface="Cambria Math" panose="02040503050406030204" pitchFamily="18" charset="0"/>
                            <a:cs typeface="Times New Roman" panose="02020603050405020304" pitchFamily="18" charset="0"/>
                          </a:rPr>
                          <m:t>𝟒</m:t>
                        </m:r>
                      </m:den>
                    </m:f>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𝟐</m:t>
                    </m:r>
                    <m:r>
                      <a:rPr lang="en-IN" b="1" i="1" smtClean="0">
                        <a:solidFill>
                          <a:srgbClr val="002060"/>
                        </a:solidFill>
                        <a:latin typeface="Cambria Math" panose="02040503050406030204" pitchFamily="18" charset="0"/>
                        <a:cs typeface="Times New Roman" panose="02020603050405020304" pitchFamily="18" charset="0"/>
                      </a:rPr>
                      <m:t>𝒏</m:t>
                    </m:r>
                  </m:oMath>
                </a14:m>
                <a:endParaRPr lang="en-IN" b="1" dirty="0" smtClean="0">
                  <a:solidFill>
                    <a:srgbClr val="002060"/>
                  </a:solidFill>
                  <a:latin typeface="Times New Roman" panose="02020603050405020304" pitchFamily="18" charset="0"/>
                  <a:cs typeface="Times New Roman" panose="02020603050405020304" pitchFamily="18" charset="0"/>
                </a:endParaRPr>
              </a:p>
              <a:p>
                <a:pPr algn="just">
                  <a:lnSpc>
                    <a:spcPct val="100000"/>
                  </a:lnSpc>
                </a:pPr>
                <a:r>
                  <a:rPr lang="en-IN" b="1" dirty="0" smtClean="0">
                    <a:solidFill>
                      <a:srgbClr val="002060"/>
                    </a:solidFill>
                    <a:latin typeface="Times New Roman" panose="02020603050405020304" pitchFamily="18" charset="0"/>
                    <a:cs typeface="Times New Roman" panose="02020603050405020304" pitchFamily="18" charset="0"/>
                  </a:rPr>
                  <a:t>        = 4 </a:t>
                </a:r>
                <a:r>
                  <a:rPr lang="en-IN" sz="3200" b="1" dirty="0" smtClean="0">
                    <a:solidFill>
                      <a:srgbClr val="002060"/>
                    </a:solidFill>
                    <a:latin typeface="Times New Roman" panose="02020603050405020304" pitchFamily="18" charset="0"/>
                    <a:cs typeface="Times New Roman" panose="02020603050405020304" pitchFamily="18" charset="0"/>
                  </a:rPr>
                  <a:t>.</a:t>
                </a:r>
                <a:r>
                  <a:rPr lang="en-IN" b="1" dirty="0" smtClean="0">
                    <a:solidFill>
                      <a:srgbClr val="002060"/>
                    </a:solidFill>
                    <a:latin typeface="Times New Roman" panose="02020603050405020304" pitchFamily="18" charset="0"/>
                    <a:cs typeface="Times New Roman" panose="02020603050405020304" pitchFamily="18" charset="0"/>
                  </a:rPr>
                  <a:t> [2 </a:t>
                </a:r>
                <a:r>
                  <a:rPr lang="en-IN" sz="3200" b="1" dirty="0" smtClean="0">
                    <a:solidFill>
                      <a:srgbClr val="002060"/>
                    </a:solidFill>
                    <a:latin typeface="Times New Roman" panose="02020603050405020304" pitchFamily="18" charset="0"/>
                    <a:cs typeface="Times New Roman" panose="02020603050405020304" pitchFamily="18" charset="0"/>
                  </a:rPr>
                  <a:t>.</a:t>
                </a:r>
                <a:r>
                  <a:rPr lang="en-IN" b="1" dirty="0" smtClean="0">
                    <a:solidFill>
                      <a:srgbClr val="002060"/>
                    </a:solidFill>
                    <a:latin typeface="Times New Roman" panose="02020603050405020304" pitchFamily="18" charset="0"/>
                    <a:cs typeface="Times New Roman" panose="02020603050405020304" pitchFamily="18" charset="0"/>
                  </a:rPr>
                  <a:t> T(</a:t>
                </a:r>
                <a14:m>
                  <m:oMath xmlns:m="http://schemas.openxmlformats.org/officeDocument/2006/math">
                    <m:f>
                      <m:fPr>
                        <m:ctrlPr>
                          <a:rPr lang="en-IN" b="1" i="1" smtClean="0">
                            <a:solidFill>
                              <a:srgbClr val="002060"/>
                            </a:solidFill>
                            <a:latin typeface="Cambria Math"/>
                            <a:cs typeface="Times New Roman" panose="02020603050405020304" pitchFamily="18" charset="0"/>
                          </a:rPr>
                        </m:ctrlPr>
                      </m:fPr>
                      <m:num>
                        <m:r>
                          <a:rPr lang="en-IN" b="1" i="1" smtClean="0">
                            <a:solidFill>
                              <a:srgbClr val="002060"/>
                            </a:solidFill>
                            <a:latin typeface="Cambria Math" panose="02040503050406030204" pitchFamily="18" charset="0"/>
                            <a:cs typeface="Times New Roman" panose="02020603050405020304" pitchFamily="18" charset="0"/>
                          </a:rPr>
                          <m:t>𝒏</m:t>
                        </m:r>
                      </m:num>
                      <m:den>
                        <m:r>
                          <a:rPr lang="en-IN" b="1" i="1" smtClean="0">
                            <a:solidFill>
                              <a:srgbClr val="002060"/>
                            </a:solidFill>
                            <a:latin typeface="Cambria Math" panose="02040503050406030204" pitchFamily="18" charset="0"/>
                            <a:cs typeface="Times New Roman" panose="02020603050405020304" pitchFamily="18" charset="0"/>
                          </a:rPr>
                          <m:t>𝟖</m:t>
                        </m:r>
                      </m:den>
                    </m:f>
                    <m:r>
                      <a:rPr lang="en-IN" b="1" i="1" smtClean="0">
                        <a:solidFill>
                          <a:srgbClr val="002060"/>
                        </a:solidFill>
                        <a:latin typeface="Cambria Math" panose="02040503050406030204" pitchFamily="18" charset="0"/>
                        <a:cs typeface="Times New Roman" panose="02020603050405020304" pitchFamily="18" charset="0"/>
                      </a:rPr>
                      <m:t>)+</m:t>
                    </m:r>
                    <m:f>
                      <m:fPr>
                        <m:ctrlPr>
                          <a:rPr lang="en-IN" b="1" i="1" smtClean="0">
                            <a:solidFill>
                              <a:srgbClr val="002060"/>
                            </a:solidFill>
                            <a:latin typeface="Cambria Math"/>
                            <a:cs typeface="Times New Roman" panose="02020603050405020304" pitchFamily="18" charset="0"/>
                          </a:rPr>
                        </m:ctrlPr>
                      </m:fPr>
                      <m:num>
                        <m:r>
                          <a:rPr lang="en-IN" b="1" i="1" smtClean="0">
                            <a:solidFill>
                              <a:srgbClr val="002060"/>
                            </a:solidFill>
                            <a:latin typeface="Cambria Math" panose="02040503050406030204" pitchFamily="18" charset="0"/>
                            <a:cs typeface="Times New Roman" panose="02020603050405020304" pitchFamily="18" charset="0"/>
                          </a:rPr>
                          <m:t>𝒏</m:t>
                        </m:r>
                      </m:num>
                      <m:den>
                        <m:r>
                          <a:rPr lang="en-IN" b="1" i="1" smtClean="0">
                            <a:solidFill>
                              <a:srgbClr val="002060"/>
                            </a:solidFill>
                            <a:latin typeface="Cambria Math" panose="02040503050406030204" pitchFamily="18" charset="0"/>
                            <a:cs typeface="Times New Roman" panose="02020603050405020304" pitchFamily="18" charset="0"/>
                          </a:rPr>
                          <m:t>𝟒</m:t>
                        </m:r>
                      </m:den>
                    </m:f>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𝟐</m:t>
                    </m:r>
                    <m:r>
                      <a:rPr lang="en-IN" b="1" i="1" smtClean="0">
                        <a:solidFill>
                          <a:srgbClr val="002060"/>
                        </a:solidFill>
                        <a:latin typeface="Cambria Math" panose="02040503050406030204" pitchFamily="18" charset="0"/>
                        <a:cs typeface="Times New Roman" panose="02020603050405020304" pitchFamily="18" charset="0"/>
                      </a:rPr>
                      <m:t>𝒏</m:t>
                    </m:r>
                  </m:oMath>
                </a14:m>
                <a:endParaRPr lang="en-IN" b="1" dirty="0" smtClean="0">
                  <a:solidFill>
                    <a:srgbClr val="002060"/>
                  </a:solidFill>
                  <a:latin typeface="Times New Roman" panose="02020603050405020304" pitchFamily="18" charset="0"/>
                  <a:cs typeface="Times New Roman" panose="02020603050405020304" pitchFamily="18" charset="0"/>
                </a:endParaRPr>
              </a:p>
              <a:p>
                <a:pPr algn="just">
                  <a:lnSpc>
                    <a:spcPct val="100000"/>
                  </a:lnSpc>
                </a:pPr>
                <a:r>
                  <a:rPr lang="en-IN" b="1" dirty="0" smtClean="0">
                    <a:solidFill>
                      <a:srgbClr val="002060"/>
                    </a:solidFill>
                    <a:latin typeface="Times New Roman" panose="02020603050405020304" pitchFamily="18" charset="0"/>
                    <a:cs typeface="Times New Roman" panose="02020603050405020304" pitchFamily="18" charset="0"/>
                  </a:rPr>
                  <a:t>        = 8 </a:t>
                </a:r>
                <a:r>
                  <a:rPr lang="en-IN" sz="3200" b="1" dirty="0" smtClean="0">
                    <a:solidFill>
                      <a:srgbClr val="002060"/>
                    </a:solidFill>
                    <a:latin typeface="Times New Roman" panose="02020603050405020304" pitchFamily="18" charset="0"/>
                    <a:cs typeface="Times New Roman" panose="02020603050405020304" pitchFamily="18" charset="0"/>
                  </a:rPr>
                  <a:t>.</a:t>
                </a:r>
                <a:r>
                  <a:rPr lang="en-IN" b="1" dirty="0" smtClean="0">
                    <a:solidFill>
                      <a:srgbClr val="002060"/>
                    </a:solidFill>
                    <a:latin typeface="Times New Roman" panose="02020603050405020304" pitchFamily="18" charset="0"/>
                    <a:cs typeface="Times New Roman" panose="02020603050405020304" pitchFamily="18" charset="0"/>
                  </a:rPr>
                  <a:t> T(</a:t>
                </a:r>
                <a14:m>
                  <m:oMath xmlns:m="http://schemas.openxmlformats.org/officeDocument/2006/math">
                    <m:f>
                      <m:fPr>
                        <m:ctrlPr>
                          <a:rPr lang="en-IN" b="1" i="1" smtClean="0">
                            <a:solidFill>
                              <a:srgbClr val="002060"/>
                            </a:solidFill>
                            <a:latin typeface="Cambria Math"/>
                            <a:cs typeface="Times New Roman" panose="02020603050405020304" pitchFamily="18" charset="0"/>
                          </a:rPr>
                        </m:ctrlPr>
                      </m:fPr>
                      <m:num>
                        <m:r>
                          <a:rPr lang="en-IN" b="1" i="1" smtClean="0">
                            <a:solidFill>
                              <a:srgbClr val="002060"/>
                            </a:solidFill>
                            <a:latin typeface="Cambria Math" panose="02040503050406030204" pitchFamily="18" charset="0"/>
                            <a:cs typeface="Times New Roman" panose="02020603050405020304" pitchFamily="18" charset="0"/>
                          </a:rPr>
                          <m:t>𝒏</m:t>
                        </m:r>
                      </m:num>
                      <m:den>
                        <m:r>
                          <a:rPr lang="en-IN" b="1" i="1" smtClean="0">
                            <a:solidFill>
                              <a:srgbClr val="002060"/>
                            </a:solidFill>
                            <a:latin typeface="Cambria Math" panose="02040503050406030204" pitchFamily="18" charset="0"/>
                            <a:cs typeface="Times New Roman" panose="02020603050405020304" pitchFamily="18" charset="0"/>
                          </a:rPr>
                          <m:t>𝟖</m:t>
                        </m:r>
                      </m:den>
                    </m:f>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𝟑</m:t>
                    </m:r>
                    <m:r>
                      <a:rPr lang="en-IN" b="1" i="1" smtClean="0">
                        <a:solidFill>
                          <a:srgbClr val="002060"/>
                        </a:solidFill>
                        <a:latin typeface="Cambria Math" panose="02040503050406030204" pitchFamily="18" charset="0"/>
                        <a:cs typeface="Times New Roman" panose="02020603050405020304" pitchFamily="18" charset="0"/>
                      </a:rPr>
                      <m:t>𝒏</m:t>
                    </m:r>
                  </m:oMath>
                </a14:m>
                <a:endParaRPr lang="en-IN" b="1" dirty="0" smtClean="0">
                  <a:solidFill>
                    <a:srgbClr val="002060"/>
                  </a:solidFill>
                  <a:latin typeface="Times New Roman" panose="02020603050405020304" pitchFamily="18" charset="0"/>
                  <a:cs typeface="Times New Roman" panose="02020603050405020304" pitchFamily="18" charset="0"/>
                </a:endParaRPr>
              </a:p>
              <a:p>
                <a:pPr algn="just"/>
                <a:r>
                  <a:rPr lang="en-IN" b="1" dirty="0" smtClean="0">
                    <a:solidFill>
                      <a:srgbClr val="002060"/>
                    </a:solidFill>
                    <a:latin typeface="Times New Roman" panose="02020603050405020304" pitchFamily="18" charset="0"/>
                    <a:cs typeface="Times New Roman" panose="02020603050405020304" pitchFamily="18" charset="0"/>
                  </a:rPr>
                  <a:t>        ;</a:t>
                </a:r>
              </a:p>
              <a:p>
                <a:pPr algn="just"/>
                <a:r>
                  <a:rPr lang="en-IN" b="1" dirty="0" smtClean="0">
                    <a:solidFill>
                      <a:srgbClr val="002060"/>
                    </a:solidFill>
                    <a:latin typeface="Times New Roman" panose="02020603050405020304" pitchFamily="18" charset="0"/>
                    <a:cs typeface="Times New Roman" panose="02020603050405020304" pitchFamily="18" charset="0"/>
                  </a:rPr>
                  <a:t>        ;</a:t>
                </a:r>
                <a:r>
                  <a:rPr lang="en-IN" b="1" baseline="30000" dirty="0">
                    <a:solidFill>
                      <a:srgbClr val="002060"/>
                    </a:solidFill>
                    <a:latin typeface="Times New Roman" panose="02020603050405020304" pitchFamily="18" charset="0"/>
                    <a:cs typeface="Times New Roman" panose="02020603050405020304" pitchFamily="18" charset="0"/>
                  </a:rPr>
                  <a:t> </a:t>
                </a:r>
                <a:endParaRPr lang="en-IN"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85022" y="856034"/>
                <a:ext cx="11649637" cy="5493610"/>
              </a:xfrm>
              <a:blipFill rotWithShape="0">
                <a:blip r:embed="rId3"/>
                <a:stretch>
                  <a:fillRect l="-680" t="-1885" r="-680" b="-1441"/>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15</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TextBox 11"/>
              <p:cNvSpPr txBox="1"/>
              <p:nvPr/>
            </p:nvSpPr>
            <p:spPr>
              <a:xfrm>
                <a:off x="6269907" y="1470973"/>
                <a:ext cx="6233997" cy="6316153"/>
              </a:xfrm>
              <a:prstGeom prst="rect">
                <a:avLst/>
              </a:prstGeom>
              <a:noFill/>
            </p:spPr>
            <p:txBody>
              <a:bodyPr wrap="square" rtlCol="0">
                <a:spAutoFit/>
              </a:bodyPr>
              <a:lstStyle/>
              <a:p>
                <a:r>
                  <a:rPr lang="en-IN" sz="2400" b="1" dirty="0" smtClean="0">
                    <a:solidFill>
                      <a:srgbClr val="002060"/>
                    </a:solidFill>
                    <a:latin typeface="Times New Roman" panose="02020603050405020304" pitchFamily="18" charset="0"/>
                    <a:cs typeface="Times New Roman" panose="02020603050405020304" pitchFamily="18" charset="0"/>
                  </a:rPr>
                  <a:t>2</a:t>
                </a:r>
                <a:r>
                  <a:rPr lang="en-IN" sz="2400" b="1" baseline="30000" dirty="0" smtClean="0">
                    <a:solidFill>
                      <a:srgbClr val="002060"/>
                    </a:solidFill>
                    <a:latin typeface="Times New Roman" panose="02020603050405020304" pitchFamily="18" charset="0"/>
                    <a:cs typeface="Times New Roman" panose="02020603050405020304" pitchFamily="18" charset="0"/>
                  </a:rPr>
                  <a:t>i</a:t>
                </a:r>
                <a:r>
                  <a:rPr lang="en-IN" sz="2400" b="1" dirty="0" smtClean="0">
                    <a:solidFill>
                      <a:srgbClr val="002060"/>
                    </a:solidFill>
                    <a:latin typeface="Times New Roman" panose="02020603050405020304" pitchFamily="18" charset="0"/>
                    <a:cs typeface="Times New Roman" panose="02020603050405020304" pitchFamily="18" charset="0"/>
                  </a:rPr>
                  <a:t> </a:t>
                </a:r>
                <a:r>
                  <a:rPr lang="en-IN" sz="3200" b="1" dirty="0" smtClean="0">
                    <a:solidFill>
                      <a:srgbClr val="002060"/>
                    </a:solidFill>
                    <a:latin typeface="Times New Roman" panose="02020603050405020304" pitchFamily="18" charset="0"/>
                    <a:cs typeface="Times New Roman" panose="02020603050405020304" pitchFamily="18" charset="0"/>
                  </a:rPr>
                  <a:t>.</a:t>
                </a:r>
                <a:r>
                  <a:rPr lang="en-IN" sz="2400" b="1" dirty="0" smtClean="0">
                    <a:solidFill>
                      <a:srgbClr val="002060"/>
                    </a:solidFill>
                    <a:latin typeface="Times New Roman" panose="02020603050405020304" pitchFamily="18" charset="0"/>
                    <a:cs typeface="Times New Roman" panose="02020603050405020304" pitchFamily="18" charset="0"/>
                  </a:rPr>
                  <a:t> T(</a:t>
                </a:r>
                <a14:m>
                  <m:oMath xmlns:m="http://schemas.openxmlformats.org/officeDocument/2006/math">
                    <m:f>
                      <m:fPr>
                        <m:ctrlPr>
                          <a:rPr lang="en-IN" sz="3200" b="1" i="1" smtClean="0">
                            <a:solidFill>
                              <a:srgbClr val="002060"/>
                            </a:solidFill>
                            <a:latin typeface="Cambria Math"/>
                            <a:cs typeface="Times New Roman" panose="02020603050405020304" pitchFamily="18" charset="0"/>
                          </a:rPr>
                        </m:ctrlPr>
                      </m:fPr>
                      <m:num>
                        <m:r>
                          <a:rPr lang="en-IN" sz="3200" b="1" i="1" smtClean="0">
                            <a:solidFill>
                              <a:srgbClr val="002060"/>
                            </a:solidFill>
                            <a:latin typeface="Cambria Math" panose="02040503050406030204" pitchFamily="18" charset="0"/>
                            <a:cs typeface="Times New Roman" panose="02020603050405020304" pitchFamily="18" charset="0"/>
                          </a:rPr>
                          <m:t>𝒏</m:t>
                        </m:r>
                      </m:num>
                      <m:den>
                        <m:r>
                          <a:rPr lang="en-IN" sz="3200" b="1" i="1" smtClean="0">
                            <a:solidFill>
                              <a:srgbClr val="002060"/>
                            </a:solidFill>
                            <a:latin typeface="Cambria Math" panose="02040503050406030204" pitchFamily="18" charset="0"/>
                            <a:cs typeface="Times New Roman" panose="02020603050405020304" pitchFamily="18" charset="0"/>
                          </a:rPr>
                          <m:t>𝟐</m:t>
                        </m:r>
                        <m:r>
                          <a:rPr lang="en-IN" sz="3200" b="1" i="1" baseline="30000" smtClean="0">
                            <a:solidFill>
                              <a:srgbClr val="002060"/>
                            </a:solidFill>
                            <a:latin typeface="Cambria Math" panose="02040503050406030204" pitchFamily="18" charset="0"/>
                            <a:cs typeface="Times New Roman" panose="02020603050405020304" pitchFamily="18" charset="0"/>
                          </a:rPr>
                          <m:t>𝒊</m:t>
                        </m:r>
                      </m:den>
                    </m:f>
                    <m:r>
                      <a:rPr lang="en-IN" sz="3200" b="1" i="1" smtClean="0">
                        <a:solidFill>
                          <a:srgbClr val="002060"/>
                        </a:solidFill>
                        <a:latin typeface="Cambria Math" panose="02040503050406030204" pitchFamily="18" charset="0"/>
                        <a:cs typeface="Times New Roman" panose="02020603050405020304" pitchFamily="18" charset="0"/>
                      </a:rPr>
                      <m:t>)+</m:t>
                    </m:r>
                    <m:r>
                      <a:rPr lang="en-IN" sz="3200" b="1" i="1" smtClean="0">
                        <a:solidFill>
                          <a:srgbClr val="002060"/>
                        </a:solidFill>
                        <a:latin typeface="Cambria Math" panose="02040503050406030204" pitchFamily="18" charset="0"/>
                        <a:cs typeface="Times New Roman" panose="02020603050405020304" pitchFamily="18" charset="0"/>
                      </a:rPr>
                      <m:t>𝒊</m:t>
                    </m:r>
                    <m:r>
                      <a:rPr lang="en-IN" sz="3200" b="1" i="1" smtClean="0">
                        <a:solidFill>
                          <a:srgbClr val="002060"/>
                        </a:solidFill>
                        <a:latin typeface="Cambria Math" panose="02040503050406030204" pitchFamily="18" charset="0"/>
                        <a:cs typeface="Times New Roman" panose="02020603050405020304" pitchFamily="18" charset="0"/>
                      </a:rPr>
                      <m:t>.</m:t>
                    </m:r>
                    <m:r>
                      <a:rPr lang="en-IN" sz="3200" b="1" i="1" smtClean="0">
                        <a:solidFill>
                          <a:srgbClr val="002060"/>
                        </a:solidFill>
                        <a:latin typeface="Cambria Math" panose="02040503050406030204" pitchFamily="18" charset="0"/>
                        <a:cs typeface="Times New Roman" panose="02020603050405020304" pitchFamily="18" charset="0"/>
                      </a:rPr>
                      <m:t>𝒏</m:t>
                    </m:r>
                  </m:oMath>
                </a14:m>
                <a:endParaRPr lang="en-IN" sz="3200" b="1" dirty="0" smtClean="0">
                  <a:solidFill>
                    <a:srgbClr val="002060"/>
                  </a:solidFill>
                  <a:latin typeface="Times New Roman" panose="02020603050405020304" pitchFamily="18" charset="0"/>
                  <a:cs typeface="Times New Roman" panose="02020603050405020304" pitchFamily="18" charset="0"/>
                </a:endParaRPr>
              </a:p>
              <a:p>
                <a:r>
                  <a:rPr lang="en-IN" sz="2400" b="1" dirty="0" smtClean="0">
                    <a:solidFill>
                      <a:srgbClr val="002060"/>
                    </a:solidFill>
                    <a:latin typeface="Times New Roman" panose="02020603050405020304" pitchFamily="18" charset="0"/>
                    <a:cs typeface="Times New Roman" panose="02020603050405020304" pitchFamily="18" charset="0"/>
                  </a:rPr>
                  <a:t>To obtain initial condition let </a:t>
                </a:r>
                <a:r>
                  <a:rPr lang="en-IN" sz="2400" b="1" dirty="0">
                    <a:solidFill>
                      <a:srgbClr val="002060"/>
                    </a:solidFill>
                    <a:latin typeface="Times New Roman" panose="02020603050405020304" pitchFamily="18" charset="0"/>
                    <a:cs typeface="Times New Roman" panose="02020603050405020304" pitchFamily="18" charset="0"/>
                  </a:rPr>
                  <a:t>2</a:t>
                </a:r>
                <a:r>
                  <a:rPr lang="en-IN" sz="2400" b="1" baseline="30000" dirty="0">
                    <a:solidFill>
                      <a:srgbClr val="002060"/>
                    </a:solidFill>
                    <a:latin typeface="Times New Roman" panose="02020603050405020304" pitchFamily="18" charset="0"/>
                    <a:cs typeface="Times New Roman" panose="02020603050405020304" pitchFamily="18" charset="0"/>
                  </a:rPr>
                  <a:t>i </a:t>
                </a:r>
                <a:r>
                  <a:rPr lang="en-IN" sz="2400" b="1" dirty="0" smtClean="0">
                    <a:solidFill>
                      <a:srgbClr val="002060"/>
                    </a:solidFill>
                    <a:latin typeface="Times New Roman" panose="02020603050405020304" pitchFamily="18" charset="0"/>
                    <a:cs typeface="Times New Roman" panose="02020603050405020304" pitchFamily="18" charset="0"/>
                  </a:rPr>
                  <a:t>=n</a:t>
                </a:r>
              </a:p>
              <a:p>
                <a:r>
                  <a:rPr lang="en-IN" sz="2400" b="1" dirty="0" smtClean="0">
                    <a:solidFill>
                      <a:srgbClr val="002060"/>
                    </a:solidFill>
                    <a:latin typeface="Times New Roman" panose="02020603050405020304" pitchFamily="18" charset="0"/>
                    <a:cs typeface="Times New Roman" panose="02020603050405020304" pitchFamily="18" charset="0"/>
                  </a:rPr>
                  <a:t>Take log both a side </a:t>
                </a:r>
                <a:r>
                  <a:rPr lang="en-IN" sz="2400" b="1" dirty="0" err="1" smtClean="0">
                    <a:solidFill>
                      <a:srgbClr val="002060"/>
                    </a:solidFill>
                    <a:latin typeface="Times New Roman" panose="02020603050405020304" pitchFamily="18" charset="0"/>
                    <a:cs typeface="Times New Roman" panose="02020603050405020304" pitchFamily="18" charset="0"/>
                  </a:rPr>
                  <a:t>i</a:t>
                </a:r>
                <a:r>
                  <a:rPr lang="en-IN" sz="2400" b="1" dirty="0" smtClean="0">
                    <a:solidFill>
                      <a:srgbClr val="002060"/>
                    </a:solidFill>
                    <a:latin typeface="Times New Roman" panose="02020603050405020304" pitchFamily="18" charset="0"/>
                    <a:cs typeface="Times New Roman" panose="02020603050405020304" pitchFamily="18" charset="0"/>
                  </a:rPr>
                  <a:t>=</a:t>
                </a:r>
                <a:r>
                  <a:rPr lang="en-IN" sz="2400" b="1" dirty="0">
                    <a:solidFill>
                      <a:srgbClr val="002060"/>
                    </a:solidFill>
                    <a:cs typeface="Times New Roman" panose="02020603050405020304" pitchFamily="18" charset="0"/>
                  </a:rPr>
                  <a:t> </a:t>
                </a:r>
                <a14:m>
                  <m:oMath xmlns:m="http://schemas.openxmlformats.org/officeDocument/2006/math">
                    <m:r>
                      <m:rPr>
                        <m:nor/>
                      </m:rPr>
                      <a:rPr lang="en-IN" sz="2400" b="1" dirty="0">
                        <a:solidFill>
                          <a:srgbClr val="002060"/>
                        </a:solidFill>
                        <a:latin typeface="Times New Roman" panose="02020603050405020304" pitchFamily="18" charset="0"/>
                        <a:cs typeface="Times New Roman" panose="02020603050405020304" pitchFamily="18" charset="0"/>
                      </a:rPr>
                      <m:t>log</m:t>
                    </m:r>
                    <m:r>
                      <m:rPr>
                        <m:nor/>
                      </m:rPr>
                      <a:rPr lang="en-IN" sz="2400" b="1" baseline="-25000" dirty="0">
                        <a:solidFill>
                          <a:srgbClr val="002060"/>
                        </a:solidFill>
                        <a:latin typeface="Times New Roman" panose="02020603050405020304" pitchFamily="18" charset="0"/>
                        <a:cs typeface="Times New Roman" panose="02020603050405020304" pitchFamily="18" charset="0"/>
                      </a:rPr>
                      <m:t>2</m:t>
                    </m:r>
                    <m:r>
                      <m:rPr>
                        <m:nor/>
                      </m:rPr>
                      <a:rPr lang="en-IN" sz="2400" b="1" dirty="0">
                        <a:solidFill>
                          <a:srgbClr val="002060"/>
                        </a:solidFill>
                        <a:latin typeface="Times New Roman" panose="02020603050405020304" pitchFamily="18" charset="0"/>
                        <a:cs typeface="Times New Roman" panose="02020603050405020304" pitchFamily="18" charset="0"/>
                      </a:rPr>
                      <m:t>n</m:t>
                    </m:r>
                  </m:oMath>
                </a14:m>
                <a:endParaRPr lang="en-IN" sz="2400" b="1" dirty="0" smtClean="0">
                  <a:solidFill>
                    <a:srgbClr val="002060"/>
                  </a:solidFill>
                  <a:latin typeface="Times New Roman" panose="02020603050405020304" pitchFamily="18" charset="0"/>
                  <a:cs typeface="Times New Roman" panose="02020603050405020304" pitchFamily="18" charset="0"/>
                </a:endParaRPr>
              </a:p>
              <a:p>
                <a:endParaRPr lang="en-IN" sz="2400" b="1" dirty="0" smtClean="0">
                  <a:solidFill>
                    <a:srgbClr val="002060"/>
                  </a:solidFill>
                  <a:latin typeface="Times New Roman" panose="02020603050405020304" pitchFamily="18" charset="0"/>
                  <a:cs typeface="Times New Roman" panose="02020603050405020304" pitchFamily="18" charset="0"/>
                </a:endParaRPr>
              </a:p>
              <a:p>
                <a:r>
                  <a:rPr lang="en-IN" sz="2400" b="1" dirty="0" smtClean="0">
                    <a:solidFill>
                      <a:srgbClr val="002060"/>
                    </a:solidFill>
                    <a:latin typeface="Times New Roman" panose="02020603050405020304" pitchFamily="18" charset="0"/>
                    <a:cs typeface="Times New Roman" panose="02020603050405020304" pitchFamily="18" charset="0"/>
                  </a:rPr>
                  <a:t>For any log</a:t>
                </a:r>
                <a:r>
                  <a:rPr lang="en-IN" sz="2400" b="1" baseline="-25000" dirty="0" smtClean="0">
                    <a:solidFill>
                      <a:srgbClr val="002060"/>
                    </a:solidFill>
                    <a:latin typeface="Times New Roman" panose="02020603050405020304" pitchFamily="18" charset="0"/>
                    <a:cs typeface="Times New Roman" panose="02020603050405020304" pitchFamily="18" charset="0"/>
                  </a:rPr>
                  <a:t>2</a:t>
                </a:r>
                <a:r>
                  <a:rPr lang="en-IN" sz="2400" b="1" dirty="0" smtClean="0">
                    <a:solidFill>
                      <a:srgbClr val="002060"/>
                    </a:solidFill>
                    <a:latin typeface="Times New Roman" panose="02020603050405020304" pitchFamily="18" charset="0"/>
                    <a:cs typeface="Times New Roman" panose="02020603050405020304" pitchFamily="18" charset="0"/>
                  </a:rPr>
                  <a:t>n ≥ </a:t>
                </a:r>
                <a:r>
                  <a:rPr lang="en-IN" sz="2400" b="1" dirty="0" err="1" smtClean="0">
                    <a:solidFill>
                      <a:srgbClr val="002060"/>
                    </a:solidFill>
                    <a:latin typeface="Times New Roman" panose="02020603050405020304" pitchFamily="18" charset="0"/>
                    <a:cs typeface="Times New Roman" panose="02020603050405020304" pitchFamily="18" charset="0"/>
                  </a:rPr>
                  <a:t>i</a:t>
                </a:r>
                <a:r>
                  <a:rPr lang="en-IN" sz="2400" b="1" dirty="0" smtClean="0">
                    <a:solidFill>
                      <a:srgbClr val="002060"/>
                    </a:solidFill>
                    <a:latin typeface="Times New Roman" panose="02020603050405020304" pitchFamily="18" charset="0"/>
                    <a:cs typeface="Times New Roman" panose="02020603050405020304" pitchFamily="18" charset="0"/>
                  </a:rPr>
                  <a:t> ≥ 1</a:t>
                </a:r>
              </a:p>
              <a:p>
                <a:endParaRPr lang="en-IN" sz="2400" b="1" dirty="0" smtClean="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sSup>
                      <m:sSupPr>
                        <m:ctrlPr>
                          <a:rPr lang="en-IN" sz="3200" b="1" i="1" smtClean="0">
                            <a:solidFill>
                              <a:srgbClr val="002060"/>
                            </a:solidFill>
                            <a:latin typeface="Cambria Math"/>
                            <a:cs typeface="Times New Roman" panose="02020603050405020304" pitchFamily="18" charset="0"/>
                          </a:rPr>
                        </m:ctrlPr>
                      </m:sSupPr>
                      <m:e>
                        <m:r>
                          <m:rPr>
                            <m:nor/>
                          </m:rPr>
                          <a:rPr lang="en-IN" sz="3200" b="1" dirty="0">
                            <a:solidFill>
                              <a:srgbClr val="002060"/>
                            </a:solidFill>
                            <a:latin typeface="Times New Roman" panose="02020603050405020304" pitchFamily="18" charset="0"/>
                            <a:cs typeface="Times New Roman" panose="02020603050405020304" pitchFamily="18" charset="0"/>
                          </a:rPr>
                          <m:t>2</m:t>
                        </m:r>
                      </m:e>
                      <m:sup>
                        <m:r>
                          <m:rPr>
                            <m:nor/>
                          </m:rPr>
                          <a:rPr lang="en-IN" sz="2800" b="1" dirty="0">
                            <a:solidFill>
                              <a:srgbClr val="002060"/>
                            </a:solidFill>
                            <a:latin typeface="Times New Roman" panose="02020603050405020304" pitchFamily="18" charset="0"/>
                            <a:cs typeface="Times New Roman" panose="02020603050405020304" pitchFamily="18" charset="0"/>
                          </a:rPr>
                          <m:t>log</m:t>
                        </m:r>
                        <m:r>
                          <m:rPr>
                            <m:nor/>
                          </m:rPr>
                          <a:rPr lang="en-IN" sz="2800" b="1" baseline="-25000" dirty="0">
                            <a:solidFill>
                              <a:srgbClr val="002060"/>
                            </a:solidFill>
                            <a:latin typeface="Times New Roman" panose="02020603050405020304" pitchFamily="18" charset="0"/>
                            <a:cs typeface="Times New Roman" panose="02020603050405020304" pitchFamily="18" charset="0"/>
                          </a:rPr>
                          <m:t>2</m:t>
                        </m:r>
                        <m:r>
                          <m:rPr>
                            <m:nor/>
                          </m:rPr>
                          <a:rPr lang="en-IN" sz="2800" b="1" dirty="0">
                            <a:solidFill>
                              <a:srgbClr val="002060"/>
                            </a:solidFill>
                            <a:latin typeface="Times New Roman" panose="02020603050405020304" pitchFamily="18" charset="0"/>
                            <a:cs typeface="Times New Roman" panose="02020603050405020304" pitchFamily="18" charset="0"/>
                          </a:rPr>
                          <m:t>n</m:t>
                        </m:r>
                        <m:r>
                          <m:rPr>
                            <m:nor/>
                          </m:rPr>
                          <a:rPr lang="en-IN" sz="2800" b="1" dirty="0">
                            <a:solidFill>
                              <a:srgbClr val="002060"/>
                            </a:solidFill>
                            <a:latin typeface="Times New Roman" panose="02020603050405020304" pitchFamily="18" charset="0"/>
                            <a:cs typeface="Times New Roman" panose="02020603050405020304" pitchFamily="18" charset="0"/>
                          </a:rPr>
                          <m:t> </m:t>
                        </m:r>
                      </m:sup>
                    </m:sSup>
                  </m:oMath>
                </a14:m>
                <a:r>
                  <a:rPr lang="en-IN" sz="2800" b="1" dirty="0" smtClean="0">
                    <a:solidFill>
                      <a:srgbClr val="002060"/>
                    </a:solidFill>
                    <a:latin typeface="Times New Roman" panose="02020603050405020304" pitchFamily="18" charset="0"/>
                    <a:cs typeface="Times New Roman" panose="02020603050405020304" pitchFamily="18" charset="0"/>
                  </a:rPr>
                  <a:t> . T(</a:t>
                </a:r>
                <a14:m>
                  <m:oMath xmlns:m="http://schemas.openxmlformats.org/officeDocument/2006/math">
                    <m:f>
                      <m:fPr>
                        <m:ctrlPr>
                          <a:rPr lang="en-IN" sz="2400" b="1" i="1" smtClean="0">
                            <a:solidFill>
                              <a:srgbClr val="002060"/>
                            </a:solidFill>
                            <a:latin typeface="Cambria Math"/>
                            <a:cs typeface="Times New Roman" panose="02020603050405020304" pitchFamily="18" charset="0"/>
                          </a:rPr>
                        </m:ctrlPr>
                      </m:fPr>
                      <m:num>
                        <m:r>
                          <a:rPr lang="en-IN" sz="2400" b="1" i="1" smtClean="0">
                            <a:solidFill>
                              <a:srgbClr val="002060"/>
                            </a:solidFill>
                            <a:latin typeface="Cambria Math" panose="02040503050406030204" pitchFamily="18" charset="0"/>
                            <a:cs typeface="Times New Roman" panose="02020603050405020304" pitchFamily="18" charset="0"/>
                          </a:rPr>
                          <m:t>𝒏</m:t>
                        </m:r>
                      </m:num>
                      <m:den>
                        <m:sSup>
                          <m:sSupPr>
                            <m:ctrlPr>
                              <a:rPr lang="en-IN" sz="2800" b="1" i="1">
                                <a:solidFill>
                                  <a:srgbClr val="002060"/>
                                </a:solidFill>
                                <a:latin typeface="Cambria Math"/>
                                <a:cs typeface="Times New Roman" panose="02020603050405020304" pitchFamily="18" charset="0"/>
                              </a:rPr>
                            </m:ctrlPr>
                          </m:sSupPr>
                          <m:e>
                            <m:r>
                              <m:rPr>
                                <m:nor/>
                              </m:rPr>
                              <a:rPr lang="en-IN" sz="2800" b="1" dirty="0">
                                <a:solidFill>
                                  <a:srgbClr val="002060"/>
                                </a:solidFill>
                                <a:latin typeface="Times New Roman" panose="02020603050405020304" pitchFamily="18" charset="0"/>
                                <a:cs typeface="Times New Roman" panose="02020603050405020304" pitchFamily="18" charset="0"/>
                              </a:rPr>
                              <m:t>2</m:t>
                            </m:r>
                          </m:e>
                          <m:sup>
                            <m:r>
                              <m:rPr>
                                <m:nor/>
                              </m:rPr>
                              <a:rPr lang="en-IN" sz="2400" b="1" dirty="0">
                                <a:solidFill>
                                  <a:srgbClr val="002060"/>
                                </a:solidFill>
                                <a:latin typeface="Times New Roman" panose="02020603050405020304" pitchFamily="18" charset="0"/>
                                <a:cs typeface="Times New Roman" panose="02020603050405020304" pitchFamily="18" charset="0"/>
                              </a:rPr>
                              <m:t>log</m:t>
                            </m:r>
                            <m:r>
                              <m:rPr>
                                <m:nor/>
                              </m:rPr>
                              <a:rPr lang="en-IN" sz="2400" b="1" baseline="-25000" dirty="0">
                                <a:solidFill>
                                  <a:srgbClr val="002060"/>
                                </a:solidFill>
                                <a:latin typeface="Times New Roman" panose="02020603050405020304" pitchFamily="18" charset="0"/>
                                <a:cs typeface="Times New Roman" panose="02020603050405020304" pitchFamily="18" charset="0"/>
                              </a:rPr>
                              <m:t>2</m:t>
                            </m:r>
                            <m:r>
                              <m:rPr>
                                <m:nor/>
                              </m:rPr>
                              <a:rPr lang="en-IN" sz="2400" b="1" dirty="0">
                                <a:solidFill>
                                  <a:srgbClr val="002060"/>
                                </a:solidFill>
                                <a:latin typeface="Times New Roman" panose="02020603050405020304" pitchFamily="18" charset="0"/>
                                <a:cs typeface="Times New Roman" panose="02020603050405020304" pitchFamily="18" charset="0"/>
                              </a:rPr>
                              <m:t>n</m:t>
                            </m:r>
                            <m:r>
                              <m:rPr>
                                <m:nor/>
                              </m:rPr>
                              <a:rPr lang="en-IN" sz="2400" b="1" dirty="0">
                                <a:solidFill>
                                  <a:srgbClr val="002060"/>
                                </a:solidFill>
                                <a:latin typeface="Times New Roman" panose="02020603050405020304" pitchFamily="18" charset="0"/>
                                <a:cs typeface="Times New Roman" panose="02020603050405020304" pitchFamily="18" charset="0"/>
                              </a:rPr>
                              <m:t> </m:t>
                            </m:r>
                          </m:sup>
                        </m:sSup>
                      </m:den>
                    </m:f>
                    <m:r>
                      <a:rPr lang="en-IN" sz="2400" b="1" i="1" smtClean="0">
                        <a:solidFill>
                          <a:srgbClr val="002060"/>
                        </a:solidFill>
                        <a:latin typeface="Cambria Math" panose="02040503050406030204" pitchFamily="18" charset="0"/>
                        <a:cs typeface="Times New Roman" panose="02020603050405020304" pitchFamily="18" charset="0"/>
                      </a:rPr>
                      <m:t>)+</m:t>
                    </m:r>
                    <m:r>
                      <a:rPr lang="en-IN" sz="2400" b="1" i="1" smtClean="0">
                        <a:solidFill>
                          <a:srgbClr val="002060"/>
                        </a:solidFill>
                        <a:latin typeface="Cambria Math" panose="02040503050406030204" pitchFamily="18" charset="0"/>
                        <a:cs typeface="Times New Roman" panose="02020603050405020304" pitchFamily="18" charset="0"/>
                      </a:rPr>
                      <m:t>𝒏</m:t>
                    </m:r>
                  </m:oMath>
                </a14:m>
                <a:r>
                  <a:rPr lang="en-IN" sz="28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en-IN" sz="2800" b="1" i="0" dirty="0" smtClean="0">
                        <a:solidFill>
                          <a:srgbClr val="002060"/>
                        </a:solidFill>
                        <a:latin typeface="Cambria Math" panose="02040503050406030204" pitchFamily="18" charset="0"/>
                        <a:cs typeface="Times New Roman" panose="02020603050405020304" pitchFamily="18" charset="0"/>
                      </a:rPr>
                      <m:t>.</m:t>
                    </m:r>
                    <m:r>
                      <m:rPr>
                        <m:nor/>
                      </m:rPr>
                      <a:rPr lang="en-IN" sz="2800" b="1" dirty="0" smtClean="0">
                        <a:solidFill>
                          <a:srgbClr val="002060"/>
                        </a:solidFill>
                        <a:latin typeface="Times New Roman" panose="02020603050405020304" pitchFamily="18" charset="0"/>
                        <a:cs typeface="Times New Roman" panose="02020603050405020304" pitchFamily="18" charset="0"/>
                      </a:rPr>
                      <m:t>log</m:t>
                    </m:r>
                    <m:r>
                      <m:rPr>
                        <m:nor/>
                      </m:rPr>
                      <a:rPr lang="en-IN" sz="2800" b="1" baseline="-25000" dirty="0" smtClean="0">
                        <a:solidFill>
                          <a:srgbClr val="002060"/>
                        </a:solidFill>
                        <a:latin typeface="Times New Roman" panose="02020603050405020304" pitchFamily="18" charset="0"/>
                        <a:cs typeface="Times New Roman" panose="02020603050405020304" pitchFamily="18" charset="0"/>
                      </a:rPr>
                      <m:t>2</m:t>
                    </m:r>
                    <m:r>
                      <m:rPr>
                        <m:nor/>
                      </m:rPr>
                      <a:rPr lang="en-IN" sz="2800" b="1" dirty="0" smtClean="0">
                        <a:solidFill>
                          <a:srgbClr val="002060"/>
                        </a:solidFill>
                        <a:latin typeface="Times New Roman" panose="02020603050405020304" pitchFamily="18" charset="0"/>
                        <a:cs typeface="Times New Roman" panose="02020603050405020304" pitchFamily="18" charset="0"/>
                      </a:rPr>
                      <m:t>n</m:t>
                    </m:r>
                  </m:oMath>
                </a14:m>
                <a:endParaRPr lang="en-IN" sz="2800" b="1" dirty="0" smtClean="0">
                  <a:solidFill>
                    <a:srgbClr val="002060"/>
                  </a:solidFill>
                  <a:latin typeface="Times New Roman" panose="02020603050405020304" pitchFamily="18" charset="0"/>
                  <a:cs typeface="Times New Roman" panose="02020603050405020304" pitchFamily="18" charset="0"/>
                </a:endParaRPr>
              </a:p>
              <a:p>
                <a:endParaRPr lang="en-IN" sz="2000" b="1" dirty="0" smtClean="0">
                  <a:solidFill>
                    <a:srgbClr val="002060"/>
                  </a:solidFill>
                  <a:latin typeface="Times New Roman" panose="02020603050405020304" pitchFamily="18" charset="0"/>
                  <a:cs typeface="Times New Roman" panose="02020603050405020304" pitchFamily="18" charset="0"/>
                </a:endParaRPr>
              </a:p>
              <a:p>
                <a:r>
                  <a:rPr lang="en-IN" sz="2800" b="1" dirty="0" smtClean="0">
                    <a:solidFill>
                      <a:srgbClr val="C00000"/>
                    </a:solidFill>
                    <a:latin typeface="Times New Roman" panose="02020603050405020304" pitchFamily="18" charset="0"/>
                    <a:cs typeface="Times New Roman" panose="02020603050405020304" pitchFamily="18" charset="0"/>
                  </a:rPr>
                  <a:t>T(n)=</a:t>
                </a:r>
                <a:r>
                  <a:rPr lang="en-IN" sz="2800" b="1" dirty="0" err="1" smtClean="0">
                    <a:solidFill>
                      <a:srgbClr val="C00000"/>
                    </a:solidFill>
                    <a:latin typeface="Times New Roman" panose="02020603050405020304" pitchFamily="18" charset="0"/>
                    <a:cs typeface="Times New Roman" panose="02020603050405020304" pitchFamily="18" charset="0"/>
                  </a:rPr>
                  <a:t>nT</a:t>
                </a:r>
                <a:r>
                  <a:rPr lang="en-IN" sz="2800" b="1" dirty="0" smtClean="0">
                    <a:solidFill>
                      <a:srgbClr val="C00000"/>
                    </a:solidFill>
                    <a:latin typeface="Times New Roman" panose="02020603050405020304" pitchFamily="18" charset="0"/>
                    <a:cs typeface="Times New Roman" panose="02020603050405020304" pitchFamily="18" charset="0"/>
                  </a:rPr>
                  <a:t>(1)+</a:t>
                </a:r>
                <a:r>
                  <a:rPr lang="en-IN" sz="2800" b="1" dirty="0" smtClean="0">
                    <a:solidFill>
                      <a:srgbClr val="C00000"/>
                    </a:solidFill>
                    <a:cs typeface="Times New Roman" panose="02020603050405020304" pitchFamily="18" charset="0"/>
                  </a:rPr>
                  <a:t> </a:t>
                </a:r>
                <a14:m>
                  <m:oMath xmlns:m="http://schemas.openxmlformats.org/officeDocument/2006/math">
                    <m:r>
                      <a:rPr lang="en-IN" sz="2800" b="1" i="1" smtClean="0">
                        <a:solidFill>
                          <a:srgbClr val="C00000"/>
                        </a:solidFill>
                        <a:latin typeface="Cambria Math" panose="02040503050406030204" pitchFamily="18" charset="0"/>
                        <a:cs typeface="Times New Roman" panose="02020603050405020304" pitchFamily="18" charset="0"/>
                      </a:rPr>
                      <m:t>𝒏</m:t>
                    </m:r>
                  </m:oMath>
                </a14:m>
                <a:r>
                  <a:rPr lang="en-IN" sz="2800" b="1" dirty="0" smtClean="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IN" sz="2800" b="1" i="0" dirty="0" smtClean="0">
                        <a:solidFill>
                          <a:srgbClr val="C00000"/>
                        </a:solidFill>
                        <a:latin typeface="Cambria Math" panose="02040503050406030204" pitchFamily="18" charset="0"/>
                        <a:cs typeface="Times New Roman" panose="02020603050405020304" pitchFamily="18" charset="0"/>
                      </a:rPr>
                      <m:t>.</m:t>
                    </m:r>
                    <m:r>
                      <m:rPr>
                        <m:nor/>
                      </m:rPr>
                      <a:rPr lang="en-IN" sz="2800" b="1" dirty="0" smtClean="0">
                        <a:solidFill>
                          <a:srgbClr val="C00000"/>
                        </a:solidFill>
                        <a:latin typeface="Times New Roman" panose="02020603050405020304" pitchFamily="18" charset="0"/>
                        <a:cs typeface="Times New Roman" panose="02020603050405020304" pitchFamily="18" charset="0"/>
                      </a:rPr>
                      <m:t>log</m:t>
                    </m:r>
                    <m:r>
                      <m:rPr>
                        <m:nor/>
                      </m:rPr>
                      <a:rPr lang="en-IN" sz="2800" b="1" baseline="-25000" dirty="0" smtClean="0">
                        <a:solidFill>
                          <a:srgbClr val="C00000"/>
                        </a:solidFill>
                        <a:latin typeface="Times New Roman" panose="02020603050405020304" pitchFamily="18" charset="0"/>
                        <a:cs typeface="Times New Roman" panose="02020603050405020304" pitchFamily="18" charset="0"/>
                      </a:rPr>
                      <m:t>2</m:t>
                    </m:r>
                    <m:r>
                      <m:rPr>
                        <m:nor/>
                      </m:rPr>
                      <a:rPr lang="en-IN" sz="2800" b="1" dirty="0" smtClean="0">
                        <a:solidFill>
                          <a:srgbClr val="C00000"/>
                        </a:solidFill>
                        <a:latin typeface="Times New Roman" panose="02020603050405020304" pitchFamily="18" charset="0"/>
                        <a:cs typeface="Times New Roman" panose="02020603050405020304" pitchFamily="18" charset="0"/>
                      </a:rPr>
                      <m:t>n</m:t>
                    </m:r>
                  </m:oMath>
                </a14:m>
                <a:endParaRPr lang="en-IN" sz="2800" b="1" dirty="0" smtClean="0">
                  <a:solidFill>
                    <a:srgbClr val="C00000"/>
                  </a:solidFill>
                  <a:latin typeface="Times New Roman" panose="02020603050405020304" pitchFamily="18" charset="0"/>
                  <a:cs typeface="Times New Roman" panose="02020603050405020304" pitchFamily="18" charset="0"/>
                </a:endParaRPr>
              </a:p>
              <a:p>
                <a:endParaRPr lang="en-IN" sz="2800" b="1" dirty="0" smtClean="0">
                  <a:solidFill>
                    <a:srgbClr val="C00000"/>
                  </a:solidFill>
                  <a:latin typeface="Times New Roman" panose="02020603050405020304" pitchFamily="18" charset="0"/>
                  <a:cs typeface="Times New Roman" panose="02020603050405020304" pitchFamily="18" charset="0"/>
                </a:endParaRPr>
              </a:p>
              <a:p>
                <a:r>
                  <a:rPr lang="en-IN" sz="2800" b="1" dirty="0" smtClean="0">
                    <a:solidFill>
                      <a:srgbClr val="FF0000"/>
                    </a:solidFill>
                    <a:latin typeface="Times New Roman" panose="02020603050405020304" pitchFamily="18" charset="0"/>
                    <a:cs typeface="Times New Roman" panose="02020603050405020304" pitchFamily="18" charset="0"/>
                  </a:rPr>
                  <a:t>T(n)=2n</a:t>
                </a:r>
                <a14:m>
                  <m:oMath xmlns:m="http://schemas.openxmlformats.org/officeDocument/2006/math">
                    <m:r>
                      <a:rPr lang="en-IN" sz="2800" b="1" i="0" smtClean="0">
                        <a:solidFill>
                          <a:srgbClr val="FF0000"/>
                        </a:solidFill>
                        <a:latin typeface="Cambria Math" panose="02040503050406030204" pitchFamily="18" charset="0"/>
                        <a:cs typeface="Times New Roman" panose="02020603050405020304" pitchFamily="18" charset="0"/>
                      </a:rPr>
                      <m:t>+</m:t>
                    </m:r>
                    <m:r>
                      <a:rPr lang="en-IN" sz="2800" b="1" i="1" smtClean="0">
                        <a:solidFill>
                          <a:srgbClr val="FF0000"/>
                        </a:solidFill>
                        <a:latin typeface="Cambria Math" panose="02040503050406030204" pitchFamily="18" charset="0"/>
                        <a:cs typeface="Times New Roman" panose="02020603050405020304" pitchFamily="18" charset="0"/>
                      </a:rPr>
                      <m:t>𝒏</m:t>
                    </m:r>
                  </m:oMath>
                </a14:m>
                <a:r>
                  <a:rPr lang="en-IN" sz="2800" b="1" dirty="0" smtClean="0">
                    <a:solidFill>
                      <a:srgbClr val="FF0000"/>
                    </a:solidFill>
                    <a:latin typeface="Times New Roman" panose="02020603050405020304" pitchFamily="18" charset="0"/>
                    <a:cs typeface="Times New Roman" panose="02020603050405020304" pitchFamily="18" charset="0"/>
                  </a:rPr>
                  <a:t> </a:t>
                </a:r>
                <a14:m>
                  <m:oMath xmlns:m="http://schemas.openxmlformats.org/officeDocument/2006/math">
                    <m:r>
                      <a:rPr lang="en-IN" sz="2800" b="1" i="0" dirty="0" smtClean="0">
                        <a:solidFill>
                          <a:srgbClr val="FF0000"/>
                        </a:solidFill>
                        <a:latin typeface="Cambria Math" panose="02040503050406030204" pitchFamily="18" charset="0"/>
                        <a:cs typeface="Times New Roman" panose="02020603050405020304" pitchFamily="18" charset="0"/>
                      </a:rPr>
                      <m:t>.</m:t>
                    </m:r>
                    <m:r>
                      <m:rPr>
                        <m:nor/>
                      </m:rPr>
                      <a:rPr lang="en-IN" sz="2800" b="1" dirty="0" smtClean="0">
                        <a:solidFill>
                          <a:srgbClr val="FF0000"/>
                        </a:solidFill>
                        <a:latin typeface="Times New Roman" panose="02020603050405020304" pitchFamily="18" charset="0"/>
                        <a:cs typeface="Times New Roman" panose="02020603050405020304" pitchFamily="18" charset="0"/>
                      </a:rPr>
                      <m:t>log</m:t>
                    </m:r>
                    <m:r>
                      <m:rPr>
                        <m:nor/>
                      </m:rPr>
                      <a:rPr lang="en-IN" sz="2800" b="1" baseline="-25000" dirty="0" smtClean="0">
                        <a:solidFill>
                          <a:srgbClr val="FF0000"/>
                        </a:solidFill>
                        <a:latin typeface="Times New Roman" panose="02020603050405020304" pitchFamily="18" charset="0"/>
                        <a:cs typeface="Times New Roman" panose="02020603050405020304" pitchFamily="18" charset="0"/>
                      </a:rPr>
                      <m:t>2</m:t>
                    </m:r>
                    <m:r>
                      <m:rPr>
                        <m:nor/>
                      </m:rPr>
                      <a:rPr lang="en-IN" sz="2800" b="1" dirty="0" smtClean="0">
                        <a:solidFill>
                          <a:srgbClr val="FF0000"/>
                        </a:solidFill>
                        <a:latin typeface="Times New Roman" panose="02020603050405020304" pitchFamily="18" charset="0"/>
                        <a:cs typeface="Times New Roman" panose="02020603050405020304" pitchFamily="18" charset="0"/>
                      </a:rPr>
                      <m:t>n</m:t>
                    </m:r>
                  </m:oMath>
                </a14:m>
                <a:endParaRPr lang="en-IN" sz="2800" b="1" dirty="0" smtClean="0">
                  <a:solidFill>
                    <a:srgbClr val="FF0000"/>
                  </a:solidFill>
                  <a:latin typeface="Times New Roman" panose="02020603050405020304" pitchFamily="18" charset="0"/>
                  <a:cs typeface="Times New Roman" panose="02020603050405020304" pitchFamily="18" charset="0"/>
                </a:endParaRPr>
              </a:p>
              <a:p>
                <a:r>
                  <a:rPr lang="en-IN" sz="2800" b="1" dirty="0">
                    <a:solidFill>
                      <a:srgbClr val="FF0000"/>
                    </a:solidFill>
                    <a:latin typeface="Times New Roman" panose="02020603050405020304" pitchFamily="18" charset="0"/>
                    <a:cs typeface="Times New Roman" panose="02020603050405020304" pitchFamily="18" charset="0"/>
                  </a:rPr>
                  <a:t>T(n</a:t>
                </a:r>
                <a:r>
                  <a:rPr lang="en-IN" sz="2800" b="1" dirty="0" smtClean="0">
                    <a:solidFill>
                      <a:srgbClr val="FF0000"/>
                    </a:solidFill>
                    <a:latin typeface="Times New Roman" panose="02020603050405020304" pitchFamily="18" charset="0"/>
                    <a:cs typeface="Times New Roman" panose="02020603050405020304" pitchFamily="18" charset="0"/>
                  </a:rPr>
                  <a:t>)=</a:t>
                </a:r>
                <a14:m>
                  <m:oMath xmlns:m="http://schemas.openxmlformats.org/officeDocument/2006/math">
                    <m:r>
                      <a:rPr lang="en-IN" sz="2800" b="1" i="0" smtClean="0">
                        <a:solidFill>
                          <a:srgbClr val="FF0000"/>
                        </a:solidFill>
                        <a:latin typeface="Cambria Math" panose="02040503050406030204" pitchFamily="18" charset="0"/>
                        <a:cs typeface="Times New Roman" panose="02020603050405020304" pitchFamily="18" charset="0"/>
                      </a:rPr>
                      <m:t>𝐎</m:t>
                    </m:r>
                    <m:r>
                      <a:rPr lang="en-IN" sz="2800" b="1" i="0" smtClean="0">
                        <a:solidFill>
                          <a:srgbClr val="FF0000"/>
                        </a:solidFill>
                        <a:latin typeface="Cambria Math" panose="02040503050406030204" pitchFamily="18" charset="0"/>
                        <a:cs typeface="Times New Roman" panose="02020603050405020304" pitchFamily="18" charset="0"/>
                      </a:rPr>
                      <m:t>(</m:t>
                    </m:r>
                    <m:r>
                      <a:rPr lang="en-IN" sz="2800" b="1" i="1">
                        <a:solidFill>
                          <a:srgbClr val="FF0000"/>
                        </a:solidFill>
                        <a:latin typeface="Cambria Math" panose="02040503050406030204" pitchFamily="18" charset="0"/>
                        <a:cs typeface="Times New Roman" panose="02020603050405020304" pitchFamily="18" charset="0"/>
                      </a:rPr>
                      <m:t>𝒏</m:t>
                    </m:r>
                  </m:oMath>
                </a14:m>
                <a:r>
                  <a:rPr lang="en-IN" sz="2800" b="1" dirty="0">
                    <a:solidFill>
                      <a:srgbClr val="FF0000"/>
                    </a:solidFill>
                    <a:latin typeface="Times New Roman" panose="02020603050405020304" pitchFamily="18" charset="0"/>
                    <a:cs typeface="Times New Roman" panose="02020603050405020304" pitchFamily="18" charset="0"/>
                  </a:rPr>
                  <a:t> </a:t>
                </a:r>
                <a14:m>
                  <m:oMath xmlns:m="http://schemas.openxmlformats.org/officeDocument/2006/math">
                    <m:r>
                      <a:rPr lang="en-IN" sz="2800" b="1" dirty="0">
                        <a:solidFill>
                          <a:srgbClr val="FF0000"/>
                        </a:solidFill>
                        <a:latin typeface="Cambria Math" panose="02040503050406030204" pitchFamily="18" charset="0"/>
                        <a:cs typeface="Times New Roman" panose="02020603050405020304" pitchFamily="18" charset="0"/>
                      </a:rPr>
                      <m:t>.</m:t>
                    </m:r>
                    <m:r>
                      <m:rPr>
                        <m:nor/>
                      </m:rPr>
                      <a:rPr lang="en-IN" sz="2800" b="1" dirty="0">
                        <a:solidFill>
                          <a:srgbClr val="FF0000"/>
                        </a:solidFill>
                        <a:latin typeface="Times New Roman" panose="02020603050405020304" pitchFamily="18" charset="0"/>
                        <a:cs typeface="Times New Roman" panose="02020603050405020304" pitchFamily="18" charset="0"/>
                      </a:rPr>
                      <m:t>log</m:t>
                    </m:r>
                    <m:r>
                      <m:rPr>
                        <m:nor/>
                      </m:rPr>
                      <a:rPr lang="en-IN" sz="2800" b="1" baseline="-25000" dirty="0">
                        <a:solidFill>
                          <a:srgbClr val="FF0000"/>
                        </a:solidFill>
                        <a:latin typeface="Times New Roman" panose="02020603050405020304" pitchFamily="18" charset="0"/>
                        <a:cs typeface="Times New Roman" panose="02020603050405020304" pitchFamily="18" charset="0"/>
                      </a:rPr>
                      <m:t>2</m:t>
                    </m:r>
                    <m:r>
                      <m:rPr>
                        <m:nor/>
                      </m:rPr>
                      <a:rPr lang="en-IN" sz="2800" b="1" dirty="0">
                        <a:solidFill>
                          <a:srgbClr val="FF0000"/>
                        </a:solidFill>
                        <a:latin typeface="Times New Roman" panose="02020603050405020304" pitchFamily="18" charset="0"/>
                        <a:cs typeface="Times New Roman" panose="02020603050405020304" pitchFamily="18" charset="0"/>
                      </a:rPr>
                      <m:t>n</m:t>
                    </m:r>
                  </m:oMath>
                </a14:m>
                <a:r>
                  <a:rPr lang="en-IN" sz="2800" b="1" dirty="0" smtClean="0">
                    <a:solidFill>
                      <a:srgbClr val="FF0000"/>
                    </a:solidFill>
                    <a:latin typeface="Times New Roman" panose="02020603050405020304" pitchFamily="18" charset="0"/>
                    <a:cs typeface="Times New Roman" panose="02020603050405020304" pitchFamily="18" charset="0"/>
                  </a:rPr>
                  <a:t>)</a:t>
                </a:r>
                <a:endParaRPr lang="en-IN" sz="2800" b="1" dirty="0">
                  <a:solidFill>
                    <a:srgbClr val="FF0000"/>
                  </a:solidFill>
                  <a:latin typeface="Times New Roman" panose="02020603050405020304" pitchFamily="18" charset="0"/>
                  <a:cs typeface="Times New Roman" panose="02020603050405020304" pitchFamily="18" charset="0"/>
                </a:endParaRPr>
              </a:p>
              <a:p>
                <a:endParaRPr lang="en-IN" sz="2800" b="1" dirty="0" smtClean="0">
                  <a:solidFill>
                    <a:srgbClr val="FF0000"/>
                  </a:solidFill>
                  <a:latin typeface="Times New Roman" panose="02020603050405020304" pitchFamily="18" charset="0"/>
                  <a:cs typeface="Times New Roman" panose="02020603050405020304" pitchFamily="18" charset="0"/>
                </a:endParaRPr>
              </a:p>
              <a:p>
                <a:endParaRPr lang="en-IN" sz="2000" b="1" dirty="0" smtClean="0">
                  <a:solidFill>
                    <a:srgbClr val="002060"/>
                  </a:solidFill>
                  <a:latin typeface="Times New Roman" panose="02020603050405020304" pitchFamily="18" charset="0"/>
                  <a:cs typeface="Times New Roman" panose="02020603050405020304" pitchFamily="18" charset="0"/>
                </a:endParaRPr>
              </a:p>
              <a:p>
                <a:endParaRPr lang="en-IN"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6269907" y="1470973"/>
                <a:ext cx="6233997" cy="6316153"/>
              </a:xfrm>
              <a:prstGeom prst="rect">
                <a:avLst/>
              </a:prstGeom>
              <a:blipFill rotWithShape="0">
                <a:blip r:embed="rId6"/>
                <a:stretch>
                  <a:fillRect l="-2055" t="-483"/>
                </a:stretch>
              </a:blipFill>
            </p:spPr>
            <p:txBody>
              <a:bodyPr/>
              <a:lstStyle/>
              <a:p>
                <a:r>
                  <a:rPr lang="en-IN">
                    <a:noFill/>
                  </a:rPr>
                  <a:t> </a:t>
                </a:r>
              </a:p>
            </p:txBody>
          </p:sp>
        </mc:Fallback>
      </mc:AlternateContent>
      <p:sp>
        <p:nvSpPr>
          <p:cNvPr id="6" name="Date Placeholder 5"/>
          <p:cNvSpPr>
            <a:spLocks noGrp="1"/>
          </p:cNvSpPr>
          <p:nvPr>
            <p:ph type="dt" sz="half" idx="10"/>
          </p:nvPr>
        </p:nvSpPr>
        <p:spPr/>
        <p:txBody>
          <a:bodyPr/>
          <a:lstStyle/>
          <a:p>
            <a:fld id="{9AC8E3AA-A629-4769-BB81-7FC126300241}" type="datetime1">
              <a:rPr lang="en-IN" smtClean="0"/>
              <a:t>21-03-2026</a:t>
            </a:fld>
            <a:endParaRPr lang="en-IN"/>
          </a:p>
        </p:txBody>
      </p:sp>
    </p:spTree>
    <p:extLst>
      <p:ext uri="{BB962C8B-B14F-4D97-AF65-F5344CB8AC3E}">
        <p14:creationId xmlns:p14="http://schemas.microsoft.com/office/powerpoint/2010/main" val="8779686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85022" y="856034"/>
            <a:ext cx="11649637" cy="5493610"/>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a:t>
            </a:r>
          </a:p>
          <a:p>
            <a:pPr algn="just"/>
            <a:r>
              <a:rPr lang="en-IN" b="1" dirty="0" smtClean="0">
                <a:solidFill>
                  <a:srgbClr val="002060"/>
                </a:solidFill>
                <a:latin typeface="Times New Roman" panose="02020603050405020304" pitchFamily="18" charset="0"/>
                <a:cs typeface="Times New Roman" panose="02020603050405020304" pitchFamily="18" charset="0"/>
              </a:rPr>
              <a:t>Let A is a list of elements  that are in sorted order. Problem is determining the whether the given </a:t>
            </a:r>
            <a:r>
              <a:rPr lang="en-IN" b="1" dirty="0" smtClean="0">
                <a:solidFill>
                  <a:srgbClr val="C00000"/>
                </a:solidFill>
                <a:latin typeface="Times New Roman" panose="02020603050405020304" pitchFamily="18" charset="0"/>
                <a:cs typeface="Times New Roman" panose="02020603050405020304" pitchFamily="18" charset="0"/>
              </a:rPr>
              <a:t>key</a:t>
            </a:r>
            <a:r>
              <a:rPr lang="en-IN" b="1" dirty="0" smtClean="0">
                <a:solidFill>
                  <a:srgbClr val="002060"/>
                </a:solidFill>
                <a:latin typeface="Times New Roman" panose="02020603050405020304" pitchFamily="18" charset="0"/>
                <a:cs typeface="Times New Roman" panose="02020603050405020304" pitchFamily="18" charset="0"/>
              </a:rPr>
              <a:t> element present in A.</a:t>
            </a:r>
          </a:p>
          <a:p>
            <a:pPr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If key = A[j], </a:t>
            </a:r>
          </a:p>
          <a:p>
            <a:pPr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key present at position j+1</a:t>
            </a:r>
          </a:p>
          <a:p>
            <a:pPr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else </a:t>
            </a:r>
          </a:p>
          <a:p>
            <a:pPr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key not presents in the list</a:t>
            </a: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16</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65B41DEB-F7B5-4F52-9905-C1D93FEE657F}" type="datetime1">
              <a:rPr lang="en-IN" smtClean="0"/>
              <a:t>21-03-2026</a:t>
            </a:fld>
            <a:endParaRPr lang="en-IN"/>
          </a:p>
        </p:txBody>
      </p:sp>
    </p:spTree>
    <p:extLst>
      <p:ext uri="{BB962C8B-B14F-4D97-AF65-F5344CB8AC3E}">
        <p14:creationId xmlns:p14="http://schemas.microsoft.com/office/powerpoint/2010/main" val="7670868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85022" y="856034"/>
            <a:ext cx="11649637" cy="5493610"/>
          </a:xfrm>
        </p:spPr>
        <p:txBody>
          <a:bodyPr>
            <a:normAutofit/>
          </a:bodyPr>
          <a:lstStyle/>
          <a:p>
            <a:pPr algn="just"/>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a:t>
            </a:r>
          </a:p>
          <a:p>
            <a:pPr algn="just"/>
            <a:endParaRPr lang="en-IN"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17</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2C5A7077-C25C-47C4-BECB-D3036DDF689F}" type="datetime1">
              <a:rPr lang="en-IN" smtClean="0"/>
              <a:t>21-03-2026</a:t>
            </a:fld>
            <a:endParaRPr lang="en-IN"/>
          </a:p>
        </p:txBody>
      </p:sp>
      <p:graphicFrame>
        <p:nvGraphicFramePr>
          <p:cNvPr id="9" name="Table 8"/>
          <p:cNvGraphicFramePr>
            <a:graphicFrameLocks noGrp="1"/>
          </p:cNvGraphicFramePr>
          <p:nvPr>
            <p:extLst>
              <p:ext uri="{D42A27DB-BD31-4B8C-83A1-F6EECF244321}">
                <p14:modId xmlns:p14="http://schemas.microsoft.com/office/powerpoint/2010/main" val="3829447214"/>
              </p:ext>
            </p:extLst>
          </p:nvPr>
        </p:nvGraphicFramePr>
        <p:xfrm>
          <a:off x="-90616" y="1576401"/>
          <a:ext cx="12117859" cy="5298607"/>
        </p:xfrm>
        <a:graphic>
          <a:graphicData uri="http://schemas.openxmlformats.org/drawingml/2006/table">
            <a:tbl>
              <a:tblPr firstRow="1" bandRow="1">
                <a:tableStyleId>{5C22544A-7EE6-4342-B048-85BDC9FD1C3A}</a:tableStyleId>
              </a:tblPr>
              <a:tblGrid>
                <a:gridCol w="1490290"/>
                <a:gridCol w="1129342"/>
                <a:gridCol w="3589909"/>
                <a:gridCol w="5908318"/>
              </a:tblGrid>
              <a:tr h="364248">
                <a:tc>
                  <a:txBody>
                    <a:bodyPr/>
                    <a:lstStyle/>
                    <a:p>
                      <a:endParaRPr lang="en-IN" sz="1800" kern="1200" dirty="0">
                        <a:solidFill>
                          <a:schemeClr val="dk1"/>
                        </a:solidFill>
                        <a:latin typeface="+mn-lt"/>
                        <a:ea typeface="+mn-ea"/>
                        <a:cs typeface="+mn-cs"/>
                      </a:endParaRPr>
                    </a:p>
                  </a:txBody>
                  <a:tcPr/>
                </a:tc>
                <a:tc>
                  <a:txBody>
                    <a:bodyPr/>
                    <a:lstStyle/>
                    <a:p>
                      <a:r>
                        <a:rPr lang="en-IN" sz="1800" kern="1200" dirty="0" smtClean="0">
                          <a:solidFill>
                            <a:schemeClr val="dk1"/>
                          </a:solidFill>
                          <a:latin typeface="+mn-lt"/>
                          <a:ea typeface="+mn-ea"/>
                          <a:cs typeface="+mn-cs"/>
                        </a:rPr>
                        <a:t>best</a:t>
                      </a:r>
                      <a:endParaRPr lang="en-IN" sz="1800" kern="1200" dirty="0">
                        <a:solidFill>
                          <a:schemeClr val="dk1"/>
                        </a:solidFill>
                        <a:latin typeface="+mn-lt"/>
                        <a:ea typeface="+mn-ea"/>
                        <a:cs typeface="+mn-cs"/>
                      </a:endParaRPr>
                    </a:p>
                  </a:txBody>
                  <a:tcPr/>
                </a:tc>
                <a:tc>
                  <a:txBody>
                    <a:bodyPr/>
                    <a:lstStyle/>
                    <a:p>
                      <a:r>
                        <a:rPr lang="en-IN" sz="1800" kern="1200" dirty="0" smtClean="0">
                          <a:solidFill>
                            <a:schemeClr val="dk1"/>
                          </a:solidFill>
                          <a:latin typeface="+mn-lt"/>
                          <a:ea typeface="+mn-ea"/>
                          <a:cs typeface="+mn-cs"/>
                        </a:rPr>
                        <a:t>Average</a:t>
                      </a:r>
                      <a:endParaRPr lang="en-IN" sz="18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Worst</a:t>
                      </a:r>
                      <a:endParaRPr lang="en-IN" sz="1800" kern="1200" dirty="0">
                        <a:solidFill>
                          <a:schemeClr val="dk1"/>
                        </a:solidFill>
                        <a:latin typeface="+mn-lt"/>
                        <a:ea typeface="+mn-ea"/>
                        <a:cs typeface="+mn-cs"/>
                      </a:endParaRPr>
                    </a:p>
                  </a:txBody>
                  <a:tcPr/>
                </a:tc>
              </a:tr>
              <a:tr h="9106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Linear search</a:t>
                      </a:r>
                    </a:p>
                    <a:p>
                      <a:endParaRPr lang="en-IN" sz="18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effectLst/>
                          <a:latin typeface="+mn-lt"/>
                          <a:ea typeface="+mn-ea"/>
                          <a:cs typeface="+mn-cs"/>
                        </a:rPr>
                        <a:t>O(1) </a:t>
                      </a:r>
                      <a:endParaRPr lang="en-IN" sz="1800" kern="1200" dirty="0" smtClean="0">
                        <a:solidFill>
                          <a:schemeClr val="dk1"/>
                        </a:solidFill>
                        <a:latin typeface="+mn-lt"/>
                        <a:ea typeface="+mn-ea"/>
                        <a:cs typeface="+mn-cs"/>
                      </a:endParaRPr>
                    </a:p>
                    <a:p>
                      <a:endParaRPr lang="en-IN" sz="1800" kern="1200" dirty="0">
                        <a:solidFill>
                          <a:schemeClr val="dk1"/>
                        </a:solidFill>
                        <a:latin typeface="+mn-lt"/>
                        <a:ea typeface="+mn-ea"/>
                        <a:cs typeface="+mn-cs"/>
                      </a:endParaRPr>
                    </a:p>
                  </a:txBody>
                  <a:tcPr/>
                </a:tc>
                <a:tc>
                  <a:txBody>
                    <a:bodyPr/>
                    <a:lstStyle/>
                    <a:p>
                      <a:r>
                        <a:rPr lang="en-IN" sz="1800" b="0" i="0" kern="1200" dirty="0" smtClean="0">
                          <a:solidFill>
                            <a:schemeClr val="dk1"/>
                          </a:solidFill>
                          <a:effectLst/>
                          <a:latin typeface="+mn-lt"/>
                          <a:ea typeface="+mn-ea"/>
                          <a:cs typeface="+mn-cs"/>
                        </a:rPr>
                        <a:t>O(n).</a:t>
                      </a:r>
                    </a:p>
                    <a:p>
                      <a:r>
                        <a:rPr lang="en-US" sz="1800" b="0" i="0" kern="1200" dirty="0" smtClean="0">
                          <a:solidFill>
                            <a:schemeClr val="dk1"/>
                          </a:solidFill>
                          <a:effectLst/>
                          <a:latin typeface="+mn-lt"/>
                          <a:ea typeface="+mn-ea"/>
                          <a:cs typeface="+mn-cs"/>
                        </a:rPr>
                        <a:t> when the item to be searched is in some where middle of the Array</a:t>
                      </a:r>
                      <a:endParaRPr lang="en-IN" sz="18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effectLst/>
                          <a:latin typeface="+mn-lt"/>
                          <a:ea typeface="+mn-ea"/>
                          <a:cs typeface="+mn-cs"/>
                        </a:rPr>
                        <a: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dk1"/>
                          </a:solidFill>
                          <a:effectLst/>
                          <a:latin typeface="+mn-lt"/>
                          <a:ea typeface="+mn-ea"/>
                          <a:cs typeface="+mn-cs"/>
                        </a:rPr>
                        <a:t>Since the target element is present in the </a:t>
                      </a:r>
                      <a:r>
                        <a:rPr lang="en-US" sz="1800" b="0" i="0" kern="1200" dirty="0" err="1" smtClean="0">
                          <a:solidFill>
                            <a:schemeClr val="dk1"/>
                          </a:solidFill>
                          <a:effectLst/>
                          <a:latin typeface="+mn-lt"/>
                          <a:ea typeface="+mn-ea"/>
                          <a:cs typeface="+mn-cs"/>
                        </a:rPr>
                        <a:t>extremitites</a:t>
                      </a:r>
                      <a:r>
                        <a:rPr lang="en-US" sz="1800" b="0" i="0" kern="1200" dirty="0" smtClean="0">
                          <a:solidFill>
                            <a:schemeClr val="dk1"/>
                          </a:solidFill>
                          <a:effectLst/>
                          <a:latin typeface="+mn-lt"/>
                          <a:ea typeface="+mn-ea"/>
                          <a:cs typeface="+mn-cs"/>
                        </a:rPr>
                        <a:t> (first or last index), </a:t>
                      </a:r>
                      <a:endParaRPr lang="en-IN" sz="1800" kern="1200" dirty="0">
                        <a:solidFill>
                          <a:schemeClr val="dk1"/>
                        </a:solidFill>
                        <a:latin typeface="+mn-lt"/>
                        <a:ea typeface="+mn-ea"/>
                        <a:cs typeface="+mn-cs"/>
                      </a:endParaRPr>
                    </a:p>
                  </a:txBody>
                  <a:tcPr/>
                </a:tc>
              </a:tr>
              <a:tr h="118380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Binary Search</a:t>
                      </a:r>
                      <a:endParaRPr lang="en-IN" sz="1800" kern="1200" dirty="0">
                        <a:solidFill>
                          <a:schemeClr val="dk1"/>
                        </a:solidFill>
                        <a:latin typeface="+mn-lt"/>
                        <a:ea typeface="+mn-ea"/>
                        <a:cs typeface="+mn-cs"/>
                      </a:endParaRPr>
                    </a:p>
                  </a:txBody>
                  <a:tcPr/>
                </a:tc>
                <a:tc>
                  <a:txBody>
                    <a:bodyPr/>
                    <a:lstStyle/>
                    <a:p>
                      <a:r>
                        <a:rPr lang="en-IN" sz="1800" b="0" i="0" kern="1200" dirty="0" smtClean="0">
                          <a:solidFill>
                            <a:schemeClr val="dk1"/>
                          </a:solidFill>
                          <a:effectLst/>
                          <a:latin typeface="+mn-lt"/>
                          <a:ea typeface="+mn-ea"/>
                          <a:cs typeface="+mn-cs"/>
                        </a:rPr>
                        <a:t>O(1) </a:t>
                      </a:r>
                      <a:endParaRPr lang="en-IN" sz="1800" kern="1200" dirty="0">
                        <a:solidFill>
                          <a:schemeClr val="dk1"/>
                        </a:solidFill>
                        <a:latin typeface="+mn-lt"/>
                        <a:ea typeface="+mn-ea"/>
                        <a:cs typeface="+mn-cs"/>
                      </a:endParaRPr>
                    </a:p>
                  </a:txBody>
                  <a:tcPr/>
                </a:tc>
                <a:tc>
                  <a:txBody>
                    <a:bodyPr/>
                    <a:lstStyle/>
                    <a:p>
                      <a:r>
                        <a:rPr lang="en-IN" sz="1800" b="0" i="0" kern="1200" dirty="0" smtClean="0">
                          <a:solidFill>
                            <a:schemeClr val="dk1"/>
                          </a:solidFill>
                          <a:effectLst/>
                          <a:latin typeface="+mn-lt"/>
                          <a:ea typeface="+mn-ea"/>
                          <a:cs typeface="+mn-cs"/>
                        </a:rPr>
                        <a:t>O(</a:t>
                      </a:r>
                      <a:r>
                        <a:rPr lang="en-IN" sz="1800" b="0" i="0" kern="1200" dirty="0" err="1" smtClean="0">
                          <a:solidFill>
                            <a:schemeClr val="dk1"/>
                          </a:solidFill>
                          <a:effectLst/>
                          <a:latin typeface="+mn-lt"/>
                          <a:ea typeface="+mn-ea"/>
                          <a:cs typeface="+mn-cs"/>
                        </a:rPr>
                        <a:t>logn</a:t>
                      </a:r>
                      <a:r>
                        <a:rPr lang="en-IN" sz="1800" b="0" i="0" kern="1200" dirty="0" smtClean="0">
                          <a:solidFill>
                            <a:schemeClr val="dk1"/>
                          </a:solidFill>
                          <a:effectLst/>
                          <a:latin typeface="+mn-lt"/>
                          <a:ea typeface="+mn-ea"/>
                          <a:cs typeface="+mn-cs"/>
                        </a:rPr>
                        <a:t>)</a:t>
                      </a:r>
                      <a:endParaRPr lang="en-IN" sz="1800" kern="1200" dirty="0">
                        <a:solidFill>
                          <a:schemeClr val="dk1"/>
                        </a:solidFill>
                        <a:latin typeface="+mn-lt"/>
                        <a:ea typeface="+mn-ea"/>
                        <a:cs typeface="+mn-cs"/>
                      </a:endParaRPr>
                    </a:p>
                  </a:txBody>
                  <a:tcPr/>
                </a:tc>
                <a:tc>
                  <a:txBody>
                    <a:bodyPr/>
                    <a:lstStyle/>
                    <a:p>
                      <a:r>
                        <a:rPr lang="en-IN" sz="1800" b="0" i="0" kern="1200" dirty="0" smtClean="0">
                          <a:solidFill>
                            <a:schemeClr val="dk1"/>
                          </a:solidFill>
                          <a:effectLst/>
                          <a:latin typeface="+mn-lt"/>
                          <a:ea typeface="+mn-ea"/>
                          <a:cs typeface="+mn-cs"/>
                        </a:rPr>
                        <a:t>O(log n) </a:t>
                      </a:r>
                    </a:p>
                    <a:p>
                      <a:r>
                        <a:rPr lang="en-US" sz="1800" b="0" i="0" kern="1200" dirty="0" smtClean="0">
                          <a:solidFill>
                            <a:schemeClr val="dk1"/>
                          </a:solidFill>
                          <a:effectLst/>
                          <a:latin typeface="+mn-lt"/>
                          <a:ea typeface="+mn-ea"/>
                          <a:cs typeface="+mn-cs"/>
                        </a:rPr>
                        <a:t>Since the target element is present in the </a:t>
                      </a:r>
                      <a:r>
                        <a:rPr lang="en-US" sz="1800" b="0" i="0" kern="1200" dirty="0" err="1" smtClean="0">
                          <a:solidFill>
                            <a:schemeClr val="dk1"/>
                          </a:solidFill>
                          <a:effectLst/>
                          <a:latin typeface="+mn-lt"/>
                          <a:ea typeface="+mn-ea"/>
                          <a:cs typeface="+mn-cs"/>
                        </a:rPr>
                        <a:t>extremitites</a:t>
                      </a:r>
                      <a:r>
                        <a:rPr lang="en-US" sz="1800" b="0" i="0" kern="1200" dirty="0" smtClean="0">
                          <a:solidFill>
                            <a:schemeClr val="dk1"/>
                          </a:solidFill>
                          <a:effectLst/>
                          <a:latin typeface="+mn-lt"/>
                          <a:ea typeface="+mn-ea"/>
                          <a:cs typeface="+mn-cs"/>
                        </a:rPr>
                        <a:t> (first or last index), there are </a:t>
                      </a:r>
                      <a:r>
                        <a:rPr lang="en-US" sz="1800" b="0" i="0" kern="1200" dirty="0" err="1" smtClean="0">
                          <a:solidFill>
                            <a:schemeClr val="dk1"/>
                          </a:solidFill>
                          <a:effectLst/>
                          <a:latin typeface="+mn-lt"/>
                          <a:ea typeface="+mn-ea"/>
                          <a:cs typeface="+mn-cs"/>
                        </a:rPr>
                        <a:t>logn</a:t>
                      </a:r>
                      <a:r>
                        <a:rPr lang="en-US" sz="1800" b="0" i="0" kern="1200" dirty="0" smtClean="0">
                          <a:solidFill>
                            <a:schemeClr val="dk1"/>
                          </a:solidFill>
                          <a:effectLst/>
                          <a:latin typeface="+mn-lt"/>
                          <a:ea typeface="+mn-ea"/>
                          <a:cs typeface="+mn-cs"/>
                        </a:rPr>
                        <a:t> comparisons in total. </a:t>
                      </a:r>
                      <a:endParaRPr lang="en-IN" sz="1800" kern="1200" dirty="0">
                        <a:solidFill>
                          <a:schemeClr val="dk1"/>
                        </a:solidFill>
                        <a:latin typeface="+mn-lt"/>
                        <a:ea typeface="+mn-ea"/>
                        <a:cs typeface="+mn-cs"/>
                      </a:endParaRPr>
                    </a:p>
                  </a:txBody>
                  <a:tcPr/>
                </a:tc>
              </a:tr>
              <a:tr h="1456993">
                <a:tc>
                  <a:txBody>
                    <a:bodyPr/>
                    <a:lstStyle/>
                    <a:p>
                      <a:r>
                        <a:rPr lang="en-IN" sz="1800" kern="1200" dirty="0" smtClean="0">
                          <a:solidFill>
                            <a:schemeClr val="dk1"/>
                          </a:solidFill>
                          <a:latin typeface="+mn-lt"/>
                          <a:ea typeface="+mn-ea"/>
                          <a:cs typeface="+mn-cs"/>
                        </a:rPr>
                        <a:t>Merge</a:t>
                      </a:r>
                      <a:r>
                        <a:rPr lang="en-IN" sz="1800" kern="1200" baseline="0" dirty="0" smtClean="0">
                          <a:solidFill>
                            <a:schemeClr val="dk1"/>
                          </a:solidFill>
                          <a:latin typeface="+mn-lt"/>
                          <a:ea typeface="+mn-ea"/>
                          <a:cs typeface="+mn-cs"/>
                        </a:rPr>
                        <a:t> sort</a:t>
                      </a:r>
                      <a:endParaRPr lang="en-IN" sz="18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effectLst/>
                          <a:latin typeface="+mn-lt"/>
                          <a:ea typeface="+mn-ea"/>
                          <a:cs typeface="+mn-cs"/>
                        </a:rPr>
                        <a:t>O(n </a:t>
                      </a:r>
                      <a:r>
                        <a:rPr lang="en-IN" sz="1800" b="0" i="0" kern="1200" dirty="0" err="1" smtClean="0">
                          <a:solidFill>
                            <a:schemeClr val="dk1"/>
                          </a:solidFill>
                          <a:effectLst/>
                          <a:latin typeface="+mn-lt"/>
                          <a:ea typeface="+mn-ea"/>
                          <a:cs typeface="+mn-cs"/>
                        </a:rPr>
                        <a:t>logn</a:t>
                      </a:r>
                      <a:r>
                        <a:rPr lang="en-IN" sz="1800" b="0" i="0" kern="1200" dirty="0" smtClean="0">
                          <a:solidFill>
                            <a:schemeClr val="dk1"/>
                          </a:solidFill>
                          <a:effectLst/>
                          <a:latin typeface="+mn-lt"/>
                          <a:ea typeface="+mn-ea"/>
                          <a:cs typeface="+mn-cs"/>
                        </a:rPr>
                        <a:t>)</a:t>
                      </a:r>
                    </a:p>
                    <a:p>
                      <a:endParaRPr lang="en-IN" sz="1800" kern="1200" dirty="0">
                        <a:solidFill>
                          <a:schemeClr val="dk1"/>
                        </a:solidFill>
                        <a:latin typeface="+mn-lt"/>
                        <a:ea typeface="+mn-ea"/>
                        <a:cs typeface="+mn-cs"/>
                      </a:endParaRPr>
                    </a:p>
                  </a:txBody>
                  <a:tcPr/>
                </a:tc>
                <a:tc>
                  <a:txBody>
                    <a:bodyPr/>
                    <a:lstStyle/>
                    <a:p>
                      <a:r>
                        <a:rPr lang="en-IN" sz="1800" b="0" i="0" kern="1200" dirty="0" smtClean="0">
                          <a:solidFill>
                            <a:schemeClr val="dk1"/>
                          </a:solidFill>
                          <a:effectLst/>
                          <a:latin typeface="+mn-lt"/>
                          <a:ea typeface="+mn-ea"/>
                          <a:cs typeface="+mn-cs"/>
                        </a:rPr>
                        <a:t> O(n </a:t>
                      </a:r>
                      <a:r>
                        <a:rPr lang="en-IN" sz="1800" b="0" i="0" kern="1200" dirty="0" err="1" smtClean="0">
                          <a:solidFill>
                            <a:schemeClr val="dk1"/>
                          </a:solidFill>
                          <a:effectLst/>
                          <a:latin typeface="+mn-lt"/>
                          <a:ea typeface="+mn-ea"/>
                          <a:cs typeface="+mn-cs"/>
                        </a:rPr>
                        <a:t>logn</a:t>
                      </a:r>
                      <a:r>
                        <a:rPr lang="en-IN" sz="1800" b="0" i="0" kern="1200" dirty="0" smtClean="0">
                          <a:solidFill>
                            <a:schemeClr val="dk1"/>
                          </a:solidFill>
                          <a:effectLst/>
                          <a:latin typeface="+mn-lt"/>
                          <a:ea typeface="+mn-ea"/>
                          <a:cs typeface="+mn-cs"/>
                        </a:rPr>
                        <a:t>)</a:t>
                      </a:r>
                      <a:endParaRPr lang="en-IN" sz="1800" kern="1200" dirty="0">
                        <a:solidFill>
                          <a:schemeClr val="dk1"/>
                        </a:solidFill>
                        <a:latin typeface="+mn-lt"/>
                        <a:ea typeface="+mn-ea"/>
                        <a:cs typeface="+mn-cs"/>
                      </a:endParaRPr>
                    </a:p>
                  </a:txBody>
                  <a:tcPr/>
                </a:tc>
                <a:tc>
                  <a:txBody>
                    <a:bodyPr/>
                    <a:lstStyle/>
                    <a:p>
                      <a:r>
                        <a:rPr lang="en-IN" sz="1800" b="0" i="0" kern="1200" dirty="0" smtClean="0">
                          <a:solidFill>
                            <a:schemeClr val="dk1"/>
                          </a:solidFill>
                          <a:effectLst/>
                          <a:latin typeface="+mn-lt"/>
                          <a:ea typeface="+mn-ea"/>
                          <a:cs typeface="+mn-cs"/>
                        </a:rPr>
                        <a:t> O(n </a:t>
                      </a:r>
                      <a:r>
                        <a:rPr lang="en-IN" sz="1800" b="0" i="0" kern="1200" dirty="0" err="1" smtClean="0">
                          <a:solidFill>
                            <a:schemeClr val="dk1"/>
                          </a:solidFill>
                          <a:effectLst/>
                          <a:latin typeface="+mn-lt"/>
                          <a:ea typeface="+mn-ea"/>
                          <a:cs typeface="+mn-cs"/>
                        </a:rPr>
                        <a:t>logn</a:t>
                      </a:r>
                      <a:r>
                        <a:rPr lang="en-IN" sz="1800" b="0" i="0" kern="1200" dirty="0" smtClean="0">
                          <a:solidFill>
                            <a:schemeClr val="dk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dk1"/>
                          </a:solidFill>
                          <a:effectLst/>
                          <a:latin typeface="+mn-lt"/>
                          <a:ea typeface="+mn-ea"/>
                          <a:cs typeface="+mn-cs"/>
                        </a:rPr>
                        <a:t>Time complexity of Merge Sort is O(n*Log n) in all the 3 cases (worst, average and best) as merge sort always </a:t>
                      </a:r>
                      <a:r>
                        <a:rPr lang="en-US" sz="1800" b="1" i="0" kern="1200" dirty="0" smtClean="0">
                          <a:solidFill>
                            <a:schemeClr val="dk1"/>
                          </a:solidFill>
                          <a:effectLst/>
                          <a:latin typeface="+mn-lt"/>
                          <a:ea typeface="+mn-ea"/>
                          <a:cs typeface="+mn-cs"/>
                        </a:rPr>
                        <a:t>divides</a:t>
                      </a:r>
                      <a:r>
                        <a:rPr lang="en-US" sz="1800" b="0" i="0" kern="1200" dirty="0" smtClean="0">
                          <a:solidFill>
                            <a:schemeClr val="dk1"/>
                          </a:solidFill>
                          <a:effectLst/>
                          <a:latin typeface="+mn-lt"/>
                          <a:ea typeface="+mn-ea"/>
                          <a:cs typeface="+mn-cs"/>
                        </a:rPr>
                        <a:t> the array in two halves and takes linear time to </a:t>
                      </a:r>
                      <a:r>
                        <a:rPr lang="en-US" sz="1800" b="1" i="0" kern="1200" dirty="0" smtClean="0">
                          <a:solidFill>
                            <a:schemeClr val="dk1"/>
                          </a:solidFill>
                          <a:effectLst/>
                          <a:latin typeface="+mn-lt"/>
                          <a:ea typeface="+mn-ea"/>
                          <a:cs typeface="+mn-cs"/>
                        </a:rPr>
                        <a:t>merge</a:t>
                      </a:r>
                      <a:r>
                        <a:rPr lang="en-US" sz="1800" b="0" i="0" kern="1200" dirty="0" smtClean="0">
                          <a:solidFill>
                            <a:schemeClr val="dk1"/>
                          </a:solidFill>
                          <a:effectLst/>
                          <a:latin typeface="+mn-lt"/>
                          <a:ea typeface="+mn-ea"/>
                          <a:cs typeface="+mn-cs"/>
                        </a:rPr>
                        <a:t> two halves.</a:t>
                      </a:r>
                      <a:endParaRPr lang="en-IN" sz="1800" kern="1200" dirty="0">
                        <a:solidFill>
                          <a:schemeClr val="dk1"/>
                        </a:solidFill>
                        <a:latin typeface="+mn-lt"/>
                        <a:ea typeface="+mn-ea"/>
                        <a:cs typeface="+mn-cs"/>
                      </a:endParaRPr>
                    </a:p>
                  </a:txBody>
                  <a:tcPr/>
                </a:tc>
              </a:tr>
              <a:tr h="637434">
                <a:tc>
                  <a:txBody>
                    <a:bodyPr/>
                    <a:lstStyle/>
                    <a:p>
                      <a:r>
                        <a:rPr lang="en-IN" sz="1800" kern="1200" dirty="0" smtClean="0">
                          <a:solidFill>
                            <a:schemeClr val="dk1"/>
                          </a:solidFill>
                          <a:latin typeface="+mn-lt"/>
                          <a:ea typeface="+mn-ea"/>
                          <a:cs typeface="+mn-cs"/>
                        </a:rPr>
                        <a:t>Quick sort</a:t>
                      </a:r>
                      <a:endParaRPr lang="en-IN" sz="1800" kern="1200" dirty="0">
                        <a:solidFill>
                          <a:schemeClr val="dk1"/>
                        </a:solidFill>
                        <a:latin typeface="+mn-lt"/>
                        <a:ea typeface="+mn-ea"/>
                        <a:cs typeface="+mn-cs"/>
                      </a:endParaRPr>
                    </a:p>
                  </a:txBody>
                  <a:tcPr/>
                </a:tc>
                <a:tc>
                  <a:txBody>
                    <a:bodyPr/>
                    <a:lstStyle/>
                    <a:p>
                      <a:r>
                        <a:rPr lang="en-IN" sz="1800" b="0" i="0" kern="1200" dirty="0" smtClean="0">
                          <a:solidFill>
                            <a:schemeClr val="dk1"/>
                          </a:solidFill>
                          <a:effectLst/>
                          <a:latin typeface="+mn-lt"/>
                          <a:ea typeface="+mn-ea"/>
                          <a:cs typeface="+mn-cs"/>
                        </a:rPr>
                        <a:t>O(n </a:t>
                      </a:r>
                      <a:r>
                        <a:rPr lang="en-IN" sz="1800" b="0" i="0" kern="1200" dirty="0" err="1" smtClean="0">
                          <a:solidFill>
                            <a:schemeClr val="dk1"/>
                          </a:solidFill>
                          <a:effectLst/>
                          <a:latin typeface="+mn-lt"/>
                          <a:ea typeface="+mn-ea"/>
                          <a:cs typeface="+mn-cs"/>
                        </a:rPr>
                        <a:t>logn</a:t>
                      </a:r>
                      <a:r>
                        <a:rPr lang="en-IN" sz="1800" b="0" i="0" kern="1200" dirty="0" smtClean="0">
                          <a:solidFill>
                            <a:schemeClr val="dk1"/>
                          </a:solidFill>
                          <a:effectLst/>
                          <a:latin typeface="+mn-lt"/>
                          <a:ea typeface="+mn-ea"/>
                          <a:cs typeface="+mn-cs"/>
                        </a:rPr>
                        <a:t>)</a:t>
                      </a:r>
                      <a:endParaRPr lang="en-IN" sz="1800" kern="1200" dirty="0">
                        <a:solidFill>
                          <a:schemeClr val="dk1"/>
                        </a:solidFill>
                        <a:latin typeface="+mn-lt"/>
                        <a:ea typeface="+mn-ea"/>
                        <a:cs typeface="+mn-cs"/>
                      </a:endParaRPr>
                    </a:p>
                  </a:txBody>
                  <a:tcPr/>
                </a:tc>
                <a:tc>
                  <a:txBody>
                    <a:bodyPr/>
                    <a:lstStyle/>
                    <a:p>
                      <a:r>
                        <a:rPr lang="en-IN" sz="1800" b="0" i="0" kern="1200" dirty="0" smtClean="0">
                          <a:solidFill>
                            <a:schemeClr val="dk1"/>
                          </a:solidFill>
                          <a:effectLst/>
                          <a:latin typeface="+mn-lt"/>
                          <a:ea typeface="+mn-ea"/>
                          <a:cs typeface="+mn-cs"/>
                        </a:rPr>
                        <a:t>O(n </a:t>
                      </a:r>
                      <a:r>
                        <a:rPr lang="en-IN" sz="1800" b="0" i="0" kern="1200" dirty="0" err="1" smtClean="0">
                          <a:solidFill>
                            <a:schemeClr val="dk1"/>
                          </a:solidFill>
                          <a:effectLst/>
                          <a:latin typeface="+mn-lt"/>
                          <a:ea typeface="+mn-ea"/>
                          <a:cs typeface="+mn-cs"/>
                        </a:rPr>
                        <a:t>logn</a:t>
                      </a:r>
                      <a:r>
                        <a:rPr lang="en-IN" sz="1800" b="0" i="0" kern="1200" dirty="0" smtClean="0">
                          <a:solidFill>
                            <a:schemeClr val="dk1"/>
                          </a:solidFill>
                          <a:effectLst/>
                          <a:latin typeface="+mn-lt"/>
                          <a:ea typeface="+mn-ea"/>
                          <a:cs typeface="+mn-cs"/>
                        </a:rPr>
                        <a:t>)</a:t>
                      </a:r>
                      <a:endParaRPr lang="en-IN" sz="18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1" i="0" kern="1200" dirty="0" smtClean="0">
                          <a:solidFill>
                            <a:schemeClr val="dk1"/>
                          </a:solidFill>
                          <a:effectLst/>
                          <a:latin typeface="+mn-lt"/>
                          <a:ea typeface="+mn-ea"/>
                          <a:cs typeface="+mn-cs"/>
                        </a:rPr>
                        <a:t>O(N</a:t>
                      </a:r>
                      <a:r>
                        <a:rPr lang="en-IN" sz="1800" b="1" i="0" kern="1200" baseline="30000" dirty="0" smtClean="0">
                          <a:solidFill>
                            <a:schemeClr val="dk1"/>
                          </a:solidFill>
                          <a:effectLst/>
                          <a:latin typeface="+mn-lt"/>
                          <a:ea typeface="+mn-ea"/>
                          <a:cs typeface="+mn-cs"/>
                        </a:rPr>
                        <a:t>2</a:t>
                      </a:r>
                      <a:r>
                        <a:rPr lang="en-IN" sz="1800" b="1" i="0" kern="1200" dirty="0" smtClean="0">
                          <a:solidFill>
                            <a:schemeClr val="dk1"/>
                          </a:solidFill>
                          <a:effectLst/>
                          <a:latin typeface="+mn-lt"/>
                          <a:ea typeface="+mn-ea"/>
                          <a:cs typeface="+mn-cs"/>
                        </a:rPr>
                        <a:t>).</a:t>
                      </a:r>
                    </a:p>
                    <a:p>
                      <a:endParaRPr lang="en-IN" sz="1800" kern="1200" dirty="0">
                        <a:solidFill>
                          <a:schemeClr val="dk1"/>
                        </a:solidFill>
                        <a:latin typeface="+mn-lt"/>
                        <a:ea typeface="+mn-ea"/>
                        <a:cs typeface="+mn-cs"/>
                      </a:endParaRPr>
                    </a:p>
                  </a:txBody>
                  <a:tcPr/>
                </a:tc>
              </a:tr>
              <a:tr h="364248">
                <a:tc>
                  <a:txBody>
                    <a:bodyPr/>
                    <a:lstStyle/>
                    <a:p>
                      <a:endParaRPr lang="en-IN" sz="1800" kern="1200" dirty="0">
                        <a:solidFill>
                          <a:schemeClr val="dk1"/>
                        </a:solidFill>
                        <a:latin typeface="+mn-lt"/>
                        <a:ea typeface="+mn-ea"/>
                        <a:cs typeface="+mn-cs"/>
                      </a:endParaRPr>
                    </a:p>
                  </a:txBody>
                  <a:tcPr/>
                </a:tc>
                <a:tc>
                  <a:txBody>
                    <a:bodyPr/>
                    <a:lstStyle/>
                    <a:p>
                      <a:endParaRPr lang="en-IN" sz="1800" kern="1200">
                        <a:solidFill>
                          <a:schemeClr val="dk1"/>
                        </a:solidFill>
                        <a:latin typeface="+mn-lt"/>
                        <a:ea typeface="+mn-ea"/>
                        <a:cs typeface="+mn-cs"/>
                      </a:endParaRPr>
                    </a:p>
                  </a:txBody>
                  <a:tcPr/>
                </a:tc>
                <a:tc>
                  <a:txBody>
                    <a:bodyPr/>
                    <a:lstStyle/>
                    <a:p>
                      <a:endParaRPr lang="en-IN" sz="1800" kern="1200" dirty="0">
                        <a:solidFill>
                          <a:schemeClr val="dk1"/>
                        </a:solidFill>
                        <a:latin typeface="+mn-lt"/>
                        <a:ea typeface="+mn-ea"/>
                        <a:cs typeface="+mn-cs"/>
                      </a:endParaRPr>
                    </a:p>
                  </a:txBody>
                  <a:tcPr/>
                </a:tc>
                <a:tc>
                  <a:txBody>
                    <a:bodyPr/>
                    <a:lstStyle/>
                    <a:p>
                      <a:endParaRPr lang="en-IN" sz="1800" kern="1200">
                        <a:solidFill>
                          <a:schemeClr val="dk1"/>
                        </a:solidFill>
                        <a:latin typeface="+mn-lt"/>
                        <a:ea typeface="+mn-ea"/>
                        <a:cs typeface="+mn-cs"/>
                      </a:endParaRPr>
                    </a:p>
                  </a:txBody>
                  <a:tcPr/>
                </a:tc>
              </a:tr>
              <a:tr h="364248">
                <a:tc>
                  <a:txBody>
                    <a:bodyPr/>
                    <a:lstStyle/>
                    <a:p>
                      <a:endParaRPr lang="en-IN" sz="1800" kern="1200">
                        <a:solidFill>
                          <a:schemeClr val="dk1"/>
                        </a:solidFill>
                        <a:latin typeface="+mn-lt"/>
                        <a:ea typeface="+mn-ea"/>
                        <a:cs typeface="+mn-cs"/>
                      </a:endParaRPr>
                    </a:p>
                  </a:txBody>
                  <a:tcPr/>
                </a:tc>
                <a:tc>
                  <a:txBody>
                    <a:bodyPr/>
                    <a:lstStyle/>
                    <a:p>
                      <a:endParaRPr lang="en-IN" sz="1800" kern="1200">
                        <a:solidFill>
                          <a:schemeClr val="dk1"/>
                        </a:solidFill>
                        <a:latin typeface="+mn-lt"/>
                        <a:ea typeface="+mn-ea"/>
                        <a:cs typeface="+mn-cs"/>
                      </a:endParaRPr>
                    </a:p>
                  </a:txBody>
                  <a:tcPr/>
                </a:tc>
                <a:tc>
                  <a:txBody>
                    <a:bodyPr/>
                    <a:lstStyle/>
                    <a:p>
                      <a:endParaRPr lang="en-IN" sz="1800" kern="1200" dirty="0">
                        <a:solidFill>
                          <a:schemeClr val="dk1"/>
                        </a:solidFill>
                        <a:latin typeface="+mn-lt"/>
                        <a:ea typeface="+mn-ea"/>
                        <a:cs typeface="+mn-cs"/>
                      </a:endParaRPr>
                    </a:p>
                  </a:txBody>
                  <a:tcPr/>
                </a:tc>
                <a:tc>
                  <a:txBody>
                    <a:bodyPr/>
                    <a:lstStyle/>
                    <a:p>
                      <a:endParaRPr lang="en-IN" sz="1800" kern="1200" dirty="0">
                        <a:solidFill>
                          <a:schemeClr val="dk1"/>
                        </a:solidFill>
                        <a:latin typeface="+mn-lt"/>
                        <a:ea typeface="+mn-ea"/>
                        <a:cs typeface="+mn-cs"/>
                      </a:endParaRPr>
                    </a:p>
                  </a:txBody>
                  <a:tcPr/>
                </a:tc>
              </a:tr>
            </a:tbl>
          </a:graphicData>
        </a:graphic>
      </p:graphicFrame>
    </p:spTree>
    <p:extLst>
      <p:ext uri="{BB962C8B-B14F-4D97-AF65-F5344CB8AC3E}">
        <p14:creationId xmlns:p14="http://schemas.microsoft.com/office/powerpoint/2010/main" val="1127712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85022" y="856034"/>
                <a:ext cx="11649637" cy="5493610"/>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Working of  </a:t>
                </a:r>
                <a:r>
                  <a:rPr lang="en-IN" b="1" dirty="0" smtClean="0">
                    <a:solidFill>
                      <a:srgbClr val="C00000"/>
                    </a:solidFill>
                    <a:latin typeface="Times New Roman" panose="02020603050405020304" pitchFamily="18" charset="0"/>
                    <a:cs typeface="Times New Roman" panose="02020603050405020304" pitchFamily="18" charset="0"/>
                  </a:rPr>
                  <a:t>Binary Search</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smtClean="0">
                    <a:solidFill>
                      <a:srgbClr val="002060"/>
                    </a:solidFill>
                    <a:latin typeface="Times New Roman" panose="02020603050405020304" pitchFamily="18" charset="0"/>
                    <a:cs typeface="Times New Roman" panose="02020603050405020304" pitchFamily="18" charset="0"/>
                  </a:rPr>
                  <a:t>Let </a:t>
                </a:r>
              </a:p>
              <a:p>
                <a:pPr algn="just"/>
                <a:r>
                  <a:rPr lang="en-IN" b="1" dirty="0" smtClean="0">
                    <a:solidFill>
                      <a:srgbClr val="002060"/>
                    </a:solidFill>
                    <a:latin typeface="Times New Roman" panose="02020603050405020304" pitchFamily="18" charset="0"/>
                    <a:cs typeface="Times New Roman" panose="02020603050405020304" pitchFamily="18" charset="0"/>
                  </a:rPr>
                  <a:t>A[1, 2, 3…….n] list of elements</a:t>
                </a:r>
              </a:p>
              <a:p>
                <a:pPr algn="just"/>
                <a:r>
                  <a:rPr lang="en-IN" b="1" dirty="0" smtClean="0">
                    <a:solidFill>
                      <a:srgbClr val="C00000"/>
                    </a:solidFill>
                    <a:latin typeface="Times New Roman" panose="02020603050405020304" pitchFamily="18" charset="0"/>
                    <a:cs typeface="Times New Roman" panose="02020603050405020304" pitchFamily="18" charset="0"/>
                  </a:rPr>
                  <a:t>low=1</a:t>
                </a:r>
                <a:r>
                  <a:rPr lang="en-IN" b="1" dirty="0" smtClean="0">
                    <a:solidFill>
                      <a:srgbClr val="002060"/>
                    </a:solidFill>
                    <a:latin typeface="Times New Roman" panose="02020603050405020304" pitchFamily="18" charset="0"/>
                    <a:cs typeface="Times New Roman" panose="02020603050405020304" pitchFamily="18" charset="0"/>
                  </a:rPr>
                  <a:t>, low is index of A[1] (pointing to first element)</a:t>
                </a:r>
              </a:p>
              <a:p>
                <a:pPr algn="just"/>
                <a:r>
                  <a:rPr lang="en-IN" b="1" dirty="0" smtClean="0">
                    <a:solidFill>
                      <a:srgbClr val="C00000"/>
                    </a:solidFill>
                    <a:latin typeface="Times New Roman" panose="02020603050405020304" pitchFamily="18" charset="0"/>
                    <a:cs typeface="Times New Roman" panose="02020603050405020304" pitchFamily="18" charset="0"/>
                  </a:rPr>
                  <a:t>high=n</a:t>
                </a:r>
                <a:r>
                  <a:rPr lang="en-IN" b="1" dirty="0" smtClean="0">
                    <a:solidFill>
                      <a:srgbClr val="002060"/>
                    </a:solidFill>
                    <a:latin typeface="Times New Roman" panose="02020603050405020304" pitchFamily="18" charset="0"/>
                    <a:cs typeface="Times New Roman" panose="02020603050405020304" pitchFamily="18" charset="0"/>
                  </a:rPr>
                  <a:t>, high is index of A[n] (pointing to last element)</a:t>
                </a:r>
              </a:p>
              <a:p>
                <a:pPr marL="342900" indent="-342900" algn="just">
                  <a:buFont typeface="Arial" panose="020B0604020202020204" pitchFamily="34" charset="0"/>
                  <a:buChar char="•"/>
                </a:pPr>
                <a:r>
                  <a:rPr lang="en-IN" b="1" dirty="0" smtClean="0">
                    <a:solidFill>
                      <a:srgbClr val="002060"/>
                    </a:solidFill>
                    <a:latin typeface="Times New Roman" panose="02020603050405020304" pitchFamily="18" charset="0"/>
                    <a:cs typeface="Times New Roman" panose="02020603050405020304" pitchFamily="18" charset="0"/>
                  </a:rPr>
                  <a:t>Find the position of middle element as</a:t>
                </a:r>
              </a:p>
              <a:p>
                <a:pPr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mid</a:t>
                </a:r>
                <a:r>
                  <a:rPr lang="en-IN" b="1" dirty="0" smtClean="0">
                    <a:solidFill>
                      <a:srgbClr val="C00000"/>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IN" b="1" i="1" smtClean="0">
                            <a:solidFill>
                              <a:srgbClr val="C00000"/>
                            </a:solidFill>
                            <a:latin typeface="Cambria Math"/>
                            <a:cs typeface="Times New Roman" panose="02020603050405020304" pitchFamily="18" charset="0"/>
                          </a:rPr>
                        </m:ctrlPr>
                      </m:fPr>
                      <m:num>
                        <m:r>
                          <a:rPr lang="en-IN" b="1" i="1" smtClean="0">
                            <a:solidFill>
                              <a:srgbClr val="C00000"/>
                            </a:solidFill>
                            <a:latin typeface="Cambria Math" panose="02040503050406030204" pitchFamily="18" charset="0"/>
                            <a:cs typeface="Times New Roman" panose="02020603050405020304" pitchFamily="18" charset="0"/>
                          </a:rPr>
                          <m:t> (</m:t>
                        </m:r>
                        <m:r>
                          <a:rPr lang="en-IN" b="1" i="1" smtClean="0">
                            <a:solidFill>
                              <a:srgbClr val="C00000"/>
                            </a:solidFill>
                            <a:latin typeface="Cambria Math" panose="02040503050406030204" pitchFamily="18" charset="0"/>
                            <a:cs typeface="Times New Roman" panose="02020603050405020304" pitchFamily="18" charset="0"/>
                          </a:rPr>
                          <m:t>𝒍𝒐𝒘</m:t>
                        </m:r>
                        <m:r>
                          <a:rPr lang="en-IN" b="1" i="1" smtClean="0">
                            <a:solidFill>
                              <a:srgbClr val="C00000"/>
                            </a:solidFill>
                            <a:latin typeface="Cambria Math" panose="02040503050406030204" pitchFamily="18" charset="0"/>
                            <a:cs typeface="Times New Roman" panose="02020603050405020304" pitchFamily="18" charset="0"/>
                          </a:rPr>
                          <m:t>+</m:t>
                        </m:r>
                        <m:r>
                          <a:rPr lang="en-IN" b="1" i="1" smtClean="0">
                            <a:solidFill>
                              <a:srgbClr val="C00000"/>
                            </a:solidFill>
                            <a:latin typeface="Cambria Math" panose="02040503050406030204" pitchFamily="18" charset="0"/>
                            <a:cs typeface="Times New Roman" panose="02020603050405020304" pitchFamily="18" charset="0"/>
                          </a:rPr>
                          <m:t>𝒉𝒊𝒈𝒉</m:t>
                        </m:r>
                        <m:r>
                          <a:rPr lang="en-IN" b="1" i="1" smtClean="0">
                            <a:solidFill>
                              <a:srgbClr val="C00000"/>
                            </a:solidFill>
                            <a:latin typeface="Cambria Math" panose="02040503050406030204" pitchFamily="18" charset="0"/>
                            <a:cs typeface="Times New Roman" panose="02020603050405020304" pitchFamily="18" charset="0"/>
                          </a:rPr>
                          <m:t>)</m:t>
                        </m:r>
                      </m:num>
                      <m:den>
                        <m:r>
                          <a:rPr lang="en-IN" b="1" i="1" smtClean="0">
                            <a:solidFill>
                              <a:srgbClr val="C00000"/>
                            </a:solidFill>
                            <a:latin typeface="Cambria Math" panose="02040503050406030204" pitchFamily="18" charset="0"/>
                            <a:cs typeface="Times New Roman" panose="02020603050405020304" pitchFamily="18" charset="0"/>
                          </a:rPr>
                          <m:t>𝟐</m:t>
                        </m:r>
                      </m:den>
                    </m:f>
                  </m:oMath>
                </a14:m>
                <a:r>
                  <a:rPr lang="en-IN" b="1" dirty="0" smtClean="0">
                    <a:solidFill>
                      <a:srgbClr val="C00000"/>
                    </a:solidFill>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IN" b="1" dirty="0" smtClean="0">
                    <a:solidFill>
                      <a:srgbClr val="002060"/>
                    </a:solidFill>
                    <a:latin typeface="Times New Roman" panose="02020603050405020304" pitchFamily="18" charset="0"/>
                    <a:cs typeface="Times New Roman" panose="02020603050405020304" pitchFamily="18" charset="0"/>
                  </a:rPr>
                  <a:t>Compare key with middle element A[mid]</a:t>
                </a:r>
              </a:p>
              <a:p>
                <a:pPr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C00000"/>
                    </a:solidFill>
                    <a:latin typeface="Times New Roman" panose="02020603050405020304" pitchFamily="18" charset="0"/>
                    <a:cs typeface="Times New Roman" panose="02020603050405020304" pitchFamily="18" charset="0"/>
                  </a:rPr>
                  <a:t>if (key==A[mid)  search success</a:t>
                </a:r>
              </a:p>
              <a:p>
                <a:pPr marL="342900" indent="-342900" algn="just">
                  <a:buFont typeface="Arial" panose="020B0604020202020204" pitchFamily="34" charset="0"/>
                  <a:buChar char="•"/>
                </a:pPr>
                <a:r>
                  <a:rPr lang="en-IN" b="1" dirty="0" smtClean="0">
                    <a:solidFill>
                      <a:srgbClr val="002060"/>
                    </a:solidFill>
                    <a:latin typeface="Times New Roman" panose="02020603050405020304" pitchFamily="18" charset="0"/>
                    <a:cs typeface="Times New Roman" panose="02020603050405020304" pitchFamily="18" charset="0"/>
                  </a:rPr>
                  <a:t>Otherwise search the key either in upper part of array </a:t>
                </a:r>
                <a:r>
                  <a:rPr lang="en-IN" b="1" dirty="0" smtClean="0">
                    <a:solidFill>
                      <a:srgbClr val="C00000"/>
                    </a:solidFill>
                    <a:latin typeface="Times New Roman" panose="02020603050405020304" pitchFamily="18" charset="0"/>
                    <a:cs typeface="Times New Roman" panose="02020603050405020304" pitchFamily="18" charset="0"/>
                  </a:rPr>
                  <a:t>(if key&gt;A[mid) </a:t>
                </a:r>
                <a:r>
                  <a:rPr lang="en-IN" b="1" dirty="0" smtClean="0">
                    <a:solidFill>
                      <a:srgbClr val="002060"/>
                    </a:solidFill>
                    <a:latin typeface="Times New Roman" panose="02020603050405020304" pitchFamily="18" charset="0"/>
                    <a:cs typeface="Times New Roman" panose="02020603050405020304" pitchFamily="18" charset="0"/>
                  </a:rPr>
                  <a:t>or search in lower part of array </a:t>
                </a:r>
                <a:r>
                  <a:rPr lang="en-IN" b="1" dirty="0">
                    <a:solidFill>
                      <a:srgbClr val="C00000"/>
                    </a:solidFill>
                    <a:latin typeface="Times New Roman" panose="02020603050405020304" pitchFamily="18" charset="0"/>
                    <a:cs typeface="Times New Roman" panose="02020603050405020304" pitchFamily="18" charset="0"/>
                  </a:rPr>
                  <a:t>(if key&lt;A[mid</a:t>
                </a:r>
                <a:r>
                  <a:rPr lang="en-IN" b="1" dirty="0" smtClean="0">
                    <a:solidFill>
                      <a:srgbClr val="C00000"/>
                    </a:solidFill>
                    <a:latin typeface="Times New Roman" panose="02020603050405020304" pitchFamily="18" charset="0"/>
                    <a:cs typeface="Times New Roman" panose="02020603050405020304" pitchFamily="18" charset="0"/>
                  </a:rPr>
                  <a:t>])</a:t>
                </a:r>
                <a:endParaRPr lang="en-IN" b="1" dirty="0">
                  <a:solidFill>
                    <a:srgbClr val="C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b="1" dirty="0" smtClean="0">
                    <a:solidFill>
                      <a:srgbClr val="002060"/>
                    </a:solidFill>
                    <a:latin typeface="Times New Roman" panose="02020603050405020304" pitchFamily="18" charset="0"/>
                    <a:cs typeface="Times New Roman" panose="02020603050405020304" pitchFamily="18" charset="0"/>
                  </a:rPr>
                  <a:t>Splitting of list terminates when key is found or array size becomes 1.</a:t>
                </a:r>
              </a:p>
              <a:p>
                <a:pPr algn="just"/>
                <a:endParaRPr lang="en-IN"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85022" y="856034"/>
                <a:ext cx="11649637" cy="5493610"/>
              </a:xfrm>
              <a:blipFill rotWithShape="0">
                <a:blip r:embed="rId3"/>
                <a:stretch>
                  <a:fillRect l="-837" t="-1552" r="-785" b="-1885"/>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18</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215762715"/>
              </p:ext>
            </p:extLst>
          </p:nvPr>
        </p:nvGraphicFramePr>
        <p:xfrm>
          <a:off x="6218518" y="3346325"/>
          <a:ext cx="4915650" cy="370840"/>
        </p:xfrm>
        <a:graphic>
          <a:graphicData uri="http://schemas.openxmlformats.org/drawingml/2006/table">
            <a:tbl>
              <a:tblPr firstRow="1" bandRow="1">
                <a:tableStyleId>{5C22544A-7EE6-4342-B048-85BDC9FD1C3A}</a:tableStyleId>
              </a:tblPr>
              <a:tblGrid>
                <a:gridCol w="491565"/>
                <a:gridCol w="491565"/>
                <a:gridCol w="491565"/>
                <a:gridCol w="491565"/>
                <a:gridCol w="491565"/>
                <a:gridCol w="491565"/>
                <a:gridCol w="491565"/>
                <a:gridCol w="491565"/>
                <a:gridCol w="491565"/>
                <a:gridCol w="491565"/>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bl>
          </a:graphicData>
        </a:graphic>
      </p:graphicFrame>
      <p:sp>
        <p:nvSpPr>
          <p:cNvPr id="9" name="TextBox 8"/>
          <p:cNvSpPr txBox="1"/>
          <p:nvPr/>
        </p:nvSpPr>
        <p:spPr>
          <a:xfrm>
            <a:off x="8185467" y="2793871"/>
            <a:ext cx="389966" cy="523220"/>
          </a:xfrm>
          <a:prstGeom prst="rect">
            <a:avLst/>
          </a:prstGeom>
          <a:noFill/>
          <a:ln>
            <a:noFill/>
          </a:ln>
        </p:spPr>
        <p:txBody>
          <a:bodyPr wrap="square" rtlCol="0">
            <a:spAutoFit/>
          </a:bodyPr>
          <a:lstStyle/>
          <a:p>
            <a:r>
              <a:rPr lang="en-IN" sz="2800" b="1" dirty="0" smtClean="0">
                <a:solidFill>
                  <a:srgbClr val="FF0000"/>
                </a:solidFill>
                <a:latin typeface="Times New Roman" panose="02020603050405020304" pitchFamily="18" charset="0"/>
                <a:cs typeface="Times New Roman" panose="02020603050405020304" pitchFamily="18" charset="0"/>
              </a:rPr>
              <a:t>A</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10720864" y="3710150"/>
            <a:ext cx="694264" cy="646331"/>
          </a:xfrm>
          <a:prstGeom prst="rect">
            <a:avLst/>
          </a:prstGeom>
          <a:noFill/>
          <a:ln>
            <a:noFill/>
          </a:ln>
        </p:spPr>
        <p:txBody>
          <a:bodyPr wrap="square" rtlCol="0">
            <a:spAutoFit/>
          </a:bodyPr>
          <a:lstStyle/>
          <a:p>
            <a:r>
              <a:rPr lang="en-IN" b="1" dirty="0" smtClean="0">
                <a:solidFill>
                  <a:srgbClr val="FF0000"/>
                </a:solidFill>
                <a:latin typeface="Times New Roman" panose="02020603050405020304" pitchFamily="18" charset="0"/>
                <a:cs typeface="Times New Roman" panose="02020603050405020304" pitchFamily="18" charset="0"/>
              </a:rPr>
              <a:t>n</a:t>
            </a:r>
          </a:p>
          <a:p>
            <a:r>
              <a:rPr lang="en-IN" b="1" dirty="0" smtClean="0">
                <a:solidFill>
                  <a:srgbClr val="FF0000"/>
                </a:solidFill>
                <a:latin typeface="Times New Roman" panose="02020603050405020304" pitchFamily="18" charset="0"/>
                <a:cs typeface="Times New Roman" panose="02020603050405020304" pitchFamily="18" charset="0"/>
              </a:rPr>
              <a:t>high</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6075828" y="3717922"/>
            <a:ext cx="850266" cy="677108"/>
          </a:xfrm>
          <a:prstGeom prst="rect">
            <a:avLst/>
          </a:prstGeom>
          <a:noFill/>
          <a:ln>
            <a:noFill/>
          </a:ln>
        </p:spPr>
        <p:txBody>
          <a:bodyPr wrap="square" rtlCol="0">
            <a:spAutoFit/>
          </a:bodyPr>
          <a:lstStyle/>
          <a:p>
            <a:r>
              <a:rPr lang="en-IN" sz="2000" b="1" dirty="0" smtClean="0">
                <a:solidFill>
                  <a:srgbClr val="FF0000"/>
                </a:solidFill>
                <a:latin typeface="Times New Roman" panose="02020603050405020304" pitchFamily="18" charset="0"/>
                <a:cs typeface="Times New Roman" panose="02020603050405020304" pitchFamily="18" charset="0"/>
              </a:rPr>
              <a:t>1</a:t>
            </a:r>
          </a:p>
          <a:p>
            <a:r>
              <a:rPr lang="en-IN" b="1" dirty="0" smtClean="0">
                <a:solidFill>
                  <a:srgbClr val="FF0000"/>
                </a:solidFill>
                <a:latin typeface="Times New Roman" panose="02020603050405020304" pitchFamily="18" charset="0"/>
                <a:cs typeface="Times New Roman" panose="02020603050405020304" pitchFamily="18" charset="0"/>
              </a:rPr>
              <a:t>low</a:t>
            </a:r>
            <a:endParaRPr lang="en-IN" b="1" dirty="0">
              <a:solidFill>
                <a:srgbClr val="FF0000"/>
              </a:solidFill>
              <a:latin typeface="Times New Roman" panose="02020603050405020304" pitchFamily="18" charset="0"/>
              <a:cs typeface="Times New Roman" panose="02020603050405020304" pitchFamily="18" charset="0"/>
            </a:endParaRPr>
          </a:p>
        </p:txBody>
      </p:sp>
      <p:cxnSp>
        <p:nvCxnSpPr>
          <p:cNvPr id="13" name="Straight Arrow Connector 12"/>
          <p:cNvCxnSpPr/>
          <p:nvPr/>
        </p:nvCxnSpPr>
        <p:spPr>
          <a:xfrm flipV="1">
            <a:off x="8453336" y="3793787"/>
            <a:ext cx="0" cy="4085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8185467" y="4123709"/>
            <a:ext cx="850266" cy="400110"/>
          </a:xfrm>
          <a:prstGeom prst="rect">
            <a:avLst/>
          </a:prstGeom>
          <a:noFill/>
          <a:ln>
            <a:noFill/>
          </a:ln>
        </p:spPr>
        <p:txBody>
          <a:bodyPr wrap="square" rtlCol="0">
            <a:spAutoFit/>
          </a:bodyPr>
          <a:lstStyle/>
          <a:p>
            <a:r>
              <a:rPr lang="en-IN" sz="2000" b="1" dirty="0" smtClean="0">
                <a:solidFill>
                  <a:srgbClr val="FF0000"/>
                </a:solidFill>
                <a:latin typeface="Times New Roman" panose="02020603050405020304" pitchFamily="18" charset="0"/>
                <a:cs typeface="Times New Roman" panose="02020603050405020304" pitchFamily="18" charset="0"/>
              </a:rPr>
              <a:t>mid</a:t>
            </a:r>
            <a:endParaRPr lang="en-IN" b="1" dirty="0">
              <a:solidFill>
                <a:srgbClr val="FF0000"/>
              </a:solidFill>
              <a:latin typeface="Times New Roman" panose="02020603050405020304" pitchFamily="18" charset="0"/>
              <a:cs typeface="Times New Roman" panose="02020603050405020304" pitchFamily="18" charset="0"/>
            </a:endParaRPr>
          </a:p>
        </p:txBody>
      </p:sp>
      <p:cxnSp>
        <p:nvCxnSpPr>
          <p:cNvPr id="24" name="Straight Arrow Connector 23"/>
          <p:cNvCxnSpPr/>
          <p:nvPr/>
        </p:nvCxnSpPr>
        <p:spPr>
          <a:xfrm>
            <a:off x="6500961" y="3998068"/>
            <a:ext cx="1757822" cy="0"/>
          </a:xfrm>
          <a:prstGeom prst="straightConnector1">
            <a:avLst/>
          </a:prstGeom>
          <a:ln w="28575">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8793446" y="3917004"/>
            <a:ext cx="1757822" cy="0"/>
          </a:xfrm>
          <a:prstGeom prst="straightConnector1">
            <a:avLst/>
          </a:prstGeom>
          <a:ln w="28575">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721812" y="4092654"/>
            <a:ext cx="1296523" cy="830997"/>
          </a:xfrm>
          <a:prstGeom prst="rect">
            <a:avLst/>
          </a:prstGeom>
          <a:noFill/>
          <a:ln>
            <a:noFill/>
          </a:ln>
        </p:spPr>
        <p:txBody>
          <a:bodyPr wrap="square" rtlCol="0">
            <a:spAutoFit/>
          </a:bodyPr>
          <a:lstStyle/>
          <a:p>
            <a:r>
              <a:rPr lang="en-IN" sz="1600" b="1" dirty="0" smtClean="0">
                <a:solidFill>
                  <a:srgbClr val="C00000"/>
                </a:solidFill>
                <a:latin typeface="Times New Roman" panose="02020603050405020304" pitchFamily="18" charset="0"/>
                <a:cs typeface="Times New Roman" panose="02020603050405020304" pitchFamily="18" charset="0"/>
              </a:rPr>
              <a:t>key&lt;A[mid]</a:t>
            </a:r>
          </a:p>
          <a:p>
            <a:r>
              <a:rPr lang="en-IN" sz="1600" b="1" dirty="0" smtClean="0">
                <a:solidFill>
                  <a:srgbClr val="002060"/>
                </a:solidFill>
                <a:latin typeface="Times New Roman" panose="02020603050405020304" pitchFamily="18" charset="0"/>
                <a:cs typeface="Times New Roman" panose="02020603050405020304" pitchFamily="18" charset="0"/>
              </a:rPr>
              <a:t>Search in lower part</a:t>
            </a:r>
            <a:endParaRPr lang="en-IN" sz="1400" b="1" dirty="0">
              <a:solidFill>
                <a:srgbClr val="FF0000"/>
              </a:solidFill>
              <a:latin typeface="Times New Roman" panose="02020603050405020304" pitchFamily="18" charset="0"/>
              <a:cs typeface="Times New Roman" panose="02020603050405020304" pitchFamily="18" charset="0"/>
            </a:endParaRPr>
          </a:p>
        </p:txBody>
      </p:sp>
      <p:sp>
        <p:nvSpPr>
          <p:cNvPr id="28" name="TextBox 27"/>
          <p:cNvSpPr txBox="1"/>
          <p:nvPr/>
        </p:nvSpPr>
        <p:spPr>
          <a:xfrm>
            <a:off x="9104810" y="4030632"/>
            <a:ext cx="1296523" cy="1046440"/>
          </a:xfrm>
          <a:prstGeom prst="rect">
            <a:avLst/>
          </a:prstGeom>
          <a:noFill/>
          <a:ln>
            <a:noFill/>
          </a:ln>
        </p:spPr>
        <p:txBody>
          <a:bodyPr wrap="square" rtlCol="0">
            <a:spAutoFit/>
          </a:bodyPr>
          <a:lstStyle/>
          <a:p>
            <a:r>
              <a:rPr lang="en-IN" sz="1600" b="1" dirty="0" smtClean="0">
                <a:solidFill>
                  <a:srgbClr val="C00000"/>
                </a:solidFill>
                <a:latin typeface="Times New Roman" panose="02020603050405020304" pitchFamily="18" charset="0"/>
                <a:cs typeface="Times New Roman" panose="02020603050405020304" pitchFamily="18" charset="0"/>
              </a:rPr>
              <a:t>Key&gt;A[mid]</a:t>
            </a:r>
          </a:p>
          <a:p>
            <a:r>
              <a:rPr lang="en-IN" sz="1600" b="1" dirty="0">
                <a:solidFill>
                  <a:srgbClr val="002060"/>
                </a:solidFill>
                <a:latin typeface="Times New Roman" panose="02020603050405020304" pitchFamily="18" charset="0"/>
                <a:cs typeface="Times New Roman" panose="02020603050405020304" pitchFamily="18" charset="0"/>
              </a:rPr>
              <a:t>Search in lower part</a:t>
            </a:r>
            <a:endParaRPr lang="en-IN" sz="1400" b="1" dirty="0">
              <a:solidFill>
                <a:srgbClr val="FF0000"/>
              </a:solidFill>
              <a:latin typeface="Times New Roman" panose="02020603050405020304" pitchFamily="18" charset="0"/>
              <a:cs typeface="Times New Roman" panose="02020603050405020304" pitchFamily="18" charset="0"/>
            </a:endParaRPr>
          </a:p>
          <a:p>
            <a:endParaRPr lang="en-IN" sz="1400" b="1" dirty="0">
              <a:solidFill>
                <a:srgbClr val="FF0000"/>
              </a:solidFill>
              <a:latin typeface="Times New Roman" panose="02020603050405020304" pitchFamily="18" charset="0"/>
              <a:cs typeface="Times New Roman" panose="02020603050405020304" pitchFamily="18" charset="0"/>
            </a:endParaRPr>
          </a:p>
        </p:txBody>
      </p:sp>
      <p:sp>
        <p:nvSpPr>
          <p:cNvPr id="12" name="Date Placeholder 11"/>
          <p:cNvSpPr>
            <a:spLocks noGrp="1"/>
          </p:cNvSpPr>
          <p:nvPr>
            <p:ph type="dt" sz="half" idx="10"/>
          </p:nvPr>
        </p:nvSpPr>
        <p:spPr/>
        <p:txBody>
          <a:bodyPr/>
          <a:lstStyle/>
          <a:p>
            <a:fld id="{79EEEBF5-5365-45F0-9648-3659801FF824}" type="datetime1">
              <a:rPr lang="en-IN" smtClean="0"/>
              <a:t>21-03-2026</a:t>
            </a:fld>
            <a:endParaRPr lang="en-IN"/>
          </a:p>
        </p:txBody>
      </p:sp>
    </p:spTree>
    <p:extLst>
      <p:ext uri="{BB962C8B-B14F-4D97-AF65-F5344CB8AC3E}">
        <p14:creationId xmlns:p14="http://schemas.microsoft.com/office/powerpoint/2010/main" val="3253270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22" grpId="0"/>
      <p:bldP spid="27" grpId="0"/>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9005" y="34019"/>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79292" y="436667"/>
            <a:ext cx="11649637" cy="6186236"/>
          </a:xfrm>
        </p:spPr>
        <p:txBody>
          <a:bodyPr>
            <a:noAutofit/>
          </a:bodyPr>
          <a:lstStyle/>
          <a:p>
            <a:pPr>
              <a:spcBef>
                <a:spcPts val="600"/>
              </a:spcBef>
            </a:pPr>
            <a:r>
              <a:rPr lang="en-IN" sz="1600" b="1" dirty="0">
                <a:solidFill>
                  <a:srgbClr val="C00000"/>
                </a:solidFill>
                <a:latin typeface="Times New Roman" panose="02020603050405020304" pitchFamily="18" charset="0"/>
                <a:cs typeface="Times New Roman" panose="02020603050405020304" pitchFamily="18" charset="0"/>
              </a:rPr>
              <a:t>Recursive Binary search </a:t>
            </a:r>
            <a:r>
              <a:rPr lang="en-IN" sz="1600" b="1" dirty="0" smtClean="0">
                <a:solidFill>
                  <a:srgbClr val="C00000"/>
                </a:solidFill>
                <a:latin typeface="Times New Roman" panose="02020603050405020304" pitchFamily="18" charset="0"/>
                <a:cs typeface="Times New Roman" panose="02020603050405020304" pitchFamily="18" charset="0"/>
              </a:rPr>
              <a:t>algorithm</a:t>
            </a:r>
          </a:p>
          <a:p>
            <a:pPr algn="just">
              <a:spcBef>
                <a:spcPts val="600"/>
              </a:spcBef>
            </a:pPr>
            <a:r>
              <a:rPr lang="en-IN" sz="1600" b="1" dirty="0" err="1" smtClean="0">
                <a:solidFill>
                  <a:srgbClr val="C00000"/>
                </a:solidFill>
                <a:latin typeface="Times New Roman" panose="02020603050405020304" pitchFamily="18" charset="0"/>
                <a:cs typeface="Times New Roman" panose="02020603050405020304" pitchFamily="18" charset="0"/>
              </a:rPr>
              <a:t>int</a:t>
            </a:r>
            <a:r>
              <a:rPr lang="en-IN" sz="1600" b="1" dirty="0" smtClean="0">
                <a:solidFill>
                  <a:srgbClr val="C00000"/>
                </a:solidFill>
                <a:latin typeface="Times New Roman" panose="02020603050405020304" pitchFamily="18" charset="0"/>
                <a:cs typeface="Times New Roman" panose="02020603050405020304" pitchFamily="18" charset="0"/>
              </a:rPr>
              <a:t> </a:t>
            </a:r>
            <a:r>
              <a:rPr lang="en-IN" sz="1600" b="1" dirty="0" err="1" smtClean="0">
                <a:solidFill>
                  <a:srgbClr val="C00000"/>
                </a:solidFill>
                <a:latin typeface="Times New Roman" panose="02020603050405020304" pitchFamily="18" charset="0"/>
                <a:cs typeface="Times New Roman" panose="02020603050405020304" pitchFamily="18" charset="0"/>
              </a:rPr>
              <a:t>BinSear</a:t>
            </a:r>
            <a:r>
              <a:rPr lang="en-IN" sz="1600" b="1" dirty="0" smtClean="0">
                <a:solidFill>
                  <a:srgbClr val="C00000"/>
                </a:solidFill>
                <a:latin typeface="Times New Roman" panose="02020603050405020304" pitchFamily="18" charset="0"/>
                <a:cs typeface="Times New Roman" panose="02020603050405020304" pitchFamily="18" charset="0"/>
              </a:rPr>
              <a:t>(Type </a:t>
            </a:r>
            <a:r>
              <a:rPr lang="en-IN" sz="1600" b="1" dirty="0" smtClean="0">
                <a:solidFill>
                  <a:srgbClr val="002060"/>
                </a:solidFill>
                <a:latin typeface="Times New Roman" panose="02020603050405020304" pitchFamily="18" charset="0"/>
                <a:cs typeface="Times New Roman" panose="02020603050405020304" pitchFamily="18" charset="0"/>
              </a:rPr>
              <a:t>A[ ], </a:t>
            </a:r>
            <a:r>
              <a:rPr lang="en-IN" sz="1600" b="1" dirty="0" err="1" smtClean="0">
                <a:solidFill>
                  <a:srgbClr val="002060"/>
                </a:solidFill>
                <a:latin typeface="Times New Roman" panose="02020603050405020304" pitchFamily="18" charset="0"/>
                <a:cs typeface="Times New Roman" panose="02020603050405020304" pitchFamily="18" charset="0"/>
              </a:rPr>
              <a:t>int</a:t>
            </a:r>
            <a:r>
              <a:rPr lang="en-IN" sz="1600" b="1" dirty="0" smtClean="0">
                <a:solidFill>
                  <a:srgbClr val="002060"/>
                </a:solidFill>
                <a:latin typeface="Times New Roman" panose="02020603050405020304" pitchFamily="18" charset="0"/>
                <a:cs typeface="Times New Roman" panose="02020603050405020304" pitchFamily="18" charset="0"/>
              </a:rPr>
              <a:t> low, </a:t>
            </a:r>
            <a:r>
              <a:rPr lang="en-IN" sz="1600" b="1" dirty="0" err="1" smtClean="0">
                <a:solidFill>
                  <a:srgbClr val="002060"/>
                </a:solidFill>
                <a:latin typeface="Times New Roman" panose="02020603050405020304" pitchFamily="18" charset="0"/>
                <a:cs typeface="Times New Roman" panose="02020603050405020304" pitchFamily="18" charset="0"/>
              </a:rPr>
              <a:t>int</a:t>
            </a:r>
            <a:r>
              <a:rPr lang="en-IN" sz="1600" b="1" dirty="0" smtClean="0">
                <a:solidFill>
                  <a:srgbClr val="002060"/>
                </a:solidFill>
                <a:latin typeface="Times New Roman" panose="02020603050405020304" pitchFamily="18" charset="0"/>
                <a:cs typeface="Times New Roman" panose="02020603050405020304" pitchFamily="18" charset="0"/>
              </a:rPr>
              <a:t> high, type key)</a:t>
            </a:r>
          </a:p>
          <a:p>
            <a:pPr algn="just">
              <a:lnSpc>
                <a:spcPct val="100000"/>
              </a:lnSpc>
              <a:spcBef>
                <a:spcPts val="0"/>
              </a:spcBef>
            </a:pP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lnSpc>
                <a:spcPct val="100000"/>
              </a:lnSpc>
              <a:spcBef>
                <a:spcPts val="0"/>
              </a:spcBef>
            </a:pP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if (low==high)</a:t>
            </a:r>
          </a:p>
          <a:p>
            <a:pPr algn="just">
              <a:lnSpc>
                <a:spcPct val="100000"/>
              </a:lnSpc>
              <a:spcBef>
                <a:spcPts val="0"/>
              </a:spcBef>
            </a:pPr>
            <a:r>
              <a:rPr lang="en-IN" sz="2000" b="1" dirty="0" smtClean="0">
                <a:solidFill>
                  <a:srgbClr val="002060"/>
                </a:solidFill>
                <a:latin typeface="Times New Roman" panose="02020603050405020304" pitchFamily="18" charset="0"/>
                <a:cs typeface="Times New Roman" panose="02020603050405020304" pitchFamily="18" charset="0"/>
              </a:rPr>
              <a:t>     {</a:t>
            </a:r>
          </a:p>
          <a:p>
            <a:pPr algn="just">
              <a:lnSpc>
                <a:spcPct val="100000"/>
              </a:lnSpc>
              <a:spcBef>
                <a:spcPts val="0"/>
              </a:spcBef>
            </a:pPr>
            <a:r>
              <a:rPr lang="en-IN" sz="2000" b="1" dirty="0" smtClean="0">
                <a:solidFill>
                  <a:srgbClr val="002060"/>
                </a:solidFill>
                <a:latin typeface="Times New Roman" panose="02020603050405020304" pitchFamily="18" charset="0"/>
                <a:cs typeface="Times New Roman" panose="02020603050405020304" pitchFamily="18" charset="0"/>
              </a:rPr>
              <a:t>          if (key==A[low])</a:t>
            </a:r>
          </a:p>
          <a:p>
            <a:pPr algn="just">
              <a:lnSpc>
                <a:spcPct val="100000"/>
              </a:lnSpc>
              <a:spcBef>
                <a:spcPts val="0"/>
              </a:spcBef>
            </a:pPr>
            <a:r>
              <a:rPr lang="en-IN" sz="2000" b="1" dirty="0" smtClean="0">
                <a:solidFill>
                  <a:srgbClr val="002060"/>
                </a:solidFill>
                <a:latin typeface="Times New Roman" panose="02020603050405020304" pitchFamily="18" charset="0"/>
                <a:cs typeface="Times New Roman" panose="02020603050405020304" pitchFamily="18" charset="0"/>
              </a:rPr>
              <a:t>                return low;</a:t>
            </a:r>
          </a:p>
          <a:p>
            <a:pPr algn="just">
              <a:lnSpc>
                <a:spcPct val="100000"/>
              </a:lnSpc>
              <a:spcBef>
                <a:spcPts val="0"/>
              </a:spcBef>
            </a:pP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else </a:t>
            </a:r>
          </a:p>
          <a:p>
            <a:pPr algn="just">
              <a:lnSpc>
                <a:spcPct val="100000"/>
              </a:lnSpc>
              <a:spcBef>
                <a:spcPts val="0"/>
              </a:spcBef>
            </a:pP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return 0;</a:t>
            </a:r>
          </a:p>
          <a:p>
            <a:pPr algn="just">
              <a:lnSpc>
                <a:spcPct val="100000"/>
              </a:lnSpc>
              <a:spcBef>
                <a:spcPts val="0"/>
              </a:spcBef>
            </a:pPr>
            <a:r>
              <a:rPr lang="en-IN" sz="2000" b="1" dirty="0" smtClean="0">
                <a:solidFill>
                  <a:srgbClr val="002060"/>
                </a:solidFill>
                <a:latin typeface="Times New Roman" panose="02020603050405020304" pitchFamily="18" charset="0"/>
                <a:cs typeface="Times New Roman" panose="02020603050405020304" pitchFamily="18" charset="0"/>
              </a:rPr>
              <a:t>    } </a:t>
            </a:r>
          </a:p>
        </p:txBody>
      </p:sp>
      <p:pic>
        <p:nvPicPr>
          <p:cNvPr id="4" name="Picture 3"/>
          <p:cNvPicPr>
            <a:picLocks noChangeAspect="1"/>
          </p:cNvPicPr>
          <p:nvPr/>
        </p:nvPicPr>
        <p:blipFill>
          <a:blip r:embed="rId3"/>
          <a:stretch>
            <a:fillRect/>
          </a:stretch>
        </p:blipFill>
        <p:spPr>
          <a:xfrm>
            <a:off x="0" y="17300"/>
            <a:ext cx="717176" cy="685920"/>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65859" y="24005"/>
            <a:ext cx="726141" cy="72614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9976" y="6492875"/>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19</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p:cNvSpPr txBox="1"/>
              <p:nvPr/>
            </p:nvSpPr>
            <p:spPr>
              <a:xfrm>
                <a:off x="2821020" y="1274842"/>
                <a:ext cx="5943601" cy="4542397"/>
              </a:xfrm>
              <a:prstGeom prst="rect">
                <a:avLst/>
              </a:prstGeom>
              <a:noFill/>
              <a:ln>
                <a:noFill/>
              </a:ln>
            </p:spPr>
            <p:txBody>
              <a:bodyPr wrap="square" rtlCol="0">
                <a:spAutoFit/>
              </a:bodyPr>
              <a:lstStyle/>
              <a:p>
                <a:pPr algn="just">
                  <a:lnSpc>
                    <a:spcPct val="100000"/>
                  </a:lnSpc>
                  <a:spcBef>
                    <a:spcPts val="1200"/>
                  </a:spcBef>
                </a:pPr>
                <a:r>
                  <a:rPr lang="en-IN" sz="2000" b="1" dirty="0">
                    <a:solidFill>
                      <a:srgbClr val="002060"/>
                    </a:solidFill>
                    <a:latin typeface="Times New Roman" panose="02020603050405020304" pitchFamily="18" charset="0"/>
                    <a:cs typeface="Times New Roman" panose="02020603050405020304" pitchFamily="18" charset="0"/>
                  </a:rPr>
                  <a:t>else</a:t>
                </a:r>
              </a:p>
              <a:p>
                <a:pPr algn="just">
                  <a:spcBef>
                    <a:spcPts val="1200"/>
                  </a:spcBef>
                </a:pP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spcBef>
                    <a:spcPts val="1200"/>
                  </a:spcBef>
                </a:pP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err="1">
                    <a:solidFill>
                      <a:srgbClr val="002060"/>
                    </a:solidFill>
                    <a:latin typeface="Times New Roman" panose="02020603050405020304" pitchFamily="18" charset="0"/>
                    <a:cs typeface="Times New Roman" panose="02020603050405020304" pitchFamily="18" charset="0"/>
                  </a:rPr>
                  <a:t>int</a:t>
                </a:r>
                <a:r>
                  <a:rPr lang="en-IN" b="1" dirty="0">
                    <a:solidFill>
                      <a:srgbClr val="002060"/>
                    </a:solidFill>
                    <a:latin typeface="Times New Roman" panose="02020603050405020304" pitchFamily="18" charset="0"/>
                    <a:cs typeface="Times New Roman" panose="02020603050405020304" pitchFamily="18" charset="0"/>
                  </a:rPr>
                  <a:t> mid</a:t>
                </a:r>
                <a:r>
                  <a:rPr lang="en-IN" sz="2000" b="1" dirty="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𝒍𝒐𝒘</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𝒉𝒊𝒈𝒉</m:t>
                        </m:r>
                        <m:r>
                          <a:rPr lang="en-IN" sz="2000" b="1" i="1">
                            <a:solidFill>
                              <a:srgbClr val="002060"/>
                            </a:solidFill>
                            <a:latin typeface="Cambria Math" panose="02040503050406030204" pitchFamily="18" charset="0"/>
                            <a:cs typeface="Times New Roman" panose="02020603050405020304" pitchFamily="18" charset="0"/>
                          </a:rPr>
                          <m:t>)</m:t>
                        </m:r>
                      </m:num>
                      <m:den>
                        <m:r>
                          <a:rPr lang="en-IN" sz="2000" b="1" i="1">
                            <a:solidFill>
                              <a:srgbClr val="002060"/>
                            </a:solidFill>
                            <a:latin typeface="Cambria Math" panose="02040503050406030204" pitchFamily="18" charset="0"/>
                            <a:cs typeface="Times New Roman" panose="02020603050405020304" pitchFamily="18" charset="0"/>
                          </a:rPr>
                          <m:t>𝟐</m:t>
                        </m:r>
                      </m:den>
                    </m:f>
                  </m:oMath>
                </a14:m>
                <a:r>
                  <a:rPr lang="en-IN" sz="2000" b="1" dirty="0">
                    <a:solidFill>
                      <a:srgbClr val="002060"/>
                    </a:solidFill>
                    <a:latin typeface="Times New Roman" panose="02020603050405020304" pitchFamily="18" charset="0"/>
                    <a:cs typeface="Times New Roman" panose="02020603050405020304" pitchFamily="18" charset="0"/>
                  </a:rPr>
                  <a:t> </a:t>
                </a:r>
              </a:p>
              <a:p>
                <a:pPr algn="just">
                  <a:spcBef>
                    <a:spcPts val="1200"/>
                  </a:spcBef>
                </a:pP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if (key ==A[mid])    </a:t>
                </a:r>
              </a:p>
              <a:p>
                <a:pPr algn="just">
                  <a:spcBef>
                    <a:spcPts val="1200"/>
                  </a:spcBef>
                </a:pP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return mid;</a:t>
                </a:r>
              </a:p>
              <a:p>
                <a:pPr algn="just">
                  <a:spcBef>
                    <a:spcPts val="1200"/>
                  </a:spcBef>
                </a:pP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else if (key &lt; A[mid])</a:t>
                </a:r>
              </a:p>
              <a:p>
                <a:pPr algn="just">
                  <a:spcBef>
                    <a:spcPts val="1200"/>
                  </a:spcBef>
                </a:pP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return </a:t>
                </a:r>
                <a:r>
                  <a:rPr lang="en-IN" sz="2000" b="1" dirty="0" err="1" smtClean="0">
                    <a:solidFill>
                      <a:srgbClr val="002060"/>
                    </a:solidFill>
                    <a:latin typeface="Times New Roman" panose="02020603050405020304" pitchFamily="18" charset="0"/>
                    <a:cs typeface="Times New Roman" panose="02020603050405020304" pitchFamily="18" charset="0"/>
                  </a:rPr>
                  <a:t>BinSear</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dirty="0">
                    <a:solidFill>
                      <a:srgbClr val="002060"/>
                    </a:solidFill>
                    <a:latin typeface="Times New Roman" panose="02020603050405020304" pitchFamily="18" charset="0"/>
                    <a:cs typeface="Times New Roman" panose="02020603050405020304" pitchFamily="18" charset="0"/>
                  </a:rPr>
                  <a:t>, low, mid-1, key);</a:t>
                </a:r>
              </a:p>
              <a:p>
                <a:pPr algn="just">
                  <a:spcBef>
                    <a:spcPts val="1200"/>
                  </a:spcBef>
                </a:pP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else</a:t>
                </a:r>
              </a:p>
              <a:p>
                <a:pPr algn="just">
                  <a:spcBef>
                    <a:spcPts val="1200"/>
                  </a:spcBef>
                </a:pP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return </a:t>
                </a:r>
                <a:r>
                  <a:rPr lang="en-IN" sz="2000" b="1" dirty="0" err="1">
                    <a:solidFill>
                      <a:srgbClr val="002060"/>
                    </a:solidFill>
                    <a:latin typeface="Times New Roman" panose="02020603050405020304" pitchFamily="18" charset="0"/>
                    <a:cs typeface="Times New Roman" panose="02020603050405020304" pitchFamily="18" charset="0"/>
                  </a:rPr>
                  <a:t>BinarySearch</a:t>
                </a:r>
                <a:r>
                  <a:rPr lang="en-IN" sz="2000" b="1" dirty="0">
                    <a:solidFill>
                      <a:srgbClr val="002060"/>
                    </a:solidFill>
                    <a:latin typeface="Times New Roman" panose="02020603050405020304" pitchFamily="18" charset="0"/>
                    <a:cs typeface="Times New Roman" panose="02020603050405020304" pitchFamily="18" charset="0"/>
                  </a:rPr>
                  <a:t>(A, mid+1,high, key);</a:t>
                </a:r>
              </a:p>
              <a:p>
                <a:pPr algn="just"/>
                <a:r>
                  <a:rPr lang="en-IN" sz="2000" b="1" dirty="0">
                    <a:solidFill>
                      <a:srgbClr val="002060"/>
                    </a:solidFill>
                    <a:latin typeface="Times New Roman" panose="02020603050405020304" pitchFamily="18" charset="0"/>
                    <a:cs typeface="Times New Roman" panose="02020603050405020304" pitchFamily="18" charset="0"/>
                  </a:rPr>
                  <a:t>}</a:t>
                </a:r>
              </a:p>
            </p:txBody>
          </p:sp>
        </mc:Choice>
        <mc:Fallback xmlns="">
          <p:sp>
            <p:nvSpPr>
              <p:cNvPr id="10" name="TextBox 9"/>
              <p:cNvSpPr txBox="1">
                <a:spLocks noRot="1" noChangeAspect="1" noMove="1" noResize="1" noEditPoints="1" noAdjustHandles="1" noChangeArrowheads="1" noChangeShapeType="1" noTextEdit="1"/>
              </p:cNvSpPr>
              <p:nvPr/>
            </p:nvSpPr>
            <p:spPr>
              <a:xfrm>
                <a:off x="2821020" y="1274842"/>
                <a:ext cx="5943601" cy="4542397"/>
              </a:xfrm>
              <a:prstGeom prst="rect">
                <a:avLst/>
              </a:prstGeom>
              <a:blipFill rotWithShape="0">
                <a:blip r:embed="rId5"/>
                <a:stretch>
                  <a:fillRect l="-1128" t="-671" b="-1477"/>
                </a:stretch>
              </a:blipFill>
              <a:ln>
                <a:noFill/>
              </a:ln>
            </p:spPr>
            <p:txBody>
              <a:bodyPr/>
              <a:lstStyle/>
              <a:p>
                <a:r>
                  <a:rPr lang="en-IN">
                    <a:noFill/>
                  </a:rPr>
                  <a:t> </a:t>
                </a:r>
              </a:p>
            </p:txBody>
          </p:sp>
        </mc:Fallback>
      </mc:AlternateContent>
      <p:cxnSp>
        <p:nvCxnSpPr>
          <p:cNvPr id="11" name="Elbow Connector 10"/>
          <p:cNvCxnSpPr/>
          <p:nvPr/>
        </p:nvCxnSpPr>
        <p:spPr>
          <a:xfrm flipV="1">
            <a:off x="814453" y="1577560"/>
            <a:ext cx="2103844" cy="1857983"/>
          </a:xfrm>
          <a:prstGeom prst="bentConnector3">
            <a:avLst>
              <a:gd name="adj1" fmla="val 93926"/>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p:nvPicPr>
        <p:blipFill>
          <a:blip r:embed="rId6"/>
          <a:stretch>
            <a:fillRect/>
          </a:stretch>
        </p:blipFill>
        <p:spPr>
          <a:xfrm>
            <a:off x="6518462" y="2510678"/>
            <a:ext cx="4938188" cy="396274"/>
          </a:xfrm>
          <a:prstGeom prst="rect">
            <a:avLst/>
          </a:prstGeom>
        </p:spPr>
      </p:pic>
      <p:sp>
        <p:nvSpPr>
          <p:cNvPr id="21" name="TextBox 20"/>
          <p:cNvSpPr txBox="1"/>
          <p:nvPr/>
        </p:nvSpPr>
        <p:spPr>
          <a:xfrm>
            <a:off x="6455362" y="2828438"/>
            <a:ext cx="850266" cy="677108"/>
          </a:xfrm>
          <a:prstGeom prst="rect">
            <a:avLst/>
          </a:prstGeom>
          <a:noFill/>
          <a:ln>
            <a:noFill/>
          </a:ln>
        </p:spPr>
        <p:txBody>
          <a:bodyPr wrap="square" rtlCol="0">
            <a:spAutoFit/>
          </a:bodyPr>
          <a:lstStyle/>
          <a:p>
            <a:r>
              <a:rPr lang="en-IN" sz="2000" b="1" dirty="0" smtClean="0">
                <a:solidFill>
                  <a:srgbClr val="FF0000"/>
                </a:solidFill>
                <a:latin typeface="Times New Roman" panose="02020603050405020304" pitchFamily="18" charset="0"/>
                <a:cs typeface="Times New Roman" panose="02020603050405020304" pitchFamily="18" charset="0"/>
              </a:rPr>
              <a:t>1</a:t>
            </a:r>
          </a:p>
          <a:p>
            <a:r>
              <a:rPr lang="en-IN" b="1" dirty="0" smtClean="0">
                <a:solidFill>
                  <a:srgbClr val="FF0000"/>
                </a:solidFill>
                <a:latin typeface="Times New Roman" panose="02020603050405020304" pitchFamily="18" charset="0"/>
                <a:cs typeface="Times New Roman" panose="02020603050405020304" pitchFamily="18" charset="0"/>
              </a:rPr>
              <a:t>low</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11087453" y="2758435"/>
            <a:ext cx="850266" cy="677108"/>
          </a:xfrm>
          <a:prstGeom prst="rect">
            <a:avLst/>
          </a:prstGeom>
          <a:noFill/>
          <a:ln>
            <a:noFill/>
          </a:ln>
        </p:spPr>
        <p:txBody>
          <a:bodyPr wrap="square" rtlCol="0">
            <a:spAutoFit/>
          </a:bodyPr>
          <a:lstStyle/>
          <a:p>
            <a:r>
              <a:rPr lang="en-IN" sz="2000" b="1" dirty="0">
                <a:solidFill>
                  <a:srgbClr val="FF0000"/>
                </a:solidFill>
                <a:latin typeface="Times New Roman" panose="02020603050405020304" pitchFamily="18" charset="0"/>
                <a:cs typeface="Times New Roman" panose="02020603050405020304" pitchFamily="18" charset="0"/>
              </a:rPr>
              <a:t>n</a:t>
            </a:r>
            <a:endParaRPr lang="en-IN" sz="2000" b="1" dirty="0" smtClean="0">
              <a:solidFill>
                <a:srgbClr val="FF0000"/>
              </a:solidFill>
              <a:latin typeface="Times New Roman" panose="02020603050405020304" pitchFamily="18" charset="0"/>
              <a:cs typeface="Times New Roman" panose="02020603050405020304" pitchFamily="18" charset="0"/>
            </a:endParaRPr>
          </a:p>
          <a:p>
            <a:r>
              <a:rPr lang="en-IN" b="1" dirty="0" smtClean="0">
                <a:solidFill>
                  <a:srgbClr val="FF0000"/>
                </a:solidFill>
                <a:latin typeface="Times New Roman" panose="02020603050405020304" pitchFamily="18" charset="0"/>
                <a:cs typeface="Times New Roman" panose="02020603050405020304" pitchFamily="18" charset="0"/>
              </a:rPr>
              <a:t>high</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8057794" y="3096989"/>
            <a:ext cx="1735576" cy="400110"/>
          </a:xfrm>
          <a:prstGeom prst="rect">
            <a:avLst/>
          </a:prstGeom>
          <a:noFill/>
          <a:ln>
            <a:noFill/>
          </a:ln>
        </p:spPr>
        <p:txBody>
          <a:bodyPr wrap="square" rtlCol="0">
            <a:spAutoFit/>
          </a:bodyPr>
          <a:lstStyle/>
          <a:p>
            <a:r>
              <a:rPr lang="en-IN" sz="2000" b="1" dirty="0" smtClean="0">
                <a:solidFill>
                  <a:srgbClr val="FF0000"/>
                </a:solidFill>
                <a:latin typeface="Times New Roman" panose="02020603050405020304" pitchFamily="18" charset="0"/>
                <a:cs typeface="Times New Roman" panose="02020603050405020304" pitchFamily="18" charset="0"/>
              </a:rPr>
              <a:t>Key==A[mid]</a:t>
            </a:r>
            <a:endParaRPr lang="en-IN" b="1" dirty="0">
              <a:solidFill>
                <a:srgbClr val="FF0000"/>
              </a:solidFill>
              <a:latin typeface="Times New Roman" panose="02020603050405020304" pitchFamily="18" charset="0"/>
              <a:cs typeface="Times New Roman" panose="02020603050405020304" pitchFamily="18" charset="0"/>
            </a:endParaRPr>
          </a:p>
        </p:txBody>
      </p:sp>
      <p:cxnSp>
        <p:nvCxnSpPr>
          <p:cNvPr id="24" name="Straight Arrow Connector 23"/>
          <p:cNvCxnSpPr/>
          <p:nvPr/>
        </p:nvCxnSpPr>
        <p:spPr>
          <a:xfrm flipV="1">
            <a:off x="8764622" y="2839196"/>
            <a:ext cx="0" cy="4085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25" name="Picture 24"/>
          <p:cNvPicPr>
            <a:picLocks noChangeAspect="1"/>
          </p:cNvPicPr>
          <p:nvPr/>
        </p:nvPicPr>
        <p:blipFill>
          <a:blip r:embed="rId6"/>
          <a:stretch>
            <a:fillRect/>
          </a:stretch>
        </p:blipFill>
        <p:spPr>
          <a:xfrm>
            <a:off x="7531744" y="4075581"/>
            <a:ext cx="4523251" cy="396274"/>
          </a:xfrm>
          <a:prstGeom prst="rect">
            <a:avLst/>
          </a:prstGeom>
        </p:spPr>
      </p:pic>
      <p:sp>
        <p:nvSpPr>
          <p:cNvPr id="26" name="TextBox 25"/>
          <p:cNvSpPr txBox="1"/>
          <p:nvPr/>
        </p:nvSpPr>
        <p:spPr>
          <a:xfrm>
            <a:off x="7632661" y="4398440"/>
            <a:ext cx="850266" cy="677108"/>
          </a:xfrm>
          <a:prstGeom prst="rect">
            <a:avLst/>
          </a:prstGeom>
          <a:noFill/>
          <a:ln>
            <a:noFill/>
          </a:ln>
        </p:spPr>
        <p:txBody>
          <a:bodyPr wrap="square" rtlCol="0">
            <a:spAutoFit/>
          </a:bodyPr>
          <a:lstStyle/>
          <a:p>
            <a:r>
              <a:rPr lang="en-IN" sz="2000" b="1" dirty="0" smtClean="0">
                <a:solidFill>
                  <a:srgbClr val="FF0000"/>
                </a:solidFill>
                <a:latin typeface="Times New Roman" panose="02020603050405020304" pitchFamily="18" charset="0"/>
                <a:cs typeface="Times New Roman" panose="02020603050405020304" pitchFamily="18" charset="0"/>
              </a:rPr>
              <a:t>1</a:t>
            </a:r>
          </a:p>
          <a:p>
            <a:r>
              <a:rPr lang="en-IN" b="1" dirty="0" smtClean="0">
                <a:solidFill>
                  <a:srgbClr val="FF0000"/>
                </a:solidFill>
                <a:latin typeface="Times New Roman" panose="02020603050405020304" pitchFamily="18" charset="0"/>
                <a:cs typeface="Times New Roman" panose="02020603050405020304" pitchFamily="18" charset="0"/>
              </a:rPr>
              <a:t>low</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8958468" y="4467439"/>
            <a:ext cx="850266" cy="646331"/>
          </a:xfrm>
          <a:prstGeom prst="rect">
            <a:avLst/>
          </a:prstGeom>
          <a:noFill/>
          <a:ln>
            <a:noFill/>
          </a:ln>
        </p:spPr>
        <p:txBody>
          <a:bodyPr wrap="square" rtlCol="0">
            <a:spAutoFit/>
          </a:bodyPr>
          <a:lstStyle/>
          <a:p>
            <a:r>
              <a:rPr lang="en-IN" b="1" dirty="0" smtClean="0">
                <a:solidFill>
                  <a:srgbClr val="FF0000"/>
                </a:solidFill>
                <a:latin typeface="Times New Roman" panose="02020603050405020304" pitchFamily="18" charset="0"/>
                <a:cs typeface="Times New Roman" panose="02020603050405020304" pitchFamily="18" charset="0"/>
              </a:rPr>
              <a:t>high is mid-1 </a:t>
            </a:r>
            <a:endParaRPr lang="en-IN" b="1" dirty="0">
              <a:solidFill>
                <a:srgbClr val="FF0000"/>
              </a:solidFill>
              <a:latin typeface="Times New Roman" panose="02020603050405020304" pitchFamily="18" charset="0"/>
              <a:cs typeface="Times New Roman" panose="02020603050405020304" pitchFamily="18" charset="0"/>
            </a:endParaRPr>
          </a:p>
        </p:txBody>
      </p:sp>
      <p:cxnSp>
        <p:nvCxnSpPr>
          <p:cNvPr id="28" name="Straight Arrow Connector 27"/>
          <p:cNvCxnSpPr/>
          <p:nvPr/>
        </p:nvCxnSpPr>
        <p:spPr>
          <a:xfrm flipV="1">
            <a:off x="9003769" y="4557373"/>
            <a:ext cx="0" cy="4085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25" idx="3"/>
          </p:cNvCxnSpPr>
          <p:nvPr/>
        </p:nvCxnSpPr>
        <p:spPr>
          <a:xfrm>
            <a:off x="9383601" y="4273718"/>
            <a:ext cx="2671394"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2" name="Picture 31"/>
          <p:cNvPicPr>
            <a:picLocks noChangeAspect="1"/>
          </p:cNvPicPr>
          <p:nvPr/>
        </p:nvPicPr>
        <p:blipFill>
          <a:blip r:embed="rId6"/>
          <a:stretch>
            <a:fillRect/>
          </a:stretch>
        </p:blipFill>
        <p:spPr>
          <a:xfrm>
            <a:off x="7531743" y="5542847"/>
            <a:ext cx="4523251" cy="396274"/>
          </a:xfrm>
          <a:prstGeom prst="rect">
            <a:avLst/>
          </a:prstGeom>
        </p:spPr>
      </p:pic>
      <p:sp>
        <p:nvSpPr>
          <p:cNvPr id="33" name="TextBox 32"/>
          <p:cNvSpPr txBox="1"/>
          <p:nvPr/>
        </p:nvSpPr>
        <p:spPr>
          <a:xfrm>
            <a:off x="11637995" y="5867439"/>
            <a:ext cx="833998" cy="646331"/>
          </a:xfrm>
          <a:prstGeom prst="rect">
            <a:avLst/>
          </a:prstGeom>
          <a:noFill/>
          <a:ln>
            <a:noFill/>
          </a:ln>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n</a:t>
            </a:r>
            <a:endParaRPr lang="en-IN" b="1" dirty="0" smtClean="0">
              <a:solidFill>
                <a:srgbClr val="FF0000"/>
              </a:solidFill>
              <a:latin typeface="Times New Roman" panose="02020603050405020304" pitchFamily="18" charset="0"/>
              <a:cs typeface="Times New Roman" panose="02020603050405020304" pitchFamily="18" charset="0"/>
            </a:endParaRPr>
          </a:p>
          <a:p>
            <a:r>
              <a:rPr lang="en-IN" b="1" dirty="0" smtClean="0">
                <a:solidFill>
                  <a:srgbClr val="FF0000"/>
                </a:solidFill>
                <a:latin typeface="Times New Roman" panose="02020603050405020304" pitchFamily="18" charset="0"/>
                <a:cs typeface="Times New Roman" panose="02020603050405020304" pitchFamily="18" charset="0"/>
              </a:rPr>
              <a:t>high  </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4" name="TextBox 33"/>
          <p:cNvSpPr txBox="1"/>
          <p:nvPr/>
        </p:nvSpPr>
        <p:spPr>
          <a:xfrm>
            <a:off x="9829088" y="6009302"/>
            <a:ext cx="850266" cy="646331"/>
          </a:xfrm>
          <a:prstGeom prst="rect">
            <a:avLst/>
          </a:prstGeom>
          <a:noFill/>
          <a:ln>
            <a:noFill/>
          </a:ln>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l</a:t>
            </a:r>
            <a:r>
              <a:rPr lang="en-IN" b="1" dirty="0" smtClean="0">
                <a:solidFill>
                  <a:srgbClr val="FF0000"/>
                </a:solidFill>
                <a:latin typeface="Times New Roman" panose="02020603050405020304" pitchFamily="18" charset="0"/>
                <a:cs typeface="Times New Roman" panose="02020603050405020304" pitchFamily="18" charset="0"/>
              </a:rPr>
              <a:t>ow is mid+1 </a:t>
            </a:r>
            <a:endParaRPr lang="en-IN" b="1" dirty="0">
              <a:solidFill>
                <a:srgbClr val="FF0000"/>
              </a:solidFill>
              <a:latin typeface="Times New Roman" panose="02020603050405020304" pitchFamily="18" charset="0"/>
              <a:cs typeface="Times New Roman" panose="02020603050405020304" pitchFamily="18" charset="0"/>
            </a:endParaRPr>
          </a:p>
        </p:txBody>
      </p:sp>
      <p:cxnSp>
        <p:nvCxnSpPr>
          <p:cNvPr id="35" name="Straight Arrow Connector 34"/>
          <p:cNvCxnSpPr/>
          <p:nvPr/>
        </p:nvCxnSpPr>
        <p:spPr>
          <a:xfrm flipV="1">
            <a:off x="9851796" y="6009302"/>
            <a:ext cx="0" cy="4085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7531743" y="5740984"/>
            <a:ext cx="22616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07095642-5FF6-467A-B19A-3D0A7C59966E}" type="datetime1">
              <a:rPr lang="en-IN" smtClean="0"/>
              <a:t>21-03-2026</a:t>
            </a:fld>
            <a:endParaRPr lang="en-IN"/>
          </a:p>
        </p:txBody>
      </p:sp>
    </p:spTree>
    <p:extLst>
      <p:ext uri="{BB962C8B-B14F-4D97-AF65-F5344CB8AC3E}">
        <p14:creationId xmlns:p14="http://schemas.microsoft.com/office/powerpoint/2010/main" val="3027861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1" grpId="0"/>
      <p:bldP spid="22" grpId="0"/>
      <p:bldP spid="23" grpId="0"/>
      <p:bldP spid="26" grpId="0"/>
      <p:bldP spid="27" grpId="0"/>
      <p:bldP spid="33" grpId="0"/>
      <p:bldP spid="3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9005" y="34019"/>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79292" y="436667"/>
            <a:ext cx="11649637" cy="6186236"/>
          </a:xfrm>
        </p:spPr>
        <p:txBody>
          <a:bodyPr>
            <a:noAutofit/>
          </a:bodyPr>
          <a:lstStyle/>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r>
              <a:rPr lang="en-IN" sz="2000" b="1" dirty="0" smtClean="0">
                <a:solidFill>
                  <a:srgbClr val="C00000"/>
                </a:solidFill>
                <a:latin typeface="Times New Roman" panose="02020603050405020304" pitchFamily="18" charset="0"/>
                <a:cs typeface="Times New Roman" panose="02020603050405020304" pitchFamily="18" charset="0"/>
              </a:rPr>
              <a:t>Example </a:t>
            </a:r>
            <a:r>
              <a:rPr lang="en-IN" sz="2000" b="1" dirty="0">
                <a:solidFill>
                  <a:srgbClr val="C00000"/>
                </a:solidFill>
                <a:latin typeface="Times New Roman" panose="02020603050405020304" pitchFamily="18" charset="0"/>
                <a:cs typeface="Times New Roman" panose="02020603050405020304" pitchFamily="18" charset="0"/>
              </a:rPr>
              <a:t>Binary search </a:t>
            </a:r>
            <a:r>
              <a:rPr lang="en-IN" sz="2000" b="1" dirty="0" smtClean="0">
                <a:solidFill>
                  <a:srgbClr val="C00000"/>
                </a:solidFill>
                <a:latin typeface="Times New Roman" panose="02020603050405020304" pitchFamily="18" charset="0"/>
                <a:cs typeface="Times New Roman" panose="02020603050405020304" pitchFamily="18" charset="0"/>
              </a:rPr>
              <a:t>algorithm: Consider List A with 14 elements, search for the key=151 in the list</a:t>
            </a:r>
          </a:p>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r>
              <a:rPr lang="en-IN" sz="1800" b="1" dirty="0" smtClean="0">
                <a:solidFill>
                  <a:srgbClr val="002060"/>
                </a:solidFill>
                <a:latin typeface="Times New Roman" panose="02020603050405020304" pitchFamily="18" charset="0"/>
                <a:cs typeface="Times New Roman" panose="02020603050405020304" pitchFamily="18" charset="0"/>
              </a:rPr>
              <a:t>A</a:t>
            </a:r>
          </a:p>
          <a:p>
            <a:pPr algn="just">
              <a:spcBef>
                <a:spcPts val="600"/>
              </a:spcBef>
            </a:pPr>
            <a:endParaRPr lang="en-IN" sz="1800" b="1" dirty="0">
              <a:solidFill>
                <a:srgbClr val="002060"/>
              </a:solidFill>
              <a:latin typeface="Times New Roman" panose="02020603050405020304" pitchFamily="18" charset="0"/>
              <a:cs typeface="Times New Roman" panose="02020603050405020304" pitchFamily="18" charset="0"/>
            </a:endParaRPr>
          </a:p>
          <a:p>
            <a:pPr algn="just">
              <a:spcBef>
                <a:spcPts val="600"/>
              </a:spcBef>
            </a:pPr>
            <a:endParaRPr lang="en-IN" sz="1800" b="1" dirty="0" smtClean="0">
              <a:solidFill>
                <a:srgbClr val="002060"/>
              </a:solidFill>
              <a:latin typeface="Times New Roman" panose="02020603050405020304" pitchFamily="18" charset="0"/>
              <a:cs typeface="Times New Roman" panose="02020603050405020304" pitchFamily="18" charset="0"/>
            </a:endParaRPr>
          </a:p>
          <a:p>
            <a:pPr algn="just">
              <a:spcBef>
                <a:spcPts val="600"/>
              </a:spcBef>
            </a:pPr>
            <a:r>
              <a:rPr lang="en-IN" sz="1800" b="1" dirty="0" smtClean="0">
                <a:solidFill>
                  <a:srgbClr val="002060"/>
                </a:solidFill>
                <a:latin typeface="Times New Roman" panose="02020603050405020304" pitchFamily="18" charset="0"/>
                <a:cs typeface="Times New Roman" panose="02020603050405020304" pitchFamily="18" charset="0"/>
              </a:rPr>
              <a:t>Solution:</a:t>
            </a:r>
          </a:p>
          <a:p>
            <a:pPr>
              <a:spcBef>
                <a:spcPts val="600"/>
              </a:spcBef>
            </a:pPr>
            <a:endParaRPr lang="en-IN" sz="16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17176" cy="685920"/>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65859" y="24005"/>
            <a:ext cx="726141" cy="72614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9976" y="6492875"/>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20</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417676358"/>
              </p:ext>
            </p:extLst>
          </p:nvPr>
        </p:nvGraphicFramePr>
        <p:xfrm>
          <a:off x="582704" y="1445807"/>
          <a:ext cx="9314331" cy="370840"/>
        </p:xfrm>
        <a:graphic>
          <a:graphicData uri="http://schemas.openxmlformats.org/drawingml/2006/table">
            <a:tbl>
              <a:tblPr firstRow="1" bandRow="1">
                <a:tableStyleId>{5C22544A-7EE6-4342-B048-85BDC9FD1C3A}</a:tableStyleId>
              </a:tblPr>
              <a:tblGrid>
                <a:gridCol w="792931"/>
                <a:gridCol w="577036"/>
                <a:gridCol w="559626"/>
                <a:gridCol w="359632"/>
                <a:gridCol w="568886"/>
                <a:gridCol w="685114"/>
                <a:gridCol w="674736"/>
                <a:gridCol w="591691"/>
                <a:gridCol w="876019"/>
                <a:gridCol w="805963"/>
                <a:gridCol w="656102"/>
                <a:gridCol w="741170"/>
                <a:gridCol w="777624"/>
                <a:gridCol w="647801"/>
              </a:tblGrid>
              <a:tr h="370840">
                <a:tc>
                  <a:txBody>
                    <a:bodyPr/>
                    <a:lstStyle/>
                    <a:p>
                      <a:r>
                        <a:rPr lang="en-IN" dirty="0" smtClean="0">
                          <a:solidFill>
                            <a:srgbClr val="002060"/>
                          </a:solidFill>
                        </a:rPr>
                        <a:t>-15</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-6</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0</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7</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9</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23</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54</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82</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101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112</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125</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131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142</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151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152522682"/>
              </p:ext>
            </p:extLst>
          </p:nvPr>
        </p:nvGraphicFramePr>
        <p:xfrm>
          <a:off x="1156445" y="3023595"/>
          <a:ext cx="9538448" cy="1010920"/>
        </p:xfrm>
        <a:graphic>
          <a:graphicData uri="http://schemas.openxmlformats.org/drawingml/2006/table">
            <a:tbl>
              <a:tblPr firstRow="1" bandRow="1">
                <a:tableStyleId>{5C22544A-7EE6-4342-B048-85BDC9FD1C3A}</a:tableStyleId>
              </a:tblPr>
              <a:tblGrid>
                <a:gridCol w="573743"/>
                <a:gridCol w="699247"/>
                <a:gridCol w="703032"/>
                <a:gridCol w="623745"/>
                <a:gridCol w="519953"/>
                <a:gridCol w="663388"/>
                <a:gridCol w="690282"/>
                <a:gridCol w="663389"/>
                <a:gridCol w="685697"/>
                <a:gridCol w="825356"/>
                <a:gridCol w="671889"/>
                <a:gridCol w="759004"/>
                <a:gridCol w="796335"/>
                <a:gridCol w="663388"/>
              </a:tblGrid>
              <a:tr h="370840">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8</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9</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10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11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12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13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14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b="1" dirty="0" smtClean="0">
                          <a:solidFill>
                            <a:srgbClr val="002060"/>
                          </a:solidFill>
                        </a:rPr>
                        <a:t>-15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-6</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9</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23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54</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82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101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112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125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131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142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151</a:t>
                      </a:r>
                    </a:p>
                    <a:p>
                      <a:pPr algn="ct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cxnSp>
        <p:nvCxnSpPr>
          <p:cNvPr id="11" name="Straight Arrow Connector 10"/>
          <p:cNvCxnSpPr/>
          <p:nvPr/>
        </p:nvCxnSpPr>
        <p:spPr>
          <a:xfrm flipV="1">
            <a:off x="564774" y="3164541"/>
            <a:ext cx="528917" cy="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58588" y="2744778"/>
            <a:ext cx="762002"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Index</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9816353" y="4322851"/>
            <a:ext cx="1039906"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High=14</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923365" y="4459376"/>
            <a:ext cx="963708" cy="369332"/>
          </a:xfrm>
          <a:prstGeom prst="rect">
            <a:avLst/>
          </a:prstGeom>
          <a:noFill/>
        </p:spPr>
        <p:txBody>
          <a:bodyPr wrap="square" rtlCol="0">
            <a:spAutoFit/>
          </a:bodyPr>
          <a:lstStyle/>
          <a:p>
            <a:r>
              <a:rPr lang="en-IN" dirty="0">
                <a:solidFill>
                  <a:srgbClr val="FF0000"/>
                </a:solidFill>
                <a:latin typeface="Times New Roman" panose="02020603050405020304" pitchFamily="18" charset="0"/>
                <a:cs typeface="Times New Roman" panose="02020603050405020304" pitchFamily="18" charset="0"/>
              </a:rPr>
              <a:t>l</a:t>
            </a:r>
            <a:r>
              <a:rPr lang="en-IN" dirty="0" smtClean="0">
                <a:solidFill>
                  <a:srgbClr val="FF0000"/>
                </a:solidFill>
                <a:latin typeface="Times New Roman" panose="02020603050405020304" pitchFamily="18" charset="0"/>
                <a:cs typeface="Times New Roman" panose="02020603050405020304" pitchFamily="18" charset="0"/>
              </a:rPr>
              <a:t>ow=1</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16" name="Straight Arrow Connector 15"/>
          <p:cNvCxnSpPr>
            <a:stCxn id="14" idx="0"/>
          </p:cNvCxnSpPr>
          <p:nvPr/>
        </p:nvCxnSpPr>
        <p:spPr>
          <a:xfrm flipV="1">
            <a:off x="1405219" y="4069976"/>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10378889" y="4029579"/>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0" name="Date Placeholder 9"/>
          <p:cNvSpPr>
            <a:spLocks noGrp="1"/>
          </p:cNvSpPr>
          <p:nvPr>
            <p:ph type="dt" sz="half" idx="10"/>
          </p:nvPr>
        </p:nvSpPr>
        <p:spPr/>
        <p:txBody>
          <a:bodyPr/>
          <a:lstStyle/>
          <a:p>
            <a:fld id="{4B20FD2F-3D33-46DF-BD5A-A119FDC51A2E}" type="datetime1">
              <a:rPr lang="en-IN" smtClean="0"/>
              <a:t>21-03-2026</a:t>
            </a:fld>
            <a:endParaRPr lang="en-IN"/>
          </a:p>
        </p:txBody>
      </p:sp>
    </p:spTree>
    <p:extLst>
      <p:ext uri="{BB962C8B-B14F-4D97-AF65-F5344CB8AC3E}">
        <p14:creationId xmlns:p14="http://schemas.microsoft.com/office/powerpoint/2010/main" val="222606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9005" y="34019"/>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79292" y="436667"/>
            <a:ext cx="11949955" cy="6186236"/>
          </a:xfrm>
        </p:spPr>
        <p:txBody>
          <a:bodyPr>
            <a:noAutofit/>
          </a:bodyPr>
          <a:lstStyle/>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r>
              <a:rPr lang="en-IN" sz="2000" b="1" dirty="0" smtClean="0">
                <a:solidFill>
                  <a:srgbClr val="C00000"/>
                </a:solidFill>
                <a:latin typeface="Times New Roman" panose="02020603050405020304" pitchFamily="18" charset="0"/>
                <a:cs typeface="Times New Roman" panose="02020603050405020304" pitchFamily="18" charset="0"/>
              </a:rPr>
              <a:t>Example </a:t>
            </a:r>
            <a:r>
              <a:rPr lang="en-IN" sz="2000" b="1" dirty="0">
                <a:solidFill>
                  <a:srgbClr val="C00000"/>
                </a:solidFill>
                <a:latin typeface="Times New Roman" panose="02020603050405020304" pitchFamily="18" charset="0"/>
                <a:cs typeface="Times New Roman" panose="02020603050405020304" pitchFamily="18" charset="0"/>
              </a:rPr>
              <a:t>Binary search </a:t>
            </a:r>
            <a:r>
              <a:rPr lang="en-IN" sz="2000" b="1" dirty="0" smtClean="0">
                <a:solidFill>
                  <a:srgbClr val="C00000"/>
                </a:solidFill>
                <a:latin typeface="Times New Roman" panose="02020603050405020304" pitchFamily="18" charset="0"/>
                <a:cs typeface="Times New Roman" panose="02020603050405020304" pitchFamily="18" charset="0"/>
              </a:rPr>
              <a:t>algorithm: Consider List A with 14 elements, search for the key=151 in the list</a:t>
            </a:r>
          </a:p>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endParaRPr lang="en-IN" sz="1800" b="1" dirty="0">
              <a:solidFill>
                <a:srgbClr val="002060"/>
              </a:solidFill>
              <a:latin typeface="Times New Roman" panose="02020603050405020304" pitchFamily="18" charset="0"/>
              <a:cs typeface="Times New Roman" panose="02020603050405020304" pitchFamily="18" charset="0"/>
            </a:endParaRPr>
          </a:p>
          <a:p>
            <a:pPr algn="just">
              <a:spcBef>
                <a:spcPts val="600"/>
              </a:spcBef>
            </a:pPr>
            <a:endParaRPr lang="en-IN" sz="1800" b="1" dirty="0" smtClean="0">
              <a:solidFill>
                <a:srgbClr val="002060"/>
              </a:solidFill>
              <a:latin typeface="Times New Roman" panose="02020603050405020304" pitchFamily="18" charset="0"/>
              <a:cs typeface="Times New Roman" panose="02020603050405020304" pitchFamily="18" charset="0"/>
            </a:endParaRPr>
          </a:p>
          <a:p>
            <a:pPr algn="just">
              <a:spcBef>
                <a:spcPts val="600"/>
              </a:spcBef>
            </a:pPr>
            <a:r>
              <a:rPr lang="en-IN" sz="1800" b="1" dirty="0" smtClean="0">
                <a:solidFill>
                  <a:srgbClr val="002060"/>
                </a:solidFill>
                <a:latin typeface="Times New Roman" panose="02020603050405020304" pitchFamily="18" charset="0"/>
                <a:cs typeface="Times New Roman" panose="02020603050405020304" pitchFamily="18" charset="0"/>
              </a:rPr>
              <a:t>Solution:</a:t>
            </a:r>
          </a:p>
          <a:p>
            <a:pPr>
              <a:spcBef>
                <a:spcPts val="600"/>
              </a:spcBef>
            </a:pPr>
            <a:endParaRPr lang="en-IN" sz="16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17176" cy="685920"/>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65859" y="24005"/>
            <a:ext cx="726141" cy="72614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9976" y="6492875"/>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21</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1110216354"/>
              </p:ext>
            </p:extLst>
          </p:nvPr>
        </p:nvGraphicFramePr>
        <p:xfrm>
          <a:off x="542365" y="2480463"/>
          <a:ext cx="11649635" cy="889000"/>
        </p:xfrm>
        <a:graphic>
          <a:graphicData uri="http://schemas.openxmlformats.org/drawingml/2006/table">
            <a:tbl>
              <a:tblPr firstRow="1" bandRow="1">
                <a:tableStyleId>{5C22544A-7EE6-4342-B048-85BDC9FD1C3A}</a:tableStyleId>
              </a:tblPr>
              <a:tblGrid>
                <a:gridCol w="555813"/>
                <a:gridCol w="493059"/>
                <a:gridCol w="573741"/>
                <a:gridCol w="546847"/>
                <a:gridCol w="537882"/>
                <a:gridCol w="502024"/>
                <a:gridCol w="573741"/>
                <a:gridCol w="636494"/>
                <a:gridCol w="493059"/>
                <a:gridCol w="645459"/>
                <a:gridCol w="645459"/>
                <a:gridCol w="645459"/>
                <a:gridCol w="681317"/>
                <a:gridCol w="645459"/>
                <a:gridCol w="484094"/>
                <a:gridCol w="609600"/>
                <a:gridCol w="1456477"/>
                <a:gridCol w="923651"/>
              </a:tblGrid>
              <a:tr h="370840">
                <a:tc>
                  <a:txBody>
                    <a:bodyPr/>
                    <a:lstStyle/>
                    <a:p>
                      <a:pPr algn="ctr"/>
                      <a:r>
                        <a:rPr lang="en-IN" sz="1400" dirty="0" smtClean="0">
                          <a:solidFill>
                            <a:srgbClr val="FF0000"/>
                          </a:solidFill>
                        </a:rPr>
                        <a:t>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5</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6</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7</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8</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9</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10</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low</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High</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baseline="0" dirty="0" smtClean="0">
                          <a:solidFill>
                            <a:srgbClr val="FF0000"/>
                          </a:solidFill>
                        </a:rPr>
                        <a:t>mid</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compare</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sz="1400" b="1" dirty="0" smtClean="0">
                          <a:solidFill>
                            <a:srgbClr val="002060"/>
                          </a:solidFill>
                        </a:rPr>
                        <a:t>-15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-6</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0</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7</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9</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23</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54</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82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101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112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125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131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142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151</a:t>
                      </a:r>
                    </a:p>
                    <a:p>
                      <a:pPr algn="ct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14</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(1+14)/2=7</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151&gt;54</a:t>
                      </a:r>
                    </a:p>
                    <a:p>
                      <a:pPr algn="ct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cxnSp>
        <p:nvCxnSpPr>
          <p:cNvPr id="11" name="Straight Arrow Connector 10"/>
          <p:cNvCxnSpPr/>
          <p:nvPr/>
        </p:nvCxnSpPr>
        <p:spPr>
          <a:xfrm flipV="1">
            <a:off x="0" y="2755970"/>
            <a:ext cx="528917" cy="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3795" y="2397725"/>
            <a:ext cx="762002"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Index</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8106336" y="3737929"/>
            <a:ext cx="1039906" cy="369332"/>
          </a:xfrm>
          <a:prstGeom prst="rect">
            <a:avLst/>
          </a:prstGeom>
          <a:noFill/>
        </p:spPr>
        <p:txBody>
          <a:bodyPr wrap="square" rtlCol="0">
            <a:spAutoFit/>
          </a:bodyPr>
          <a:lstStyle/>
          <a:p>
            <a:r>
              <a:rPr lang="en-IN" dirty="0">
                <a:solidFill>
                  <a:srgbClr val="FF0000"/>
                </a:solidFill>
                <a:latin typeface="Times New Roman" panose="02020603050405020304" pitchFamily="18" charset="0"/>
                <a:cs typeface="Times New Roman" panose="02020603050405020304" pitchFamily="18" charset="0"/>
              </a:rPr>
              <a:t>h</a:t>
            </a:r>
            <a:r>
              <a:rPr lang="en-IN" dirty="0" smtClean="0">
                <a:solidFill>
                  <a:srgbClr val="FF0000"/>
                </a:solidFill>
                <a:latin typeface="Times New Roman" panose="02020603050405020304" pitchFamily="18" charset="0"/>
                <a:cs typeface="Times New Roman" panose="02020603050405020304" pitchFamily="18" charset="0"/>
              </a:rPr>
              <a:t>igh=14</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4307538" y="5613762"/>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low=8</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16" name="Straight Arrow Connector 15"/>
          <p:cNvCxnSpPr/>
          <p:nvPr/>
        </p:nvCxnSpPr>
        <p:spPr>
          <a:xfrm flipV="1">
            <a:off x="795616" y="3364067"/>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4022911" y="3409363"/>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8444752" y="3326294"/>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610533" y="3735317"/>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mid=7</a:t>
            </a:r>
            <a:endParaRPr lang="en-IN" dirty="0">
              <a:solidFill>
                <a:srgbClr val="FF0000"/>
              </a:solidFill>
              <a:latin typeface="Times New Roman" panose="02020603050405020304" pitchFamily="18" charset="0"/>
              <a:cs typeface="Times New Roman" panose="02020603050405020304" pitchFamily="18" charset="0"/>
            </a:endParaRPr>
          </a:p>
        </p:txBody>
      </p:sp>
      <p:graphicFrame>
        <p:nvGraphicFramePr>
          <p:cNvPr id="19" name="Table 18"/>
          <p:cNvGraphicFramePr>
            <a:graphicFrameLocks noGrp="1"/>
          </p:cNvGraphicFramePr>
          <p:nvPr>
            <p:extLst>
              <p:ext uri="{D42A27DB-BD31-4B8C-83A1-F6EECF244321}">
                <p14:modId xmlns:p14="http://schemas.microsoft.com/office/powerpoint/2010/main" val="840710375"/>
              </p:ext>
            </p:extLst>
          </p:nvPr>
        </p:nvGraphicFramePr>
        <p:xfrm>
          <a:off x="510988" y="4409762"/>
          <a:ext cx="11649635" cy="889000"/>
        </p:xfrm>
        <a:graphic>
          <a:graphicData uri="http://schemas.openxmlformats.org/drawingml/2006/table">
            <a:tbl>
              <a:tblPr firstRow="1" bandRow="1">
                <a:tableStyleId>{5C22544A-7EE6-4342-B048-85BDC9FD1C3A}</a:tableStyleId>
              </a:tblPr>
              <a:tblGrid>
                <a:gridCol w="555813"/>
                <a:gridCol w="493059"/>
                <a:gridCol w="573741"/>
                <a:gridCol w="546847"/>
                <a:gridCol w="537882"/>
                <a:gridCol w="502024"/>
                <a:gridCol w="573741"/>
                <a:gridCol w="636494"/>
                <a:gridCol w="493059"/>
                <a:gridCol w="645459"/>
                <a:gridCol w="645459"/>
                <a:gridCol w="645459"/>
                <a:gridCol w="681317"/>
                <a:gridCol w="645459"/>
                <a:gridCol w="484094"/>
                <a:gridCol w="609600"/>
                <a:gridCol w="1456477"/>
                <a:gridCol w="923651"/>
              </a:tblGrid>
              <a:tr h="370840">
                <a:tc>
                  <a:txBody>
                    <a:bodyPr/>
                    <a:lstStyle/>
                    <a:p>
                      <a:pPr algn="ctr"/>
                      <a:r>
                        <a:rPr lang="en-IN" sz="1400" dirty="0" smtClean="0">
                          <a:solidFill>
                            <a:srgbClr val="FF0000"/>
                          </a:solidFill>
                        </a:rPr>
                        <a:t>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5</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6</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7</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8</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9</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10</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low</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High</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baseline="0" dirty="0" smtClean="0">
                          <a:solidFill>
                            <a:srgbClr val="FF0000"/>
                          </a:solidFill>
                        </a:rPr>
                        <a:t>mid</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compare</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sz="1400" b="1" dirty="0" smtClean="0">
                          <a:solidFill>
                            <a:srgbClr val="002060"/>
                          </a:solidFill>
                        </a:rPr>
                        <a:t>-15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-6</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0</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7</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9</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23</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54</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82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101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112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125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131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142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151</a:t>
                      </a:r>
                    </a:p>
                    <a:p>
                      <a:pPr algn="ct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8</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14</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(8+14)/2=11</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151&gt;125</a:t>
                      </a:r>
                    </a:p>
                    <a:p>
                      <a:pPr algn="ct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cxnSp>
        <p:nvCxnSpPr>
          <p:cNvPr id="21" name="Straight Arrow Connector 20"/>
          <p:cNvCxnSpPr/>
          <p:nvPr/>
        </p:nvCxnSpPr>
        <p:spPr>
          <a:xfrm flipV="1">
            <a:off x="4677333" y="5291479"/>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8018929" y="5632738"/>
            <a:ext cx="1039906" cy="369332"/>
          </a:xfrm>
          <a:prstGeom prst="rect">
            <a:avLst/>
          </a:prstGeom>
          <a:noFill/>
        </p:spPr>
        <p:txBody>
          <a:bodyPr wrap="square" rtlCol="0">
            <a:spAutoFit/>
          </a:bodyPr>
          <a:lstStyle/>
          <a:p>
            <a:r>
              <a:rPr lang="en-IN" dirty="0">
                <a:solidFill>
                  <a:srgbClr val="FF0000"/>
                </a:solidFill>
                <a:latin typeface="Times New Roman" panose="02020603050405020304" pitchFamily="18" charset="0"/>
                <a:cs typeface="Times New Roman" panose="02020603050405020304" pitchFamily="18" charset="0"/>
              </a:rPr>
              <a:t>h</a:t>
            </a:r>
            <a:r>
              <a:rPr lang="en-IN" dirty="0" smtClean="0">
                <a:solidFill>
                  <a:srgbClr val="FF0000"/>
                </a:solidFill>
                <a:latin typeface="Times New Roman" panose="02020603050405020304" pitchFamily="18" charset="0"/>
                <a:cs typeface="Times New Roman" panose="02020603050405020304" pitchFamily="18" charset="0"/>
              </a:rPr>
              <a:t>igh=14</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3" name="Straight Arrow Connector 22"/>
          <p:cNvCxnSpPr/>
          <p:nvPr/>
        </p:nvCxnSpPr>
        <p:spPr>
          <a:xfrm flipV="1">
            <a:off x="8469404" y="5291479"/>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6427691" y="5295785"/>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945837" y="5688075"/>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mid=11</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376513" y="3643910"/>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low=1</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96365" y="3945196"/>
            <a:ext cx="762002"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Index</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8" name="Straight Arrow Connector 27"/>
          <p:cNvCxnSpPr/>
          <p:nvPr/>
        </p:nvCxnSpPr>
        <p:spPr>
          <a:xfrm flipV="1">
            <a:off x="94129" y="4350697"/>
            <a:ext cx="528917" cy="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56666" y="4172834"/>
            <a:ext cx="3590362" cy="13907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477366" y="4241174"/>
            <a:ext cx="3618383" cy="143970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BF733808-CCF2-45C5-8B5A-17DBA101122F}" type="datetime1">
              <a:rPr lang="en-IN" smtClean="0"/>
              <a:t>21-03-2026</a:t>
            </a:fld>
            <a:endParaRPr lang="en-IN"/>
          </a:p>
        </p:txBody>
      </p:sp>
    </p:spTree>
    <p:extLst>
      <p:ext uri="{BB962C8B-B14F-4D97-AF65-F5344CB8AC3E}">
        <p14:creationId xmlns:p14="http://schemas.microsoft.com/office/powerpoint/2010/main" val="2979058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8" grpId="0"/>
      <p:bldP spid="22" grpId="0"/>
      <p:bldP spid="25" grpId="0"/>
      <p:bldP spid="2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9005" y="34019"/>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79292" y="436667"/>
            <a:ext cx="11949955" cy="6186236"/>
          </a:xfrm>
        </p:spPr>
        <p:txBody>
          <a:bodyPr>
            <a:noAutofit/>
          </a:bodyPr>
          <a:lstStyle/>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r>
              <a:rPr lang="en-IN" sz="2000" b="1" dirty="0" smtClean="0">
                <a:solidFill>
                  <a:srgbClr val="C00000"/>
                </a:solidFill>
                <a:latin typeface="Times New Roman" panose="02020603050405020304" pitchFamily="18" charset="0"/>
                <a:cs typeface="Times New Roman" panose="02020603050405020304" pitchFamily="18" charset="0"/>
              </a:rPr>
              <a:t>Example </a:t>
            </a:r>
            <a:r>
              <a:rPr lang="en-IN" sz="2000" b="1" dirty="0">
                <a:solidFill>
                  <a:srgbClr val="C00000"/>
                </a:solidFill>
                <a:latin typeface="Times New Roman" panose="02020603050405020304" pitchFamily="18" charset="0"/>
                <a:cs typeface="Times New Roman" panose="02020603050405020304" pitchFamily="18" charset="0"/>
              </a:rPr>
              <a:t>Binary search </a:t>
            </a:r>
            <a:r>
              <a:rPr lang="en-IN" sz="2000" b="1" dirty="0" smtClean="0">
                <a:solidFill>
                  <a:srgbClr val="C00000"/>
                </a:solidFill>
                <a:latin typeface="Times New Roman" panose="02020603050405020304" pitchFamily="18" charset="0"/>
                <a:cs typeface="Times New Roman" panose="02020603050405020304" pitchFamily="18" charset="0"/>
              </a:rPr>
              <a:t>algorithm: Consider List A with 14 elements, search for the key=151 in the list</a:t>
            </a:r>
          </a:p>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endParaRPr lang="en-IN" sz="1800" b="1" dirty="0" smtClean="0">
              <a:solidFill>
                <a:srgbClr val="002060"/>
              </a:solidFill>
              <a:latin typeface="Times New Roman" panose="02020603050405020304" pitchFamily="18" charset="0"/>
              <a:cs typeface="Times New Roman" panose="02020603050405020304" pitchFamily="18" charset="0"/>
            </a:endParaRPr>
          </a:p>
          <a:p>
            <a:pPr algn="just">
              <a:spcBef>
                <a:spcPts val="600"/>
              </a:spcBef>
            </a:pPr>
            <a:r>
              <a:rPr lang="en-IN" sz="1800" b="1" dirty="0" smtClean="0">
                <a:solidFill>
                  <a:srgbClr val="002060"/>
                </a:solidFill>
                <a:latin typeface="Times New Roman" panose="02020603050405020304" pitchFamily="18" charset="0"/>
                <a:cs typeface="Times New Roman" panose="02020603050405020304" pitchFamily="18" charset="0"/>
              </a:rPr>
              <a:t>Solution:</a:t>
            </a:r>
          </a:p>
          <a:p>
            <a:pPr>
              <a:spcBef>
                <a:spcPts val="600"/>
              </a:spcBef>
            </a:pPr>
            <a:endParaRPr lang="en-IN" sz="16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17176" cy="685920"/>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65859" y="24005"/>
            <a:ext cx="726141" cy="72614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9976" y="6492875"/>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22</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242045" y="2121086"/>
            <a:ext cx="762002"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Index</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6332440" y="3882302"/>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low=12</a:t>
            </a:r>
            <a:endParaRPr lang="en-IN" dirty="0">
              <a:solidFill>
                <a:srgbClr val="FF0000"/>
              </a:solidFill>
              <a:latin typeface="Times New Roman" panose="02020603050405020304" pitchFamily="18" charset="0"/>
              <a:cs typeface="Times New Roman" panose="02020603050405020304" pitchFamily="18" charset="0"/>
            </a:endParaRPr>
          </a:p>
        </p:txBody>
      </p:sp>
      <p:graphicFrame>
        <p:nvGraphicFramePr>
          <p:cNvPr id="19" name="Table 18"/>
          <p:cNvGraphicFramePr>
            <a:graphicFrameLocks noGrp="1"/>
          </p:cNvGraphicFramePr>
          <p:nvPr>
            <p:extLst>
              <p:ext uri="{D42A27DB-BD31-4B8C-83A1-F6EECF244321}">
                <p14:modId xmlns:p14="http://schemas.microsoft.com/office/powerpoint/2010/main" val="2180699671"/>
              </p:ext>
            </p:extLst>
          </p:nvPr>
        </p:nvGraphicFramePr>
        <p:xfrm>
          <a:off x="358588" y="2706463"/>
          <a:ext cx="11649635" cy="889000"/>
        </p:xfrm>
        <a:graphic>
          <a:graphicData uri="http://schemas.openxmlformats.org/drawingml/2006/table">
            <a:tbl>
              <a:tblPr firstRow="1" bandRow="1">
                <a:tableStyleId>{5C22544A-7EE6-4342-B048-85BDC9FD1C3A}</a:tableStyleId>
              </a:tblPr>
              <a:tblGrid>
                <a:gridCol w="555813"/>
                <a:gridCol w="493059"/>
                <a:gridCol w="573741"/>
                <a:gridCol w="546847"/>
                <a:gridCol w="537882"/>
                <a:gridCol w="502024"/>
                <a:gridCol w="573741"/>
                <a:gridCol w="636494"/>
                <a:gridCol w="493059"/>
                <a:gridCol w="645459"/>
                <a:gridCol w="645459"/>
                <a:gridCol w="645459"/>
                <a:gridCol w="681317"/>
                <a:gridCol w="645459"/>
                <a:gridCol w="484094"/>
                <a:gridCol w="609600"/>
                <a:gridCol w="1456477"/>
                <a:gridCol w="923651"/>
              </a:tblGrid>
              <a:tr h="370840">
                <a:tc>
                  <a:txBody>
                    <a:bodyPr/>
                    <a:lstStyle/>
                    <a:p>
                      <a:pPr algn="ctr"/>
                      <a:r>
                        <a:rPr lang="en-IN" sz="1400" dirty="0" smtClean="0">
                          <a:solidFill>
                            <a:srgbClr val="FF0000"/>
                          </a:solidFill>
                        </a:rPr>
                        <a:t>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5</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6</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7</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8</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9</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10</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low</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High</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baseline="0" dirty="0" smtClean="0">
                          <a:solidFill>
                            <a:srgbClr val="FF0000"/>
                          </a:solidFill>
                        </a:rPr>
                        <a:t>mid</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compare</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sz="1400" b="1" dirty="0" smtClean="0">
                          <a:solidFill>
                            <a:srgbClr val="002060"/>
                          </a:solidFill>
                        </a:rPr>
                        <a:t>-15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-6</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0</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7</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9</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23</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54</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82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101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112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125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131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142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151</a:t>
                      </a:r>
                    </a:p>
                    <a:p>
                      <a:pPr algn="ct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12</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14</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(12+14)/2=13</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151&gt;142</a:t>
                      </a:r>
                    </a:p>
                    <a:p>
                      <a:pPr algn="ct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cxnSp>
        <p:nvCxnSpPr>
          <p:cNvPr id="21" name="Straight Arrow Connector 20"/>
          <p:cNvCxnSpPr/>
          <p:nvPr/>
        </p:nvCxnSpPr>
        <p:spPr>
          <a:xfrm flipV="1">
            <a:off x="6935321" y="3553799"/>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8090647" y="3921245"/>
            <a:ext cx="1039906" cy="369332"/>
          </a:xfrm>
          <a:prstGeom prst="rect">
            <a:avLst/>
          </a:prstGeom>
          <a:noFill/>
        </p:spPr>
        <p:txBody>
          <a:bodyPr wrap="square" rtlCol="0">
            <a:spAutoFit/>
          </a:bodyPr>
          <a:lstStyle/>
          <a:p>
            <a:r>
              <a:rPr lang="en-IN" dirty="0">
                <a:solidFill>
                  <a:srgbClr val="FF0000"/>
                </a:solidFill>
                <a:latin typeface="Times New Roman" panose="02020603050405020304" pitchFamily="18" charset="0"/>
                <a:cs typeface="Times New Roman" panose="02020603050405020304" pitchFamily="18" charset="0"/>
              </a:rPr>
              <a:t>h</a:t>
            </a:r>
            <a:r>
              <a:rPr lang="en-IN" dirty="0" smtClean="0">
                <a:solidFill>
                  <a:srgbClr val="FF0000"/>
                </a:solidFill>
                <a:latin typeface="Times New Roman" panose="02020603050405020304" pitchFamily="18" charset="0"/>
                <a:cs typeface="Times New Roman" panose="02020603050405020304" pitchFamily="18" charset="0"/>
              </a:rPr>
              <a:t>igh=14</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3" name="Straight Arrow Connector 22"/>
          <p:cNvCxnSpPr/>
          <p:nvPr/>
        </p:nvCxnSpPr>
        <p:spPr>
          <a:xfrm flipV="1">
            <a:off x="8255375" y="3598962"/>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7595348" y="3553799"/>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202021" y="3943199"/>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mid=13</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8" name="Straight Arrow Connector 27"/>
          <p:cNvCxnSpPr/>
          <p:nvPr/>
        </p:nvCxnSpPr>
        <p:spPr>
          <a:xfrm flipV="1">
            <a:off x="286869" y="2593958"/>
            <a:ext cx="528917" cy="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29" name="Table 28"/>
          <p:cNvGraphicFramePr>
            <a:graphicFrameLocks noGrp="1"/>
          </p:cNvGraphicFramePr>
          <p:nvPr>
            <p:extLst>
              <p:ext uri="{D42A27DB-BD31-4B8C-83A1-F6EECF244321}">
                <p14:modId xmlns:p14="http://schemas.microsoft.com/office/powerpoint/2010/main" val="1776472362"/>
              </p:ext>
            </p:extLst>
          </p:nvPr>
        </p:nvGraphicFramePr>
        <p:xfrm>
          <a:off x="286869" y="4615257"/>
          <a:ext cx="11586881" cy="889000"/>
        </p:xfrm>
        <a:graphic>
          <a:graphicData uri="http://schemas.openxmlformats.org/drawingml/2006/table">
            <a:tbl>
              <a:tblPr firstRow="1" bandRow="1">
                <a:tableStyleId>{5C22544A-7EE6-4342-B048-85BDC9FD1C3A}</a:tableStyleId>
              </a:tblPr>
              <a:tblGrid>
                <a:gridCol w="552819"/>
                <a:gridCol w="490403"/>
                <a:gridCol w="570650"/>
                <a:gridCol w="543901"/>
                <a:gridCol w="534985"/>
                <a:gridCol w="499320"/>
                <a:gridCol w="570650"/>
                <a:gridCol w="633065"/>
                <a:gridCol w="490403"/>
                <a:gridCol w="641982"/>
                <a:gridCol w="641982"/>
                <a:gridCol w="641982"/>
                <a:gridCol w="677647"/>
                <a:gridCol w="641982"/>
                <a:gridCol w="499319"/>
                <a:gridCol w="588484"/>
                <a:gridCol w="1181424"/>
                <a:gridCol w="1185883"/>
              </a:tblGrid>
              <a:tr h="370840">
                <a:tc>
                  <a:txBody>
                    <a:bodyPr/>
                    <a:lstStyle/>
                    <a:p>
                      <a:pPr algn="ctr"/>
                      <a:r>
                        <a:rPr lang="en-IN" sz="1400" dirty="0" smtClean="0">
                          <a:solidFill>
                            <a:srgbClr val="FF0000"/>
                          </a:solidFill>
                        </a:rPr>
                        <a:t>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5</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6</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7</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8</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9</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10</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low</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High</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baseline="0" dirty="0" smtClean="0">
                          <a:solidFill>
                            <a:srgbClr val="FF0000"/>
                          </a:solidFill>
                        </a:rPr>
                        <a:t>mid</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compare</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sz="1400" b="1" dirty="0" smtClean="0">
                          <a:solidFill>
                            <a:srgbClr val="002060"/>
                          </a:solidFill>
                        </a:rPr>
                        <a:t>-15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-6</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0</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7</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9</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23</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54</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82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101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112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125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131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142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151</a:t>
                      </a:r>
                    </a:p>
                    <a:p>
                      <a:pPr algn="ct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14</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14</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Low=high</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151=151</a:t>
                      </a:r>
                    </a:p>
                    <a:p>
                      <a:pPr algn="ct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sp>
        <p:nvSpPr>
          <p:cNvPr id="30" name="TextBox 29"/>
          <p:cNvSpPr txBox="1"/>
          <p:nvPr/>
        </p:nvSpPr>
        <p:spPr>
          <a:xfrm>
            <a:off x="7241242" y="5777278"/>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low=14</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31" name="Straight Arrow Connector 30"/>
          <p:cNvCxnSpPr/>
          <p:nvPr/>
        </p:nvCxnSpPr>
        <p:spPr>
          <a:xfrm flipV="1">
            <a:off x="7936007" y="5484006"/>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8204950" y="5759331"/>
            <a:ext cx="1039906" cy="369332"/>
          </a:xfrm>
          <a:prstGeom prst="rect">
            <a:avLst/>
          </a:prstGeom>
          <a:noFill/>
        </p:spPr>
        <p:txBody>
          <a:bodyPr wrap="square" rtlCol="0">
            <a:spAutoFit/>
          </a:bodyPr>
          <a:lstStyle/>
          <a:p>
            <a:r>
              <a:rPr lang="en-IN" dirty="0">
                <a:solidFill>
                  <a:srgbClr val="FF0000"/>
                </a:solidFill>
                <a:latin typeface="Times New Roman" panose="02020603050405020304" pitchFamily="18" charset="0"/>
                <a:cs typeface="Times New Roman" panose="02020603050405020304" pitchFamily="18" charset="0"/>
              </a:rPr>
              <a:t>h</a:t>
            </a:r>
            <a:r>
              <a:rPr lang="en-IN" dirty="0" smtClean="0">
                <a:solidFill>
                  <a:srgbClr val="FF0000"/>
                </a:solidFill>
                <a:latin typeface="Times New Roman" panose="02020603050405020304" pitchFamily="18" charset="0"/>
                <a:cs typeface="Times New Roman" panose="02020603050405020304" pitchFamily="18" charset="0"/>
              </a:rPr>
              <a:t>igh=14</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33" name="Straight Arrow Connector 32"/>
          <p:cNvCxnSpPr/>
          <p:nvPr/>
        </p:nvCxnSpPr>
        <p:spPr>
          <a:xfrm flipV="1">
            <a:off x="8327095" y="5484006"/>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459005" y="6070963"/>
            <a:ext cx="7288311" cy="461665"/>
          </a:xfrm>
          <a:prstGeom prst="rect">
            <a:avLst/>
          </a:prstGeom>
          <a:noFill/>
        </p:spPr>
        <p:txBody>
          <a:bodyPr wrap="square" rtlCol="0">
            <a:spAutoFit/>
          </a:bodyPr>
          <a:lstStyle/>
          <a:p>
            <a:r>
              <a:rPr lang="en-IN" sz="2400" dirty="0" smtClean="0">
                <a:solidFill>
                  <a:srgbClr val="FF0000"/>
                </a:solidFill>
                <a:latin typeface="Times New Roman" panose="02020603050405020304" pitchFamily="18" charset="0"/>
                <a:cs typeface="Times New Roman" panose="02020603050405020304" pitchFamily="18" charset="0"/>
              </a:rPr>
              <a:t>Key=151 is found at position 14, search is successful</a:t>
            </a:r>
            <a:endParaRPr lang="en-IN" sz="2400" dirty="0">
              <a:solidFill>
                <a:srgbClr val="FF0000"/>
              </a:solidFill>
              <a:latin typeface="Times New Roman" panose="02020603050405020304" pitchFamily="18" charset="0"/>
              <a:cs typeface="Times New Roman" panose="02020603050405020304" pitchFamily="18" charset="0"/>
            </a:endParaRPr>
          </a:p>
        </p:txBody>
      </p:sp>
      <p:cxnSp>
        <p:nvCxnSpPr>
          <p:cNvPr id="35" name="Straight Connector 34"/>
          <p:cNvCxnSpPr/>
          <p:nvPr/>
        </p:nvCxnSpPr>
        <p:spPr>
          <a:xfrm>
            <a:off x="905432" y="2305752"/>
            <a:ext cx="5588379" cy="154678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546845" y="2305752"/>
            <a:ext cx="5895417" cy="184047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419099" y="4417304"/>
            <a:ext cx="7268139" cy="14506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546845" y="4343785"/>
            <a:ext cx="6846796" cy="139455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D04E8A01-C743-45E5-A7FF-93A153537ABB}" type="datetime1">
              <a:rPr lang="en-IN" smtClean="0"/>
              <a:t>21-03-2026</a:t>
            </a:fld>
            <a:endParaRPr lang="en-IN"/>
          </a:p>
        </p:txBody>
      </p:sp>
    </p:spTree>
    <p:extLst>
      <p:ext uri="{BB962C8B-B14F-4D97-AF65-F5344CB8AC3E}">
        <p14:creationId xmlns:p14="http://schemas.microsoft.com/office/powerpoint/2010/main" val="2996023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p:bldP spid="25" grpId="0"/>
      <p:bldP spid="30" grpId="0"/>
      <p:bldP spid="32" grpId="0"/>
      <p:bldP spid="3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9005" y="34019"/>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79292" y="436667"/>
            <a:ext cx="11949955" cy="6186236"/>
          </a:xfrm>
        </p:spPr>
        <p:txBody>
          <a:bodyPr>
            <a:noAutofit/>
          </a:bodyPr>
          <a:lstStyle/>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r>
              <a:rPr lang="en-IN" sz="2000" b="1" dirty="0" smtClean="0">
                <a:solidFill>
                  <a:srgbClr val="C00000"/>
                </a:solidFill>
                <a:latin typeface="Times New Roman" panose="02020603050405020304" pitchFamily="18" charset="0"/>
                <a:cs typeface="Times New Roman" panose="02020603050405020304" pitchFamily="18" charset="0"/>
              </a:rPr>
              <a:t>Example </a:t>
            </a:r>
            <a:r>
              <a:rPr lang="en-IN" sz="2000" b="1" dirty="0">
                <a:solidFill>
                  <a:srgbClr val="C00000"/>
                </a:solidFill>
                <a:latin typeface="Times New Roman" panose="02020603050405020304" pitchFamily="18" charset="0"/>
                <a:cs typeface="Times New Roman" panose="02020603050405020304" pitchFamily="18" charset="0"/>
              </a:rPr>
              <a:t>Binary search </a:t>
            </a:r>
            <a:r>
              <a:rPr lang="en-IN" sz="2000" b="1" dirty="0" smtClean="0">
                <a:solidFill>
                  <a:srgbClr val="C00000"/>
                </a:solidFill>
                <a:latin typeface="Times New Roman" panose="02020603050405020304" pitchFamily="18" charset="0"/>
                <a:cs typeface="Times New Roman" panose="02020603050405020304" pitchFamily="18" charset="0"/>
              </a:rPr>
              <a:t>algorithm: Consider List A with 14 elements, search for the key=-14 in the list</a:t>
            </a:r>
          </a:p>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endParaRPr lang="en-IN" sz="1800" b="1" dirty="0">
              <a:solidFill>
                <a:srgbClr val="002060"/>
              </a:solidFill>
              <a:latin typeface="Times New Roman" panose="02020603050405020304" pitchFamily="18" charset="0"/>
              <a:cs typeface="Times New Roman" panose="02020603050405020304" pitchFamily="18" charset="0"/>
            </a:endParaRPr>
          </a:p>
          <a:p>
            <a:pPr algn="just">
              <a:spcBef>
                <a:spcPts val="600"/>
              </a:spcBef>
            </a:pPr>
            <a:endParaRPr lang="en-IN" sz="1800" b="1" dirty="0" smtClean="0">
              <a:solidFill>
                <a:srgbClr val="002060"/>
              </a:solidFill>
              <a:latin typeface="Times New Roman" panose="02020603050405020304" pitchFamily="18" charset="0"/>
              <a:cs typeface="Times New Roman" panose="02020603050405020304" pitchFamily="18" charset="0"/>
            </a:endParaRPr>
          </a:p>
          <a:p>
            <a:pPr algn="just">
              <a:spcBef>
                <a:spcPts val="600"/>
              </a:spcBef>
            </a:pPr>
            <a:r>
              <a:rPr lang="en-IN" sz="1800" b="1" dirty="0" smtClean="0">
                <a:solidFill>
                  <a:srgbClr val="002060"/>
                </a:solidFill>
                <a:latin typeface="Times New Roman" panose="02020603050405020304" pitchFamily="18" charset="0"/>
                <a:cs typeface="Times New Roman" panose="02020603050405020304" pitchFamily="18" charset="0"/>
              </a:rPr>
              <a:t>Solution:</a:t>
            </a:r>
          </a:p>
          <a:p>
            <a:pPr>
              <a:spcBef>
                <a:spcPts val="600"/>
              </a:spcBef>
            </a:pPr>
            <a:endParaRPr lang="en-IN" sz="16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17176" cy="685920"/>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65859" y="24005"/>
            <a:ext cx="726141" cy="72614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9976" y="6492875"/>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23</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297744404"/>
              </p:ext>
            </p:extLst>
          </p:nvPr>
        </p:nvGraphicFramePr>
        <p:xfrm>
          <a:off x="542365" y="2480463"/>
          <a:ext cx="11649635" cy="889000"/>
        </p:xfrm>
        <a:graphic>
          <a:graphicData uri="http://schemas.openxmlformats.org/drawingml/2006/table">
            <a:tbl>
              <a:tblPr firstRow="1" bandRow="1">
                <a:tableStyleId>{5C22544A-7EE6-4342-B048-85BDC9FD1C3A}</a:tableStyleId>
              </a:tblPr>
              <a:tblGrid>
                <a:gridCol w="555813"/>
                <a:gridCol w="493059"/>
                <a:gridCol w="573741"/>
                <a:gridCol w="546847"/>
                <a:gridCol w="537882"/>
                <a:gridCol w="502024"/>
                <a:gridCol w="573741"/>
                <a:gridCol w="636494"/>
                <a:gridCol w="493059"/>
                <a:gridCol w="645459"/>
                <a:gridCol w="645459"/>
                <a:gridCol w="645459"/>
                <a:gridCol w="681317"/>
                <a:gridCol w="645459"/>
                <a:gridCol w="484094"/>
                <a:gridCol w="609600"/>
                <a:gridCol w="1456477"/>
                <a:gridCol w="923651"/>
              </a:tblGrid>
              <a:tr h="370840">
                <a:tc>
                  <a:txBody>
                    <a:bodyPr/>
                    <a:lstStyle/>
                    <a:p>
                      <a:pPr algn="ctr"/>
                      <a:r>
                        <a:rPr lang="en-IN" sz="1400" dirty="0" smtClean="0">
                          <a:solidFill>
                            <a:srgbClr val="FF0000"/>
                          </a:solidFill>
                        </a:rPr>
                        <a:t>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5</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6</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7</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8</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9</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10</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low</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High</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baseline="0" dirty="0" smtClean="0">
                          <a:solidFill>
                            <a:srgbClr val="FF0000"/>
                          </a:solidFill>
                        </a:rPr>
                        <a:t>mid</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compare</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sz="1400" b="1" dirty="0" smtClean="0">
                          <a:solidFill>
                            <a:srgbClr val="002060"/>
                          </a:solidFill>
                        </a:rPr>
                        <a:t>-15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-6</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0</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7</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9</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23</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54</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82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101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112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125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131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142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151</a:t>
                      </a:r>
                    </a:p>
                    <a:p>
                      <a:pPr algn="ct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14</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(1+14)/2=7</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-14&lt;54</a:t>
                      </a:r>
                    </a:p>
                    <a:p>
                      <a:pPr algn="ct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cxnSp>
        <p:nvCxnSpPr>
          <p:cNvPr id="11" name="Straight Arrow Connector 10"/>
          <p:cNvCxnSpPr/>
          <p:nvPr/>
        </p:nvCxnSpPr>
        <p:spPr>
          <a:xfrm flipV="1">
            <a:off x="0" y="2755970"/>
            <a:ext cx="528917" cy="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3795" y="2397725"/>
            <a:ext cx="762002"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Index</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9058835" y="3715694"/>
            <a:ext cx="1039906" cy="369332"/>
          </a:xfrm>
          <a:prstGeom prst="rect">
            <a:avLst/>
          </a:prstGeom>
          <a:noFill/>
        </p:spPr>
        <p:txBody>
          <a:bodyPr wrap="square" rtlCol="0">
            <a:spAutoFit/>
          </a:bodyPr>
          <a:lstStyle/>
          <a:p>
            <a:r>
              <a:rPr lang="en-IN" dirty="0">
                <a:solidFill>
                  <a:srgbClr val="FF0000"/>
                </a:solidFill>
                <a:latin typeface="Times New Roman" panose="02020603050405020304" pitchFamily="18" charset="0"/>
                <a:cs typeface="Times New Roman" panose="02020603050405020304" pitchFamily="18" charset="0"/>
              </a:rPr>
              <a:t>h</a:t>
            </a:r>
            <a:r>
              <a:rPr lang="en-IN" dirty="0" smtClean="0">
                <a:solidFill>
                  <a:srgbClr val="FF0000"/>
                </a:solidFill>
                <a:latin typeface="Times New Roman" panose="02020603050405020304" pitchFamily="18" charset="0"/>
                <a:cs typeface="Times New Roman" panose="02020603050405020304" pitchFamily="18" charset="0"/>
              </a:rPr>
              <a:t>igh=14</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347372" y="5777123"/>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low=1</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16" name="Straight Arrow Connector 15"/>
          <p:cNvCxnSpPr/>
          <p:nvPr/>
        </p:nvCxnSpPr>
        <p:spPr>
          <a:xfrm flipV="1">
            <a:off x="795616" y="3364067"/>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4022911" y="3409363"/>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9462247" y="3364067"/>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610533" y="3735317"/>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mid=7</a:t>
            </a:r>
            <a:endParaRPr lang="en-IN" dirty="0">
              <a:solidFill>
                <a:srgbClr val="FF0000"/>
              </a:solidFill>
              <a:latin typeface="Times New Roman" panose="02020603050405020304" pitchFamily="18" charset="0"/>
              <a:cs typeface="Times New Roman" panose="02020603050405020304" pitchFamily="18" charset="0"/>
            </a:endParaRPr>
          </a:p>
        </p:txBody>
      </p:sp>
      <p:graphicFrame>
        <p:nvGraphicFramePr>
          <p:cNvPr id="19" name="Table 18"/>
          <p:cNvGraphicFramePr>
            <a:graphicFrameLocks noGrp="1"/>
          </p:cNvGraphicFramePr>
          <p:nvPr>
            <p:extLst>
              <p:ext uri="{D42A27DB-BD31-4B8C-83A1-F6EECF244321}">
                <p14:modId xmlns:p14="http://schemas.microsoft.com/office/powerpoint/2010/main" val="1382968842"/>
              </p:ext>
            </p:extLst>
          </p:nvPr>
        </p:nvGraphicFramePr>
        <p:xfrm>
          <a:off x="510988" y="4409762"/>
          <a:ext cx="11649635" cy="889000"/>
        </p:xfrm>
        <a:graphic>
          <a:graphicData uri="http://schemas.openxmlformats.org/drawingml/2006/table">
            <a:tbl>
              <a:tblPr firstRow="1" bandRow="1">
                <a:tableStyleId>{5C22544A-7EE6-4342-B048-85BDC9FD1C3A}</a:tableStyleId>
              </a:tblPr>
              <a:tblGrid>
                <a:gridCol w="555813"/>
                <a:gridCol w="493059"/>
                <a:gridCol w="573741"/>
                <a:gridCol w="546847"/>
                <a:gridCol w="537882"/>
                <a:gridCol w="502024"/>
                <a:gridCol w="573741"/>
                <a:gridCol w="636494"/>
                <a:gridCol w="493059"/>
                <a:gridCol w="645459"/>
                <a:gridCol w="645459"/>
                <a:gridCol w="645459"/>
                <a:gridCol w="681317"/>
                <a:gridCol w="645459"/>
                <a:gridCol w="484094"/>
                <a:gridCol w="609600"/>
                <a:gridCol w="1456477"/>
                <a:gridCol w="923651"/>
              </a:tblGrid>
              <a:tr h="370840">
                <a:tc>
                  <a:txBody>
                    <a:bodyPr/>
                    <a:lstStyle/>
                    <a:p>
                      <a:pPr algn="ctr"/>
                      <a:r>
                        <a:rPr lang="en-IN" sz="1400" dirty="0" smtClean="0">
                          <a:solidFill>
                            <a:srgbClr val="FF0000"/>
                          </a:solidFill>
                        </a:rPr>
                        <a:t>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5</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6</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7</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8</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9</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10</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low</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High</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baseline="0" dirty="0" smtClean="0">
                          <a:solidFill>
                            <a:srgbClr val="FF0000"/>
                          </a:solidFill>
                        </a:rPr>
                        <a:t>mid</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compare</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sz="1400" b="1" dirty="0" smtClean="0">
                          <a:solidFill>
                            <a:srgbClr val="002060"/>
                          </a:solidFill>
                        </a:rPr>
                        <a:t>-15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-6</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0</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7</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9</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23</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54</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82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101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112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125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131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142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151</a:t>
                      </a:r>
                    </a:p>
                    <a:p>
                      <a:pPr algn="ct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6</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(1+6)/2=3</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-14&lt;0</a:t>
                      </a:r>
                    </a:p>
                    <a:p>
                      <a:pPr algn="ct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cxnSp>
        <p:nvCxnSpPr>
          <p:cNvPr id="21" name="Straight Arrow Connector 20"/>
          <p:cNvCxnSpPr/>
          <p:nvPr/>
        </p:nvCxnSpPr>
        <p:spPr>
          <a:xfrm flipV="1">
            <a:off x="811302" y="5345355"/>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108505" y="5711746"/>
            <a:ext cx="1039906"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high=6</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3" name="Straight Arrow Connector 22"/>
          <p:cNvCxnSpPr/>
          <p:nvPr/>
        </p:nvCxnSpPr>
        <p:spPr>
          <a:xfrm flipV="1">
            <a:off x="3507436" y="5345355"/>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1846726" y="5327292"/>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410810" y="5729194"/>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mid=3</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376513" y="3643910"/>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low=1</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96365" y="3945196"/>
            <a:ext cx="762002"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Index</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8" name="Straight Arrow Connector 27"/>
          <p:cNvCxnSpPr/>
          <p:nvPr/>
        </p:nvCxnSpPr>
        <p:spPr>
          <a:xfrm flipV="1">
            <a:off x="94129" y="4350697"/>
            <a:ext cx="528917" cy="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4041952" y="4009875"/>
            <a:ext cx="3952318" cy="14667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flipV="1">
            <a:off x="4368470" y="4096019"/>
            <a:ext cx="4546520" cy="133025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47A1D3AC-C42A-4F20-8B2D-8BCF71F0A354}" type="datetime1">
              <a:rPr lang="en-IN" smtClean="0"/>
              <a:t>21-03-2026</a:t>
            </a:fld>
            <a:endParaRPr lang="en-IN"/>
          </a:p>
        </p:txBody>
      </p:sp>
    </p:spTree>
    <p:extLst>
      <p:ext uri="{BB962C8B-B14F-4D97-AF65-F5344CB8AC3E}">
        <p14:creationId xmlns:p14="http://schemas.microsoft.com/office/powerpoint/2010/main" val="398283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8" grpId="0"/>
      <p:bldP spid="22" grpId="0"/>
      <p:bldP spid="25" grpId="0"/>
      <p:bldP spid="2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9005" y="34019"/>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79292" y="436667"/>
            <a:ext cx="11949955" cy="6186236"/>
          </a:xfrm>
        </p:spPr>
        <p:txBody>
          <a:bodyPr>
            <a:noAutofit/>
          </a:bodyPr>
          <a:lstStyle/>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r>
              <a:rPr lang="en-IN" sz="2000" b="1" dirty="0" smtClean="0">
                <a:solidFill>
                  <a:srgbClr val="C00000"/>
                </a:solidFill>
                <a:latin typeface="Times New Roman" panose="02020603050405020304" pitchFamily="18" charset="0"/>
                <a:cs typeface="Times New Roman" panose="02020603050405020304" pitchFamily="18" charset="0"/>
              </a:rPr>
              <a:t>Example </a:t>
            </a:r>
            <a:r>
              <a:rPr lang="en-IN" sz="2000" b="1" dirty="0">
                <a:solidFill>
                  <a:srgbClr val="C00000"/>
                </a:solidFill>
                <a:latin typeface="Times New Roman" panose="02020603050405020304" pitchFamily="18" charset="0"/>
                <a:cs typeface="Times New Roman" panose="02020603050405020304" pitchFamily="18" charset="0"/>
              </a:rPr>
              <a:t>Binary search </a:t>
            </a:r>
            <a:r>
              <a:rPr lang="en-IN" sz="2000" b="1" dirty="0" smtClean="0">
                <a:solidFill>
                  <a:srgbClr val="C00000"/>
                </a:solidFill>
                <a:latin typeface="Times New Roman" panose="02020603050405020304" pitchFamily="18" charset="0"/>
                <a:cs typeface="Times New Roman" panose="02020603050405020304" pitchFamily="18" charset="0"/>
              </a:rPr>
              <a:t>algorithm: Consider List A with 14 elements, search for the key=151 in the list</a:t>
            </a:r>
          </a:p>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endParaRPr lang="en-IN" sz="1800" b="1" dirty="0" smtClean="0">
              <a:solidFill>
                <a:srgbClr val="002060"/>
              </a:solidFill>
              <a:latin typeface="Times New Roman" panose="02020603050405020304" pitchFamily="18" charset="0"/>
              <a:cs typeface="Times New Roman" panose="02020603050405020304" pitchFamily="18" charset="0"/>
            </a:endParaRPr>
          </a:p>
          <a:p>
            <a:pPr algn="just">
              <a:spcBef>
                <a:spcPts val="600"/>
              </a:spcBef>
            </a:pPr>
            <a:r>
              <a:rPr lang="en-IN" sz="1800" b="1" dirty="0" smtClean="0">
                <a:solidFill>
                  <a:srgbClr val="002060"/>
                </a:solidFill>
                <a:latin typeface="Times New Roman" panose="02020603050405020304" pitchFamily="18" charset="0"/>
                <a:cs typeface="Times New Roman" panose="02020603050405020304" pitchFamily="18" charset="0"/>
              </a:rPr>
              <a:t>Solution:</a:t>
            </a:r>
          </a:p>
          <a:p>
            <a:pPr>
              <a:spcBef>
                <a:spcPts val="600"/>
              </a:spcBef>
            </a:pPr>
            <a:endParaRPr lang="en-IN" sz="16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17176" cy="685920"/>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65859" y="24005"/>
            <a:ext cx="726141" cy="72614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9976" y="6492875"/>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24</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83647897"/>
              </p:ext>
            </p:extLst>
          </p:nvPr>
        </p:nvGraphicFramePr>
        <p:xfrm>
          <a:off x="542365" y="2480463"/>
          <a:ext cx="11649635" cy="889000"/>
        </p:xfrm>
        <a:graphic>
          <a:graphicData uri="http://schemas.openxmlformats.org/drawingml/2006/table">
            <a:tbl>
              <a:tblPr firstRow="1" bandRow="1">
                <a:tableStyleId>{5C22544A-7EE6-4342-B048-85BDC9FD1C3A}</a:tableStyleId>
              </a:tblPr>
              <a:tblGrid>
                <a:gridCol w="555813"/>
                <a:gridCol w="493059"/>
                <a:gridCol w="573741"/>
                <a:gridCol w="546847"/>
                <a:gridCol w="537882"/>
                <a:gridCol w="502024"/>
                <a:gridCol w="573741"/>
                <a:gridCol w="636494"/>
                <a:gridCol w="493059"/>
                <a:gridCol w="645459"/>
                <a:gridCol w="645459"/>
                <a:gridCol w="645459"/>
                <a:gridCol w="681317"/>
                <a:gridCol w="645459"/>
                <a:gridCol w="484094"/>
                <a:gridCol w="609600"/>
                <a:gridCol w="1456477"/>
                <a:gridCol w="923651"/>
              </a:tblGrid>
              <a:tr h="370840">
                <a:tc>
                  <a:txBody>
                    <a:bodyPr/>
                    <a:lstStyle/>
                    <a:p>
                      <a:pPr algn="ctr"/>
                      <a:r>
                        <a:rPr lang="en-IN" sz="1400" dirty="0" smtClean="0">
                          <a:solidFill>
                            <a:srgbClr val="FF0000"/>
                          </a:solidFill>
                        </a:rPr>
                        <a:t>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5</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6</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7</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8</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9</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10</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low</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High</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baseline="0" dirty="0" smtClean="0">
                          <a:solidFill>
                            <a:srgbClr val="FF0000"/>
                          </a:solidFill>
                        </a:rPr>
                        <a:t>mid</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compare</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sz="1400" b="1" dirty="0" smtClean="0">
                          <a:solidFill>
                            <a:srgbClr val="002060"/>
                          </a:solidFill>
                        </a:rPr>
                        <a:t>-15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-6</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0</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7</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9</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23</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54</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82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101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112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125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131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142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151</a:t>
                      </a:r>
                    </a:p>
                    <a:p>
                      <a:pPr algn="ct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2</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(1+2)/2=1</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-14&gt;-15</a:t>
                      </a:r>
                    </a:p>
                    <a:p>
                      <a:pPr algn="ct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cxnSp>
        <p:nvCxnSpPr>
          <p:cNvPr id="11" name="Straight Arrow Connector 10"/>
          <p:cNvCxnSpPr/>
          <p:nvPr/>
        </p:nvCxnSpPr>
        <p:spPr>
          <a:xfrm flipV="1">
            <a:off x="4484" y="2449417"/>
            <a:ext cx="528917" cy="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3446" y="4035273"/>
            <a:ext cx="762002"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Index</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13439" y="3705729"/>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low=1</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0" name="Straight Arrow Connector 19"/>
          <p:cNvCxnSpPr/>
          <p:nvPr/>
        </p:nvCxnSpPr>
        <p:spPr>
          <a:xfrm flipV="1">
            <a:off x="1010210" y="3382248"/>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48820" y="3717885"/>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mid=1</a:t>
            </a:r>
            <a:endParaRPr lang="en-IN" dirty="0">
              <a:solidFill>
                <a:srgbClr val="FF0000"/>
              </a:solidFill>
              <a:latin typeface="Times New Roman" panose="02020603050405020304" pitchFamily="18" charset="0"/>
              <a:cs typeface="Times New Roman" panose="02020603050405020304" pitchFamily="18" charset="0"/>
            </a:endParaRPr>
          </a:p>
        </p:txBody>
      </p:sp>
      <p:graphicFrame>
        <p:nvGraphicFramePr>
          <p:cNvPr id="19" name="Table 18"/>
          <p:cNvGraphicFramePr>
            <a:graphicFrameLocks noGrp="1"/>
          </p:cNvGraphicFramePr>
          <p:nvPr>
            <p:extLst>
              <p:ext uri="{D42A27DB-BD31-4B8C-83A1-F6EECF244321}">
                <p14:modId xmlns:p14="http://schemas.microsoft.com/office/powerpoint/2010/main" val="1519284068"/>
              </p:ext>
            </p:extLst>
          </p:nvPr>
        </p:nvGraphicFramePr>
        <p:xfrm>
          <a:off x="510988" y="4409762"/>
          <a:ext cx="11649635" cy="919480"/>
        </p:xfrm>
        <a:graphic>
          <a:graphicData uri="http://schemas.openxmlformats.org/drawingml/2006/table">
            <a:tbl>
              <a:tblPr firstRow="1" bandRow="1">
                <a:tableStyleId>{5C22544A-7EE6-4342-B048-85BDC9FD1C3A}</a:tableStyleId>
              </a:tblPr>
              <a:tblGrid>
                <a:gridCol w="555813"/>
                <a:gridCol w="493059"/>
                <a:gridCol w="573741"/>
                <a:gridCol w="546847"/>
                <a:gridCol w="537882"/>
                <a:gridCol w="502024"/>
                <a:gridCol w="573741"/>
                <a:gridCol w="636494"/>
                <a:gridCol w="493059"/>
                <a:gridCol w="645459"/>
                <a:gridCol w="645459"/>
                <a:gridCol w="645459"/>
                <a:gridCol w="681317"/>
                <a:gridCol w="645459"/>
                <a:gridCol w="484094"/>
                <a:gridCol w="609600"/>
                <a:gridCol w="1456477"/>
                <a:gridCol w="923651"/>
              </a:tblGrid>
              <a:tr h="370840">
                <a:tc>
                  <a:txBody>
                    <a:bodyPr/>
                    <a:lstStyle/>
                    <a:p>
                      <a:pPr algn="ctr"/>
                      <a:r>
                        <a:rPr lang="en-IN" sz="1400" dirty="0" smtClean="0">
                          <a:solidFill>
                            <a:srgbClr val="FF0000"/>
                          </a:solidFill>
                        </a:rPr>
                        <a:t>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5</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6</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7</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8</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9</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10</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low</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High</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baseline="0" dirty="0" smtClean="0">
                          <a:solidFill>
                            <a:srgbClr val="FF0000"/>
                          </a:solidFill>
                        </a:rPr>
                        <a:t>mid</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compare</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sz="1400" b="1" dirty="0" smtClean="0">
                          <a:solidFill>
                            <a:srgbClr val="002060"/>
                          </a:solidFill>
                        </a:rPr>
                        <a:t>-15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-6</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0</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7</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9</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23</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54</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82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101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112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125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131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142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151</a:t>
                      </a:r>
                    </a:p>
                    <a:p>
                      <a:pPr algn="ct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12</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14</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(2+2)/2=2</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b="1" dirty="0" smtClean="0">
                          <a:solidFill>
                            <a:srgbClr val="00B050"/>
                          </a:solidFill>
                        </a:rPr>
                        <a:t>-</a:t>
                      </a:r>
                      <a:r>
                        <a:rPr lang="en-IN" sz="1600" b="1" smtClean="0">
                          <a:solidFill>
                            <a:srgbClr val="00B050"/>
                          </a:solidFill>
                        </a:rPr>
                        <a:t>6≠-14</a:t>
                      </a:r>
                      <a:endParaRPr lang="en-IN" sz="1600" b="1" dirty="0" smtClean="0">
                        <a:solidFill>
                          <a:srgbClr val="00B050"/>
                        </a:solidFill>
                      </a:endParaRPr>
                    </a:p>
                    <a:p>
                      <a:pPr algn="ct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cxnSp>
        <p:nvCxnSpPr>
          <p:cNvPr id="21" name="Straight Arrow Connector 20"/>
          <p:cNvCxnSpPr/>
          <p:nvPr/>
        </p:nvCxnSpPr>
        <p:spPr>
          <a:xfrm flipV="1">
            <a:off x="604558" y="3409363"/>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476928" y="5735218"/>
            <a:ext cx="1039906"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high=2</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3" name="Straight Arrow Connector 22"/>
          <p:cNvCxnSpPr/>
          <p:nvPr/>
        </p:nvCxnSpPr>
        <p:spPr>
          <a:xfrm flipV="1">
            <a:off x="1425382" y="3409363"/>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94129" y="2079085"/>
            <a:ext cx="762002"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Index</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8" name="Straight Arrow Connector 27"/>
          <p:cNvCxnSpPr/>
          <p:nvPr/>
        </p:nvCxnSpPr>
        <p:spPr>
          <a:xfrm flipV="1">
            <a:off x="75641" y="4364816"/>
            <a:ext cx="528917" cy="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717176" y="5735218"/>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low=2</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9" name="Straight Arrow Connector 28"/>
          <p:cNvCxnSpPr/>
          <p:nvPr/>
        </p:nvCxnSpPr>
        <p:spPr>
          <a:xfrm flipV="1">
            <a:off x="1130674" y="5384580"/>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1476928" y="5384580"/>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1380559" y="3735816"/>
            <a:ext cx="1039906"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high=2</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2" name="TextBox 31"/>
          <p:cNvSpPr txBox="1"/>
          <p:nvPr/>
        </p:nvSpPr>
        <p:spPr>
          <a:xfrm>
            <a:off x="3012137" y="5659588"/>
            <a:ext cx="7288311" cy="461665"/>
          </a:xfrm>
          <a:prstGeom prst="rect">
            <a:avLst/>
          </a:prstGeom>
          <a:noFill/>
        </p:spPr>
        <p:txBody>
          <a:bodyPr wrap="square" rtlCol="0">
            <a:spAutoFit/>
          </a:bodyPr>
          <a:lstStyle/>
          <a:p>
            <a:r>
              <a:rPr lang="en-IN" sz="2400" dirty="0" smtClean="0">
                <a:solidFill>
                  <a:srgbClr val="FF0000"/>
                </a:solidFill>
                <a:latin typeface="Times New Roman" panose="02020603050405020304" pitchFamily="18" charset="0"/>
                <a:cs typeface="Times New Roman" panose="02020603050405020304" pitchFamily="18" charset="0"/>
              </a:rPr>
              <a:t>Key = -14 is not found unsuccessful</a:t>
            </a:r>
            <a:endParaRPr lang="en-IN" sz="2400" dirty="0">
              <a:solidFill>
                <a:srgbClr val="FF0000"/>
              </a:solidFill>
              <a:latin typeface="Times New Roman" panose="02020603050405020304" pitchFamily="18" charset="0"/>
              <a:cs typeface="Times New Roman" panose="02020603050405020304" pitchFamily="18" charset="0"/>
            </a:endParaRPr>
          </a:p>
        </p:txBody>
      </p:sp>
      <p:cxnSp>
        <p:nvCxnSpPr>
          <p:cNvPr id="33" name="Straight Connector 32"/>
          <p:cNvCxnSpPr/>
          <p:nvPr/>
        </p:nvCxnSpPr>
        <p:spPr>
          <a:xfrm flipH="1" flipV="1">
            <a:off x="1784804" y="2273813"/>
            <a:ext cx="7915008" cy="14319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2138914" y="2137288"/>
            <a:ext cx="6597607" cy="156844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8459129E-0B85-40B0-826D-B7CE335DE64C}" type="datetime1">
              <a:rPr lang="en-IN" smtClean="0"/>
              <a:t>21-03-2026</a:t>
            </a:fld>
            <a:endParaRPr lang="en-IN"/>
          </a:p>
        </p:txBody>
      </p:sp>
    </p:spTree>
    <p:extLst>
      <p:ext uri="{BB962C8B-B14F-4D97-AF65-F5344CB8AC3E}">
        <p14:creationId xmlns:p14="http://schemas.microsoft.com/office/powerpoint/2010/main" val="3784021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2" grpId="0"/>
      <p:bldP spid="27" grpId="0"/>
      <p:bldP spid="31" grpId="0"/>
      <p:bldP spid="3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9005" y="34019"/>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79292" y="436667"/>
            <a:ext cx="11649637" cy="6186236"/>
          </a:xfrm>
        </p:spPr>
        <p:txBody>
          <a:bodyPr>
            <a:noAutofit/>
          </a:bodyPr>
          <a:lstStyle/>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r>
              <a:rPr lang="en-IN" sz="2000" b="1" dirty="0" smtClean="0">
                <a:solidFill>
                  <a:srgbClr val="C00000"/>
                </a:solidFill>
                <a:latin typeface="Times New Roman" panose="02020603050405020304" pitchFamily="18" charset="0"/>
                <a:cs typeface="Times New Roman" panose="02020603050405020304" pitchFamily="18" charset="0"/>
              </a:rPr>
              <a:t>Example </a:t>
            </a:r>
            <a:r>
              <a:rPr lang="en-IN" sz="2000" b="1" dirty="0">
                <a:solidFill>
                  <a:srgbClr val="C00000"/>
                </a:solidFill>
                <a:latin typeface="Times New Roman" panose="02020603050405020304" pitchFamily="18" charset="0"/>
                <a:cs typeface="Times New Roman" panose="02020603050405020304" pitchFamily="18" charset="0"/>
              </a:rPr>
              <a:t>Binary search </a:t>
            </a:r>
            <a:r>
              <a:rPr lang="en-IN" sz="2000" b="1" dirty="0" smtClean="0">
                <a:solidFill>
                  <a:srgbClr val="C00000"/>
                </a:solidFill>
                <a:latin typeface="Times New Roman" panose="02020603050405020304" pitchFamily="18" charset="0"/>
                <a:cs typeface="Times New Roman" panose="02020603050405020304" pitchFamily="18" charset="0"/>
              </a:rPr>
              <a:t>algorithm: Consider List A with 14 elements, search for the key=9 in the list</a:t>
            </a:r>
          </a:p>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r>
              <a:rPr lang="en-IN" sz="1800" b="1" dirty="0" smtClean="0">
                <a:solidFill>
                  <a:srgbClr val="002060"/>
                </a:solidFill>
                <a:latin typeface="Times New Roman" panose="02020603050405020304" pitchFamily="18" charset="0"/>
                <a:cs typeface="Times New Roman" panose="02020603050405020304" pitchFamily="18" charset="0"/>
              </a:rPr>
              <a:t>A</a:t>
            </a:r>
          </a:p>
          <a:p>
            <a:pPr algn="just">
              <a:spcBef>
                <a:spcPts val="600"/>
              </a:spcBef>
            </a:pPr>
            <a:endParaRPr lang="en-IN" sz="1800" b="1" dirty="0">
              <a:solidFill>
                <a:srgbClr val="002060"/>
              </a:solidFill>
              <a:latin typeface="Times New Roman" panose="02020603050405020304" pitchFamily="18" charset="0"/>
              <a:cs typeface="Times New Roman" panose="02020603050405020304" pitchFamily="18" charset="0"/>
            </a:endParaRPr>
          </a:p>
          <a:p>
            <a:pPr algn="just">
              <a:spcBef>
                <a:spcPts val="600"/>
              </a:spcBef>
            </a:pPr>
            <a:endParaRPr lang="en-IN" sz="1800" b="1" dirty="0" smtClean="0">
              <a:solidFill>
                <a:srgbClr val="002060"/>
              </a:solidFill>
              <a:latin typeface="Times New Roman" panose="02020603050405020304" pitchFamily="18" charset="0"/>
              <a:cs typeface="Times New Roman" panose="02020603050405020304" pitchFamily="18" charset="0"/>
            </a:endParaRPr>
          </a:p>
          <a:p>
            <a:pPr algn="just">
              <a:spcBef>
                <a:spcPts val="600"/>
              </a:spcBef>
            </a:pPr>
            <a:r>
              <a:rPr lang="en-IN" sz="1800" b="1" dirty="0" smtClean="0">
                <a:solidFill>
                  <a:srgbClr val="002060"/>
                </a:solidFill>
                <a:latin typeface="Times New Roman" panose="02020603050405020304" pitchFamily="18" charset="0"/>
                <a:cs typeface="Times New Roman" panose="02020603050405020304" pitchFamily="18" charset="0"/>
              </a:rPr>
              <a:t>Solution:</a:t>
            </a:r>
          </a:p>
          <a:p>
            <a:pPr>
              <a:spcBef>
                <a:spcPts val="600"/>
              </a:spcBef>
            </a:pPr>
            <a:endParaRPr lang="en-IN" sz="16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17176" cy="685920"/>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65859" y="24005"/>
            <a:ext cx="726141" cy="72614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9976" y="6492875"/>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25</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417676358"/>
              </p:ext>
            </p:extLst>
          </p:nvPr>
        </p:nvGraphicFramePr>
        <p:xfrm>
          <a:off x="582704" y="1445807"/>
          <a:ext cx="9314331" cy="370840"/>
        </p:xfrm>
        <a:graphic>
          <a:graphicData uri="http://schemas.openxmlformats.org/drawingml/2006/table">
            <a:tbl>
              <a:tblPr firstRow="1" bandRow="1">
                <a:tableStyleId>{5C22544A-7EE6-4342-B048-85BDC9FD1C3A}</a:tableStyleId>
              </a:tblPr>
              <a:tblGrid>
                <a:gridCol w="792931"/>
                <a:gridCol w="577036"/>
                <a:gridCol w="559626"/>
                <a:gridCol w="359632"/>
                <a:gridCol w="568886"/>
                <a:gridCol w="685114"/>
                <a:gridCol w="674736"/>
                <a:gridCol w="591691"/>
                <a:gridCol w="876019"/>
                <a:gridCol w="805963"/>
                <a:gridCol w="656102"/>
                <a:gridCol w="741170"/>
                <a:gridCol w="777624"/>
                <a:gridCol w="647801"/>
              </a:tblGrid>
              <a:tr h="370840">
                <a:tc>
                  <a:txBody>
                    <a:bodyPr/>
                    <a:lstStyle/>
                    <a:p>
                      <a:r>
                        <a:rPr lang="en-IN" dirty="0" smtClean="0">
                          <a:solidFill>
                            <a:srgbClr val="002060"/>
                          </a:solidFill>
                        </a:rPr>
                        <a:t>-15</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-6</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0</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7</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9</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23</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54</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82</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101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112</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125</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131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142</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dirty="0" smtClean="0">
                          <a:solidFill>
                            <a:srgbClr val="002060"/>
                          </a:solidFill>
                        </a:rPr>
                        <a:t>151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152522682"/>
              </p:ext>
            </p:extLst>
          </p:nvPr>
        </p:nvGraphicFramePr>
        <p:xfrm>
          <a:off x="1156445" y="3023595"/>
          <a:ext cx="9538448" cy="1010920"/>
        </p:xfrm>
        <a:graphic>
          <a:graphicData uri="http://schemas.openxmlformats.org/drawingml/2006/table">
            <a:tbl>
              <a:tblPr firstRow="1" bandRow="1">
                <a:tableStyleId>{5C22544A-7EE6-4342-B048-85BDC9FD1C3A}</a:tableStyleId>
              </a:tblPr>
              <a:tblGrid>
                <a:gridCol w="573743"/>
                <a:gridCol w="699247"/>
                <a:gridCol w="703032"/>
                <a:gridCol w="623745"/>
                <a:gridCol w="519953"/>
                <a:gridCol w="663388"/>
                <a:gridCol w="690282"/>
                <a:gridCol w="663389"/>
                <a:gridCol w="685697"/>
                <a:gridCol w="825356"/>
                <a:gridCol w="671889"/>
                <a:gridCol w="759004"/>
                <a:gridCol w="796335"/>
                <a:gridCol w="663388"/>
              </a:tblGrid>
              <a:tr h="370840">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8</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9</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10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11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12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13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smtClean="0">
                          <a:solidFill>
                            <a:srgbClr val="FF0000"/>
                          </a:solidFill>
                        </a:rPr>
                        <a:t>14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b="1" dirty="0" smtClean="0">
                          <a:solidFill>
                            <a:srgbClr val="002060"/>
                          </a:solidFill>
                        </a:rPr>
                        <a:t>-15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-6</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9</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23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54</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82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101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112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125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131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142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b="1" dirty="0" smtClean="0">
                          <a:solidFill>
                            <a:srgbClr val="002060"/>
                          </a:solidFill>
                        </a:rPr>
                        <a:t>151</a:t>
                      </a:r>
                    </a:p>
                    <a:p>
                      <a:pPr algn="ct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cxnSp>
        <p:nvCxnSpPr>
          <p:cNvPr id="11" name="Straight Arrow Connector 10"/>
          <p:cNvCxnSpPr/>
          <p:nvPr/>
        </p:nvCxnSpPr>
        <p:spPr>
          <a:xfrm flipV="1">
            <a:off x="564774" y="3164541"/>
            <a:ext cx="528917" cy="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58588" y="2744778"/>
            <a:ext cx="762002"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Index</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9816353" y="4322851"/>
            <a:ext cx="1039906"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High=14</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923365" y="4459376"/>
            <a:ext cx="963708" cy="369332"/>
          </a:xfrm>
          <a:prstGeom prst="rect">
            <a:avLst/>
          </a:prstGeom>
          <a:noFill/>
        </p:spPr>
        <p:txBody>
          <a:bodyPr wrap="square" rtlCol="0">
            <a:spAutoFit/>
          </a:bodyPr>
          <a:lstStyle/>
          <a:p>
            <a:r>
              <a:rPr lang="en-IN" dirty="0">
                <a:solidFill>
                  <a:srgbClr val="FF0000"/>
                </a:solidFill>
                <a:latin typeface="Times New Roman" panose="02020603050405020304" pitchFamily="18" charset="0"/>
                <a:cs typeface="Times New Roman" panose="02020603050405020304" pitchFamily="18" charset="0"/>
              </a:rPr>
              <a:t>l</a:t>
            </a:r>
            <a:r>
              <a:rPr lang="en-IN" dirty="0" smtClean="0">
                <a:solidFill>
                  <a:srgbClr val="FF0000"/>
                </a:solidFill>
                <a:latin typeface="Times New Roman" panose="02020603050405020304" pitchFamily="18" charset="0"/>
                <a:cs typeface="Times New Roman" panose="02020603050405020304" pitchFamily="18" charset="0"/>
              </a:rPr>
              <a:t>ow=1</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16" name="Straight Arrow Connector 15"/>
          <p:cNvCxnSpPr>
            <a:stCxn id="14" idx="0"/>
          </p:cNvCxnSpPr>
          <p:nvPr/>
        </p:nvCxnSpPr>
        <p:spPr>
          <a:xfrm flipV="1">
            <a:off x="1405219" y="4069976"/>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10378889" y="4029579"/>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0" name="Date Placeholder 9"/>
          <p:cNvSpPr>
            <a:spLocks noGrp="1"/>
          </p:cNvSpPr>
          <p:nvPr>
            <p:ph type="dt" sz="half" idx="10"/>
          </p:nvPr>
        </p:nvSpPr>
        <p:spPr/>
        <p:txBody>
          <a:bodyPr/>
          <a:lstStyle/>
          <a:p>
            <a:fld id="{52AB694B-7D72-4F7D-A677-B1ED52F41EB1}" type="datetime1">
              <a:rPr lang="en-IN" smtClean="0"/>
              <a:t>21-03-2026</a:t>
            </a:fld>
            <a:endParaRPr lang="en-IN"/>
          </a:p>
        </p:txBody>
      </p:sp>
    </p:spTree>
    <p:extLst>
      <p:ext uri="{BB962C8B-B14F-4D97-AF65-F5344CB8AC3E}">
        <p14:creationId xmlns:p14="http://schemas.microsoft.com/office/powerpoint/2010/main" val="3711437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9005" y="34019"/>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79292" y="436667"/>
            <a:ext cx="11949955" cy="6186236"/>
          </a:xfrm>
        </p:spPr>
        <p:txBody>
          <a:bodyPr>
            <a:noAutofit/>
          </a:bodyPr>
          <a:lstStyle/>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r>
              <a:rPr lang="en-IN" sz="2000" b="1" dirty="0" smtClean="0">
                <a:solidFill>
                  <a:srgbClr val="C00000"/>
                </a:solidFill>
                <a:latin typeface="Times New Roman" panose="02020603050405020304" pitchFamily="18" charset="0"/>
                <a:cs typeface="Times New Roman" panose="02020603050405020304" pitchFamily="18" charset="0"/>
              </a:rPr>
              <a:t>Example </a:t>
            </a:r>
            <a:r>
              <a:rPr lang="en-IN" sz="2000" b="1" dirty="0">
                <a:solidFill>
                  <a:srgbClr val="C00000"/>
                </a:solidFill>
                <a:latin typeface="Times New Roman" panose="02020603050405020304" pitchFamily="18" charset="0"/>
                <a:cs typeface="Times New Roman" panose="02020603050405020304" pitchFamily="18" charset="0"/>
              </a:rPr>
              <a:t>Binary search </a:t>
            </a:r>
            <a:r>
              <a:rPr lang="en-IN" sz="2000" b="1" dirty="0" smtClean="0">
                <a:solidFill>
                  <a:srgbClr val="C00000"/>
                </a:solidFill>
                <a:latin typeface="Times New Roman" panose="02020603050405020304" pitchFamily="18" charset="0"/>
                <a:cs typeface="Times New Roman" panose="02020603050405020304" pitchFamily="18" charset="0"/>
              </a:rPr>
              <a:t>algorithm: Consider List A with 14 elements, search for the key=9 in the list</a:t>
            </a:r>
          </a:p>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endParaRPr lang="en-IN" sz="1800" b="1" dirty="0">
              <a:solidFill>
                <a:srgbClr val="002060"/>
              </a:solidFill>
              <a:latin typeface="Times New Roman" panose="02020603050405020304" pitchFamily="18" charset="0"/>
              <a:cs typeface="Times New Roman" panose="02020603050405020304" pitchFamily="18" charset="0"/>
            </a:endParaRPr>
          </a:p>
          <a:p>
            <a:pPr algn="just">
              <a:spcBef>
                <a:spcPts val="600"/>
              </a:spcBef>
            </a:pPr>
            <a:endParaRPr lang="en-IN" sz="1800" b="1" dirty="0" smtClean="0">
              <a:solidFill>
                <a:srgbClr val="002060"/>
              </a:solidFill>
              <a:latin typeface="Times New Roman" panose="02020603050405020304" pitchFamily="18" charset="0"/>
              <a:cs typeface="Times New Roman" panose="02020603050405020304" pitchFamily="18" charset="0"/>
            </a:endParaRPr>
          </a:p>
          <a:p>
            <a:pPr algn="just">
              <a:spcBef>
                <a:spcPts val="600"/>
              </a:spcBef>
            </a:pPr>
            <a:r>
              <a:rPr lang="en-IN" sz="1800" b="1" dirty="0" smtClean="0">
                <a:solidFill>
                  <a:srgbClr val="002060"/>
                </a:solidFill>
                <a:latin typeface="Times New Roman" panose="02020603050405020304" pitchFamily="18" charset="0"/>
                <a:cs typeface="Times New Roman" panose="02020603050405020304" pitchFamily="18" charset="0"/>
              </a:rPr>
              <a:t>Solution:</a:t>
            </a:r>
          </a:p>
          <a:p>
            <a:pPr>
              <a:spcBef>
                <a:spcPts val="600"/>
              </a:spcBef>
            </a:pPr>
            <a:endParaRPr lang="en-IN" sz="16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17176" cy="685920"/>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65859" y="24005"/>
            <a:ext cx="726141" cy="72614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9976" y="6492875"/>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26</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4044645518"/>
              </p:ext>
            </p:extLst>
          </p:nvPr>
        </p:nvGraphicFramePr>
        <p:xfrm>
          <a:off x="542365" y="2480463"/>
          <a:ext cx="11649635" cy="889000"/>
        </p:xfrm>
        <a:graphic>
          <a:graphicData uri="http://schemas.openxmlformats.org/drawingml/2006/table">
            <a:tbl>
              <a:tblPr firstRow="1" bandRow="1">
                <a:tableStyleId>{5C22544A-7EE6-4342-B048-85BDC9FD1C3A}</a:tableStyleId>
              </a:tblPr>
              <a:tblGrid>
                <a:gridCol w="555813"/>
                <a:gridCol w="493059"/>
                <a:gridCol w="573741"/>
                <a:gridCol w="546847"/>
                <a:gridCol w="537882"/>
                <a:gridCol w="502024"/>
                <a:gridCol w="573741"/>
                <a:gridCol w="636494"/>
                <a:gridCol w="493059"/>
                <a:gridCol w="645459"/>
                <a:gridCol w="645459"/>
                <a:gridCol w="645459"/>
                <a:gridCol w="681317"/>
                <a:gridCol w="645459"/>
                <a:gridCol w="484094"/>
                <a:gridCol w="609600"/>
                <a:gridCol w="1456477"/>
                <a:gridCol w="923651"/>
              </a:tblGrid>
              <a:tr h="370840">
                <a:tc>
                  <a:txBody>
                    <a:bodyPr/>
                    <a:lstStyle/>
                    <a:p>
                      <a:pPr algn="ctr"/>
                      <a:r>
                        <a:rPr lang="en-IN" sz="1400" dirty="0" smtClean="0">
                          <a:solidFill>
                            <a:srgbClr val="FF0000"/>
                          </a:solidFill>
                        </a:rPr>
                        <a:t>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5</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6</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7</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8</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9</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10</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low</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High</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baseline="0" dirty="0" smtClean="0">
                          <a:solidFill>
                            <a:srgbClr val="FF0000"/>
                          </a:solidFill>
                        </a:rPr>
                        <a:t>mid</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compare</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sz="1400" b="1" dirty="0" smtClean="0">
                          <a:solidFill>
                            <a:srgbClr val="002060"/>
                          </a:solidFill>
                        </a:rPr>
                        <a:t>-15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-6</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0</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7</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9</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23</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54</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82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101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112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125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131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142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151</a:t>
                      </a:r>
                    </a:p>
                    <a:p>
                      <a:pPr algn="ct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14</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(1+14)/2=7</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9&lt;54</a:t>
                      </a:r>
                    </a:p>
                    <a:p>
                      <a:pPr algn="ct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cxnSp>
        <p:nvCxnSpPr>
          <p:cNvPr id="11" name="Straight Arrow Connector 10"/>
          <p:cNvCxnSpPr/>
          <p:nvPr/>
        </p:nvCxnSpPr>
        <p:spPr>
          <a:xfrm flipV="1">
            <a:off x="0" y="2755970"/>
            <a:ext cx="528917" cy="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3795" y="2397725"/>
            <a:ext cx="762002"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Index</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8106336" y="3737929"/>
            <a:ext cx="1039906" cy="369332"/>
          </a:xfrm>
          <a:prstGeom prst="rect">
            <a:avLst/>
          </a:prstGeom>
          <a:noFill/>
        </p:spPr>
        <p:txBody>
          <a:bodyPr wrap="square" rtlCol="0">
            <a:spAutoFit/>
          </a:bodyPr>
          <a:lstStyle/>
          <a:p>
            <a:r>
              <a:rPr lang="en-IN" dirty="0">
                <a:solidFill>
                  <a:srgbClr val="FF0000"/>
                </a:solidFill>
                <a:latin typeface="Times New Roman" panose="02020603050405020304" pitchFamily="18" charset="0"/>
                <a:cs typeface="Times New Roman" panose="02020603050405020304" pitchFamily="18" charset="0"/>
              </a:rPr>
              <a:t>h</a:t>
            </a:r>
            <a:r>
              <a:rPr lang="en-IN" dirty="0" smtClean="0">
                <a:solidFill>
                  <a:srgbClr val="FF0000"/>
                </a:solidFill>
                <a:latin typeface="Times New Roman" panose="02020603050405020304" pitchFamily="18" charset="0"/>
                <a:cs typeface="Times New Roman" panose="02020603050405020304" pitchFamily="18" charset="0"/>
              </a:rPr>
              <a:t>igh=14</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446890" y="5713502"/>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low=1</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16" name="Straight Arrow Connector 15"/>
          <p:cNvCxnSpPr/>
          <p:nvPr/>
        </p:nvCxnSpPr>
        <p:spPr>
          <a:xfrm flipV="1">
            <a:off x="795616" y="3364067"/>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4022911" y="3409363"/>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8444752" y="3326294"/>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610533" y="3735317"/>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mid=7</a:t>
            </a:r>
            <a:endParaRPr lang="en-IN" dirty="0">
              <a:solidFill>
                <a:srgbClr val="FF0000"/>
              </a:solidFill>
              <a:latin typeface="Times New Roman" panose="02020603050405020304" pitchFamily="18" charset="0"/>
              <a:cs typeface="Times New Roman" panose="02020603050405020304" pitchFamily="18" charset="0"/>
            </a:endParaRPr>
          </a:p>
        </p:txBody>
      </p:sp>
      <p:graphicFrame>
        <p:nvGraphicFramePr>
          <p:cNvPr id="19" name="Table 18"/>
          <p:cNvGraphicFramePr>
            <a:graphicFrameLocks noGrp="1"/>
          </p:cNvGraphicFramePr>
          <p:nvPr>
            <p:extLst>
              <p:ext uri="{D42A27DB-BD31-4B8C-83A1-F6EECF244321}">
                <p14:modId xmlns:p14="http://schemas.microsoft.com/office/powerpoint/2010/main" val="3485061983"/>
              </p:ext>
            </p:extLst>
          </p:nvPr>
        </p:nvGraphicFramePr>
        <p:xfrm>
          <a:off x="510988" y="4409762"/>
          <a:ext cx="11649635" cy="889000"/>
        </p:xfrm>
        <a:graphic>
          <a:graphicData uri="http://schemas.openxmlformats.org/drawingml/2006/table">
            <a:tbl>
              <a:tblPr firstRow="1" bandRow="1">
                <a:tableStyleId>{5C22544A-7EE6-4342-B048-85BDC9FD1C3A}</a:tableStyleId>
              </a:tblPr>
              <a:tblGrid>
                <a:gridCol w="555813"/>
                <a:gridCol w="493059"/>
                <a:gridCol w="573741"/>
                <a:gridCol w="546847"/>
                <a:gridCol w="537882"/>
                <a:gridCol w="502024"/>
                <a:gridCol w="573741"/>
                <a:gridCol w="636494"/>
                <a:gridCol w="493059"/>
                <a:gridCol w="645459"/>
                <a:gridCol w="645459"/>
                <a:gridCol w="645459"/>
                <a:gridCol w="681317"/>
                <a:gridCol w="645459"/>
                <a:gridCol w="484094"/>
                <a:gridCol w="609600"/>
                <a:gridCol w="1456477"/>
                <a:gridCol w="923651"/>
              </a:tblGrid>
              <a:tr h="370840">
                <a:tc>
                  <a:txBody>
                    <a:bodyPr/>
                    <a:lstStyle/>
                    <a:p>
                      <a:pPr algn="ctr"/>
                      <a:r>
                        <a:rPr lang="en-IN" sz="1400" dirty="0" smtClean="0">
                          <a:solidFill>
                            <a:srgbClr val="FF0000"/>
                          </a:solidFill>
                        </a:rPr>
                        <a:t>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5</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6</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7</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8</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9</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10</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low</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High</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baseline="0" dirty="0" smtClean="0">
                          <a:solidFill>
                            <a:srgbClr val="FF0000"/>
                          </a:solidFill>
                        </a:rPr>
                        <a:t>mid</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compare</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sz="1400" b="1" dirty="0" smtClean="0">
                          <a:solidFill>
                            <a:srgbClr val="002060"/>
                          </a:solidFill>
                        </a:rPr>
                        <a:t>-15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-6</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0</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7</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9</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23</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54</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82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101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112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125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131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142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151</a:t>
                      </a:r>
                    </a:p>
                    <a:p>
                      <a:pPr algn="ct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6</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(1+6)/2=3</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9&gt;0</a:t>
                      </a:r>
                    </a:p>
                    <a:p>
                      <a:pPr algn="ct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cxnSp>
        <p:nvCxnSpPr>
          <p:cNvPr id="21" name="Straight Arrow Connector 20"/>
          <p:cNvCxnSpPr/>
          <p:nvPr/>
        </p:nvCxnSpPr>
        <p:spPr>
          <a:xfrm flipV="1">
            <a:off x="805510" y="5298675"/>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897648" y="5593234"/>
            <a:ext cx="1039906"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high=6</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3" name="Straight Arrow Connector 22"/>
          <p:cNvCxnSpPr/>
          <p:nvPr/>
        </p:nvCxnSpPr>
        <p:spPr>
          <a:xfrm flipV="1">
            <a:off x="3427352" y="5311622"/>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1851579" y="5333418"/>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409505" y="5698416"/>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mid=3</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376513" y="3643910"/>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low=1</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96365" y="3945196"/>
            <a:ext cx="762002"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Index</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8" name="Straight Arrow Connector 27"/>
          <p:cNvCxnSpPr/>
          <p:nvPr/>
        </p:nvCxnSpPr>
        <p:spPr>
          <a:xfrm flipV="1">
            <a:off x="94129" y="4350697"/>
            <a:ext cx="528917" cy="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3735154" y="4087676"/>
            <a:ext cx="4371182" cy="150851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4210412" y="4104649"/>
            <a:ext cx="3618383" cy="143970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D164A38C-D53D-46E8-96F7-F47AF059CC6A}" type="datetime1">
              <a:rPr lang="en-IN" smtClean="0"/>
              <a:t>21-03-2026</a:t>
            </a:fld>
            <a:endParaRPr lang="en-IN"/>
          </a:p>
        </p:txBody>
      </p:sp>
    </p:spTree>
    <p:extLst>
      <p:ext uri="{BB962C8B-B14F-4D97-AF65-F5344CB8AC3E}">
        <p14:creationId xmlns:p14="http://schemas.microsoft.com/office/powerpoint/2010/main" val="10744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8" grpId="0"/>
      <p:bldP spid="22" grpId="0"/>
      <p:bldP spid="25" grpId="0"/>
      <p:bldP spid="2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9005" y="34019"/>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79292" y="436667"/>
            <a:ext cx="11949955" cy="6186236"/>
          </a:xfrm>
        </p:spPr>
        <p:txBody>
          <a:bodyPr>
            <a:noAutofit/>
          </a:bodyPr>
          <a:lstStyle/>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r>
              <a:rPr lang="en-IN" sz="2000" b="1" dirty="0" smtClean="0">
                <a:solidFill>
                  <a:srgbClr val="C00000"/>
                </a:solidFill>
                <a:latin typeface="Times New Roman" panose="02020603050405020304" pitchFamily="18" charset="0"/>
                <a:cs typeface="Times New Roman" panose="02020603050405020304" pitchFamily="18" charset="0"/>
              </a:rPr>
              <a:t>Example </a:t>
            </a:r>
            <a:r>
              <a:rPr lang="en-IN" sz="2000" b="1" dirty="0">
                <a:solidFill>
                  <a:srgbClr val="C00000"/>
                </a:solidFill>
                <a:latin typeface="Times New Roman" panose="02020603050405020304" pitchFamily="18" charset="0"/>
                <a:cs typeface="Times New Roman" panose="02020603050405020304" pitchFamily="18" charset="0"/>
              </a:rPr>
              <a:t>Binary search </a:t>
            </a:r>
            <a:r>
              <a:rPr lang="en-IN" sz="2000" b="1" dirty="0" smtClean="0">
                <a:solidFill>
                  <a:srgbClr val="C00000"/>
                </a:solidFill>
                <a:latin typeface="Times New Roman" panose="02020603050405020304" pitchFamily="18" charset="0"/>
                <a:cs typeface="Times New Roman" panose="02020603050405020304" pitchFamily="18" charset="0"/>
              </a:rPr>
              <a:t>algorithm: Consider List A with 14 elements, search for the key=9 in the list</a:t>
            </a:r>
          </a:p>
          <a:p>
            <a:pPr algn="just">
              <a:spcBef>
                <a:spcPts val="600"/>
              </a:spcBef>
            </a:pPr>
            <a:endParaRPr lang="en-IN" sz="1600" b="1" dirty="0" smtClean="0">
              <a:solidFill>
                <a:srgbClr val="C00000"/>
              </a:solidFill>
              <a:latin typeface="Times New Roman" panose="02020603050405020304" pitchFamily="18" charset="0"/>
              <a:cs typeface="Times New Roman" panose="02020603050405020304" pitchFamily="18" charset="0"/>
            </a:endParaRPr>
          </a:p>
          <a:p>
            <a:pPr algn="just">
              <a:spcBef>
                <a:spcPts val="600"/>
              </a:spcBef>
            </a:pPr>
            <a:endParaRPr lang="en-IN" sz="1800" b="1" dirty="0">
              <a:solidFill>
                <a:srgbClr val="002060"/>
              </a:solidFill>
              <a:latin typeface="Times New Roman" panose="02020603050405020304" pitchFamily="18" charset="0"/>
              <a:cs typeface="Times New Roman" panose="02020603050405020304" pitchFamily="18" charset="0"/>
            </a:endParaRPr>
          </a:p>
          <a:p>
            <a:pPr algn="just">
              <a:spcBef>
                <a:spcPts val="600"/>
              </a:spcBef>
            </a:pPr>
            <a:endParaRPr lang="en-IN" sz="1800" b="1" dirty="0" smtClean="0">
              <a:solidFill>
                <a:srgbClr val="002060"/>
              </a:solidFill>
              <a:latin typeface="Times New Roman" panose="02020603050405020304" pitchFamily="18" charset="0"/>
              <a:cs typeface="Times New Roman" panose="02020603050405020304" pitchFamily="18" charset="0"/>
            </a:endParaRPr>
          </a:p>
          <a:p>
            <a:pPr algn="just">
              <a:spcBef>
                <a:spcPts val="600"/>
              </a:spcBef>
            </a:pPr>
            <a:r>
              <a:rPr lang="en-IN" sz="1800" b="1" dirty="0" smtClean="0">
                <a:solidFill>
                  <a:srgbClr val="002060"/>
                </a:solidFill>
                <a:latin typeface="Times New Roman" panose="02020603050405020304" pitchFamily="18" charset="0"/>
                <a:cs typeface="Times New Roman" panose="02020603050405020304" pitchFamily="18" charset="0"/>
              </a:rPr>
              <a:t>Solution:</a:t>
            </a:r>
          </a:p>
          <a:p>
            <a:pPr>
              <a:spcBef>
                <a:spcPts val="600"/>
              </a:spcBef>
            </a:pPr>
            <a:endParaRPr lang="en-IN" sz="16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17176" cy="685920"/>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65859" y="24005"/>
            <a:ext cx="726141" cy="72614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9976" y="6492875"/>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27</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2143868" y="3839200"/>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low=4</a:t>
            </a:r>
            <a:endParaRPr lang="en-IN" dirty="0">
              <a:solidFill>
                <a:srgbClr val="FF0000"/>
              </a:solidFill>
              <a:latin typeface="Times New Roman" panose="02020603050405020304" pitchFamily="18" charset="0"/>
              <a:cs typeface="Times New Roman" panose="02020603050405020304" pitchFamily="18" charset="0"/>
            </a:endParaRPr>
          </a:p>
        </p:txBody>
      </p:sp>
      <p:graphicFrame>
        <p:nvGraphicFramePr>
          <p:cNvPr id="19" name="Table 18"/>
          <p:cNvGraphicFramePr>
            <a:graphicFrameLocks noGrp="1"/>
          </p:cNvGraphicFramePr>
          <p:nvPr>
            <p:extLst>
              <p:ext uri="{D42A27DB-BD31-4B8C-83A1-F6EECF244321}">
                <p14:modId xmlns:p14="http://schemas.microsoft.com/office/powerpoint/2010/main" val="4167669572"/>
              </p:ext>
            </p:extLst>
          </p:nvPr>
        </p:nvGraphicFramePr>
        <p:xfrm>
          <a:off x="623046" y="2600418"/>
          <a:ext cx="11649635" cy="889000"/>
        </p:xfrm>
        <a:graphic>
          <a:graphicData uri="http://schemas.openxmlformats.org/drawingml/2006/table">
            <a:tbl>
              <a:tblPr firstRow="1" bandRow="1">
                <a:tableStyleId>{5C22544A-7EE6-4342-B048-85BDC9FD1C3A}</a:tableStyleId>
              </a:tblPr>
              <a:tblGrid>
                <a:gridCol w="555813"/>
                <a:gridCol w="493059"/>
                <a:gridCol w="573741"/>
                <a:gridCol w="546847"/>
                <a:gridCol w="537882"/>
                <a:gridCol w="502024"/>
                <a:gridCol w="573741"/>
                <a:gridCol w="636494"/>
                <a:gridCol w="493059"/>
                <a:gridCol w="645459"/>
                <a:gridCol w="645459"/>
                <a:gridCol w="645459"/>
                <a:gridCol w="681317"/>
                <a:gridCol w="645459"/>
                <a:gridCol w="484094"/>
                <a:gridCol w="609600"/>
                <a:gridCol w="1456477"/>
                <a:gridCol w="923651"/>
              </a:tblGrid>
              <a:tr h="370840">
                <a:tc>
                  <a:txBody>
                    <a:bodyPr/>
                    <a:lstStyle/>
                    <a:p>
                      <a:pPr algn="ctr"/>
                      <a:r>
                        <a:rPr lang="en-IN" sz="1400" dirty="0" smtClean="0">
                          <a:solidFill>
                            <a:srgbClr val="FF0000"/>
                          </a:solidFill>
                        </a:rPr>
                        <a:t>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5</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6</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7</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8</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9</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10</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11</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12</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13</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14</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low</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High</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baseline="0" dirty="0" smtClean="0">
                          <a:solidFill>
                            <a:srgbClr val="FF0000"/>
                          </a:solidFill>
                        </a:rPr>
                        <a:t>mid</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smtClean="0">
                          <a:solidFill>
                            <a:srgbClr val="FF0000"/>
                          </a:solidFill>
                        </a:rPr>
                        <a:t>compare</a:t>
                      </a:r>
                      <a:endParaRPr lang="en-IN" sz="1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IN" sz="1400" b="1" dirty="0" smtClean="0">
                          <a:solidFill>
                            <a:srgbClr val="002060"/>
                          </a:solidFill>
                        </a:rPr>
                        <a:t>-15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-6</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0</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7</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9</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23</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54</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82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101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112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125</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131</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142</a:t>
                      </a: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2060"/>
                          </a:solidFill>
                        </a:rPr>
                        <a:t>151</a:t>
                      </a:r>
                    </a:p>
                    <a:p>
                      <a:pPr algn="ctr"/>
                      <a:endParaRPr lang="en-IN" sz="1400"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4</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6</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(4+6)/2=5</a:t>
                      </a: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400" b="1" dirty="0" smtClean="0">
                          <a:solidFill>
                            <a:srgbClr val="00B050"/>
                          </a:solidFill>
                        </a:rPr>
                        <a:t>9=9</a:t>
                      </a:r>
                    </a:p>
                    <a:p>
                      <a:pPr algn="ctr"/>
                      <a:endParaRPr lang="en-IN" sz="1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cxnSp>
        <p:nvCxnSpPr>
          <p:cNvPr id="21" name="Straight Arrow Connector 20"/>
          <p:cNvCxnSpPr/>
          <p:nvPr/>
        </p:nvCxnSpPr>
        <p:spPr>
          <a:xfrm flipV="1">
            <a:off x="2517578" y="3529785"/>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353171" y="3869552"/>
            <a:ext cx="1039906"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high=6</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3" name="Straight Arrow Connector 22"/>
          <p:cNvCxnSpPr/>
          <p:nvPr/>
        </p:nvCxnSpPr>
        <p:spPr>
          <a:xfrm flipV="1">
            <a:off x="3621905" y="3529785"/>
            <a:ext cx="2240" cy="38940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flipV="1">
            <a:off x="3078621" y="3545928"/>
            <a:ext cx="16266" cy="799129"/>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658197" y="4288919"/>
            <a:ext cx="963708"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mid=5</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22414" y="2267623"/>
            <a:ext cx="762002" cy="369332"/>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Index</a:t>
            </a:r>
            <a:endParaRPr lang="en-IN" dirty="0">
              <a:solidFill>
                <a:srgbClr val="FF0000"/>
              </a:solidFill>
              <a:latin typeface="Times New Roman" panose="02020603050405020304" pitchFamily="18" charset="0"/>
              <a:cs typeface="Times New Roman" panose="02020603050405020304" pitchFamily="18" charset="0"/>
            </a:endParaRPr>
          </a:p>
        </p:txBody>
      </p:sp>
      <p:cxnSp>
        <p:nvCxnSpPr>
          <p:cNvPr id="28" name="Straight Arrow Connector 27"/>
          <p:cNvCxnSpPr/>
          <p:nvPr/>
        </p:nvCxnSpPr>
        <p:spPr>
          <a:xfrm flipV="1">
            <a:off x="33742" y="2741056"/>
            <a:ext cx="528917" cy="89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4393077" y="2208716"/>
            <a:ext cx="4371182" cy="150851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145876" y="2333000"/>
            <a:ext cx="3618383" cy="143970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300067" y="2531340"/>
            <a:ext cx="1986117" cy="9543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flipV="1">
            <a:off x="623047" y="2333000"/>
            <a:ext cx="1599914" cy="132237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1799473" y="5045453"/>
            <a:ext cx="7288311" cy="461665"/>
          </a:xfrm>
          <a:prstGeom prst="rect">
            <a:avLst/>
          </a:prstGeom>
          <a:noFill/>
        </p:spPr>
        <p:txBody>
          <a:bodyPr wrap="square" rtlCol="0">
            <a:spAutoFit/>
          </a:bodyPr>
          <a:lstStyle/>
          <a:p>
            <a:r>
              <a:rPr lang="en-IN" sz="2400" dirty="0" smtClean="0">
                <a:solidFill>
                  <a:srgbClr val="FF0000"/>
                </a:solidFill>
                <a:latin typeface="Times New Roman" panose="02020603050405020304" pitchFamily="18" charset="0"/>
                <a:cs typeface="Times New Roman" panose="02020603050405020304" pitchFamily="18" charset="0"/>
              </a:rPr>
              <a:t>Key=9 is found at position </a:t>
            </a:r>
            <a:r>
              <a:rPr lang="en-IN" sz="2400" dirty="0">
                <a:solidFill>
                  <a:srgbClr val="FF0000"/>
                </a:solidFill>
                <a:latin typeface="Times New Roman" panose="02020603050405020304" pitchFamily="18" charset="0"/>
                <a:cs typeface="Times New Roman" panose="02020603050405020304" pitchFamily="18" charset="0"/>
              </a:rPr>
              <a:t>5</a:t>
            </a:r>
            <a:r>
              <a:rPr lang="en-IN" sz="2400" dirty="0" smtClean="0">
                <a:solidFill>
                  <a:srgbClr val="FF0000"/>
                </a:solidFill>
                <a:latin typeface="Times New Roman" panose="02020603050405020304" pitchFamily="18" charset="0"/>
                <a:cs typeface="Times New Roman" panose="02020603050405020304" pitchFamily="18" charset="0"/>
              </a:rPr>
              <a:t>, search is successful</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62860324-7A49-4040-BD94-4F8D86B7840C}" type="datetime1">
              <a:rPr lang="en-IN" smtClean="0"/>
              <a:t>21-03-2026</a:t>
            </a:fld>
            <a:endParaRPr lang="en-IN"/>
          </a:p>
        </p:txBody>
      </p:sp>
    </p:spTree>
    <p:extLst>
      <p:ext uri="{BB962C8B-B14F-4D97-AF65-F5344CB8AC3E}">
        <p14:creationId xmlns:p14="http://schemas.microsoft.com/office/powerpoint/2010/main" val="2058529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p:bldP spid="25" grpId="0"/>
      <p:bldP spid="3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0" y="862740"/>
            <a:ext cx="12315217" cy="5493610"/>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Time complexity analysis </a:t>
            </a:r>
          </a:p>
          <a:p>
            <a:pPr algn="just"/>
            <a:r>
              <a:rPr lang="en-IN" b="1" dirty="0">
                <a:solidFill>
                  <a:srgbClr val="002060"/>
                </a:solidFill>
                <a:latin typeface="Times New Roman" panose="02020603050405020304" pitchFamily="18" charset="0"/>
                <a:cs typeface="Times New Roman" panose="02020603050405020304" pitchFamily="18" charset="0"/>
              </a:rPr>
              <a:t>Time complexity analysis of binary search is done for all the three </a:t>
            </a:r>
            <a:r>
              <a:rPr lang="en-IN" b="1" dirty="0" smtClean="0">
                <a:solidFill>
                  <a:srgbClr val="002060"/>
                </a:solidFill>
                <a:latin typeface="Times New Roman" panose="02020603050405020304" pitchFamily="18" charset="0"/>
                <a:cs typeface="Times New Roman" panose="02020603050405020304" pitchFamily="18" charset="0"/>
              </a:rPr>
              <a:t>case. Let T(n) indicates time efficiency</a:t>
            </a:r>
            <a:endParaRPr lang="en-IN" b="1" dirty="0">
              <a:solidFill>
                <a:srgbClr val="002060"/>
              </a:solidFill>
              <a:latin typeface="Times New Roman" panose="02020603050405020304" pitchFamily="18" charset="0"/>
              <a:cs typeface="Times New Roman" panose="02020603050405020304" pitchFamily="18" charset="0"/>
            </a:endParaRPr>
          </a:p>
          <a:p>
            <a:pPr marL="457200" indent="-457200" algn="just">
              <a:buAutoNum type="arabicPeriod"/>
            </a:pPr>
            <a:r>
              <a:rPr lang="en-IN" b="1" dirty="0" smtClean="0">
                <a:solidFill>
                  <a:srgbClr val="C00000"/>
                </a:solidFill>
                <a:latin typeface="Times New Roman" panose="02020603050405020304" pitchFamily="18" charset="0"/>
                <a:cs typeface="Times New Roman" panose="02020603050405020304" pitchFamily="18" charset="0"/>
              </a:rPr>
              <a:t>Best case – </a:t>
            </a:r>
            <a:r>
              <a:rPr lang="en-IN" b="1" dirty="0" smtClean="0">
                <a:solidFill>
                  <a:srgbClr val="002060"/>
                </a:solidFill>
                <a:latin typeface="Times New Roman" panose="02020603050405020304" pitchFamily="18" charset="0"/>
                <a:cs typeface="Times New Roman" panose="02020603050405020304" pitchFamily="18" charset="0"/>
              </a:rPr>
              <a:t>If the input array contains the </a:t>
            </a:r>
            <a:r>
              <a:rPr lang="en-IN" b="1" dirty="0" smtClean="0">
                <a:solidFill>
                  <a:srgbClr val="00B0F0"/>
                </a:solidFill>
                <a:latin typeface="Times New Roman" panose="02020603050405020304" pitchFamily="18" charset="0"/>
                <a:cs typeface="Times New Roman" panose="02020603050405020304" pitchFamily="18" charset="0"/>
              </a:rPr>
              <a:t>key element at the middle position</a:t>
            </a:r>
            <a:r>
              <a:rPr lang="en-IN" b="1" dirty="0" smtClean="0">
                <a:solidFill>
                  <a:srgbClr val="002060"/>
                </a:solidFill>
                <a:latin typeface="Times New Roman" panose="02020603050405020304" pitchFamily="18" charset="0"/>
                <a:cs typeface="Times New Roman" panose="02020603050405020304" pitchFamily="18" charset="0"/>
              </a:rPr>
              <a:t>, then search becomes success by performing only comparison. Thus the best case efficiency is </a:t>
            </a:r>
          </a:p>
          <a:p>
            <a:r>
              <a:rPr lang="en-IN" b="1" dirty="0">
                <a:solidFill>
                  <a:srgbClr val="C00000"/>
                </a:solidFill>
                <a:latin typeface="Times New Roman" panose="02020603050405020304" pitchFamily="18" charset="0"/>
                <a:cs typeface="Times New Roman" panose="02020603050405020304" pitchFamily="18" charset="0"/>
              </a:rPr>
              <a:t> </a:t>
            </a:r>
            <a:r>
              <a:rPr lang="en-IN" b="1" dirty="0" smtClean="0">
                <a:solidFill>
                  <a:srgbClr val="C00000"/>
                </a:solidFill>
                <a:latin typeface="Times New Roman" panose="02020603050405020304" pitchFamily="18" charset="0"/>
                <a:cs typeface="Times New Roman" panose="02020603050405020304" pitchFamily="18" charset="0"/>
              </a:rPr>
              <a:t>     t(n)</a:t>
            </a:r>
            <a:r>
              <a:rPr lang="en-IN" b="1" baseline="-25000" dirty="0" smtClean="0">
                <a:solidFill>
                  <a:srgbClr val="C00000"/>
                </a:solidFill>
                <a:latin typeface="Times New Roman" panose="02020603050405020304" pitchFamily="18" charset="0"/>
                <a:cs typeface="Times New Roman" panose="02020603050405020304" pitchFamily="18" charset="0"/>
              </a:rPr>
              <a:t>best </a:t>
            </a:r>
            <a:r>
              <a:rPr lang="en-IN" b="1" dirty="0" smtClean="0">
                <a:solidFill>
                  <a:srgbClr val="C00000"/>
                </a:solidFill>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(1)</a:t>
            </a:r>
          </a:p>
          <a:p>
            <a:pPr algn="just"/>
            <a:r>
              <a:rPr lang="en-IN" b="1" dirty="0" smtClean="0">
                <a:solidFill>
                  <a:srgbClr val="C00000"/>
                </a:solidFill>
                <a:latin typeface="Times New Roman" panose="02020603050405020304" pitchFamily="18" charset="0"/>
                <a:cs typeface="Times New Roman" panose="02020603050405020304" pitchFamily="18" charset="0"/>
              </a:rPr>
              <a:t>2. Worst case efficiency </a:t>
            </a:r>
            <a:r>
              <a:rPr lang="en-IN" b="1" dirty="0">
                <a:solidFill>
                  <a:srgbClr val="C00000"/>
                </a:solidFill>
                <a:latin typeface="Times New Roman" panose="02020603050405020304" pitchFamily="18" charset="0"/>
                <a:cs typeface="Times New Roman" panose="02020603050405020304" pitchFamily="18" charset="0"/>
              </a:rPr>
              <a:t>–</a:t>
            </a:r>
            <a:r>
              <a:rPr lang="en-IN" b="1" dirty="0" smtClean="0">
                <a:solidFill>
                  <a:srgbClr val="C00000"/>
                </a:solidFill>
                <a:latin typeface="Times New Roman" panose="02020603050405020304" pitchFamily="18" charset="0"/>
                <a:cs typeface="Times New Roman" panose="02020603050405020304" pitchFamily="18" charset="0"/>
              </a:rPr>
              <a:t> </a:t>
            </a:r>
            <a:r>
              <a:rPr lang="en-IN" b="1" dirty="0">
                <a:solidFill>
                  <a:srgbClr val="002060"/>
                </a:solidFill>
                <a:latin typeface="Times New Roman" panose="02020603050405020304" pitchFamily="18" charset="0"/>
                <a:cs typeface="Times New Roman" panose="02020603050405020304" pitchFamily="18" charset="0"/>
              </a:rPr>
              <a:t>The worst efficiency of binary search occurs when the algorithm </a:t>
            </a:r>
            <a:r>
              <a:rPr lang="en-IN" b="1" dirty="0">
                <a:solidFill>
                  <a:srgbClr val="00B0F0"/>
                </a:solidFill>
                <a:latin typeface="Times New Roman" panose="02020603050405020304" pitchFamily="18" charset="0"/>
                <a:cs typeface="Times New Roman" panose="02020603050405020304" pitchFamily="18" charset="0"/>
              </a:rPr>
              <a:t>takes maximum number of comparisons</a:t>
            </a:r>
            <a:r>
              <a:rPr lang="en-IN" b="1" dirty="0">
                <a:solidFill>
                  <a:srgbClr val="002060"/>
                </a:solidFill>
                <a:latin typeface="Times New Roman" panose="02020603050405020304" pitchFamily="18" charset="0"/>
                <a:cs typeface="Times New Roman" panose="02020603050405020304" pitchFamily="18" charset="0"/>
              </a:rPr>
              <a:t>. The time complexity is given by recurrence relation</a:t>
            </a:r>
          </a:p>
          <a:p>
            <a:pPr algn="just"/>
            <a:endParaRPr lang="en-IN"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28</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Box 8"/>
              <p:cNvSpPr txBox="1"/>
              <p:nvPr/>
            </p:nvSpPr>
            <p:spPr>
              <a:xfrm>
                <a:off x="1310852" y="4206520"/>
                <a:ext cx="7743609" cy="1074910"/>
              </a:xfrm>
              <a:prstGeom prst="rect">
                <a:avLst/>
              </a:prstGeom>
              <a:noFill/>
              <a:ln>
                <a:solidFill>
                  <a:schemeClr val="accent1"/>
                </a:solidFill>
              </a:ln>
            </p:spPr>
            <p:txBody>
              <a:bodyPr wrap="square" rtlCol="0">
                <a:spAutoFit/>
              </a:bodyPr>
              <a:lstStyle/>
              <a:p>
                <a:r>
                  <a:rPr lang="en-IN" sz="2000" b="1" dirty="0" smtClean="0">
                    <a:solidFill>
                      <a:srgbClr val="FF0000"/>
                    </a:solidFill>
                    <a:cs typeface="Times New Roman" panose="02020603050405020304" pitchFamily="18" charset="0"/>
                  </a:rPr>
                  <a:t>T</a:t>
                </a:r>
                <a14:m>
                  <m:oMath xmlns:m="http://schemas.openxmlformats.org/officeDocument/2006/math">
                    <m:r>
                      <a:rPr lang="en-IN" sz="2000" b="1" i="1" smtClean="0">
                        <a:solidFill>
                          <a:srgbClr val="FF0000"/>
                        </a:solidFill>
                        <a:latin typeface="Cambria Math" panose="02040503050406030204" pitchFamily="18" charset="0"/>
                        <a:cs typeface="Times New Roman" panose="02020603050405020304" pitchFamily="18" charset="0"/>
                      </a:rPr>
                      <m:t>(</m:t>
                    </m:r>
                    <m:r>
                      <a:rPr lang="en-IN" sz="2000" b="1" i="1" smtClean="0">
                        <a:solidFill>
                          <a:srgbClr val="FF0000"/>
                        </a:solidFill>
                        <a:latin typeface="Cambria Math" panose="02040503050406030204" pitchFamily="18" charset="0"/>
                        <a:cs typeface="Times New Roman" panose="02020603050405020304" pitchFamily="18" charset="0"/>
                      </a:rPr>
                      <m:t>𝒏</m:t>
                    </m:r>
                    <m:r>
                      <a:rPr lang="en-IN" sz="2000" b="1" i="1" smtClean="0">
                        <a:solidFill>
                          <a:srgbClr val="FF0000"/>
                        </a:solidFill>
                        <a:latin typeface="Cambria Math" panose="02040503050406030204" pitchFamily="18" charset="0"/>
                        <a:cs typeface="Times New Roman" panose="02020603050405020304" pitchFamily="18" charset="0"/>
                      </a:rPr>
                      <m:t>)=</m:t>
                    </m:r>
                    <m:d>
                      <m:dPr>
                        <m:begChr m:val="{"/>
                        <m:endChr m:val="}"/>
                        <m:ctrlPr>
                          <a:rPr lang="pt-BR" sz="2000" b="1" i="1" smtClean="0">
                            <a:solidFill>
                              <a:srgbClr val="002060"/>
                            </a:solidFill>
                            <a:latin typeface="Cambria Math"/>
                            <a:cs typeface="Times New Roman" panose="02020603050405020304" pitchFamily="18" charset="0"/>
                          </a:rPr>
                        </m:ctrlPr>
                      </m:dPr>
                      <m:e>
                        <m:eqArr>
                          <m:eqArrPr>
                            <m:ctrlPr>
                              <a:rPr lang="en-IN" sz="2000" b="1" i="1" smtClean="0">
                                <a:solidFill>
                                  <a:srgbClr val="002060"/>
                                </a:solidFill>
                                <a:latin typeface="Cambria Math"/>
                                <a:cs typeface="Times New Roman" panose="02020603050405020304" pitchFamily="18" charset="0"/>
                              </a:rPr>
                            </m:ctrlPr>
                          </m:eqArrPr>
                          <m:e>
                            <m:r>
                              <a:rPr lang="en-IN" sz="2000" b="1" i="1" smtClean="0">
                                <a:solidFill>
                                  <a:srgbClr val="002060"/>
                                </a:solidFill>
                                <a:latin typeface="Cambria Math" panose="02040503050406030204" pitchFamily="18" charset="0"/>
                                <a:cs typeface="Times New Roman" panose="02020603050405020304" pitchFamily="18" charset="0"/>
                              </a:rPr>
                              <m:t>𝟏</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
                          <m:e>
                            <m:r>
                              <a:rPr lang="en-IN" sz="2000" b="1" i="1" smtClean="0">
                                <a:solidFill>
                                  <a:srgbClr val="002060"/>
                                </a:solidFill>
                                <a:latin typeface="Cambria Math" panose="02040503050406030204" pitchFamily="18" charset="0"/>
                                <a:cs typeface="Times New Roman" panose="02020603050405020304" pitchFamily="18" charset="0"/>
                              </a:rPr>
                              <m:t>𝑻</m:t>
                            </m:r>
                            <m:d>
                              <m:dPr>
                                <m:ctrlPr>
                                  <a:rPr lang="en-IN" sz="2000" b="1" i="1" smtClean="0">
                                    <a:solidFill>
                                      <a:srgbClr val="002060"/>
                                    </a:solidFill>
                                    <a:latin typeface="Cambria Math"/>
                                    <a:cs typeface="Times New Roman" panose="02020603050405020304" pitchFamily="18" charset="0"/>
                                  </a:rPr>
                                </m:ctrlPr>
                              </m:dPr>
                              <m:e>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𝟐</m:t>
                                </m:r>
                              </m:e>
                            </m:d>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&gt;</m:t>
                            </m:r>
                            <m:r>
                              <a:rPr lang="en-IN" sz="2000" b="1" i="1" smtClean="0">
                                <a:solidFill>
                                  <a:srgbClr val="002060"/>
                                </a:solidFill>
                                <a:latin typeface="Cambria Math" panose="02040503050406030204" pitchFamily="18" charset="0"/>
                                <a:cs typeface="Times New Roman" panose="02020603050405020304" pitchFamily="18" charset="0"/>
                              </a:rPr>
                              <m:t>𝟏</m:t>
                            </m:r>
                          </m:e>
                        </m:eqArr>
                      </m:e>
                    </m:d>
                  </m:oMath>
                </a14:m>
                <a:endParaRPr lang="en-IN" sz="28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310852" y="4206520"/>
                <a:ext cx="7743609" cy="1074910"/>
              </a:xfrm>
              <a:prstGeom prst="rect">
                <a:avLst/>
              </a:prstGeom>
              <a:blipFill rotWithShape="0">
                <a:blip r:embed="rId5"/>
                <a:stretch>
                  <a:fillRect l="-708"/>
                </a:stretch>
              </a:blipFill>
              <a:ln>
                <a:solidFill>
                  <a:schemeClr val="accent1"/>
                </a:solidFill>
              </a:ln>
            </p:spPr>
            <p:txBody>
              <a:bodyPr/>
              <a:lstStyle/>
              <a:p>
                <a:r>
                  <a:rPr lang="en-IN">
                    <a:noFill/>
                  </a:rPr>
                  <a:t> </a:t>
                </a:r>
              </a:p>
            </p:txBody>
          </p:sp>
        </mc:Fallback>
      </mc:AlternateContent>
      <p:sp>
        <p:nvSpPr>
          <p:cNvPr id="10" name="TextBox 9"/>
          <p:cNvSpPr txBox="1"/>
          <p:nvPr/>
        </p:nvSpPr>
        <p:spPr>
          <a:xfrm>
            <a:off x="84972" y="5603516"/>
            <a:ext cx="3751578" cy="923330"/>
          </a:xfrm>
          <a:prstGeom prst="rect">
            <a:avLst/>
          </a:prstGeom>
          <a:noFill/>
        </p:spPr>
        <p:txBody>
          <a:bodyPr wrap="square" rtlCol="0">
            <a:spAutoFit/>
          </a:bodyPr>
          <a:lstStyle/>
          <a:p>
            <a:r>
              <a:rPr lang="en-IN" dirty="0" smtClean="0">
                <a:solidFill>
                  <a:srgbClr val="FF0000"/>
                </a:solidFill>
                <a:latin typeface="Times New Roman" panose="02020603050405020304" pitchFamily="18" charset="0"/>
                <a:cs typeface="Times New Roman" panose="02020603050405020304" pitchFamily="18" charset="0"/>
              </a:rPr>
              <a:t>Time required to search key element in either upper part or lower part of array</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3835373" y="5712178"/>
            <a:ext cx="3480936" cy="646331"/>
          </a:xfrm>
          <a:prstGeom prst="rect">
            <a:avLst/>
          </a:prstGeom>
          <a:noFill/>
        </p:spPr>
        <p:txBody>
          <a:bodyPr wrap="square" rtlCol="0">
            <a:spAutoFit/>
          </a:bodyPr>
          <a:lstStyle/>
          <a:p>
            <a:r>
              <a:rPr lang="en-IN" dirty="0">
                <a:solidFill>
                  <a:srgbClr val="FF0000"/>
                </a:solidFill>
                <a:latin typeface="Times New Roman" panose="02020603050405020304" pitchFamily="18" charset="0"/>
                <a:cs typeface="Times New Roman" panose="02020603050405020304" pitchFamily="18" charset="0"/>
              </a:rPr>
              <a:t>Time required to </a:t>
            </a:r>
            <a:r>
              <a:rPr lang="en-IN" dirty="0" smtClean="0">
                <a:solidFill>
                  <a:srgbClr val="FF0000"/>
                </a:solidFill>
                <a:latin typeface="Times New Roman" panose="02020603050405020304" pitchFamily="18" charset="0"/>
                <a:cs typeface="Times New Roman" panose="02020603050405020304" pitchFamily="18" charset="0"/>
              </a:rPr>
              <a:t>compare key with middle  </a:t>
            </a:r>
            <a:r>
              <a:rPr lang="en-IN" dirty="0">
                <a:solidFill>
                  <a:srgbClr val="FF0000"/>
                </a:solidFill>
                <a:latin typeface="Times New Roman" panose="02020603050405020304" pitchFamily="18" charset="0"/>
                <a:cs typeface="Times New Roman" panose="02020603050405020304" pitchFamily="18" charset="0"/>
              </a:rPr>
              <a:t>element</a:t>
            </a:r>
          </a:p>
        </p:txBody>
      </p:sp>
      <p:cxnSp>
        <p:nvCxnSpPr>
          <p:cNvPr id="12" name="Elbow Connector 11"/>
          <p:cNvCxnSpPr/>
          <p:nvPr/>
        </p:nvCxnSpPr>
        <p:spPr>
          <a:xfrm rot="5400000">
            <a:off x="2174483" y="5252411"/>
            <a:ext cx="467821" cy="416695"/>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p:cNvCxnSpPr/>
          <p:nvPr/>
        </p:nvCxnSpPr>
        <p:spPr>
          <a:xfrm rot="16200000" flipH="1">
            <a:off x="3698010" y="5271618"/>
            <a:ext cx="587646" cy="491863"/>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617C0C7A-1827-43F7-BC6C-0F3893CDB69A}" type="datetime1">
              <a:rPr lang="en-IN" smtClean="0"/>
              <a:t>21-03-2026</a:t>
            </a:fld>
            <a:endParaRPr lang="en-IN"/>
          </a:p>
        </p:txBody>
      </p:sp>
    </p:spTree>
    <p:extLst>
      <p:ext uri="{BB962C8B-B14F-4D97-AF65-F5344CB8AC3E}">
        <p14:creationId xmlns:p14="http://schemas.microsoft.com/office/powerpoint/2010/main" val="454860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0" y="862740"/>
                <a:ext cx="12315217" cy="5493610"/>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Time complexity analysis </a:t>
                </a:r>
              </a:p>
              <a:p>
                <a:pPr algn="just"/>
                <a:r>
                  <a:rPr lang="en-IN" b="1" dirty="0" smtClean="0">
                    <a:solidFill>
                      <a:srgbClr val="00B0F0"/>
                    </a:solidFill>
                    <a:latin typeface="Times New Roman" panose="02020603050405020304" pitchFamily="18" charset="0"/>
                    <a:cs typeface="Times New Roman" panose="02020603050405020304" pitchFamily="18" charset="0"/>
                  </a:rPr>
                  <a:t>Master theorem recurrence relation is </a:t>
                </a:r>
              </a:p>
              <a:p>
                <a:pPr algn="just"/>
                <a14:m>
                  <m:oMath xmlns:m="http://schemas.openxmlformats.org/officeDocument/2006/math">
                    <m:r>
                      <a:rPr lang="en-IN" b="1" i="1">
                        <a:solidFill>
                          <a:srgbClr val="002060"/>
                        </a:solidFill>
                        <a:latin typeface="Cambria Math" panose="02040503050406030204" pitchFamily="18" charset="0"/>
                        <a:cs typeface="Times New Roman" panose="02020603050405020304" pitchFamily="18" charset="0"/>
                      </a:rPr>
                      <m:t>𝒂𝑻</m:t>
                    </m:r>
                    <m:d>
                      <m:dPr>
                        <m:ctrlPr>
                          <a:rPr lang="en-IN" b="1" i="1">
                            <a:solidFill>
                              <a:srgbClr val="002060"/>
                            </a:solidFill>
                            <a:latin typeface="Cambria Math"/>
                            <a:cs typeface="Times New Roman" panose="02020603050405020304" pitchFamily="18" charset="0"/>
                          </a:rPr>
                        </m:ctrlPr>
                      </m:dPr>
                      <m:e>
                        <m:r>
                          <a:rPr lang="en-IN" b="1" i="1">
                            <a:solidFill>
                              <a:srgbClr val="002060"/>
                            </a:solidFill>
                            <a:latin typeface="Cambria Math" panose="02040503050406030204" pitchFamily="18" charset="0"/>
                            <a:cs typeface="Times New Roman" panose="02020603050405020304" pitchFamily="18" charset="0"/>
                          </a:rPr>
                          <m:t>𝒏</m:t>
                        </m:r>
                        <m:r>
                          <a:rPr lang="en-IN" b="1" i="1">
                            <a:solidFill>
                              <a:srgbClr val="002060"/>
                            </a:solidFill>
                            <a:latin typeface="Cambria Math" panose="02040503050406030204" pitchFamily="18" charset="0"/>
                            <a:cs typeface="Times New Roman" panose="02020603050405020304" pitchFamily="18" charset="0"/>
                          </a:rPr>
                          <m:t>/</m:t>
                        </m:r>
                        <m:r>
                          <a:rPr lang="en-IN" b="1" i="1">
                            <a:solidFill>
                              <a:srgbClr val="002060"/>
                            </a:solidFill>
                            <a:latin typeface="Cambria Math" panose="02040503050406030204" pitchFamily="18" charset="0"/>
                            <a:cs typeface="Times New Roman" panose="02020603050405020304" pitchFamily="18" charset="0"/>
                          </a:rPr>
                          <m:t>𝒃</m:t>
                        </m:r>
                      </m:e>
                    </m:d>
                    <m:r>
                      <a:rPr lang="en-IN" b="1" i="1">
                        <a:solidFill>
                          <a:srgbClr val="002060"/>
                        </a:solidFill>
                        <a:latin typeface="Cambria Math" panose="02040503050406030204" pitchFamily="18" charset="0"/>
                        <a:cs typeface="Times New Roman" panose="02020603050405020304" pitchFamily="18" charset="0"/>
                      </a:rPr>
                      <m:t>+</m:t>
                    </m:r>
                    <m:r>
                      <a:rPr lang="en-IN" b="1" i="1">
                        <a:solidFill>
                          <a:srgbClr val="002060"/>
                        </a:solidFill>
                        <a:latin typeface="Cambria Math" panose="02040503050406030204" pitchFamily="18" charset="0"/>
                        <a:cs typeface="Times New Roman" panose="02020603050405020304" pitchFamily="18" charset="0"/>
                      </a:rPr>
                      <m:t>𝒇</m:t>
                    </m:r>
                    <m:r>
                      <a:rPr lang="en-IN" b="1" i="1">
                        <a:solidFill>
                          <a:srgbClr val="002060"/>
                        </a:solidFill>
                        <a:latin typeface="Cambria Math" panose="02040503050406030204" pitchFamily="18" charset="0"/>
                        <a:cs typeface="Times New Roman" panose="02020603050405020304" pitchFamily="18" charset="0"/>
                      </a:rPr>
                      <m:t> </m:t>
                    </m:r>
                    <m:d>
                      <m:dPr>
                        <m:ctrlPr>
                          <a:rPr lang="en-IN" b="1" i="1">
                            <a:solidFill>
                              <a:srgbClr val="002060"/>
                            </a:solidFill>
                            <a:latin typeface="Cambria Math"/>
                            <a:cs typeface="Times New Roman" panose="02020603050405020304" pitchFamily="18" charset="0"/>
                          </a:rPr>
                        </m:ctrlPr>
                      </m:dPr>
                      <m:e>
                        <m:r>
                          <a:rPr lang="en-IN" b="1" i="1">
                            <a:solidFill>
                              <a:srgbClr val="002060"/>
                            </a:solidFill>
                            <a:latin typeface="Cambria Math" panose="02040503050406030204" pitchFamily="18" charset="0"/>
                            <a:cs typeface="Times New Roman" panose="02020603050405020304" pitchFamily="18" charset="0"/>
                          </a:rPr>
                          <m:t>𝒏</m:t>
                        </m:r>
                      </m:e>
                    </m:d>
                    <m:r>
                      <a:rPr lang="en-IN" b="1" i="1" smtClean="0">
                        <a:solidFill>
                          <a:srgbClr val="002060"/>
                        </a:solidFill>
                        <a:latin typeface="Cambria Math" panose="02040503050406030204" pitchFamily="18" charset="0"/>
                        <a:cs typeface="Times New Roman" panose="02020603050405020304" pitchFamily="18" charset="0"/>
                      </a:rPr>
                      <m:t>               </m:t>
                    </m:r>
                  </m:oMath>
                </a14:m>
                <a:r>
                  <a:rPr lang="en-IN" b="1" dirty="0" smtClean="0">
                    <a:solidFill>
                      <a:srgbClr val="C00000"/>
                    </a:solidFill>
                    <a:latin typeface="Times New Roman" panose="02020603050405020304" pitchFamily="18" charset="0"/>
                    <a:cs typeface="Times New Roman" panose="02020603050405020304" pitchFamily="18" charset="0"/>
                  </a:rPr>
                  <a:t>Eq.1 </a:t>
                </a:r>
              </a:p>
              <a:p>
                <a:pPr algn="just"/>
                <a:r>
                  <a:rPr lang="en-IN" b="1" dirty="0" smtClean="0">
                    <a:solidFill>
                      <a:srgbClr val="C00000"/>
                    </a:solidFill>
                    <a:latin typeface="Times New Roman" panose="02020603050405020304" pitchFamily="18" charset="0"/>
                    <a:cs typeface="Times New Roman" panose="02020603050405020304" pitchFamily="18" charset="0"/>
                  </a:rPr>
                  <a:t>Recurrence relation of binary search is </a:t>
                </a:r>
                <a14:m>
                  <m:oMath xmlns:m="http://schemas.openxmlformats.org/officeDocument/2006/math">
                    <m:r>
                      <a:rPr lang="en-IN" b="1" i="1">
                        <a:solidFill>
                          <a:srgbClr val="002060"/>
                        </a:solidFill>
                        <a:latin typeface="Cambria Math" panose="02040503050406030204" pitchFamily="18" charset="0"/>
                        <a:cs typeface="Times New Roman" panose="02020603050405020304" pitchFamily="18" charset="0"/>
                      </a:rPr>
                      <m:t>𝑻</m:t>
                    </m:r>
                    <m:d>
                      <m:dPr>
                        <m:ctrlPr>
                          <a:rPr lang="en-IN" b="1" i="1">
                            <a:solidFill>
                              <a:srgbClr val="002060"/>
                            </a:solidFill>
                            <a:latin typeface="Cambria Math"/>
                            <a:cs typeface="Times New Roman" panose="02020603050405020304" pitchFamily="18" charset="0"/>
                          </a:rPr>
                        </m:ctrlPr>
                      </m:dPr>
                      <m:e>
                        <m:r>
                          <a:rPr lang="en-IN" b="1" i="1">
                            <a:solidFill>
                              <a:srgbClr val="002060"/>
                            </a:solidFill>
                            <a:latin typeface="Cambria Math" panose="02040503050406030204" pitchFamily="18" charset="0"/>
                            <a:cs typeface="Times New Roman" panose="02020603050405020304" pitchFamily="18" charset="0"/>
                          </a:rPr>
                          <m:t>𝒏</m:t>
                        </m:r>
                        <m:r>
                          <a:rPr lang="en-IN" b="1" i="1">
                            <a:solidFill>
                              <a:srgbClr val="002060"/>
                            </a:solidFill>
                            <a:latin typeface="Cambria Math" panose="02040503050406030204" pitchFamily="18" charset="0"/>
                            <a:cs typeface="Times New Roman" panose="02020603050405020304" pitchFamily="18" charset="0"/>
                          </a:rPr>
                          <m:t>/</m:t>
                        </m:r>
                        <m:r>
                          <a:rPr lang="en-IN" b="1" i="1">
                            <a:solidFill>
                              <a:srgbClr val="002060"/>
                            </a:solidFill>
                            <a:latin typeface="Cambria Math" panose="02040503050406030204" pitchFamily="18" charset="0"/>
                            <a:cs typeface="Times New Roman" panose="02020603050405020304" pitchFamily="18" charset="0"/>
                          </a:rPr>
                          <m:t>𝟐</m:t>
                        </m:r>
                      </m:e>
                    </m:d>
                    <m:r>
                      <a:rPr lang="en-IN" b="1" i="1">
                        <a:solidFill>
                          <a:srgbClr val="002060"/>
                        </a:solidFill>
                        <a:latin typeface="Cambria Math" panose="02040503050406030204" pitchFamily="18" charset="0"/>
                        <a:cs typeface="Times New Roman" panose="02020603050405020304" pitchFamily="18" charset="0"/>
                      </a:rPr>
                      <m:t>+</m:t>
                    </m:r>
                    <m:r>
                      <a:rPr lang="en-IN" b="1" i="1">
                        <a:solidFill>
                          <a:srgbClr val="002060"/>
                        </a:solidFill>
                        <a:latin typeface="Cambria Math" panose="02040503050406030204" pitchFamily="18" charset="0"/>
                        <a:cs typeface="Times New Roman" panose="02020603050405020304" pitchFamily="18" charset="0"/>
                      </a:rPr>
                      <m:t>𝟏</m:t>
                    </m:r>
                    <m:r>
                      <a:rPr lang="en-IN" b="1" i="1">
                        <a:solidFill>
                          <a:srgbClr val="002060"/>
                        </a:solidFill>
                        <a:latin typeface="Cambria Math" panose="02040503050406030204" pitchFamily="18" charset="0"/>
                        <a:cs typeface="Times New Roman" panose="02020603050405020304" pitchFamily="18" charset="0"/>
                      </a:rPr>
                      <m:t> </m:t>
                    </m:r>
                  </m:oMath>
                </a14:m>
                <a:r>
                  <a:rPr lang="en-IN" b="1" dirty="0" smtClean="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IN" b="1" i="1">
                        <a:solidFill>
                          <a:srgbClr val="002060"/>
                        </a:solidFill>
                        <a:latin typeface="Cambria Math" panose="02040503050406030204" pitchFamily="18" charset="0"/>
                        <a:cs typeface="Times New Roman" panose="02020603050405020304" pitchFamily="18" charset="0"/>
                      </a:rPr>
                      <m:t> </m:t>
                    </m:r>
                  </m:oMath>
                </a14:m>
                <a:r>
                  <a:rPr lang="en-IN" b="1" dirty="0" smtClean="0">
                    <a:solidFill>
                      <a:srgbClr val="C00000"/>
                    </a:solidFill>
                    <a:latin typeface="Times New Roman" panose="02020603050405020304" pitchFamily="18" charset="0"/>
                    <a:cs typeface="Times New Roman" panose="02020603050405020304" pitchFamily="18" charset="0"/>
                  </a:rPr>
                  <a:t>       Eq.2</a:t>
                </a:r>
              </a:p>
              <a:p>
                <a:pPr algn="just"/>
                <a:r>
                  <a:rPr lang="en-IN" b="1" dirty="0" smtClean="0">
                    <a:solidFill>
                      <a:srgbClr val="C00000"/>
                    </a:solidFill>
                    <a:latin typeface="Times New Roman" panose="02020603050405020304" pitchFamily="18" charset="0"/>
                    <a:cs typeface="Times New Roman" panose="02020603050405020304" pitchFamily="18" charset="0"/>
                  </a:rPr>
                  <a:t>Compare equation 1 and 2, </a:t>
                </a:r>
              </a:p>
              <a:p>
                <a:pPr algn="just"/>
                <a:r>
                  <a:rPr lang="en-IN" b="1" dirty="0" smtClean="0">
                    <a:solidFill>
                      <a:srgbClr val="002060"/>
                    </a:solidFill>
                    <a:latin typeface="Times New Roman" panose="02020603050405020304" pitchFamily="18" charset="0"/>
                    <a:cs typeface="Times New Roman" panose="02020603050405020304" pitchFamily="18" charset="0"/>
                  </a:rPr>
                  <a:t>a=1, b=2, f(n)=1</a:t>
                </a:r>
              </a:p>
              <a:p>
                <a:pPr algn="just"/>
                <a:r>
                  <a:rPr lang="en-IN" b="1" dirty="0" smtClean="0">
                    <a:solidFill>
                      <a:srgbClr val="C00000"/>
                    </a:solidFill>
                    <a:latin typeface="Times New Roman" panose="02020603050405020304" pitchFamily="18" charset="0"/>
                    <a:cs typeface="Times New Roman" panose="02020603050405020304" pitchFamily="18" charset="0"/>
                  </a:rPr>
                  <a:t>As f(n)=1, </a:t>
                </a:r>
                <a:r>
                  <a:rPr lang="en-IN" b="1" dirty="0" err="1" smtClean="0">
                    <a:solidFill>
                      <a:srgbClr val="C00000"/>
                    </a:solidFill>
                    <a:latin typeface="Times New Roman" panose="02020603050405020304" pitchFamily="18" charset="0"/>
                    <a:cs typeface="Times New Roman" panose="02020603050405020304" pitchFamily="18" charset="0"/>
                  </a:rPr>
                  <a:t>i</a:t>
                </a:r>
                <a:r>
                  <a:rPr lang="en-IN" b="1" dirty="0" smtClean="0">
                    <a:solidFill>
                      <a:srgbClr val="C00000"/>
                    </a:solidFill>
                    <a:latin typeface="Times New Roman" panose="02020603050405020304" pitchFamily="18" charset="0"/>
                    <a:cs typeface="Times New Roman" panose="02020603050405020304" pitchFamily="18" charset="0"/>
                  </a:rPr>
                  <a:t>. e    f(n) </a:t>
                </a:r>
                <a:r>
                  <a:rPr lang="az-Cyrl-AZ" b="1" dirty="0" smtClean="0">
                    <a:solidFill>
                      <a:srgbClr val="C00000"/>
                    </a:solidFill>
                    <a:latin typeface="Times New Roman" panose="02020603050405020304" pitchFamily="18" charset="0"/>
                    <a:cs typeface="Times New Roman" panose="02020603050405020304" pitchFamily="18" charset="0"/>
                  </a:rPr>
                  <a:t>Є</a:t>
                </a:r>
                <a:r>
                  <a:rPr lang="en-IN" b="1" dirty="0" smtClean="0">
                    <a:solidFill>
                      <a:srgbClr val="C00000"/>
                    </a:solidFill>
                    <a:latin typeface="Times New Roman" panose="02020603050405020304" pitchFamily="18" charset="0"/>
                    <a:cs typeface="Times New Roman" panose="02020603050405020304" pitchFamily="18" charset="0"/>
                  </a:rPr>
                  <a:t> </a:t>
                </a:r>
                <a:r>
                  <a:rPr lang="en-IN" b="1" dirty="0" err="1" smtClean="0">
                    <a:solidFill>
                      <a:srgbClr val="C00000"/>
                    </a:solidFill>
                    <a:latin typeface="Times New Roman" panose="02020603050405020304" pitchFamily="18" charset="0"/>
                    <a:cs typeface="Times New Roman" panose="02020603050405020304" pitchFamily="18" charset="0"/>
                  </a:rPr>
                  <a:t>n</a:t>
                </a:r>
                <a:r>
                  <a:rPr lang="en-IN" b="1" baseline="30000" dirty="0" err="1" smtClean="0">
                    <a:solidFill>
                      <a:srgbClr val="C00000"/>
                    </a:solidFill>
                    <a:latin typeface="Times New Roman" panose="02020603050405020304" pitchFamily="18" charset="0"/>
                    <a:cs typeface="Times New Roman" panose="02020603050405020304" pitchFamily="18" charset="0"/>
                  </a:rPr>
                  <a:t>d</a:t>
                </a:r>
                <a:r>
                  <a:rPr lang="en-IN" b="1" baseline="30000" dirty="0" smtClean="0">
                    <a:solidFill>
                      <a:srgbClr val="C00000"/>
                    </a:solidFill>
                    <a:latin typeface="Times New Roman" panose="02020603050405020304" pitchFamily="18" charset="0"/>
                    <a:cs typeface="Times New Roman" panose="02020603050405020304" pitchFamily="18" charset="0"/>
                  </a:rPr>
                  <a:t> </a:t>
                </a:r>
                <a:r>
                  <a:rPr lang="en-IN" b="1" dirty="0">
                    <a:solidFill>
                      <a:srgbClr val="C00000"/>
                    </a:solidFill>
                    <a:latin typeface="Times New Roman" panose="02020603050405020304" pitchFamily="18" charset="0"/>
                    <a:cs typeface="Times New Roman" panose="02020603050405020304" pitchFamily="18" charset="0"/>
                  </a:rPr>
                  <a:t> </a:t>
                </a:r>
                <a:r>
                  <a:rPr lang="en-IN" b="1" dirty="0" smtClean="0">
                    <a:solidFill>
                      <a:srgbClr val="C00000"/>
                    </a:solidFill>
                    <a:latin typeface="Times New Roman" panose="02020603050405020304" pitchFamily="18" charset="0"/>
                    <a:cs typeface="Times New Roman" panose="02020603050405020304" pitchFamily="18" charset="0"/>
                  </a:rPr>
                  <a:t>, n</a:t>
                </a:r>
                <a:r>
                  <a:rPr lang="en-IN" b="1" baseline="30000" dirty="0" smtClean="0">
                    <a:solidFill>
                      <a:srgbClr val="C00000"/>
                    </a:solidFill>
                    <a:latin typeface="Times New Roman" panose="02020603050405020304" pitchFamily="18" charset="0"/>
                    <a:cs typeface="Times New Roman" panose="02020603050405020304" pitchFamily="18" charset="0"/>
                  </a:rPr>
                  <a:t>0 </a:t>
                </a:r>
                <a:r>
                  <a:rPr lang="en-IN" b="1" dirty="0" smtClean="0">
                    <a:solidFill>
                      <a:srgbClr val="C00000"/>
                    </a:solidFill>
                    <a:latin typeface="Times New Roman" panose="02020603050405020304" pitchFamily="18" charset="0"/>
                    <a:cs typeface="Times New Roman" panose="02020603050405020304" pitchFamily="18" charset="0"/>
                  </a:rPr>
                  <a:t>=1, thus d=0</a:t>
                </a:r>
              </a:p>
              <a:p>
                <a:pPr algn="just"/>
                <a:r>
                  <a:rPr lang="en-IN" b="1" dirty="0" smtClean="0">
                    <a:solidFill>
                      <a:srgbClr val="002060"/>
                    </a:solidFill>
                    <a:latin typeface="Times New Roman" panose="02020603050405020304" pitchFamily="18" charset="0"/>
                    <a:cs typeface="Times New Roman" panose="02020603050405020304" pitchFamily="18" charset="0"/>
                  </a:rPr>
                  <a:t>According to master theorem a=</a:t>
                </a:r>
                <a:r>
                  <a:rPr lang="en-IN" b="1" dirty="0" err="1" smtClean="0">
                    <a:solidFill>
                      <a:srgbClr val="002060"/>
                    </a:solidFill>
                    <a:latin typeface="Times New Roman" panose="02020603050405020304" pitchFamily="18" charset="0"/>
                    <a:cs typeface="Times New Roman" panose="02020603050405020304" pitchFamily="18" charset="0"/>
                  </a:rPr>
                  <a:t>b</a:t>
                </a:r>
                <a:r>
                  <a:rPr lang="en-IN" b="1" baseline="30000" dirty="0" err="1" smtClean="0">
                    <a:solidFill>
                      <a:srgbClr val="002060"/>
                    </a:solidFill>
                    <a:latin typeface="Times New Roman" panose="02020603050405020304" pitchFamily="18" charset="0"/>
                    <a:cs typeface="Times New Roman" panose="02020603050405020304" pitchFamily="18" charset="0"/>
                  </a:rPr>
                  <a:t>d</a:t>
                </a:r>
                <a:r>
                  <a:rPr lang="en-IN" b="1" baseline="30000"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(1= 2</a:t>
                </a:r>
                <a:r>
                  <a:rPr lang="en-IN" b="1" baseline="30000" dirty="0" smtClean="0">
                    <a:solidFill>
                      <a:srgbClr val="002060"/>
                    </a:solidFill>
                    <a:latin typeface="Times New Roman" panose="02020603050405020304" pitchFamily="18" charset="0"/>
                    <a:cs typeface="Times New Roman" panose="02020603050405020304" pitchFamily="18" charset="0"/>
                  </a:rPr>
                  <a:t>0 </a:t>
                </a:r>
                <a:r>
                  <a:rPr lang="en-IN" b="1" dirty="0">
                    <a:solidFill>
                      <a:srgbClr val="002060"/>
                    </a:solidFill>
                    <a:latin typeface="Times New Roman" panose="02020603050405020304" pitchFamily="18" charset="0"/>
                    <a:cs typeface="Times New Roman" panose="02020603050405020304" pitchFamily="18" charset="0"/>
                  </a:rPr>
                  <a:t>=</a:t>
                </a:r>
                <a:r>
                  <a:rPr lang="en-IN" b="1" dirty="0" smtClean="0">
                    <a:solidFill>
                      <a:srgbClr val="002060"/>
                    </a:solidFill>
                    <a:latin typeface="Times New Roman" panose="02020603050405020304" pitchFamily="18" charset="0"/>
                    <a:cs typeface="Times New Roman" panose="02020603050405020304" pitchFamily="18" charset="0"/>
                  </a:rPr>
                  <a:t>1), second condition of master theorem holds good</a:t>
                </a:r>
              </a:p>
              <a:p>
                <a:pPr algn="just"/>
                <a:r>
                  <a:rPr lang="en-IN" b="1" dirty="0" err="1" smtClean="0">
                    <a:solidFill>
                      <a:srgbClr val="002060"/>
                    </a:solidFill>
                    <a:latin typeface="Times New Roman" panose="02020603050405020304" pitchFamily="18" charset="0"/>
                    <a:cs typeface="Times New Roman" panose="02020603050405020304" pitchFamily="18" charset="0"/>
                  </a:rPr>
                  <a:t>n</a:t>
                </a:r>
                <a:r>
                  <a:rPr lang="en-IN" b="1" baseline="30000" dirty="0" err="1" smtClean="0">
                    <a:solidFill>
                      <a:srgbClr val="002060"/>
                    </a:solidFill>
                    <a:latin typeface="Times New Roman" panose="02020603050405020304" pitchFamily="18" charset="0"/>
                    <a:cs typeface="Times New Roman" panose="02020603050405020304" pitchFamily="18" charset="0"/>
                  </a:rPr>
                  <a:t>d</a:t>
                </a:r>
                <a:r>
                  <a:rPr lang="en-IN" b="1" dirty="0" smtClean="0">
                    <a:solidFill>
                      <a:srgbClr val="002060"/>
                    </a:solidFill>
                    <a:latin typeface="Times New Roman" panose="02020603050405020304" pitchFamily="18" charset="0"/>
                    <a:cs typeface="Times New Roman" panose="02020603050405020304" pitchFamily="18" charset="0"/>
                  </a:rPr>
                  <a:t> log n, put d=0   this equation becomes</a:t>
                </a:r>
              </a:p>
              <a:p>
                <a:pPr algn="just"/>
                <a:r>
                  <a:rPr lang="en-IN" b="1" dirty="0">
                    <a:solidFill>
                      <a:srgbClr val="C00000"/>
                    </a:solidFill>
                    <a:latin typeface="Times New Roman" panose="02020603050405020304" pitchFamily="18" charset="0"/>
                    <a:cs typeface="Times New Roman" panose="02020603050405020304" pitchFamily="18" charset="0"/>
                  </a:rPr>
                  <a:t> </a:t>
                </a:r>
                <a:r>
                  <a:rPr lang="en-IN" b="1" dirty="0" smtClean="0">
                    <a:solidFill>
                      <a:srgbClr val="C00000"/>
                    </a:solidFill>
                    <a:latin typeface="Times New Roman" panose="02020603050405020304" pitchFamily="18" charset="0"/>
                    <a:cs typeface="Times New Roman" panose="02020603050405020304" pitchFamily="18" charset="0"/>
                  </a:rPr>
                  <a:t>  T(n) = log</a:t>
                </a:r>
                <a:r>
                  <a:rPr lang="en-IN" b="1" baseline="-25000" dirty="0" smtClean="0">
                    <a:solidFill>
                      <a:srgbClr val="C00000"/>
                    </a:solidFill>
                    <a:latin typeface="Times New Roman" panose="02020603050405020304" pitchFamily="18" charset="0"/>
                    <a:cs typeface="Times New Roman" panose="02020603050405020304" pitchFamily="18" charset="0"/>
                  </a:rPr>
                  <a:t>2</a:t>
                </a:r>
                <a:r>
                  <a:rPr lang="en-IN" b="1" dirty="0" smtClean="0">
                    <a:solidFill>
                      <a:srgbClr val="C00000"/>
                    </a:solidFill>
                    <a:latin typeface="Times New Roman" panose="02020603050405020304" pitchFamily="18" charset="0"/>
                    <a:cs typeface="Times New Roman" panose="02020603050405020304" pitchFamily="18" charset="0"/>
                  </a:rPr>
                  <a:t> n</a:t>
                </a:r>
              </a:p>
              <a:p>
                <a:pPr algn="just"/>
                <a:r>
                  <a:rPr lang="en-IN" b="1" dirty="0" smtClean="0">
                    <a:solidFill>
                      <a:srgbClr val="C00000"/>
                    </a:solidFill>
                    <a:latin typeface="Times New Roman" panose="02020603050405020304" pitchFamily="18" charset="0"/>
                    <a:cs typeface="Times New Roman" panose="02020603050405020304" pitchFamily="18" charset="0"/>
                  </a:rPr>
                  <a:t>Worst case time complexity of Binary search is    </a:t>
                </a:r>
                <a:r>
                  <a:rPr lang="en-IN" b="1" dirty="0" smtClean="0">
                    <a:solidFill>
                      <a:srgbClr val="002060"/>
                    </a:solidFill>
                    <a:latin typeface="Times New Roman" panose="02020603050405020304" pitchFamily="18" charset="0"/>
                    <a:cs typeface="Times New Roman" panose="02020603050405020304" pitchFamily="18" charset="0"/>
                  </a:rPr>
                  <a:t>t(n)</a:t>
                </a:r>
                <a:r>
                  <a:rPr lang="en-IN" b="1" baseline="-25000" dirty="0" smtClean="0">
                    <a:solidFill>
                      <a:srgbClr val="002060"/>
                    </a:solidFill>
                    <a:latin typeface="Times New Roman" panose="02020603050405020304" pitchFamily="18" charset="0"/>
                    <a:cs typeface="Times New Roman" panose="02020603050405020304" pitchFamily="18" charset="0"/>
                  </a:rPr>
                  <a:t>worst </a:t>
                </a:r>
                <a:r>
                  <a:rPr lang="en-IN" b="1" dirty="0" smtClean="0">
                    <a:solidFill>
                      <a:srgbClr val="002060"/>
                    </a:solidFill>
                    <a:latin typeface="Times New Roman" panose="02020603050405020304" pitchFamily="18" charset="0"/>
                    <a:cs typeface="Times New Roman" panose="02020603050405020304" pitchFamily="18" charset="0"/>
                  </a:rPr>
                  <a:t>= log</a:t>
                </a:r>
                <a:r>
                  <a:rPr lang="en-IN" b="1" baseline="-25000" dirty="0" smtClean="0">
                    <a:solidFill>
                      <a:srgbClr val="002060"/>
                    </a:solidFill>
                    <a:latin typeface="Times New Roman" panose="02020603050405020304" pitchFamily="18" charset="0"/>
                    <a:cs typeface="Times New Roman" panose="02020603050405020304" pitchFamily="18" charset="0"/>
                  </a:rPr>
                  <a:t>2</a:t>
                </a:r>
                <a:r>
                  <a:rPr lang="en-IN" b="1" dirty="0" smtClean="0">
                    <a:solidFill>
                      <a:srgbClr val="002060"/>
                    </a:solidFill>
                    <a:latin typeface="Times New Roman" panose="02020603050405020304" pitchFamily="18" charset="0"/>
                    <a:cs typeface="Times New Roman" panose="02020603050405020304" pitchFamily="18" charset="0"/>
                  </a:rPr>
                  <a:t> n)</a:t>
                </a:r>
              </a:p>
              <a:p>
                <a:pPr algn="just"/>
                <a:endParaRPr lang="en-IN"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0" y="862740"/>
                <a:ext cx="12315217" cy="5493610"/>
              </a:xfrm>
              <a:blipFill rotWithShape="0">
                <a:blip r:embed="rId3"/>
                <a:stretch>
                  <a:fillRect l="-743" t="-1554" r="-347"/>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29</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2B8FB6AE-E4D6-4EF7-9D00-B372D56EB2BA}" type="datetime1">
              <a:rPr lang="en-IN" smtClean="0"/>
              <a:t>21-03-2026</a:t>
            </a:fld>
            <a:endParaRPr lang="en-IN"/>
          </a:p>
        </p:txBody>
      </p:sp>
    </p:spTree>
    <p:extLst>
      <p:ext uri="{BB962C8B-B14F-4D97-AF65-F5344CB8AC3E}">
        <p14:creationId xmlns:p14="http://schemas.microsoft.com/office/powerpoint/2010/main" val="401758803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0" y="862740"/>
                <a:ext cx="12315217" cy="5493610"/>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Time complexity analysis </a:t>
                </a:r>
                <a:endParaRPr lang="en-IN" b="1" dirty="0">
                  <a:solidFill>
                    <a:srgbClr val="00B0F0"/>
                  </a:solidFill>
                  <a:latin typeface="Times New Roman" panose="02020603050405020304" pitchFamily="18" charset="0"/>
                  <a:cs typeface="Times New Roman" panose="02020603050405020304" pitchFamily="18" charset="0"/>
                </a:endParaRPr>
              </a:p>
              <a:p>
                <a:pPr algn="just"/>
                <a:r>
                  <a:rPr lang="en-IN" b="1" dirty="0" smtClean="0">
                    <a:solidFill>
                      <a:srgbClr val="00B0F0"/>
                    </a:solidFill>
                    <a:latin typeface="Times New Roman" panose="02020603050405020304" pitchFamily="18" charset="0"/>
                    <a:cs typeface="Times New Roman" panose="02020603050405020304" pitchFamily="18" charset="0"/>
                  </a:rPr>
                  <a:t>Using substitution method</a:t>
                </a:r>
              </a:p>
              <a:p>
                <a:pPr algn="just"/>
                <a:r>
                  <a:rPr lang="en-IN" sz="2000" b="1" dirty="0" smtClean="0">
                    <a:solidFill>
                      <a:srgbClr val="002060"/>
                    </a:solidFill>
                    <a:latin typeface="Times New Roman" panose="02020603050405020304" pitchFamily="18" charset="0"/>
                    <a:cs typeface="Times New Roman" panose="02020603050405020304" pitchFamily="18" charset="0"/>
                  </a:rPr>
                  <a:t>T(n)= </a:t>
                </a:r>
                <a14:m>
                  <m:oMath xmlns:m="http://schemas.openxmlformats.org/officeDocument/2006/math">
                    <m:r>
                      <a:rPr lang="en-IN" sz="2000" b="1" i="1" smtClean="0">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𝟐</m:t>
                        </m:r>
                      </m:e>
                    </m:d>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oMath>
                </a14:m>
                <a:endParaRPr lang="en-IN" sz="2000" b="1" i="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cs typeface="Times New Roman" panose="02020603050405020304" pitchFamily="18" charset="0"/>
                  </a:rPr>
                  <a:t>                                                                                       </a:t>
                </a:r>
                <a14:m>
                  <m:oMath xmlns:m="http://schemas.openxmlformats.org/officeDocument/2006/math">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f>
                          <m:fPr>
                            <m:ctrlPr>
                              <a:rPr lang="en-IN" sz="2000" b="1" i="1">
                                <a:solidFill>
                                  <a:srgbClr val="002060"/>
                                </a:solidFill>
                                <a:latin typeface="Cambria Math"/>
                                <a:cs typeface="Times New Roman" panose="02020603050405020304" pitchFamily="18" charset="0"/>
                              </a:rPr>
                            </m:ctrlPr>
                          </m:fPr>
                          <m:num>
                            <m:r>
                              <a:rPr lang="en-IN" sz="2000" b="1" i="1">
                                <a:solidFill>
                                  <a:srgbClr val="002060"/>
                                </a:solidFill>
                                <a:latin typeface="Cambria Math" panose="02040503050406030204" pitchFamily="18" charset="0"/>
                                <a:cs typeface="Times New Roman" panose="02020603050405020304" pitchFamily="18" charset="0"/>
                              </a:rPr>
                              <m:t>𝒏</m:t>
                            </m:r>
                          </m:num>
                          <m:den>
                            <m:r>
                              <a:rPr lang="en-IN" sz="2000" b="1" i="1" smtClean="0">
                                <a:solidFill>
                                  <a:srgbClr val="002060"/>
                                </a:solidFill>
                                <a:latin typeface="Cambria Math" panose="02040503050406030204" pitchFamily="18" charset="0"/>
                                <a:cs typeface="Times New Roman" panose="02020603050405020304" pitchFamily="18" charset="0"/>
                              </a:rPr>
                              <m:t>𝟒</m:t>
                            </m:r>
                          </m:den>
                        </m:f>
                      </m:e>
                    </m:d>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oMath>
                </a14:m>
                <a:r>
                  <a:rPr lang="en-IN" sz="2000" b="1" dirty="0" smtClean="0">
                    <a:solidFill>
                      <a:srgbClr val="00B0F0"/>
                    </a:solidFill>
                    <a:latin typeface="Times New Roman" panose="02020603050405020304" pitchFamily="18" charset="0"/>
                    <a:cs typeface="Times New Roman" panose="02020603050405020304" pitchFamily="18" charset="0"/>
                  </a:rPr>
                  <a:t>=</a:t>
                </a:r>
                <a:r>
                  <a:rPr lang="en-IN" sz="2000" b="1" dirty="0">
                    <a:solidFill>
                      <a:srgbClr val="002060"/>
                    </a:solidFill>
                    <a:cs typeface="Times New Roman" panose="02020603050405020304" pitchFamily="18" charset="0"/>
                  </a:rPr>
                  <a:t> </a:t>
                </a:r>
                <a14:m>
                  <m:oMath xmlns:m="http://schemas.openxmlformats.org/officeDocument/2006/math">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f>
                          <m:fPr>
                            <m:ctrlPr>
                              <a:rPr lang="en-IN" sz="2000" b="1" i="1">
                                <a:solidFill>
                                  <a:srgbClr val="002060"/>
                                </a:solidFill>
                                <a:latin typeface="Cambria Math"/>
                                <a:cs typeface="Times New Roman" panose="02020603050405020304" pitchFamily="18" charset="0"/>
                              </a:rPr>
                            </m:ctrlPr>
                          </m:fPr>
                          <m:num>
                            <m:r>
                              <a:rPr lang="en-IN" sz="2000" b="1" i="1">
                                <a:solidFill>
                                  <a:srgbClr val="002060"/>
                                </a:solidFill>
                                <a:latin typeface="Cambria Math" panose="02040503050406030204" pitchFamily="18" charset="0"/>
                                <a:cs typeface="Times New Roman" panose="02020603050405020304" pitchFamily="18" charset="0"/>
                              </a:rPr>
                              <m:t>𝒏</m:t>
                            </m:r>
                          </m:num>
                          <m:den>
                            <m:r>
                              <a:rPr lang="en-IN" sz="2000" b="1" i="1">
                                <a:solidFill>
                                  <a:srgbClr val="002060"/>
                                </a:solidFill>
                                <a:latin typeface="Cambria Math" panose="02040503050406030204" pitchFamily="18" charset="0"/>
                                <a:cs typeface="Times New Roman" panose="02020603050405020304" pitchFamily="18" charset="0"/>
                              </a:rPr>
                              <m:t>𝟐</m:t>
                            </m:r>
                            <m:r>
                              <a:rPr lang="en-IN" sz="2000" b="1" i="1" baseline="30000">
                                <a:solidFill>
                                  <a:srgbClr val="002060"/>
                                </a:solidFill>
                                <a:latin typeface="Cambria Math" panose="02040503050406030204" pitchFamily="18" charset="0"/>
                                <a:cs typeface="Times New Roman" panose="02020603050405020304" pitchFamily="18" charset="0"/>
                              </a:rPr>
                              <m:t>𝟐</m:t>
                            </m:r>
                          </m:den>
                        </m:f>
                      </m:e>
                    </m:d>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oMath>
                </a14:m>
                <a:endParaRPr lang="en-IN" sz="2000" b="1" dirty="0" smtClean="0">
                  <a:solidFill>
                    <a:srgbClr val="002060"/>
                  </a:solidFill>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T(n) =</a:t>
                </a:r>
                <a14:m>
                  <m:oMath xmlns:m="http://schemas.openxmlformats.org/officeDocument/2006/math">
                    <m:r>
                      <a:rPr lang="en-IN" sz="2000" b="1" i="0" smtClean="0">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𝟏</m:t>
                    </m:r>
                  </m:oMath>
                </a14:m>
                <a:r>
                  <a:rPr lang="en-IN" sz="2000" b="1" dirty="0" smtClean="0">
                    <a:solidFill>
                      <a:srgbClr val="002060"/>
                    </a:solidFill>
                    <a:cs typeface="Times New Roman" panose="02020603050405020304" pitchFamily="18" charset="0"/>
                  </a:rPr>
                  <a:t> </a:t>
                </a:r>
                <a14:m>
                  <m:oMath xmlns:m="http://schemas.openxmlformats.org/officeDocument/2006/math">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oMath>
                </a14:m>
                <a:r>
                  <a:rPr lang="en-IN" sz="2000" b="1" dirty="0" smtClean="0">
                    <a:solidFill>
                      <a:srgbClr val="002060"/>
                    </a:solidFill>
                    <a:cs typeface="Times New Roman" panose="02020603050405020304" pitchFamily="18" charset="0"/>
                  </a:rPr>
                  <a:t> </a:t>
                </a:r>
                <a14:m>
                  <m:oMath xmlns:m="http://schemas.openxmlformats.org/officeDocument/2006/math">
                    <m:r>
                      <a:rPr lang="en-IN" sz="2000" b="1" i="0" smtClean="0">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f>
                          <m:fPr>
                            <m:ctrlPr>
                              <a:rPr lang="en-IN" sz="2000" b="1" i="1" smtClean="0">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𝒏</m:t>
                            </m:r>
                          </m:num>
                          <m:den>
                            <m:r>
                              <a:rPr lang="en-IN" sz="2000" b="1" i="1" smtClean="0">
                                <a:solidFill>
                                  <a:srgbClr val="002060"/>
                                </a:solidFill>
                                <a:latin typeface="Cambria Math" panose="02040503050406030204" pitchFamily="18" charset="0"/>
                                <a:cs typeface="Times New Roman" panose="02020603050405020304" pitchFamily="18" charset="0"/>
                              </a:rPr>
                              <m:t>𝟐</m:t>
                            </m:r>
                            <m:r>
                              <a:rPr lang="en-IN" sz="2000" b="1" i="1" baseline="30000" smtClean="0">
                                <a:solidFill>
                                  <a:srgbClr val="002060"/>
                                </a:solidFill>
                                <a:latin typeface="Cambria Math" panose="02040503050406030204" pitchFamily="18" charset="0"/>
                                <a:cs typeface="Times New Roman" panose="02020603050405020304" pitchFamily="18" charset="0"/>
                              </a:rPr>
                              <m:t>𝟐</m:t>
                            </m:r>
                          </m:den>
                        </m:f>
                      </m:e>
                    </m:d>
                  </m:oMath>
                </a14:m>
                <a:r>
                  <a:rPr lang="en-IN" sz="2000" b="1" dirty="0" smtClean="0">
                    <a:solidFill>
                      <a:srgbClr val="002060"/>
                    </a:solidFill>
                    <a:latin typeface="Times New Roman" panose="02020603050405020304" pitchFamily="18" charset="0"/>
                    <a:cs typeface="Times New Roman" panose="02020603050405020304" pitchFamily="18" charset="0"/>
                  </a:rPr>
                  <a:t>= 2 +</a:t>
                </a:r>
                <a14:m>
                  <m:oMath xmlns:m="http://schemas.openxmlformats.org/officeDocument/2006/math">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f>
                          <m:fPr>
                            <m:ctrlPr>
                              <a:rPr lang="en-IN" sz="2000" b="1" i="1">
                                <a:solidFill>
                                  <a:srgbClr val="002060"/>
                                </a:solidFill>
                                <a:latin typeface="Cambria Math"/>
                                <a:cs typeface="Times New Roman" panose="02020603050405020304" pitchFamily="18" charset="0"/>
                              </a:rPr>
                            </m:ctrlPr>
                          </m:fPr>
                          <m:num>
                            <m:r>
                              <a:rPr lang="en-IN" sz="2000" b="1" i="1">
                                <a:solidFill>
                                  <a:srgbClr val="002060"/>
                                </a:solidFill>
                                <a:latin typeface="Cambria Math" panose="02040503050406030204" pitchFamily="18" charset="0"/>
                                <a:cs typeface="Times New Roman" panose="02020603050405020304" pitchFamily="18" charset="0"/>
                              </a:rPr>
                              <m:t>𝒏</m:t>
                            </m:r>
                          </m:num>
                          <m:den>
                            <m:r>
                              <a:rPr lang="en-IN" sz="2000" b="1" i="1">
                                <a:solidFill>
                                  <a:srgbClr val="002060"/>
                                </a:solidFill>
                                <a:latin typeface="Cambria Math" panose="02040503050406030204" pitchFamily="18" charset="0"/>
                                <a:cs typeface="Times New Roman" panose="02020603050405020304" pitchFamily="18" charset="0"/>
                              </a:rPr>
                              <m:t>𝟐</m:t>
                            </m:r>
                            <m:r>
                              <a:rPr lang="en-IN" sz="2000" b="1" i="1" baseline="30000">
                                <a:solidFill>
                                  <a:srgbClr val="002060"/>
                                </a:solidFill>
                                <a:latin typeface="Cambria Math" panose="02040503050406030204" pitchFamily="18" charset="0"/>
                                <a:cs typeface="Times New Roman" panose="02020603050405020304" pitchFamily="18" charset="0"/>
                              </a:rPr>
                              <m:t>𝟐</m:t>
                            </m:r>
                          </m:den>
                        </m:f>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14:m>
                  <m:oMath xmlns:m="http://schemas.openxmlformats.org/officeDocument/2006/math">
                    <m:r>
                      <m:rPr>
                        <m:nor/>
                      </m:rPr>
                      <a:rPr lang="en-IN" sz="2000" b="1" dirty="0">
                        <a:solidFill>
                          <a:srgbClr val="002060"/>
                        </a:solidFill>
                        <a:latin typeface="Times New Roman" panose="02020603050405020304" pitchFamily="18" charset="0"/>
                        <a:cs typeface="Times New Roman" panose="02020603050405020304" pitchFamily="18" charset="0"/>
                      </a:rPr>
                      <m:t>T</m:t>
                    </m:r>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𝟑</m:t>
                    </m:r>
                    <m:r>
                      <a:rPr lang="en-IN" sz="2000" b="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f>
                          <m:fPr>
                            <m:ctrlPr>
                              <a:rPr lang="en-IN" sz="2000" b="1" i="1">
                                <a:solidFill>
                                  <a:srgbClr val="002060"/>
                                </a:solidFill>
                                <a:latin typeface="Cambria Math"/>
                                <a:cs typeface="Times New Roman" panose="02020603050405020304" pitchFamily="18" charset="0"/>
                              </a:rPr>
                            </m:ctrlPr>
                          </m:fPr>
                          <m:num>
                            <m:r>
                              <a:rPr lang="en-IN" sz="2000" b="1" i="1">
                                <a:solidFill>
                                  <a:srgbClr val="002060"/>
                                </a:solidFill>
                                <a:latin typeface="Cambria Math" panose="02040503050406030204" pitchFamily="18" charset="0"/>
                                <a:cs typeface="Times New Roman" panose="02020603050405020304" pitchFamily="18" charset="0"/>
                              </a:rPr>
                              <m:t>𝒏</m:t>
                            </m:r>
                          </m:num>
                          <m:den>
                            <m:r>
                              <a:rPr lang="en-IN" sz="2000" b="1" i="1">
                                <a:solidFill>
                                  <a:srgbClr val="002060"/>
                                </a:solidFill>
                                <a:latin typeface="Cambria Math" panose="02040503050406030204" pitchFamily="18" charset="0"/>
                                <a:cs typeface="Times New Roman" panose="02020603050405020304" pitchFamily="18" charset="0"/>
                              </a:rPr>
                              <m:t>𝟐</m:t>
                            </m:r>
                            <m:r>
                              <a:rPr lang="en-IN" sz="2000" b="1" i="1" baseline="30000" smtClean="0">
                                <a:solidFill>
                                  <a:srgbClr val="002060"/>
                                </a:solidFill>
                                <a:latin typeface="Cambria Math" panose="02040503050406030204" pitchFamily="18" charset="0"/>
                                <a:cs typeface="Times New Roman" panose="02020603050405020304" pitchFamily="18" charset="0"/>
                              </a:rPr>
                              <m:t>𝟑</m:t>
                            </m:r>
                          </m:den>
                        </m:f>
                      </m:e>
                    </m:d>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oMath>
                </a14:m>
                <a:r>
                  <a:rPr lang="en-IN" sz="2000" b="1" dirty="0">
                    <a:solidFill>
                      <a:srgbClr val="00B0F0"/>
                    </a:solidFill>
                    <a:latin typeface="Times New Roman" panose="02020603050405020304" pitchFamily="18" charset="0"/>
                    <a:cs typeface="Times New Roman" panose="02020603050405020304" pitchFamily="18" charset="0"/>
                  </a:rPr>
                  <a:t>=</a:t>
                </a:r>
                <a14:m>
                  <m:oMath xmlns:m="http://schemas.openxmlformats.org/officeDocument/2006/math">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f>
                          <m:fPr>
                            <m:ctrlPr>
                              <a:rPr lang="en-IN" sz="2000" b="1" i="1">
                                <a:solidFill>
                                  <a:srgbClr val="002060"/>
                                </a:solidFill>
                                <a:latin typeface="Cambria Math"/>
                                <a:cs typeface="Times New Roman" panose="02020603050405020304" pitchFamily="18" charset="0"/>
                              </a:rPr>
                            </m:ctrlPr>
                          </m:fPr>
                          <m:num>
                            <m:r>
                              <a:rPr lang="en-IN" sz="2000" b="1" i="1">
                                <a:solidFill>
                                  <a:srgbClr val="002060"/>
                                </a:solidFill>
                                <a:latin typeface="Cambria Math" panose="02040503050406030204" pitchFamily="18" charset="0"/>
                                <a:cs typeface="Times New Roman" panose="02020603050405020304" pitchFamily="18" charset="0"/>
                              </a:rPr>
                              <m:t>𝒏</m:t>
                            </m:r>
                          </m:num>
                          <m:den>
                            <m:r>
                              <a:rPr lang="en-IN" sz="2000" b="1" i="1">
                                <a:solidFill>
                                  <a:srgbClr val="002060"/>
                                </a:solidFill>
                                <a:latin typeface="Cambria Math" panose="02040503050406030204" pitchFamily="18" charset="0"/>
                                <a:cs typeface="Times New Roman" panose="02020603050405020304" pitchFamily="18" charset="0"/>
                              </a:rPr>
                              <m:t>𝟐</m:t>
                            </m:r>
                            <m:r>
                              <a:rPr lang="en-IN" sz="2000" b="1" i="1" baseline="30000">
                                <a:solidFill>
                                  <a:srgbClr val="002060"/>
                                </a:solidFill>
                                <a:latin typeface="Cambria Math" panose="02040503050406030204" pitchFamily="18" charset="0"/>
                                <a:cs typeface="Times New Roman" panose="02020603050405020304" pitchFamily="18" charset="0"/>
                              </a:rPr>
                              <m:t>𝟑</m:t>
                            </m:r>
                          </m:den>
                        </m:f>
                      </m:e>
                    </m:d>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oMath>
                </a14:m>
                <a:endParaRPr lang="en-IN" sz="2000" b="1" dirty="0">
                  <a:solidFill>
                    <a:srgbClr val="002060"/>
                  </a:solidFill>
                  <a:cs typeface="Times New Roman" panose="02020603050405020304" pitchFamily="18" charset="0"/>
                </a:endParaRPr>
              </a:p>
              <a:p>
                <a:pPr algn="just"/>
                <a:r>
                  <a:rPr lang="en-IN" sz="2000" b="1" dirty="0" smtClean="0">
                    <a:solidFill>
                      <a:srgbClr val="00B0F0"/>
                    </a:solidFill>
                    <a:latin typeface="Times New Roman" panose="02020603050405020304" pitchFamily="18" charset="0"/>
                    <a:cs typeface="Times New Roman" panose="02020603050405020304" pitchFamily="18" charset="0"/>
                  </a:rPr>
                  <a:t>;</a:t>
                </a:r>
              </a:p>
              <a:p>
                <a:pPr algn="just"/>
                <a:r>
                  <a:rPr lang="en-IN" sz="2000" b="1" dirty="0" smtClean="0">
                    <a:solidFill>
                      <a:srgbClr val="00B0F0"/>
                    </a:solidFill>
                    <a:latin typeface="Times New Roman" panose="02020603050405020304" pitchFamily="18" charset="0"/>
                    <a:cs typeface="Times New Roman" panose="02020603050405020304" pitchFamily="18" charset="0"/>
                  </a:rPr>
                  <a:t>;</a:t>
                </a:r>
              </a:p>
              <a:p>
                <a:pPr algn="just">
                  <a:spcBef>
                    <a:spcPts val="0"/>
                  </a:spcBef>
                </a:pPr>
                <a:r>
                  <a:rPr lang="en-IN" sz="2000" b="1" dirty="0">
                    <a:solidFill>
                      <a:srgbClr val="002060"/>
                    </a:solidFill>
                    <a:latin typeface="Times New Roman" panose="02020603050405020304" pitchFamily="18" charset="0"/>
                    <a:cs typeface="Times New Roman" panose="02020603050405020304" pitchFamily="18" charset="0"/>
                  </a:rPr>
                  <a:t>T(n) =</a:t>
                </a:r>
                <a:r>
                  <a:rPr lang="en-IN" sz="2000" b="1" dirty="0" smtClean="0">
                    <a:solidFill>
                      <a:srgbClr val="002060"/>
                    </a:solidFill>
                    <a:latin typeface="Times New Roman" panose="02020603050405020304" pitchFamily="18" charset="0"/>
                    <a:cs typeface="Times New Roman" panose="02020603050405020304" pitchFamily="18" charset="0"/>
                  </a:rPr>
                  <a:t>i</a:t>
                </a:r>
                <a14:m>
                  <m:oMath xmlns:m="http://schemas.openxmlformats.org/officeDocument/2006/math">
                    <m:r>
                      <a:rPr lang="en-IN" sz="3200" b="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f>
                          <m:fPr>
                            <m:ctrlPr>
                              <a:rPr lang="en-IN" sz="2000" b="1" i="1">
                                <a:solidFill>
                                  <a:srgbClr val="002060"/>
                                </a:solidFill>
                                <a:latin typeface="Cambria Math"/>
                                <a:cs typeface="Times New Roman" panose="02020603050405020304" pitchFamily="18" charset="0"/>
                              </a:rPr>
                            </m:ctrlPr>
                          </m:fPr>
                          <m:num>
                            <m:r>
                              <a:rPr lang="en-IN" sz="2000" b="1" i="1">
                                <a:solidFill>
                                  <a:srgbClr val="002060"/>
                                </a:solidFill>
                                <a:latin typeface="Cambria Math" panose="02040503050406030204" pitchFamily="18" charset="0"/>
                                <a:cs typeface="Times New Roman" panose="02020603050405020304" pitchFamily="18" charset="0"/>
                              </a:rPr>
                              <m:t>𝒏</m:t>
                            </m:r>
                          </m:num>
                          <m:den>
                            <m:r>
                              <a:rPr lang="en-IN" sz="2000" b="1" i="1">
                                <a:solidFill>
                                  <a:srgbClr val="002060"/>
                                </a:solidFill>
                                <a:latin typeface="Cambria Math" panose="02040503050406030204" pitchFamily="18" charset="0"/>
                                <a:cs typeface="Times New Roman" panose="02020603050405020304" pitchFamily="18" charset="0"/>
                              </a:rPr>
                              <m:t>𝟐</m:t>
                            </m:r>
                            <m:r>
                              <a:rPr lang="en-IN" sz="2000" b="1" i="1" baseline="30000" smtClean="0">
                                <a:solidFill>
                                  <a:srgbClr val="002060"/>
                                </a:solidFill>
                                <a:latin typeface="Cambria Math" panose="02040503050406030204" pitchFamily="18" charset="0"/>
                                <a:cs typeface="Times New Roman" panose="02020603050405020304" pitchFamily="18" charset="0"/>
                              </a:rPr>
                              <m:t>𝒊</m:t>
                            </m:r>
                          </m:den>
                        </m:f>
                      </m:e>
                    </m:d>
                  </m:oMath>
                </a14:m>
                <a:endParaRPr lang="en-IN" sz="2000" b="1" dirty="0" smtClean="0">
                  <a:solidFill>
                    <a:srgbClr val="00B0F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T(n)= </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 T(1)      replace </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by </a:t>
                </a:r>
                <a14:m>
                  <m:oMath xmlns:m="http://schemas.openxmlformats.org/officeDocument/2006/math">
                    <m:r>
                      <m:rPr>
                        <m:nor/>
                      </m:rPr>
                      <a:rPr lang="en-IN" sz="2000" b="1" dirty="0">
                        <a:solidFill>
                          <a:srgbClr val="002060"/>
                        </a:solidFill>
                        <a:latin typeface="Times New Roman" panose="02020603050405020304" pitchFamily="18" charset="0"/>
                        <a:cs typeface="Times New Roman" panose="02020603050405020304" pitchFamily="18" charset="0"/>
                      </a:rPr>
                      <m:t>log</m:t>
                    </m:r>
                    <m:r>
                      <m:rPr>
                        <m:nor/>
                      </m:rPr>
                      <a:rPr lang="en-IN" sz="2000" b="1" baseline="-25000" dirty="0">
                        <a:solidFill>
                          <a:srgbClr val="002060"/>
                        </a:solidFill>
                        <a:latin typeface="Times New Roman" panose="02020603050405020304" pitchFamily="18" charset="0"/>
                        <a:cs typeface="Times New Roman" panose="02020603050405020304" pitchFamily="18" charset="0"/>
                      </a:rPr>
                      <m:t>2</m:t>
                    </m:r>
                    <m:r>
                      <m:rPr>
                        <m:nor/>
                      </m:rPr>
                      <a:rPr lang="en-IN" sz="2000" b="1" dirty="0">
                        <a:solidFill>
                          <a:srgbClr val="002060"/>
                        </a:solidFill>
                        <a:latin typeface="Times New Roman" panose="02020603050405020304" pitchFamily="18" charset="0"/>
                        <a:cs typeface="Times New Roman" panose="02020603050405020304" pitchFamily="18" charset="0"/>
                      </a:rPr>
                      <m:t>n</m:t>
                    </m:r>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T(n)= </a:t>
                </a:r>
                <a14:m>
                  <m:oMath xmlns:m="http://schemas.openxmlformats.org/officeDocument/2006/math">
                    <m:r>
                      <m:rPr>
                        <m:nor/>
                      </m:rPr>
                      <a:rPr lang="en-IN" sz="2000" b="1" dirty="0">
                        <a:solidFill>
                          <a:srgbClr val="002060"/>
                        </a:solidFill>
                        <a:latin typeface="Times New Roman" panose="02020603050405020304" pitchFamily="18" charset="0"/>
                        <a:cs typeface="Times New Roman" panose="02020603050405020304" pitchFamily="18" charset="0"/>
                      </a:rPr>
                      <m:t>log</m:t>
                    </m:r>
                    <m:r>
                      <m:rPr>
                        <m:nor/>
                      </m:rPr>
                      <a:rPr lang="en-IN" sz="2000" b="1" baseline="-25000" dirty="0">
                        <a:solidFill>
                          <a:srgbClr val="002060"/>
                        </a:solidFill>
                        <a:latin typeface="Times New Roman" panose="02020603050405020304" pitchFamily="18" charset="0"/>
                        <a:cs typeface="Times New Roman" panose="02020603050405020304" pitchFamily="18" charset="0"/>
                      </a:rPr>
                      <m:t>2</m:t>
                    </m:r>
                    <m:r>
                      <m:rPr>
                        <m:nor/>
                      </m:rPr>
                      <a:rPr lang="en-IN" sz="2000" b="1" dirty="0">
                        <a:solidFill>
                          <a:srgbClr val="002060"/>
                        </a:solidFill>
                        <a:latin typeface="Times New Roman" panose="02020603050405020304" pitchFamily="18" charset="0"/>
                        <a:cs typeface="Times New Roman" panose="02020603050405020304" pitchFamily="18" charset="0"/>
                      </a:rPr>
                      <m:t>n</m:t>
                    </m:r>
                  </m:oMath>
                </a14:m>
                <a:r>
                  <a:rPr lang="en-IN" sz="2000" b="1" dirty="0" smtClean="0">
                    <a:solidFill>
                      <a:srgbClr val="002060"/>
                    </a:solidFill>
                    <a:latin typeface="Times New Roman" panose="02020603050405020304" pitchFamily="18" charset="0"/>
                    <a:cs typeface="Times New Roman" panose="02020603050405020304" pitchFamily="18" charset="0"/>
                  </a:rPr>
                  <a:t> + 1</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err="1" smtClean="0">
                    <a:solidFill>
                      <a:srgbClr val="002060"/>
                    </a:solidFill>
                    <a:latin typeface="Times New Roman" panose="02020603050405020304" pitchFamily="18" charset="0"/>
                    <a:cs typeface="Times New Roman" panose="02020603050405020304" pitchFamily="18" charset="0"/>
                  </a:rPr>
                  <a:t>Tworst</a:t>
                </a:r>
                <a:r>
                  <a:rPr lang="en-IN" sz="2000" b="1" dirty="0" smtClean="0">
                    <a:solidFill>
                      <a:srgbClr val="002060"/>
                    </a:solidFill>
                    <a:latin typeface="Times New Roman" panose="02020603050405020304" pitchFamily="18" charset="0"/>
                    <a:cs typeface="Times New Roman" panose="02020603050405020304" pitchFamily="18" charset="0"/>
                  </a:rPr>
                  <a:t>(n)= (</a:t>
                </a:r>
                <a14:m>
                  <m:oMath xmlns:m="http://schemas.openxmlformats.org/officeDocument/2006/math">
                    <m:r>
                      <m:rPr>
                        <m:nor/>
                      </m:rPr>
                      <a:rPr lang="en-IN" sz="2000" b="1" dirty="0">
                        <a:solidFill>
                          <a:srgbClr val="002060"/>
                        </a:solidFill>
                        <a:latin typeface="Times New Roman" panose="02020603050405020304" pitchFamily="18" charset="0"/>
                        <a:cs typeface="Times New Roman" panose="02020603050405020304" pitchFamily="18" charset="0"/>
                      </a:rPr>
                      <m:t>log</m:t>
                    </m:r>
                    <m:r>
                      <m:rPr>
                        <m:nor/>
                      </m:rPr>
                      <a:rPr lang="en-IN" sz="2000" b="1" baseline="-25000" dirty="0">
                        <a:solidFill>
                          <a:srgbClr val="002060"/>
                        </a:solidFill>
                        <a:latin typeface="Times New Roman" panose="02020603050405020304" pitchFamily="18" charset="0"/>
                        <a:cs typeface="Times New Roman" panose="02020603050405020304" pitchFamily="18" charset="0"/>
                      </a:rPr>
                      <m:t>2</m:t>
                    </m:r>
                    <m:r>
                      <m:rPr>
                        <m:nor/>
                      </m:rPr>
                      <a:rPr lang="en-IN" sz="2000" b="1" dirty="0">
                        <a:solidFill>
                          <a:srgbClr val="002060"/>
                        </a:solidFill>
                        <a:latin typeface="Times New Roman" panose="02020603050405020304" pitchFamily="18" charset="0"/>
                        <a:cs typeface="Times New Roman" panose="02020603050405020304" pitchFamily="18" charset="0"/>
                      </a:rPr>
                      <m:t>n</m:t>
                    </m:r>
                  </m:oMath>
                </a14:m>
                <a:r>
                  <a:rPr lang="en-IN" sz="2000" b="1" dirty="0" smtClean="0">
                    <a:solidFill>
                      <a:srgbClr val="002060"/>
                    </a:solidFill>
                    <a:latin typeface="Times New Roman" panose="02020603050405020304" pitchFamily="18" charset="0"/>
                    <a:cs typeface="Times New Roman" panose="02020603050405020304" pitchFamily="18" charset="0"/>
                  </a:rPr>
                  <a:t>)</a:t>
                </a:r>
                <a:endParaRPr lang="en-IN" sz="2000" b="1" dirty="0" smtClean="0">
                  <a:solidFill>
                    <a:srgbClr val="00B0F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0" y="862740"/>
                <a:ext cx="12315217" cy="5493610"/>
              </a:xfrm>
              <a:blipFill rotWithShape="0">
                <a:blip r:embed="rId3"/>
                <a:stretch>
                  <a:fillRect l="-743" t="-1554" b="-88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30</a:t>
            </a:fld>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9" name="Elbow Connector 8"/>
          <p:cNvCxnSpPr/>
          <p:nvPr/>
        </p:nvCxnSpPr>
        <p:spPr>
          <a:xfrm>
            <a:off x="780121" y="2070682"/>
            <a:ext cx="4210168" cy="297877"/>
          </a:xfrm>
          <a:prstGeom prst="bentConnector3">
            <a:avLst>
              <a:gd name="adj1" fmla="val 2403"/>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2042526" y="1949903"/>
                <a:ext cx="2678441" cy="414729"/>
              </a:xfrm>
              <a:prstGeom prst="rect">
                <a:avLst/>
              </a:prstGeom>
              <a:noFill/>
              <a:ln>
                <a:noFill/>
              </a:ln>
            </p:spPr>
            <p:txBody>
              <a:bodyPr wrap="square" rtlCol="0">
                <a:spAutoFit/>
              </a:bodyPr>
              <a:lstStyle/>
              <a:p>
                <a:r>
                  <a:rPr lang="en-IN" sz="1400" b="1" dirty="0" smtClean="0">
                    <a:solidFill>
                      <a:srgbClr val="FF0000"/>
                    </a:solidFill>
                    <a:latin typeface="Times New Roman" panose="02020603050405020304" pitchFamily="18" charset="0"/>
                    <a:cs typeface="Times New Roman" panose="02020603050405020304" pitchFamily="18" charset="0"/>
                  </a:rPr>
                  <a:t>Replace</a:t>
                </a:r>
                <a14:m>
                  <m:oMath xmlns:m="http://schemas.openxmlformats.org/officeDocument/2006/math">
                    <m:r>
                      <a:rPr lang="en-IN" sz="1400" b="1" i="1">
                        <a:solidFill>
                          <a:srgbClr val="002060"/>
                        </a:solidFill>
                        <a:latin typeface="Cambria Math" panose="02040503050406030204" pitchFamily="18" charset="0"/>
                        <a:cs typeface="Times New Roman" panose="02020603050405020304" pitchFamily="18" charset="0"/>
                      </a:rPr>
                      <m:t>𝑻</m:t>
                    </m:r>
                    <m:d>
                      <m:dPr>
                        <m:ctrlPr>
                          <a:rPr lang="en-IN" sz="1400" b="1" i="1">
                            <a:solidFill>
                              <a:srgbClr val="002060"/>
                            </a:solidFill>
                            <a:latin typeface="Cambria Math"/>
                            <a:cs typeface="Times New Roman" panose="02020603050405020304" pitchFamily="18" charset="0"/>
                          </a:rPr>
                        </m:ctrlPr>
                      </m:dPr>
                      <m:e>
                        <m:f>
                          <m:fPr>
                            <m:ctrlPr>
                              <a:rPr lang="en-IN" sz="1400" b="1" i="1">
                                <a:solidFill>
                                  <a:srgbClr val="002060"/>
                                </a:solidFill>
                                <a:latin typeface="Cambria Math"/>
                                <a:cs typeface="Times New Roman" panose="02020603050405020304" pitchFamily="18" charset="0"/>
                              </a:rPr>
                            </m:ctrlPr>
                          </m:fPr>
                          <m:num>
                            <m:r>
                              <a:rPr lang="en-IN" sz="1400" b="1" i="1">
                                <a:solidFill>
                                  <a:srgbClr val="002060"/>
                                </a:solidFill>
                                <a:latin typeface="Cambria Math" panose="02040503050406030204" pitchFamily="18" charset="0"/>
                                <a:cs typeface="Times New Roman" panose="02020603050405020304" pitchFamily="18" charset="0"/>
                              </a:rPr>
                              <m:t>𝒏</m:t>
                            </m:r>
                          </m:num>
                          <m:den>
                            <m:r>
                              <a:rPr lang="en-IN" sz="1400" b="1" i="1">
                                <a:solidFill>
                                  <a:srgbClr val="002060"/>
                                </a:solidFill>
                                <a:latin typeface="Cambria Math" panose="02040503050406030204" pitchFamily="18" charset="0"/>
                                <a:cs typeface="Times New Roman" panose="02020603050405020304" pitchFamily="18" charset="0"/>
                              </a:rPr>
                              <m:t>𝟐</m:t>
                            </m:r>
                          </m:den>
                        </m:f>
                      </m:e>
                    </m:d>
                  </m:oMath>
                </a14:m>
                <a:r>
                  <a:rPr lang="en-IN" sz="1400" b="1" dirty="0" smtClean="0">
                    <a:solidFill>
                      <a:srgbClr val="FF0000"/>
                    </a:solidFill>
                    <a:latin typeface="Times New Roman" panose="02020603050405020304" pitchFamily="18" charset="0"/>
                    <a:cs typeface="Times New Roman" panose="02020603050405020304" pitchFamily="18" charset="0"/>
                  </a:rPr>
                  <a:t> by </a:t>
                </a:r>
                <a14:m>
                  <m:oMath xmlns:m="http://schemas.openxmlformats.org/officeDocument/2006/math">
                    <m:r>
                      <a:rPr lang="en-IN" sz="1400" b="1" i="1">
                        <a:solidFill>
                          <a:srgbClr val="002060"/>
                        </a:solidFill>
                        <a:latin typeface="Cambria Math" panose="02040503050406030204" pitchFamily="18" charset="0"/>
                        <a:cs typeface="Times New Roman" panose="02020603050405020304" pitchFamily="18" charset="0"/>
                      </a:rPr>
                      <m:t>𝑻</m:t>
                    </m:r>
                    <m:d>
                      <m:dPr>
                        <m:ctrlPr>
                          <a:rPr lang="en-IN" sz="1400" b="1" i="1">
                            <a:solidFill>
                              <a:srgbClr val="002060"/>
                            </a:solidFill>
                            <a:latin typeface="Cambria Math"/>
                            <a:cs typeface="Times New Roman" panose="02020603050405020304" pitchFamily="18" charset="0"/>
                          </a:rPr>
                        </m:ctrlPr>
                      </m:dPr>
                      <m:e>
                        <m:f>
                          <m:fPr>
                            <m:ctrlPr>
                              <a:rPr lang="en-IN" sz="1400" b="1" i="1">
                                <a:solidFill>
                                  <a:srgbClr val="002060"/>
                                </a:solidFill>
                                <a:latin typeface="Cambria Math"/>
                                <a:cs typeface="Times New Roman" panose="02020603050405020304" pitchFamily="18" charset="0"/>
                              </a:rPr>
                            </m:ctrlPr>
                          </m:fPr>
                          <m:num>
                            <m:r>
                              <a:rPr lang="en-IN" sz="1400" b="1" i="1">
                                <a:solidFill>
                                  <a:srgbClr val="002060"/>
                                </a:solidFill>
                                <a:latin typeface="Cambria Math" panose="02040503050406030204" pitchFamily="18" charset="0"/>
                                <a:cs typeface="Times New Roman" panose="02020603050405020304" pitchFamily="18" charset="0"/>
                              </a:rPr>
                              <m:t>𝒏</m:t>
                            </m:r>
                          </m:num>
                          <m:den>
                            <m:r>
                              <a:rPr lang="en-IN" sz="1400" b="1" i="1" smtClean="0">
                                <a:solidFill>
                                  <a:srgbClr val="002060"/>
                                </a:solidFill>
                                <a:latin typeface="Cambria Math" panose="02040503050406030204" pitchFamily="18" charset="0"/>
                                <a:cs typeface="Times New Roman" panose="02020603050405020304" pitchFamily="18" charset="0"/>
                              </a:rPr>
                              <m:t>𝟒</m:t>
                            </m:r>
                          </m:den>
                        </m:f>
                      </m:e>
                    </m:d>
                    <m:r>
                      <a:rPr lang="en-IN" sz="1400" b="1" i="1">
                        <a:solidFill>
                          <a:srgbClr val="FF0000"/>
                        </a:solidFill>
                        <a:latin typeface="Cambria Math" panose="02040503050406030204" pitchFamily="18" charset="0"/>
                        <a:cs typeface="Times New Roman" panose="02020603050405020304" pitchFamily="18" charset="0"/>
                      </a:rPr>
                      <m:t>+</m:t>
                    </m:r>
                    <m:r>
                      <a:rPr lang="en-IN" sz="1400" b="1" i="1">
                        <a:solidFill>
                          <a:srgbClr val="FF0000"/>
                        </a:solidFill>
                        <a:latin typeface="Cambria Math" panose="02040503050406030204" pitchFamily="18" charset="0"/>
                        <a:cs typeface="Times New Roman" panose="02020603050405020304" pitchFamily="18" charset="0"/>
                      </a:rPr>
                      <m:t>𝟏</m:t>
                    </m:r>
                  </m:oMath>
                </a14:m>
                <a:endParaRPr lang="en-IN" sz="2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2042526" y="1949903"/>
                <a:ext cx="2678441" cy="414729"/>
              </a:xfrm>
              <a:prstGeom prst="rect">
                <a:avLst/>
              </a:prstGeom>
              <a:blipFill rotWithShape="0">
                <a:blip r:embed="rId6"/>
                <a:stretch>
                  <a:fillRect l="-683" b="-1471"/>
                </a:stretch>
              </a:blipFill>
              <a:ln>
                <a:noFill/>
              </a:ln>
            </p:spPr>
            <p:txBody>
              <a:bodyPr/>
              <a:lstStyle/>
              <a:p>
                <a:r>
                  <a:rPr lang="en-IN">
                    <a:noFill/>
                  </a:rPr>
                  <a:t> </a:t>
                </a:r>
              </a:p>
            </p:txBody>
          </p:sp>
        </mc:Fallback>
      </mc:AlternateContent>
      <p:cxnSp>
        <p:nvCxnSpPr>
          <p:cNvPr id="20" name="Elbow Connector 19"/>
          <p:cNvCxnSpPr/>
          <p:nvPr/>
        </p:nvCxnSpPr>
        <p:spPr>
          <a:xfrm>
            <a:off x="1476316" y="3810212"/>
            <a:ext cx="4210168" cy="297877"/>
          </a:xfrm>
          <a:prstGeom prst="bentConnector3">
            <a:avLst>
              <a:gd name="adj1" fmla="val 2403"/>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p:cNvSpPr txBox="1"/>
              <p:nvPr/>
            </p:nvSpPr>
            <p:spPr>
              <a:xfrm>
                <a:off x="2885205" y="3621833"/>
                <a:ext cx="3204310" cy="506870"/>
              </a:xfrm>
              <a:prstGeom prst="rect">
                <a:avLst/>
              </a:prstGeom>
              <a:noFill/>
              <a:ln>
                <a:noFill/>
              </a:ln>
            </p:spPr>
            <p:txBody>
              <a:bodyPr wrap="square" rtlCol="0">
                <a:spAutoFit/>
              </a:bodyPr>
              <a:lstStyle/>
              <a:p>
                <a:r>
                  <a:rPr lang="en-IN" sz="1400" b="1" dirty="0" smtClean="0">
                    <a:solidFill>
                      <a:srgbClr val="FF0000"/>
                    </a:solidFill>
                    <a:latin typeface="Times New Roman" panose="02020603050405020304" pitchFamily="18" charset="0"/>
                    <a:cs typeface="Times New Roman" panose="02020603050405020304" pitchFamily="18" charset="0"/>
                  </a:rPr>
                  <a:t>Replace</a:t>
                </a:r>
                <a14:m>
                  <m:oMath xmlns:m="http://schemas.openxmlformats.org/officeDocument/2006/math">
                    <m:r>
                      <a:rPr lang="en-IN" b="1" i="0" smtClean="0">
                        <a:solidFill>
                          <a:srgbClr val="002060"/>
                        </a:solidFill>
                        <a:latin typeface="Cambria Math" panose="02040503050406030204" pitchFamily="18" charset="0"/>
                        <a:cs typeface="Times New Roman" panose="02020603050405020304" pitchFamily="18" charset="0"/>
                      </a:rPr>
                      <m:t> </m:t>
                    </m:r>
                    <m:r>
                      <a:rPr lang="en-IN" b="1" i="1">
                        <a:solidFill>
                          <a:srgbClr val="002060"/>
                        </a:solidFill>
                        <a:latin typeface="Cambria Math" panose="02040503050406030204" pitchFamily="18" charset="0"/>
                        <a:cs typeface="Times New Roman" panose="02020603050405020304" pitchFamily="18" charset="0"/>
                      </a:rPr>
                      <m:t>𝑻</m:t>
                    </m:r>
                    <m:d>
                      <m:dPr>
                        <m:ctrlPr>
                          <a:rPr lang="en-IN" b="1" i="1">
                            <a:solidFill>
                              <a:srgbClr val="002060"/>
                            </a:solidFill>
                            <a:latin typeface="Cambria Math"/>
                            <a:cs typeface="Times New Roman" panose="02020603050405020304" pitchFamily="18" charset="0"/>
                          </a:rPr>
                        </m:ctrlPr>
                      </m:dPr>
                      <m:e>
                        <m:f>
                          <m:fPr>
                            <m:ctrlPr>
                              <a:rPr lang="en-IN" b="1" i="1">
                                <a:solidFill>
                                  <a:srgbClr val="002060"/>
                                </a:solidFill>
                                <a:latin typeface="Cambria Math"/>
                                <a:cs typeface="Times New Roman" panose="02020603050405020304" pitchFamily="18" charset="0"/>
                              </a:rPr>
                            </m:ctrlPr>
                          </m:fPr>
                          <m:num>
                            <m:r>
                              <a:rPr lang="en-IN" b="1" i="1">
                                <a:solidFill>
                                  <a:srgbClr val="002060"/>
                                </a:solidFill>
                                <a:latin typeface="Cambria Math" panose="02040503050406030204" pitchFamily="18" charset="0"/>
                                <a:cs typeface="Times New Roman" panose="02020603050405020304" pitchFamily="18" charset="0"/>
                              </a:rPr>
                              <m:t>𝒏</m:t>
                            </m:r>
                          </m:num>
                          <m:den>
                            <m:r>
                              <a:rPr lang="en-IN" b="1" i="1">
                                <a:solidFill>
                                  <a:srgbClr val="002060"/>
                                </a:solidFill>
                                <a:latin typeface="Cambria Math" panose="02040503050406030204" pitchFamily="18" charset="0"/>
                                <a:cs typeface="Times New Roman" panose="02020603050405020304" pitchFamily="18" charset="0"/>
                              </a:rPr>
                              <m:t>𝟐</m:t>
                            </m:r>
                            <m:r>
                              <a:rPr lang="en-IN" b="1" i="1" baseline="30000" smtClean="0">
                                <a:solidFill>
                                  <a:srgbClr val="002060"/>
                                </a:solidFill>
                                <a:latin typeface="Cambria Math" panose="02040503050406030204" pitchFamily="18" charset="0"/>
                                <a:cs typeface="Times New Roman" panose="02020603050405020304" pitchFamily="18" charset="0"/>
                              </a:rPr>
                              <m:t>𝟐</m:t>
                            </m:r>
                          </m:den>
                        </m:f>
                      </m:e>
                    </m:d>
                    <m:r>
                      <a:rPr lang="en-IN" b="1" i="1" smtClean="0">
                        <a:solidFill>
                          <a:srgbClr val="FF0000"/>
                        </a:solidFill>
                        <a:latin typeface="Cambria Math" panose="02040503050406030204" pitchFamily="18" charset="0"/>
                        <a:cs typeface="Times New Roman" panose="02020603050405020304" pitchFamily="18" charset="0"/>
                      </a:rPr>
                      <m:t>𝒃𝒚</m:t>
                    </m:r>
                    <m:r>
                      <a:rPr lang="en-IN" b="1" i="1">
                        <a:solidFill>
                          <a:srgbClr val="002060"/>
                        </a:solidFill>
                        <a:latin typeface="Cambria Math" panose="02040503050406030204" pitchFamily="18" charset="0"/>
                        <a:cs typeface="Times New Roman" panose="02020603050405020304" pitchFamily="18" charset="0"/>
                      </a:rPr>
                      <m:t>𝑻</m:t>
                    </m:r>
                    <m:d>
                      <m:dPr>
                        <m:ctrlPr>
                          <a:rPr lang="en-IN" b="1" i="1">
                            <a:solidFill>
                              <a:srgbClr val="002060"/>
                            </a:solidFill>
                            <a:latin typeface="Cambria Math"/>
                            <a:cs typeface="Times New Roman" panose="02020603050405020304" pitchFamily="18" charset="0"/>
                          </a:rPr>
                        </m:ctrlPr>
                      </m:dPr>
                      <m:e>
                        <m:f>
                          <m:fPr>
                            <m:ctrlPr>
                              <a:rPr lang="en-IN" b="1" i="1">
                                <a:solidFill>
                                  <a:srgbClr val="002060"/>
                                </a:solidFill>
                                <a:latin typeface="Cambria Math"/>
                                <a:cs typeface="Times New Roman" panose="02020603050405020304" pitchFamily="18" charset="0"/>
                              </a:rPr>
                            </m:ctrlPr>
                          </m:fPr>
                          <m:num>
                            <m:r>
                              <a:rPr lang="en-IN" b="1" i="1">
                                <a:solidFill>
                                  <a:srgbClr val="002060"/>
                                </a:solidFill>
                                <a:latin typeface="Cambria Math" panose="02040503050406030204" pitchFamily="18" charset="0"/>
                                <a:cs typeface="Times New Roman" panose="02020603050405020304" pitchFamily="18" charset="0"/>
                              </a:rPr>
                              <m:t>𝒏</m:t>
                            </m:r>
                          </m:num>
                          <m:den>
                            <m:r>
                              <a:rPr lang="en-IN" b="1" i="1">
                                <a:solidFill>
                                  <a:srgbClr val="002060"/>
                                </a:solidFill>
                                <a:latin typeface="Cambria Math" panose="02040503050406030204" pitchFamily="18" charset="0"/>
                                <a:cs typeface="Times New Roman" panose="02020603050405020304" pitchFamily="18" charset="0"/>
                              </a:rPr>
                              <m:t>𝟐</m:t>
                            </m:r>
                            <m:r>
                              <a:rPr lang="en-IN" b="1" i="1" baseline="30000" smtClean="0">
                                <a:solidFill>
                                  <a:srgbClr val="002060"/>
                                </a:solidFill>
                                <a:latin typeface="Cambria Math" panose="02040503050406030204" pitchFamily="18" charset="0"/>
                                <a:cs typeface="Times New Roman" panose="02020603050405020304" pitchFamily="18" charset="0"/>
                              </a:rPr>
                              <m:t>𝟑</m:t>
                            </m:r>
                          </m:den>
                        </m:f>
                      </m:e>
                    </m:d>
                  </m:oMath>
                </a14:m>
                <a:r>
                  <a:rPr lang="en-IN" sz="1400" b="1" i="1" dirty="0">
                    <a:solidFill>
                      <a:srgbClr val="FF0000"/>
                    </a:solidFill>
                    <a:latin typeface="Cambria Math" panose="02040503050406030204" pitchFamily="18" charset="0"/>
                    <a:cs typeface="Times New Roman" panose="02020603050405020304" pitchFamily="18" charset="0"/>
                  </a:rPr>
                  <a:t>+1</a:t>
                </a:r>
              </a:p>
            </p:txBody>
          </p:sp>
        </mc:Choice>
        <mc:Fallback xmlns="">
          <p:sp>
            <p:nvSpPr>
              <p:cNvPr id="21" name="TextBox 20"/>
              <p:cNvSpPr txBox="1">
                <a:spLocks noRot="1" noChangeAspect="1" noMove="1" noResize="1" noEditPoints="1" noAdjustHandles="1" noChangeArrowheads="1" noChangeShapeType="1" noTextEdit="1"/>
              </p:cNvSpPr>
              <p:nvPr/>
            </p:nvSpPr>
            <p:spPr>
              <a:xfrm>
                <a:off x="2885205" y="3621833"/>
                <a:ext cx="3204310" cy="506870"/>
              </a:xfrm>
              <a:prstGeom prst="rect">
                <a:avLst/>
              </a:prstGeom>
              <a:blipFill rotWithShape="0">
                <a:blip r:embed="rId7"/>
                <a:stretch>
                  <a:fillRect l="-570" b="-1205"/>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2087096" y="4296468"/>
                <a:ext cx="6096000" cy="923330"/>
              </a:xfrm>
              <a:prstGeom prst="rect">
                <a:avLst/>
              </a:prstGeom>
            </p:spPr>
            <p:txBody>
              <a:bodyPr>
                <a:spAutoFit/>
              </a:bodyPr>
              <a:lstStyle/>
              <a:p>
                <a:r>
                  <a:rPr lang="en-IN" b="1" dirty="0">
                    <a:solidFill>
                      <a:srgbClr val="002060"/>
                    </a:solidFill>
                    <a:latin typeface="Times New Roman" panose="02020603050405020304" pitchFamily="18" charset="0"/>
                    <a:cs typeface="Times New Roman" panose="02020603050405020304" pitchFamily="18" charset="0"/>
                  </a:rPr>
                  <a:t>To obtain initial condition </a:t>
                </a:r>
                <a:r>
                  <a:rPr lang="en-IN" b="1" dirty="0" smtClean="0">
                    <a:solidFill>
                      <a:srgbClr val="002060"/>
                    </a:solidFill>
                    <a:latin typeface="Times New Roman" panose="02020603050405020304" pitchFamily="18" charset="0"/>
                    <a:cs typeface="Times New Roman" panose="02020603050405020304" pitchFamily="18" charset="0"/>
                  </a:rPr>
                  <a:t>T(1) let </a:t>
                </a:r>
                <a:r>
                  <a:rPr lang="en-IN" b="1" dirty="0">
                    <a:solidFill>
                      <a:srgbClr val="002060"/>
                    </a:solidFill>
                    <a:latin typeface="Times New Roman" panose="02020603050405020304" pitchFamily="18" charset="0"/>
                    <a:cs typeface="Times New Roman" panose="02020603050405020304" pitchFamily="18" charset="0"/>
                  </a:rPr>
                  <a:t>2</a:t>
                </a:r>
                <a:r>
                  <a:rPr lang="en-IN" b="1" baseline="30000" dirty="0">
                    <a:solidFill>
                      <a:srgbClr val="002060"/>
                    </a:solidFill>
                    <a:latin typeface="Times New Roman" panose="02020603050405020304" pitchFamily="18" charset="0"/>
                    <a:cs typeface="Times New Roman" panose="02020603050405020304" pitchFamily="18" charset="0"/>
                  </a:rPr>
                  <a:t>i </a:t>
                </a:r>
                <a:r>
                  <a:rPr lang="en-IN" b="1" dirty="0">
                    <a:solidFill>
                      <a:srgbClr val="002060"/>
                    </a:solidFill>
                    <a:latin typeface="Times New Roman" panose="02020603050405020304" pitchFamily="18" charset="0"/>
                    <a:cs typeface="Times New Roman" panose="02020603050405020304" pitchFamily="18" charset="0"/>
                  </a:rPr>
                  <a:t>=</a:t>
                </a:r>
                <a:r>
                  <a:rPr lang="en-IN" b="1" dirty="0" smtClean="0">
                    <a:solidFill>
                      <a:srgbClr val="002060"/>
                    </a:solidFill>
                    <a:latin typeface="Times New Roman" panose="02020603050405020304" pitchFamily="18" charset="0"/>
                    <a:cs typeface="Times New Roman" panose="02020603050405020304" pitchFamily="18" charset="0"/>
                  </a:rPr>
                  <a:t>n</a:t>
                </a:r>
              </a:p>
              <a:p>
                <a:r>
                  <a:rPr lang="en-IN" b="1" dirty="0" smtClean="0">
                    <a:solidFill>
                      <a:srgbClr val="002060"/>
                    </a:solidFill>
                    <a:latin typeface="Times New Roman" panose="02020603050405020304" pitchFamily="18" charset="0"/>
                    <a:cs typeface="Times New Roman" panose="02020603050405020304" pitchFamily="18" charset="0"/>
                  </a:rPr>
                  <a:t>Then, T(1)=1, </a:t>
                </a:r>
              </a:p>
              <a:p>
                <a:r>
                  <a:rPr lang="en-IN" b="1" dirty="0" smtClean="0">
                    <a:solidFill>
                      <a:srgbClr val="002060"/>
                    </a:solidFill>
                    <a:latin typeface="Times New Roman" panose="02020603050405020304" pitchFamily="18" charset="0"/>
                    <a:cs typeface="Times New Roman" panose="02020603050405020304" pitchFamily="18" charset="0"/>
                  </a:rPr>
                  <a:t>For 2</a:t>
                </a:r>
                <a:r>
                  <a:rPr lang="en-IN" b="1" baseline="30000" dirty="0" smtClean="0">
                    <a:solidFill>
                      <a:srgbClr val="002060"/>
                    </a:solidFill>
                    <a:latin typeface="Times New Roman" panose="02020603050405020304" pitchFamily="18" charset="0"/>
                    <a:cs typeface="Times New Roman" panose="02020603050405020304" pitchFamily="18" charset="0"/>
                  </a:rPr>
                  <a:t>i </a:t>
                </a:r>
                <a:r>
                  <a:rPr lang="en-IN" b="1" dirty="0">
                    <a:solidFill>
                      <a:srgbClr val="002060"/>
                    </a:solidFill>
                    <a:latin typeface="Times New Roman" panose="02020603050405020304" pitchFamily="18" charset="0"/>
                    <a:cs typeface="Times New Roman" panose="02020603050405020304" pitchFamily="18" charset="0"/>
                  </a:rPr>
                  <a:t>=</a:t>
                </a:r>
                <a:r>
                  <a:rPr lang="en-IN" b="1" dirty="0" smtClean="0">
                    <a:solidFill>
                      <a:srgbClr val="002060"/>
                    </a:solidFill>
                    <a:latin typeface="Times New Roman" panose="02020603050405020304" pitchFamily="18" charset="0"/>
                    <a:cs typeface="Times New Roman" panose="02020603050405020304" pitchFamily="18" charset="0"/>
                  </a:rPr>
                  <a:t>n </a:t>
                </a:r>
                <a:r>
                  <a:rPr lang="en-IN" b="1" dirty="0">
                    <a:solidFill>
                      <a:srgbClr val="002060"/>
                    </a:solidFill>
                    <a:latin typeface="Times New Roman" panose="02020603050405020304" pitchFamily="18" charset="0"/>
                    <a:cs typeface="Times New Roman" panose="02020603050405020304" pitchFamily="18" charset="0"/>
                  </a:rPr>
                  <a:t>t</a:t>
                </a:r>
                <a:r>
                  <a:rPr lang="en-IN" b="1" dirty="0" smtClean="0">
                    <a:solidFill>
                      <a:srgbClr val="002060"/>
                    </a:solidFill>
                    <a:latin typeface="Times New Roman" panose="02020603050405020304" pitchFamily="18" charset="0"/>
                    <a:cs typeface="Times New Roman" panose="02020603050405020304" pitchFamily="18" charset="0"/>
                  </a:rPr>
                  <a:t>ake </a:t>
                </a:r>
                <a:r>
                  <a:rPr lang="en-IN" b="1" dirty="0">
                    <a:solidFill>
                      <a:srgbClr val="002060"/>
                    </a:solidFill>
                    <a:latin typeface="Times New Roman" panose="02020603050405020304" pitchFamily="18" charset="0"/>
                    <a:cs typeface="Times New Roman" panose="02020603050405020304" pitchFamily="18" charset="0"/>
                  </a:rPr>
                  <a:t>log both a side </a:t>
                </a:r>
                <a:r>
                  <a:rPr lang="en-IN" b="1" dirty="0" smtClean="0">
                    <a:solidFill>
                      <a:srgbClr val="FF0000"/>
                    </a:solidFill>
                    <a:latin typeface="Times New Roman" panose="02020603050405020304" pitchFamily="18" charset="0"/>
                    <a:cs typeface="Times New Roman" panose="02020603050405020304" pitchFamily="18" charset="0"/>
                  </a:rPr>
                  <a:t>i</a:t>
                </a:r>
                <a:r>
                  <a:rPr lang="en-IN" b="1" dirty="0">
                    <a:solidFill>
                      <a:srgbClr val="FF0000"/>
                    </a:solidFill>
                    <a:latin typeface="Times New Roman" panose="02020603050405020304" pitchFamily="18" charset="0"/>
                    <a:cs typeface="Times New Roman" panose="02020603050405020304" pitchFamily="18" charset="0"/>
                  </a:rPr>
                  <a:t>=</a:t>
                </a:r>
                <a:r>
                  <a:rPr lang="en-IN" b="1" dirty="0">
                    <a:solidFill>
                      <a:srgbClr val="FF0000"/>
                    </a:solidFill>
                    <a:cs typeface="Times New Roman" panose="02020603050405020304" pitchFamily="18" charset="0"/>
                  </a:rPr>
                  <a:t> </a:t>
                </a:r>
                <a14:m>
                  <m:oMath xmlns:m="http://schemas.openxmlformats.org/officeDocument/2006/math">
                    <m:r>
                      <m:rPr>
                        <m:nor/>
                      </m:rPr>
                      <a:rPr lang="en-IN" b="1" dirty="0">
                        <a:solidFill>
                          <a:srgbClr val="FF0000"/>
                        </a:solidFill>
                        <a:latin typeface="Times New Roman" panose="02020603050405020304" pitchFamily="18" charset="0"/>
                        <a:cs typeface="Times New Roman" panose="02020603050405020304" pitchFamily="18" charset="0"/>
                      </a:rPr>
                      <m:t>log</m:t>
                    </m:r>
                    <m:r>
                      <m:rPr>
                        <m:nor/>
                      </m:rPr>
                      <a:rPr lang="en-IN" b="1" baseline="-25000" dirty="0">
                        <a:solidFill>
                          <a:srgbClr val="FF0000"/>
                        </a:solidFill>
                        <a:latin typeface="Times New Roman" panose="02020603050405020304" pitchFamily="18" charset="0"/>
                        <a:cs typeface="Times New Roman" panose="02020603050405020304" pitchFamily="18" charset="0"/>
                      </a:rPr>
                      <m:t>2</m:t>
                    </m:r>
                    <m:r>
                      <m:rPr>
                        <m:nor/>
                      </m:rPr>
                      <a:rPr lang="en-IN" b="1" dirty="0">
                        <a:solidFill>
                          <a:srgbClr val="FF0000"/>
                        </a:solidFill>
                        <a:latin typeface="Times New Roman" panose="02020603050405020304" pitchFamily="18" charset="0"/>
                        <a:cs typeface="Times New Roman" panose="02020603050405020304" pitchFamily="18" charset="0"/>
                      </a:rPr>
                      <m:t>n</m:t>
                    </m:r>
                  </m:oMath>
                </a14:m>
                <a:endParaRPr lang="en-IN"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22" name="Rectangle 21"/>
              <p:cNvSpPr>
                <a:spLocks noRot="1" noChangeAspect="1" noMove="1" noResize="1" noEditPoints="1" noAdjustHandles="1" noChangeArrowheads="1" noChangeShapeType="1" noTextEdit="1"/>
              </p:cNvSpPr>
              <p:nvPr/>
            </p:nvSpPr>
            <p:spPr>
              <a:xfrm>
                <a:off x="2087096" y="4296468"/>
                <a:ext cx="6096000" cy="923330"/>
              </a:xfrm>
              <a:prstGeom prst="rect">
                <a:avLst/>
              </a:prstGeom>
              <a:blipFill rotWithShape="0">
                <a:blip r:embed="rId8"/>
                <a:stretch>
                  <a:fillRect l="-800" t="-3974" b="-9272"/>
                </a:stretch>
              </a:blipFill>
            </p:spPr>
            <p:txBody>
              <a:bodyPr/>
              <a:lstStyle/>
              <a:p>
                <a:r>
                  <a:rPr lang="en-IN">
                    <a:noFill/>
                  </a:rPr>
                  <a:t> </a:t>
                </a:r>
              </a:p>
            </p:txBody>
          </p:sp>
        </mc:Fallback>
      </mc:AlternateContent>
      <p:sp>
        <p:nvSpPr>
          <p:cNvPr id="6" name="Date Placeholder 5"/>
          <p:cNvSpPr>
            <a:spLocks noGrp="1"/>
          </p:cNvSpPr>
          <p:nvPr>
            <p:ph type="dt" sz="half" idx="10"/>
          </p:nvPr>
        </p:nvSpPr>
        <p:spPr/>
        <p:txBody>
          <a:bodyPr/>
          <a:lstStyle/>
          <a:p>
            <a:fld id="{B6291CB4-7BC4-4299-A33F-8B2D5E7A4465}" type="datetime1">
              <a:rPr lang="en-IN" smtClean="0"/>
              <a:t>21-03-2026</a:t>
            </a:fld>
            <a:endParaRPr lang="en-IN"/>
          </a:p>
        </p:txBody>
      </p:sp>
    </p:spTree>
    <p:extLst>
      <p:ext uri="{BB962C8B-B14F-4D97-AF65-F5344CB8AC3E}">
        <p14:creationId xmlns:p14="http://schemas.microsoft.com/office/powerpoint/2010/main" val="113212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43436" y="862740"/>
            <a:ext cx="12315217" cy="5493610"/>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Time complexity analysis </a:t>
            </a:r>
          </a:p>
          <a:p>
            <a:pPr algn="just"/>
            <a:r>
              <a:rPr lang="en-IN" sz="2000" b="1" dirty="0">
                <a:solidFill>
                  <a:srgbClr val="002060"/>
                </a:solidFill>
                <a:latin typeface="Times New Roman" panose="02020603050405020304" pitchFamily="18" charset="0"/>
                <a:cs typeface="Times New Roman" panose="02020603050405020304" pitchFamily="18" charset="0"/>
              </a:rPr>
              <a:t>When binary search is applied on the elements, we must determine </a:t>
            </a:r>
          </a:p>
          <a:p>
            <a:pPr marL="342900" indent="-342900" algn="just">
              <a:buFont typeface="Arial" panose="020B0604020202020204" pitchFamily="34" charset="0"/>
              <a:buChar char="•"/>
            </a:pPr>
            <a:r>
              <a:rPr lang="en-IN" sz="2000" b="1" dirty="0">
                <a:solidFill>
                  <a:srgbClr val="C00000"/>
                </a:solidFill>
                <a:latin typeface="Times New Roman" panose="02020603050405020304" pitchFamily="18" charset="0"/>
                <a:cs typeface="Times New Roman" panose="02020603050405020304" pitchFamily="18" charset="0"/>
              </a:rPr>
              <a:t>Required number of comparisons</a:t>
            </a:r>
          </a:p>
          <a:p>
            <a:pPr marL="342900" indent="-342900" algn="just">
              <a:buFont typeface="Arial" panose="020B0604020202020204" pitchFamily="34" charset="0"/>
              <a:buChar char="•"/>
            </a:pPr>
            <a:r>
              <a:rPr lang="en-IN" sz="2000" b="1" dirty="0">
                <a:solidFill>
                  <a:srgbClr val="002060"/>
                </a:solidFill>
                <a:latin typeface="Times New Roman" panose="02020603050405020304" pitchFamily="18" charset="0"/>
                <a:cs typeface="Times New Roman" panose="02020603050405020304" pitchFamily="18" charset="0"/>
              </a:rPr>
              <a:t>Average number of key comparisons for both successful search and unsuccessful search </a:t>
            </a: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Required number of </a:t>
            </a:r>
            <a:r>
              <a:rPr lang="en-IN" sz="2000" b="1" dirty="0" smtClean="0">
                <a:solidFill>
                  <a:srgbClr val="002060"/>
                </a:solidFill>
                <a:latin typeface="Times New Roman" panose="02020603050405020304" pitchFamily="18" charset="0"/>
                <a:cs typeface="Times New Roman" panose="02020603050405020304" pitchFamily="18" charset="0"/>
              </a:rPr>
              <a:t>comparisons, Average </a:t>
            </a:r>
            <a:r>
              <a:rPr lang="en-IN" sz="2000" b="1" dirty="0">
                <a:solidFill>
                  <a:srgbClr val="002060"/>
                </a:solidFill>
                <a:latin typeface="Times New Roman" panose="02020603050405020304" pitchFamily="18" charset="0"/>
                <a:cs typeface="Times New Roman" panose="02020603050405020304" pitchFamily="18" charset="0"/>
              </a:rPr>
              <a:t>number of key comparisons for both successful search </a:t>
            </a: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and </a:t>
            </a:r>
            <a:r>
              <a:rPr lang="en-IN" sz="2000" b="1" dirty="0">
                <a:solidFill>
                  <a:srgbClr val="002060"/>
                </a:solidFill>
                <a:latin typeface="Times New Roman" panose="02020603050405020304" pitchFamily="18" charset="0"/>
                <a:cs typeface="Times New Roman" panose="02020603050405020304" pitchFamily="18" charset="0"/>
              </a:rPr>
              <a:t>unsuccessful search </a:t>
            </a:r>
            <a:r>
              <a:rPr lang="en-IN" sz="2000" b="1" dirty="0" smtClean="0">
                <a:solidFill>
                  <a:srgbClr val="002060"/>
                </a:solidFill>
                <a:latin typeface="Times New Roman" panose="02020603050405020304" pitchFamily="18" charset="0"/>
                <a:cs typeface="Times New Roman" panose="02020603050405020304" pitchFamily="18" charset="0"/>
              </a:rPr>
              <a:t>can be determined by </a:t>
            </a:r>
            <a:r>
              <a:rPr lang="en-IN" sz="2000" b="1" dirty="0" smtClean="0">
                <a:solidFill>
                  <a:srgbClr val="00B0F0"/>
                </a:solidFill>
                <a:latin typeface="Times New Roman" panose="02020603050405020304" pitchFamily="18" charset="0"/>
                <a:cs typeface="Times New Roman" panose="02020603050405020304" pitchFamily="18" charset="0"/>
              </a:rPr>
              <a:t>Decision tree. </a:t>
            </a:r>
          </a:p>
          <a:p>
            <a:pPr algn="just"/>
            <a:r>
              <a:rPr lang="en-IN" sz="2000" b="1" dirty="0" smtClean="0">
                <a:solidFill>
                  <a:srgbClr val="00B0F0"/>
                </a:solidFill>
                <a:latin typeface="Times New Roman" panose="02020603050405020304" pitchFamily="18" charset="0"/>
                <a:cs typeface="Times New Roman" panose="02020603050405020304" pitchFamily="18" charset="0"/>
              </a:rPr>
              <a:t>In Decision tree </a:t>
            </a:r>
          </a:p>
          <a:p>
            <a:pPr marL="342900" indent="-342900" algn="just">
              <a:buFont typeface="Arial" panose="020B0604020202020204" pitchFamily="34" charset="0"/>
              <a:buChar char="•"/>
            </a:pPr>
            <a:r>
              <a:rPr lang="en-IN" sz="2000" b="1" dirty="0" smtClean="0">
                <a:solidFill>
                  <a:srgbClr val="C00000"/>
                </a:solidFill>
                <a:latin typeface="Times New Roman" panose="02020603050405020304" pitchFamily="18" charset="0"/>
                <a:cs typeface="Times New Roman" panose="02020603050405020304" pitchFamily="18" charset="0"/>
              </a:rPr>
              <a:t>Circles </a:t>
            </a:r>
            <a:r>
              <a:rPr lang="en-IN" sz="2000" b="1" dirty="0">
                <a:solidFill>
                  <a:srgbClr val="C00000"/>
                </a:solidFill>
                <a:latin typeface="Times New Roman" panose="02020603050405020304" pitchFamily="18" charset="0"/>
                <a:cs typeface="Times New Roman" panose="02020603050405020304" pitchFamily="18" charset="0"/>
              </a:rPr>
              <a:t>are used to represent an internal nodes. internal nodes represents successful </a:t>
            </a:r>
            <a:r>
              <a:rPr lang="en-IN" sz="2000" b="1" dirty="0" smtClean="0">
                <a:solidFill>
                  <a:srgbClr val="C00000"/>
                </a:solidFill>
                <a:latin typeface="Times New Roman" panose="02020603050405020304" pitchFamily="18" charset="0"/>
                <a:cs typeface="Times New Roman" panose="02020603050405020304" pitchFamily="18" charset="0"/>
              </a:rPr>
              <a:t>search</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Rectangles are </a:t>
            </a:r>
            <a:r>
              <a:rPr lang="en-IN" sz="2000" b="1" dirty="0">
                <a:solidFill>
                  <a:srgbClr val="002060"/>
                </a:solidFill>
                <a:latin typeface="Times New Roman" panose="02020603050405020304" pitchFamily="18" charset="0"/>
                <a:cs typeface="Times New Roman" panose="02020603050405020304" pitchFamily="18" charset="0"/>
              </a:rPr>
              <a:t>used to represent an </a:t>
            </a:r>
            <a:r>
              <a:rPr lang="en-IN" sz="2000" b="1" dirty="0" smtClean="0">
                <a:solidFill>
                  <a:srgbClr val="002060"/>
                </a:solidFill>
                <a:latin typeface="Times New Roman" panose="02020603050405020304" pitchFamily="18" charset="0"/>
                <a:cs typeface="Times New Roman" panose="02020603050405020304" pitchFamily="18" charset="0"/>
              </a:rPr>
              <a:t>external </a:t>
            </a:r>
            <a:r>
              <a:rPr lang="en-IN" sz="2000" b="1" dirty="0">
                <a:solidFill>
                  <a:srgbClr val="002060"/>
                </a:solidFill>
                <a:latin typeface="Times New Roman" panose="02020603050405020304" pitchFamily="18" charset="0"/>
                <a:cs typeface="Times New Roman" panose="02020603050405020304" pitchFamily="18" charset="0"/>
              </a:rPr>
              <a:t>nodes. E</a:t>
            </a:r>
            <a:r>
              <a:rPr lang="en-IN" sz="2000" b="1" dirty="0" smtClean="0">
                <a:solidFill>
                  <a:srgbClr val="002060"/>
                </a:solidFill>
                <a:latin typeface="Times New Roman" panose="02020603050405020304" pitchFamily="18" charset="0"/>
                <a:cs typeface="Times New Roman" panose="02020603050405020304" pitchFamily="18" charset="0"/>
              </a:rPr>
              <a:t>xternal </a:t>
            </a:r>
            <a:r>
              <a:rPr lang="en-IN" sz="2000" b="1" dirty="0">
                <a:solidFill>
                  <a:srgbClr val="002060"/>
                </a:solidFill>
                <a:latin typeface="Times New Roman" panose="02020603050405020304" pitchFamily="18" charset="0"/>
                <a:cs typeface="Times New Roman" panose="02020603050405020304" pitchFamily="18" charset="0"/>
              </a:rPr>
              <a:t>nodes represents </a:t>
            </a:r>
            <a:r>
              <a:rPr lang="en-IN" sz="2000" b="1" dirty="0" smtClean="0">
                <a:solidFill>
                  <a:srgbClr val="002060"/>
                </a:solidFill>
                <a:latin typeface="Times New Roman" panose="02020603050405020304" pitchFamily="18" charset="0"/>
                <a:cs typeface="Times New Roman" panose="02020603050405020304" pitchFamily="18" charset="0"/>
              </a:rPr>
              <a:t>unsuccessful </a:t>
            </a:r>
            <a:r>
              <a:rPr lang="en-IN" sz="2000" b="1" dirty="0">
                <a:solidFill>
                  <a:srgbClr val="002060"/>
                </a:solidFill>
                <a:latin typeface="Times New Roman" panose="02020603050405020304" pitchFamily="18" charset="0"/>
                <a:cs typeface="Times New Roman" panose="02020603050405020304" pitchFamily="18" charset="0"/>
              </a:rPr>
              <a:t>search</a:t>
            </a:r>
          </a:p>
          <a:p>
            <a:pPr marL="342900" indent="-342900" algn="just">
              <a:buFont typeface="Arial" panose="020B0604020202020204" pitchFamily="34" charset="0"/>
              <a:buChar char="•"/>
            </a:pPr>
            <a:r>
              <a:rPr lang="en-IN" sz="2000" b="1" dirty="0" smtClean="0">
                <a:solidFill>
                  <a:srgbClr val="C00000"/>
                </a:solidFill>
                <a:latin typeface="Times New Roman" panose="02020603050405020304" pitchFamily="18" charset="0"/>
                <a:cs typeface="Times New Roman" panose="02020603050405020304" pitchFamily="18" charset="0"/>
              </a:rPr>
              <a:t>Time complexity for the average case in both successful and unsuccessful search is proportional to </a:t>
            </a:r>
          </a:p>
          <a:p>
            <a:pPr algn="just"/>
            <a:r>
              <a:rPr lang="en-IN" sz="2000" b="1" dirty="0">
                <a:solidFill>
                  <a:srgbClr val="00B0F0"/>
                </a:solidFill>
                <a:latin typeface="Times New Roman" panose="02020603050405020304" pitchFamily="18" charset="0"/>
                <a:cs typeface="Times New Roman" panose="02020603050405020304" pitchFamily="18" charset="0"/>
              </a:rPr>
              <a:t> </a:t>
            </a:r>
            <a:r>
              <a:rPr lang="en-IN" sz="2000" b="1" dirty="0" smtClean="0">
                <a:solidFill>
                  <a:srgbClr val="00B0F0"/>
                </a:solidFill>
                <a:latin typeface="Times New Roman" panose="02020603050405020304" pitchFamily="18" charset="0"/>
                <a:cs typeface="Times New Roman" panose="02020603050405020304" pitchFamily="18" charset="0"/>
              </a:rPr>
              <a:t>     height of the tree    </a:t>
            </a:r>
            <a:r>
              <a:rPr lang="en-IN" sz="2000" b="1" dirty="0" err="1" smtClean="0">
                <a:solidFill>
                  <a:srgbClr val="C00000"/>
                </a:solidFill>
                <a:latin typeface="Times New Roman" panose="02020603050405020304" pitchFamily="18" charset="0"/>
                <a:cs typeface="Times New Roman" panose="02020603050405020304" pitchFamily="18" charset="0"/>
              </a:rPr>
              <a:t>i</a:t>
            </a:r>
            <a:r>
              <a:rPr lang="en-IN" sz="2000" b="1" dirty="0" smtClean="0">
                <a:solidFill>
                  <a:srgbClr val="C00000"/>
                </a:solidFill>
                <a:latin typeface="Times New Roman" panose="02020603050405020304" pitchFamily="18" charset="0"/>
                <a:cs typeface="Times New Roman" panose="02020603050405020304" pitchFamily="18" charset="0"/>
              </a:rPr>
              <a:t> e      </a:t>
            </a:r>
            <a:r>
              <a:rPr lang="en-IN" sz="2000" b="1" dirty="0" smtClean="0">
                <a:solidFill>
                  <a:srgbClr val="00B0F0"/>
                </a:solidFill>
                <a:latin typeface="Times New Roman" panose="02020603050405020304" pitchFamily="18" charset="0"/>
                <a:cs typeface="Times New Roman" panose="02020603050405020304" pitchFamily="18" charset="0"/>
              </a:rPr>
              <a:t>T(n)= (log</a:t>
            </a:r>
            <a:r>
              <a:rPr lang="en-IN" sz="2000" b="1" baseline="-25000" dirty="0" smtClean="0">
                <a:solidFill>
                  <a:srgbClr val="00B0F0"/>
                </a:solidFill>
                <a:latin typeface="Times New Roman" panose="02020603050405020304" pitchFamily="18" charset="0"/>
                <a:cs typeface="Times New Roman" panose="02020603050405020304" pitchFamily="18" charset="0"/>
              </a:rPr>
              <a:t>2</a:t>
            </a:r>
            <a:r>
              <a:rPr lang="en-IN" sz="2000" b="1" dirty="0" smtClean="0">
                <a:solidFill>
                  <a:srgbClr val="00B0F0"/>
                </a:solidFill>
                <a:latin typeface="Times New Roman" panose="02020603050405020304" pitchFamily="18" charset="0"/>
                <a:cs typeface="Times New Roman" panose="02020603050405020304" pitchFamily="18" charset="0"/>
              </a:rPr>
              <a:t>n)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31</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DDA6C245-DBBA-4C2E-838B-74B0AA2AAB7E}" type="datetime1">
              <a:rPr lang="en-IN" smtClean="0"/>
              <a:t>21-03-2026</a:t>
            </a:fld>
            <a:endParaRPr lang="en-IN"/>
          </a:p>
        </p:txBody>
      </p:sp>
    </p:spTree>
    <p:extLst>
      <p:ext uri="{BB962C8B-B14F-4D97-AF65-F5344CB8AC3E}">
        <p14:creationId xmlns:p14="http://schemas.microsoft.com/office/powerpoint/2010/main" val="267208192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43436" y="862739"/>
            <a:ext cx="12315217" cy="5627707"/>
          </a:xfrm>
        </p:spPr>
        <p:txBody>
          <a:bodyPr>
            <a:normAutofit fontScale="92500" lnSpcReduction="20000"/>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Time complexity analysis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Theorem: If </a:t>
            </a:r>
            <a:r>
              <a:rPr lang="en-IN" sz="2000" b="1" dirty="0" smtClean="0">
                <a:solidFill>
                  <a:srgbClr val="00B0F0"/>
                </a:solidFill>
                <a:latin typeface="Times New Roman" panose="02020603050405020304" pitchFamily="18" charset="0"/>
                <a:cs typeface="Times New Roman" panose="02020603050405020304" pitchFamily="18" charset="0"/>
              </a:rPr>
              <a:t>n</a:t>
            </a:r>
            <a:r>
              <a:rPr lang="en-IN" sz="2000" b="1" dirty="0" smtClean="0">
                <a:solidFill>
                  <a:srgbClr val="002060"/>
                </a:solidFill>
                <a:latin typeface="Times New Roman" panose="02020603050405020304" pitchFamily="18" charset="0"/>
                <a:cs typeface="Times New Roman" panose="02020603050405020304" pitchFamily="18" charset="0"/>
              </a:rPr>
              <a:t> (size of list ) is in the range </a:t>
            </a:r>
            <a:r>
              <a:rPr lang="en-IN" sz="2000" b="1" dirty="0" smtClean="0">
                <a:solidFill>
                  <a:srgbClr val="00B0F0"/>
                </a:solidFill>
                <a:latin typeface="Times New Roman" panose="02020603050405020304" pitchFamily="18" charset="0"/>
                <a:cs typeface="Times New Roman" panose="02020603050405020304" pitchFamily="18" charset="0"/>
              </a:rPr>
              <a:t>(2</a:t>
            </a:r>
            <a:r>
              <a:rPr lang="en-IN" sz="2000" b="1" baseline="30000" dirty="0" smtClean="0">
                <a:solidFill>
                  <a:srgbClr val="00B0F0"/>
                </a:solidFill>
                <a:latin typeface="Times New Roman" panose="02020603050405020304" pitchFamily="18" charset="0"/>
                <a:cs typeface="Times New Roman" panose="02020603050405020304" pitchFamily="18" charset="0"/>
              </a:rPr>
              <a:t>k-1</a:t>
            </a:r>
            <a:r>
              <a:rPr lang="en-IN" sz="2000" b="1" dirty="0">
                <a:solidFill>
                  <a:srgbClr val="00B0F0"/>
                </a:solidFill>
                <a:latin typeface="Times New Roman" panose="02020603050405020304" pitchFamily="18" charset="0"/>
                <a:cs typeface="Times New Roman" panose="02020603050405020304" pitchFamily="18" charset="0"/>
              </a:rPr>
              <a:t>,</a:t>
            </a:r>
            <a:r>
              <a:rPr lang="en-IN" sz="2000" b="1" baseline="30000" dirty="0" smtClean="0">
                <a:solidFill>
                  <a:srgbClr val="00B0F0"/>
                </a:solidFill>
                <a:latin typeface="Times New Roman" panose="02020603050405020304" pitchFamily="18" charset="0"/>
                <a:cs typeface="Times New Roman" panose="02020603050405020304" pitchFamily="18" charset="0"/>
              </a:rPr>
              <a:t> </a:t>
            </a:r>
            <a:r>
              <a:rPr lang="en-IN" sz="2000" b="1" dirty="0" smtClean="0">
                <a:solidFill>
                  <a:srgbClr val="00B0F0"/>
                </a:solidFill>
                <a:latin typeface="Times New Roman" panose="02020603050405020304" pitchFamily="18" charset="0"/>
                <a:cs typeface="Times New Roman" panose="02020603050405020304" pitchFamily="18" charset="0"/>
              </a:rPr>
              <a:t>2</a:t>
            </a:r>
            <a:r>
              <a:rPr lang="en-IN" sz="2000" b="1" baseline="30000" dirty="0" smtClean="0">
                <a:solidFill>
                  <a:srgbClr val="00B0F0"/>
                </a:solidFill>
                <a:latin typeface="Times New Roman" panose="02020603050405020304" pitchFamily="18" charset="0"/>
                <a:cs typeface="Times New Roman" panose="02020603050405020304" pitchFamily="18" charset="0"/>
              </a:rPr>
              <a:t>k</a:t>
            </a:r>
            <a:r>
              <a:rPr lang="en-IN" sz="2000" b="1" dirty="0" smtClean="0">
                <a:solidFill>
                  <a:srgbClr val="00B0F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then binary search algorithm makes at most </a:t>
            </a: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FF0000"/>
                </a:solidFill>
                <a:latin typeface="Times New Roman" panose="02020603050405020304" pitchFamily="18" charset="0"/>
                <a:cs typeface="Times New Roman" panose="02020603050405020304" pitchFamily="18" charset="0"/>
              </a:rPr>
              <a:t> k </a:t>
            </a:r>
            <a:r>
              <a:rPr lang="en-IN" sz="2000" b="1" dirty="0">
                <a:solidFill>
                  <a:srgbClr val="002060"/>
                </a:solidFill>
                <a:latin typeface="Times New Roman" panose="02020603050405020304" pitchFamily="18" charset="0"/>
                <a:cs typeface="Times New Roman" panose="02020603050405020304" pitchFamily="18" charset="0"/>
              </a:rPr>
              <a:t>elements </a:t>
            </a:r>
            <a:r>
              <a:rPr lang="en-IN" sz="2000" b="1" dirty="0" smtClean="0">
                <a:solidFill>
                  <a:srgbClr val="002060"/>
                </a:solidFill>
                <a:latin typeface="Times New Roman" panose="02020603050405020304" pitchFamily="18" charset="0"/>
                <a:cs typeface="Times New Roman" panose="02020603050405020304" pitchFamily="18" charset="0"/>
              </a:rPr>
              <a:t>comparisons </a:t>
            </a:r>
            <a:r>
              <a:rPr lang="en-IN" sz="2000" b="1" dirty="0">
                <a:solidFill>
                  <a:srgbClr val="002060"/>
                </a:solidFill>
                <a:latin typeface="Times New Roman" panose="02020603050405020304" pitchFamily="18" charset="0"/>
                <a:cs typeface="Times New Roman" panose="02020603050405020304" pitchFamily="18" charset="0"/>
              </a:rPr>
              <a:t>for a successful search and either </a:t>
            </a:r>
            <a:r>
              <a:rPr lang="en-IN" sz="2000" b="1" dirty="0">
                <a:solidFill>
                  <a:srgbClr val="FF0000"/>
                </a:solidFill>
                <a:latin typeface="Times New Roman" panose="02020603050405020304" pitchFamily="18" charset="0"/>
                <a:cs typeface="Times New Roman" panose="02020603050405020304" pitchFamily="18" charset="0"/>
              </a:rPr>
              <a:t>k-1 or k </a:t>
            </a:r>
            <a:r>
              <a:rPr lang="en-IN" sz="2000" b="1" dirty="0" smtClean="0">
                <a:solidFill>
                  <a:srgbClr val="002060"/>
                </a:solidFill>
                <a:latin typeface="Times New Roman" panose="02020603050405020304" pitchFamily="18" charset="0"/>
                <a:cs typeface="Times New Roman" panose="02020603050405020304" pitchFamily="18" charset="0"/>
              </a:rPr>
              <a:t>comparisons </a:t>
            </a:r>
            <a:r>
              <a:rPr lang="en-IN" sz="2000" b="1" dirty="0">
                <a:solidFill>
                  <a:srgbClr val="002060"/>
                </a:solidFill>
                <a:latin typeface="Times New Roman" panose="02020603050405020304" pitchFamily="18" charset="0"/>
                <a:cs typeface="Times New Roman" panose="02020603050405020304" pitchFamily="18" charset="0"/>
              </a:rPr>
              <a:t>for </a:t>
            </a:r>
            <a:r>
              <a:rPr lang="en-IN" sz="2000" b="1" dirty="0" smtClean="0">
                <a:solidFill>
                  <a:srgbClr val="002060"/>
                </a:solidFill>
                <a:latin typeface="Times New Roman" panose="02020603050405020304" pitchFamily="18" charset="0"/>
                <a:cs typeface="Times New Roman" panose="02020603050405020304" pitchFamily="18" charset="0"/>
              </a:rPr>
              <a:t>unsuccessful search. </a:t>
            </a:r>
          </a:p>
          <a:p>
            <a:pPr algn="just"/>
            <a:r>
              <a:rPr lang="en-IN" sz="2000" b="1" dirty="0" smtClean="0">
                <a:solidFill>
                  <a:srgbClr val="002060"/>
                </a:solidFill>
                <a:latin typeface="Times New Roman" panose="02020603050405020304" pitchFamily="18" charset="0"/>
                <a:cs typeface="Times New Roman" panose="02020603050405020304" pitchFamily="18" charset="0"/>
              </a:rPr>
              <a:t>[</a:t>
            </a:r>
            <a:r>
              <a:rPr lang="en-IN" sz="2000" b="1" dirty="0">
                <a:solidFill>
                  <a:srgbClr val="C00000"/>
                </a:solidFill>
                <a:latin typeface="Times New Roman" panose="02020603050405020304" pitchFamily="18" charset="0"/>
                <a:cs typeface="Times New Roman" panose="02020603050405020304" pitchFamily="18" charset="0"/>
              </a:rPr>
              <a:t>Time complexity for </a:t>
            </a:r>
            <a:r>
              <a:rPr lang="en-IN" sz="2000" b="1" dirty="0" smtClean="0">
                <a:solidFill>
                  <a:srgbClr val="C00000"/>
                </a:solidFill>
                <a:latin typeface="Times New Roman" panose="02020603050405020304" pitchFamily="18" charset="0"/>
                <a:cs typeface="Times New Roman" panose="02020603050405020304" pitchFamily="18" charset="0"/>
              </a:rPr>
              <a:t>both </a:t>
            </a:r>
            <a:r>
              <a:rPr lang="en-IN" sz="2000" b="1" dirty="0">
                <a:solidFill>
                  <a:srgbClr val="C00000"/>
                </a:solidFill>
                <a:latin typeface="Times New Roman" panose="02020603050405020304" pitchFamily="18" charset="0"/>
                <a:cs typeface="Times New Roman" panose="02020603050405020304" pitchFamily="18" charset="0"/>
              </a:rPr>
              <a:t>successful and unsuccessful search is </a:t>
            </a:r>
            <a:r>
              <a:rPr lang="en-IN" sz="2000" b="1" dirty="0" smtClean="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00B0F0"/>
                </a:solidFill>
                <a:latin typeface="Times New Roman" panose="02020603050405020304" pitchFamily="18" charset="0"/>
                <a:cs typeface="Times New Roman" panose="02020603050405020304" pitchFamily="18" charset="0"/>
              </a:rPr>
              <a:t>height </a:t>
            </a:r>
            <a:r>
              <a:rPr lang="en-IN" sz="2000" b="1" dirty="0">
                <a:solidFill>
                  <a:srgbClr val="00B0F0"/>
                </a:solidFill>
                <a:latin typeface="Times New Roman" panose="02020603050405020304" pitchFamily="18" charset="0"/>
                <a:cs typeface="Times New Roman" panose="02020603050405020304" pitchFamily="18" charset="0"/>
              </a:rPr>
              <a:t>of the tree    </a:t>
            </a:r>
            <a:r>
              <a:rPr lang="en-IN" sz="2000" b="1" dirty="0" err="1">
                <a:solidFill>
                  <a:srgbClr val="C00000"/>
                </a:solidFill>
                <a:latin typeface="Times New Roman" panose="02020603050405020304" pitchFamily="18" charset="0"/>
                <a:cs typeface="Times New Roman" panose="02020603050405020304" pitchFamily="18" charset="0"/>
              </a:rPr>
              <a:t>i</a:t>
            </a:r>
            <a:r>
              <a:rPr lang="en-IN" sz="2000" b="1" dirty="0">
                <a:solidFill>
                  <a:srgbClr val="C00000"/>
                </a:solidFill>
                <a:latin typeface="Times New Roman" panose="02020603050405020304" pitchFamily="18" charset="0"/>
                <a:cs typeface="Times New Roman" panose="02020603050405020304" pitchFamily="18" charset="0"/>
              </a:rPr>
              <a:t> e      </a:t>
            </a:r>
            <a:r>
              <a:rPr lang="en-IN" sz="2000" b="1" dirty="0">
                <a:solidFill>
                  <a:srgbClr val="00B0F0"/>
                </a:solidFill>
                <a:latin typeface="Times New Roman" panose="02020603050405020304" pitchFamily="18" charset="0"/>
                <a:cs typeface="Times New Roman" panose="02020603050405020304" pitchFamily="18" charset="0"/>
              </a:rPr>
              <a:t>T(n)= </a:t>
            </a:r>
            <a:r>
              <a:rPr lang="en-IN" sz="2000" b="1" dirty="0" smtClean="0">
                <a:solidFill>
                  <a:srgbClr val="00B0F0"/>
                </a:solidFill>
                <a:latin typeface="Times New Roman" panose="02020603050405020304" pitchFamily="18" charset="0"/>
                <a:cs typeface="Times New Roman" panose="02020603050405020304" pitchFamily="18" charset="0"/>
              </a:rPr>
              <a:t>(</a:t>
            </a:r>
            <a:r>
              <a:rPr lang="en-IN" sz="2000" b="1" dirty="0">
                <a:solidFill>
                  <a:srgbClr val="00B0F0"/>
                </a:solidFill>
                <a:latin typeface="Times New Roman" panose="02020603050405020304" pitchFamily="18" charset="0"/>
                <a:cs typeface="Times New Roman" panose="02020603050405020304" pitchFamily="18" charset="0"/>
              </a:rPr>
              <a:t>log</a:t>
            </a:r>
            <a:r>
              <a:rPr lang="en-IN" sz="2000" b="1" baseline="-25000" dirty="0">
                <a:solidFill>
                  <a:srgbClr val="00B0F0"/>
                </a:solidFill>
                <a:latin typeface="Times New Roman" panose="02020603050405020304" pitchFamily="18" charset="0"/>
                <a:cs typeface="Times New Roman" panose="02020603050405020304" pitchFamily="18" charset="0"/>
              </a:rPr>
              <a:t>2</a:t>
            </a:r>
            <a:r>
              <a:rPr lang="en-IN" sz="2000" b="1" dirty="0">
                <a:solidFill>
                  <a:srgbClr val="00B0F0"/>
                </a:solidFill>
                <a:latin typeface="Times New Roman" panose="02020603050405020304" pitchFamily="18" charset="0"/>
                <a:cs typeface="Times New Roman" panose="02020603050405020304" pitchFamily="18" charset="0"/>
              </a:rPr>
              <a:t>n) </a:t>
            </a:r>
            <a:endParaRPr lang="en-IN" sz="2000" b="1" dirty="0" smtClean="0">
              <a:solidFill>
                <a:srgbClr val="00B0F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Proof:</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Consider the binary decision tree describing the action of binary search algorithm on</a:t>
            </a:r>
            <a:r>
              <a:rPr lang="en-IN" sz="2000" b="1" dirty="0" smtClean="0">
                <a:solidFill>
                  <a:srgbClr val="00B0F0"/>
                </a:solidFill>
                <a:latin typeface="Times New Roman" panose="02020603050405020304" pitchFamily="18" charset="0"/>
                <a:cs typeface="Times New Roman" panose="02020603050405020304" pitchFamily="18" charset="0"/>
              </a:rPr>
              <a:t> n </a:t>
            </a:r>
            <a:r>
              <a:rPr lang="en-IN" sz="2000" b="1" dirty="0" smtClean="0">
                <a:solidFill>
                  <a:srgbClr val="002060"/>
                </a:solidFill>
                <a:latin typeface="Times New Roman" panose="02020603050405020304" pitchFamily="18" charset="0"/>
                <a:cs typeface="Times New Roman" panose="02020603050405020304" pitchFamily="18" charset="0"/>
              </a:rPr>
              <a:t>elements.</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All successful search end at a circular node whereas all unsuccessful searches end at a Square node.</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If 2</a:t>
            </a:r>
            <a:r>
              <a:rPr lang="en-IN" sz="2000" b="1" baseline="30000" dirty="0" smtClean="0">
                <a:solidFill>
                  <a:srgbClr val="002060"/>
                </a:solidFill>
                <a:latin typeface="Times New Roman" panose="02020603050405020304" pitchFamily="18" charset="0"/>
                <a:cs typeface="Times New Roman" panose="02020603050405020304" pitchFamily="18" charset="0"/>
              </a:rPr>
              <a:t>k-1</a:t>
            </a:r>
            <a:r>
              <a:rPr lang="en-IN" sz="2000" b="1" dirty="0" smtClean="0">
                <a:solidFill>
                  <a:srgbClr val="002060"/>
                </a:solidFill>
                <a:latin typeface="Times New Roman" panose="02020603050405020304" pitchFamily="18" charset="0"/>
                <a:cs typeface="Times New Roman" panose="02020603050405020304" pitchFamily="18" charset="0"/>
              </a:rPr>
              <a:t> ≤ n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30000" dirty="0" smtClean="0">
                <a:solidFill>
                  <a:srgbClr val="002060"/>
                </a:solidFill>
                <a:latin typeface="Times New Roman" panose="02020603050405020304" pitchFamily="18" charset="0"/>
                <a:cs typeface="Times New Roman" panose="02020603050405020304" pitchFamily="18" charset="0"/>
              </a:rPr>
              <a:t>k</a:t>
            </a:r>
            <a:r>
              <a:rPr lang="en-IN" sz="2000" b="1" dirty="0">
                <a:solidFill>
                  <a:srgbClr val="002060"/>
                </a:solidFill>
                <a:latin typeface="Times New Roman" panose="02020603050405020304" pitchFamily="18" charset="0"/>
                <a:cs typeface="Times New Roman" panose="02020603050405020304" pitchFamily="18" charset="0"/>
              </a:rPr>
              <a:t>,</a:t>
            </a:r>
            <a:r>
              <a:rPr lang="en-IN" sz="2000" b="1" dirty="0" smtClean="0">
                <a:solidFill>
                  <a:srgbClr val="002060"/>
                </a:solidFill>
                <a:latin typeface="Times New Roman" panose="02020603050405020304" pitchFamily="18" charset="0"/>
                <a:cs typeface="Times New Roman" panose="02020603050405020304" pitchFamily="18" charset="0"/>
              </a:rPr>
              <a:t> then all the circular nodes are at level 1, 2, …..k, where as all the square nodes are at </a:t>
            </a:r>
          </a:p>
          <a:p>
            <a:pPr algn="just"/>
            <a:r>
              <a:rPr lang="en-IN" sz="2000" b="1" dirty="0" smtClean="0">
                <a:solidFill>
                  <a:srgbClr val="002060"/>
                </a:solidFill>
                <a:latin typeface="Times New Roman" panose="02020603050405020304" pitchFamily="18" charset="0"/>
                <a:cs typeface="Times New Roman" panose="02020603050405020304" pitchFamily="18" charset="0"/>
              </a:rPr>
              <a:t>     level k and k+1 (root at the level 1).</a:t>
            </a:r>
          </a:p>
          <a:p>
            <a:pPr algn="just"/>
            <a:r>
              <a:rPr lang="en-IN" sz="2000" b="1" dirty="0" smtClean="0">
                <a:solidFill>
                  <a:srgbClr val="002060"/>
                </a:solidFill>
                <a:latin typeface="Times New Roman" panose="02020603050405020304" pitchFamily="18" charset="0"/>
                <a:cs typeface="Times New Roman" panose="02020603050405020304" pitchFamily="18" charset="0"/>
              </a:rPr>
              <a:t>The number of elements comparisons needed to </a:t>
            </a:r>
            <a:r>
              <a:rPr lang="en-IN" sz="2000" b="1" dirty="0" smtClean="0">
                <a:solidFill>
                  <a:srgbClr val="00B0F0"/>
                </a:solidFill>
                <a:latin typeface="Times New Roman" panose="02020603050405020304" pitchFamily="18" charset="0"/>
                <a:cs typeface="Times New Roman" panose="02020603050405020304" pitchFamily="18" charset="0"/>
              </a:rPr>
              <a:t>terminate at a circular node on </a:t>
            </a:r>
            <a:r>
              <a:rPr lang="en-IN" sz="2000" b="1" dirty="0" smtClean="0">
                <a:solidFill>
                  <a:srgbClr val="FF0000"/>
                </a:solidFill>
                <a:latin typeface="Times New Roman" panose="02020603050405020304" pitchFamily="18" charset="0"/>
                <a:cs typeface="Times New Roman" panose="02020603050405020304" pitchFamily="18" charset="0"/>
              </a:rPr>
              <a:t>level </a:t>
            </a:r>
            <a:r>
              <a:rPr lang="en-IN" sz="2000" b="1" dirty="0" err="1" smtClean="0">
                <a:solidFill>
                  <a:srgbClr val="FF0000"/>
                </a:solidFill>
                <a:latin typeface="Times New Roman" panose="02020603050405020304" pitchFamily="18" charset="0"/>
                <a:cs typeface="Times New Roman" panose="02020603050405020304" pitchFamily="18" charset="0"/>
              </a:rPr>
              <a:t>i</a:t>
            </a:r>
            <a:r>
              <a:rPr lang="en-IN" sz="2000" b="1" dirty="0" smtClean="0">
                <a:solidFill>
                  <a:srgbClr val="FF0000"/>
                </a:solidFill>
                <a:latin typeface="Times New Roman" panose="02020603050405020304" pitchFamily="18" charset="0"/>
                <a:cs typeface="Times New Roman" panose="02020603050405020304" pitchFamily="18" charset="0"/>
              </a:rPr>
              <a:t> is </a:t>
            </a:r>
            <a:r>
              <a:rPr lang="en-IN" sz="2000" b="1" dirty="0" err="1" smtClean="0">
                <a:solidFill>
                  <a:srgbClr val="FF0000"/>
                </a:solidFill>
                <a:latin typeface="Times New Roman" panose="02020603050405020304" pitchFamily="18" charset="0"/>
                <a:cs typeface="Times New Roman" panose="02020603050405020304" pitchFamily="18" charset="0"/>
              </a:rPr>
              <a:t>i</a:t>
            </a:r>
            <a:r>
              <a:rPr lang="en-IN" sz="2000" b="1" dirty="0">
                <a:solidFill>
                  <a:srgbClr val="00B0F0"/>
                </a:solidFill>
                <a:latin typeface="Times New Roman" panose="02020603050405020304" pitchFamily="18" charset="0"/>
                <a:cs typeface="Times New Roman" panose="02020603050405020304" pitchFamily="18" charset="0"/>
              </a:rPr>
              <a:t>,</a:t>
            </a:r>
            <a:endParaRPr lang="en-IN" sz="2000" b="1" dirty="0" smtClean="0">
              <a:solidFill>
                <a:srgbClr val="00B0F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whereas  the number of element comparisons needed to </a:t>
            </a:r>
            <a:r>
              <a:rPr lang="en-IN" sz="2000" b="1" dirty="0" smtClean="0">
                <a:solidFill>
                  <a:srgbClr val="00B0F0"/>
                </a:solidFill>
                <a:latin typeface="Times New Roman" panose="02020603050405020304" pitchFamily="18" charset="0"/>
                <a:cs typeface="Times New Roman" panose="02020603050405020304" pitchFamily="18" charset="0"/>
              </a:rPr>
              <a:t>terminate at a square node at </a:t>
            </a:r>
            <a:r>
              <a:rPr lang="en-IN" sz="2000" b="1" dirty="0" smtClean="0">
                <a:solidFill>
                  <a:srgbClr val="FF0000"/>
                </a:solidFill>
                <a:latin typeface="Times New Roman" panose="02020603050405020304" pitchFamily="18" charset="0"/>
                <a:cs typeface="Times New Roman" panose="02020603050405020304" pitchFamily="18" charset="0"/>
              </a:rPr>
              <a:t>level </a:t>
            </a:r>
            <a:r>
              <a:rPr lang="en-IN" sz="2000" b="1" dirty="0" err="1" smtClean="0">
                <a:solidFill>
                  <a:srgbClr val="FF0000"/>
                </a:solidFill>
                <a:latin typeface="Times New Roman" panose="02020603050405020304" pitchFamily="18" charset="0"/>
                <a:cs typeface="Times New Roman" panose="02020603050405020304" pitchFamily="18" charset="0"/>
              </a:rPr>
              <a:t>i</a:t>
            </a:r>
            <a:r>
              <a:rPr lang="en-IN" sz="2000" b="1" dirty="0" smtClean="0">
                <a:solidFill>
                  <a:srgbClr val="FF0000"/>
                </a:solidFill>
                <a:latin typeface="Times New Roman" panose="02020603050405020304" pitchFamily="18" charset="0"/>
                <a:cs typeface="Times New Roman" panose="02020603050405020304" pitchFamily="18" charset="0"/>
              </a:rPr>
              <a:t> is only i-1</a:t>
            </a:r>
            <a:r>
              <a:rPr lang="en-IN" sz="2000" b="1" dirty="0" smtClean="0">
                <a:solidFill>
                  <a:srgbClr val="002060"/>
                </a:solidFill>
                <a:latin typeface="Times New Roman" panose="02020603050405020304" pitchFamily="18" charset="0"/>
                <a:cs typeface="Times New Roman" panose="02020603050405020304" pitchFamily="18" charset="0"/>
              </a:rPr>
              <a:t>. </a:t>
            </a:r>
          </a:p>
          <a:p>
            <a:pPr algn="just"/>
            <a:r>
              <a:rPr lang="en-IN" sz="2000" b="1" dirty="0" smtClean="0">
                <a:solidFill>
                  <a:srgbClr val="002060"/>
                </a:solidFill>
                <a:latin typeface="Times New Roman" panose="02020603050405020304" pitchFamily="18" charset="0"/>
                <a:cs typeface="Times New Roman" panose="02020603050405020304" pitchFamily="18" charset="0"/>
              </a:rPr>
              <a:t>The theorem follows </a:t>
            </a:r>
          </a:p>
          <a:p>
            <a:pPr algn="just"/>
            <a:r>
              <a:rPr lang="en-IN" sz="2000" b="1" dirty="0" smtClean="0">
                <a:solidFill>
                  <a:srgbClr val="002060"/>
                </a:solidFill>
                <a:latin typeface="Times New Roman" panose="02020603050405020304" pitchFamily="18" charset="0"/>
                <a:cs typeface="Times New Roman" panose="02020603050405020304" pitchFamily="18" charset="0"/>
              </a:rPr>
              <a:t>        Successful searches                                                     Unsuccessful </a:t>
            </a:r>
            <a:r>
              <a:rPr lang="en-IN" sz="2000" b="1" dirty="0">
                <a:solidFill>
                  <a:srgbClr val="002060"/>
                </a:solidFill>
                <a:latin typeface="Times New Roman" panose="02020603050405020304" pitchFamily="18" charset="0"/>
                <a:cs typeface="Times New Roman" panose="02020603050405020304" pitchFamily="18" charset="0"/>
              </a:rPr>
              <a:t>searches                                                                </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B0F0"/>
                </a:solidFill>
                <a:latin typeface="Times New Roman" panose="02020603050405020304" pitchFamily="18" charset="0"/>
                <a:cs typeface="Times New Roman" panose="02020603050405020304" pitchFamily="18" charset="0"/>
              </a:rPr>
              <a:t>(</a:t>
            </a:r>
            <a:r>
              <a:rPr lang="en-IN" sz="2000" b="1" dirty="0">
                <a:solidFill>
                  <a:srgbClr val="00B0F0"/>
                </a:solidFill>
                <a:latin typeface="Times New Roman" panose="02020603050405020304" pitchFamily="18" charset="0"/>
                <a:cs typeface="Times New Roman" panose="02020603050405020304" pitchFamily="18" charset="0"/>
              </a:rPr>
              <a:t>log</a:t>
            </a:r>
            <a:r>
              <a:rPr lang="en-IN" sz="2000" b="1" baseline="-25000" dirty="0">
                <a:solidFill>
                  <a:srgbClr val="00B0F0"/>
                </a:solidFill>
                <a:latin typeface="Times New Roman" panose="02020603050405020304" pitchFamily="18" charset="0"/>
                <a:cs typeface="Times New Roman" panose="02020603050405020304" pitchFamily="18" charset="0"/>
              </a:rPr>
              <a:t>2</a:t>
            </a:r>
            <a:r>
              <a:rPr lang="en-IN" sz="2000" b="1" dirty="0">
                <a:solidFill>
                  <a:srgbClr val="00B0F0"/>
                </a:solidFill>
                <a:latin typeface="Times New Roman" panose="02020603050405020304" pitchFamily="18" charset="0"/>
                <a:cs typeface="Times New Roman" panose="02020603050405020304" pitchFamily="18" charset="0"/>
              </a:rPr>
              <a:t>n), </a:t>
            </a:r>
            <a:r>
              <a:rPr lang="en-IN" sz="2000" b="1" dirty="0" smtClean="0">
                <a:solidFill>
                  <a:srgbClr val="00B0F0"/>
                </a:solidFill>
                <a:latin typeface="Times New Roman" panose="02020603050405020304" pitchFamily="18" charset="0"/>
                <a:cs typeface="Times New Roman" panose="02020603050405020304" pitchFamily="18" charset="0"/>
              </a:rPr>
              <a:t>(</a:t>
            </a:r>
            <a:r>
              <a:rPr lang="en-IN" sz="2000" b="1" dirty="0">
                <a:solidFill>
                  <a:srgbClr val="00B0F0"/>
                </a:solidFill>
                <a:latin typeface="Times New Roman" panose="02020603050405020304" pitchFamily="18" charset="0"/>
                <a:cs typeface="Times New Roman" panose="02020603050405020304" pitchFamily="18" charset="0"/>
              </a:rPr>
              <a:t>log</a:t>
            </a:r>
            <a:r>
              <a:rPr lang="en-IN" sz="2000" b="1" baseline="-25000" dirty="0">
                <a:solidFill>
                  <a:srgbClr val="00B0F0"/>
                </a:solidFill>
                <a:latin typeface="Times New Roman" panose="02020603050405020304" pitchFamily="18" charset="0"/>
                <a:cs typeface="Times New Roman" panose="02020603050405020304" pitchFamily="18" charset="0"/>
              </a:rPr>
              <a:t>2</a:t>
            </a:r>
            <a:r>
              <a:rPr lang="en-IN" sz="2000" b="1" dirty="0">
                <a:solidFill>
                  <a:srgbClr val="00B0F0"/>
                </a:solidFill>
                <a:latin typeface="Times New Roman" panose="02020603050405020304" pitchFamily="18" charset="0"/>
                <a:cs typeface="Times New Roman" panose="02020603050405020304" pitchFamily="18" charset="0"/>
              </a:rPr>
              <a:t>n) and </a:t>
            </a:r>
            <a:r>
              <a:rPr lang="en-IN" sz="2000" b="1" dirty="0" smtClean="0">
                <a:solidFill>
                  <a:srgbClr val="00B0F0"/>
                </a:solidFill>
                <a:latin typeface="Times New Roman" panose="02020603050405020304" pitchFamily="18" charset="0"/>
                <a:cs typeface="Times New Roman" panose="02020603050405020304" pitchFamily="18" charset="0"/>
              </a:rPr>
              <a:t> </a:t>
            </a:r>
            <a:r>
              <a:rPr lang="en-IN" sz="2000" b="1" dirty="0">
                <a:solidFill>
                  <a:srgbClr val="00B0F0"/>
                </a:solidFill>
                <a:latin typeface="Times New Roman" panose="02020603050405020304" pitchFamily="18" charset="0"/>
                <a:cs typeface="Times New Roman" panose="02020603050405020304" pitchFamily="18" charset="0"/>
              </a:rPr>
              <a:t>(1) </a:t>
            </a:r>
            <a:r>
              <a:rPr lang="en-IN" sz="2000" b="1" dirty="0" smtClean="0">
                <a:solidFill>
                  <a:srgbClr val="00B0F0"/>
                </a:solidFill>
                <a:latin typeface="Times New Roman" panose="02020603050405020304" pitchFamily="18" charset="0"/>
                <a:cs typeface="Times New Roman" panose="02020603050405020304" pitchFamily="18" charset="0"/>
              </a:rPr>
              <a:t>                                                   (log</a:t>
            </a:r>
            <a:r>
              <a:rPr lang="en-IN" sz="2000" b="1" baseline="-25000" dirty="0" smtClean="0">
                <a:solidFill>
                  <a:srgbClr val="00B0F0"/>
                </a:solidFill>
                <a:latin typeface="Times New Roman" panose="02020603050405020304" pitchFamily="18" charset="0"/>
                <a:cs typeface="Times New Roman" panose="02020603050405020304" pitchFamily="18" charset="0"/>
              </a:rPr>
              <a:t>2</a:t>
            </a:r>
            <a:r>
              <a:rPr lang="en-IN" sz="2000" b="1" dirty="0" smtClean="0">
                <a:solidFill>
                  <a:srgbClr val="00B0F0"/>
                </a:solidFill>
                <a:latin typeface="Times New Roman" panose="02020603050405020304" pitchFamily="18" charset="0"/>
                <a:cs typeface="Times New Roman" panose="02020603050405020304" pitchFamily="18" charset="0"/>
              </a:rPr>
              <a:t>n</a:t>
            </a:r>
            <a:r>
              <a:rPr lang="en-IN" sz="2000" b="1" dirty="0">
                <a:solidFill>
                  <a:srgbClr val="00B0F0"/>
                </a:solidFill>
                <a:latin typeface="Times New Roman" panose="02020603050405020304" pitchFamily="18" charset="0"/>
                <a:cs typeface="Times New Roman" panose="02020603050405020304" pitchFamily="18" charset="0"/>
              </a:rPr>
              <a:t>), </a:t>
            </a:r>
            <a:r>
              <a:rPr lang="en-IN" sz="2000" b="1" dirty="0" smtClean="0">
                <a:solidFill>
                  <a:srgbClr val="00B0F0"/>
                </a:solidFill>
                <a:latin typeface="Times New Roman" panose="02020603050405020304" pitchFamily="18" charset="0"/>
                <a:cs typeface="Times New Roman" panose="02020603050405020304" pitchFamily="18" charset="0"/>
              </a:rPr>
              <a:t>(</a:t>
            </a:r>
            <a:r>
              <a:rPr lang="en-IN" sz="2000" b="1" dirty="0">
                <a:solidFill>
                  <a:srgbClr val="00B0F0"/>
                </a:solidFill>
                <a:latin typeface="Times New Roman" panose="02020603050405020304" pitchFamily="18" charset="0"/>
                <a:cs typeface="Times New Roman" panose="02020603050405020304" pitchFamily="18" charset="0"/>
              </a:rPr>
              <a:t>log</a:t>
            </a:r>
            <a:r>
              <a:rPr lang="en-IN" sz="2000" b="1" baseline="-25000" dirty="0">
                <a:solidFill>
                  <a:srgbClr val="00B0F0"/>
                </a:solidFill>
                <a:latin typeface="Times New Roman" panose="02020603050405020304" pitchFamily="18" charset="0"/>
                <a:cs typeface="Times New Roman" panose="02020603050405020304" pitchFamily="18" charset="0"/>
              </a:rPr>
              <a:t>2</a:t>
            </a:r>
            <a:r>
              <a:rPr lang="en-IN" sz="2000" b="1" dirty="0">
                <a:solidFill>
                  <a:srgbClr val="00B0F0"/>
                </a:solidFill>
                <a:latin typeface="Times New Roman" panose="02020603050405020304" pitchFamily="18" charset="0"/>
                <a:cs typeface="Times New Roman" panose="02020603050405020304" pitchFamily="18" charset="0"/>
              </a:rPr>
              <a:t>n) and </a:t>
            </a:r>
            <a:r>
              <a:rPr lang="en-IN" sz="2000" b="1" dirty="0" smtClean="0">
                <a:solidFill>
                  <a:srgbClr val="00B0F0"/>
                </a:solidFill>
                <a:latin typeface="Times New Roman" panose="02020603050405020304" pitchFamily="18" charset="0"/>
                <a:cs typeface="Times New Roman" panose="02020603050405020304" pitchFamily="18" charset="0"/>
              </a:rPr>
              <a:t> </a:t>
            </a:r>
            <a:r>
              <a:rPr lang="en-IN" sz="2000" b="1" dirty="0">
                <a:solidFill>
                  <a:srgbClr val="00B0F0"/>
                </a:solidFill>
                <a:latin typeface="Times New Roman" panose="02020603050405020304" pitchFamily="18" charset="0"/>
                <a:cs typeface="Times New Roman" panose="02020603050405020304" pitchFamily="18" charset="0"/>
              </a:rPr>
              <a:t>(log</a:t>
            </a:r>
            <a:r>
              <a:rPr lang="en-IN" sz="2000" b="1" baseline="-25000" dirty="0">
                <a:solidFill>
                  <a:srgbClr val="00B0F0"/>
                </a:solidFill>
                <a:latin typeface="Times New Roman" panose="02020603050405020304" pitchFamily="18" charset="0"/>
                <a:cs typeface="Times New Roman" panose="02020603050405020304" pitchFamily="18" charset="0"/>
              </a:rPr>
              <a:t>2</a:t>
            </a:r>
            <a:r>
              <a:rPr lang="en-IN" sz="2000" b="1" dirty="0">
                <a:solidFill>
                  <a:srgbClr val="00B0F0"/>
                </a:solidFill>
                <a:latin typeface="Times New Roman" panose="02020603050405020304" pitchFamily="18" charset="0"/>
                <a:cs typeface="Times New Roman" panose="02020603050405020304" pitchFamily="18" charset="0"/>
              </a:rPr>
              <a:t>n) </a:t>
            </a:r>
            <a:endParaRPr lang="en-IN" sz="2000" b="1" dirty="0" smtClean="0">
              <a:solidFill>
                <a:srgbClr val="00B0F0"/>
              </a:solidFill>
              <a:latin typeface="Times New Roman" panose="02020603050405020304" pitchFamily="18" charset="0"/>
              <a:cs typeface="Times New Roman" panose="02020603050405020304" pitchFamily="18" charset="0"/>
            </a:endParaRPr>
          </a:p>
          <a:p>
            <a:pPr algn="just"/>
            <a:r>
              <a:rPr lang="en-IN" sz="2000" b="1" dirty="0">
                <a:solidFill>
                  <a:srgbClr val="00B0F0"/>
                </a:solidFill>
                <a:latin typeface="Times New Roman" panose="02020603050405020304" pitchFamily="18" charset="0"/>
                <a:cs typeface="Times New Roman" panose="02020603050405020304" pitchFamily="18" charset="0"/>
              </a:rPr>
              <a:t> </a:t>
            </a:r>
            <a:r>
              <a:rPr lang="en-IN" sz="2000" b="1" dirty="0" smtClean="0">
                <a:solidFill>
                  <a:srgbClr val="00B0F0"/>
                </a:solidFill>
                <a:latin typeface="Times New Roman" panose="02020603050405020304" pitchFamily="18" charset="0"/>
                <a:cs typeface="Times New Roman" panose="02020603050405020304" pitchFamily="18" charset="0"/>
              </a:rPr>
              <a:t>    (Worst, average, best)                                                          </a:t>
            </a:r>
            <a:r>
              <a:rPr lang="en-IN" sz="2000" b="1" dirty="0">
                <a:solidFill>
                  <a:srgbClr val="00B0F0"/>
                </a:solidFill>
                <a:latin typeface="Times New Roman" panose="02020603050405020304" pitchFamily="18" charset="0"/>
                <a:cs typeface="Times New Roman" panose="02020603050405020304" pitchFamily="18" charset="0"/>
              </a:rPr>
              <a:t>(Worst, average, best)</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32</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68A2D8F6-0494-42DA-B184-4F835DECF15A}" type="datetime1">
              <a:rPr lang="en-IN" smtClean="0"/>
              <a:t>21-03-2026</a:t>
            </a:fld>
            <a:endParaRPr lang="en-IN"/>
          </a:p>
        </p:txBody>
      </p:sp>
    </p:spTree>
    <p:extLst>
      <p:ext uri="{BB962C8B-B14F-4D97-AF65-F5344CB8AC3E}">
        <p14:creationId xmlns:p14="http://schemas.microsoft.com/office/powerpoint/2010/main" val="33395878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43436" y="862739"/>
            <a:ext cx="12315217"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Time complexity analysis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Example: Write a binary decision tree for the following five elements  and also find the average number of comparisons in both successful and unsuccessful search.</a:t>
            </a:r>
          </a:p>
          <a:p>
            <a:pPr algn="just"/>
            <a:r>
              <a:rPr lang="en-IN" sz="2000" b="1" dirty="0" smtClean="0">
                <a:solidFill>
                  <a:srgbClr val="002060"/>
                </a:solidFill>
                <a:latin typeface="Times New Roman" panose="02020603050405020304" pitchFamily="18" charset="0"/>
                <a:cs typeface="Times New Roman" panose="02020603050405020304" pitchFamily="18" charset="0"/>
              </a:rPr>
              <a:t>List A is 10, 15, 19, 25, 96</a:t>
            </a:r>
          </a:p>
          <a:p>
            <a:pPr algn="just"/>
            <a:r>
              <a:rPr lang="en-IN" sz="2000" b="1" dirty="0" smtClean="0">
                <a:solidFill>
                  <a:srgbClr val="002060"/>
                </a:solidFill>
                <a:latin typeface="Times New Roman" panose="02020603050405020304" pitchFamily="18" charset="0"/>
                <a:cs typeface="Times New Roman" panose="02020603050405020304" pitchFamily="18" charset="0"/>
              </a:rPr>
              <a:t>Solution:</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33</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370846564"/>
              </p:ext>
            </p:extLst>
          </p:nvPr>
        </p:nvGraphicFramePr>
        <p:xfrm>
          <a:off x="143436" y="3003758"/>
          <a:ext cx="4422210" cy="1137920"/>
        </p:xfrm>
        <a:graphic>
          <a:graphicData uri="http://schemas.openxmlformats.org/drawingml/2006/table">
            <a:tbl>
              <a:tblPr firstRow="1" bandRow="1">
                <a:tableStyleId>{5C22544A-7EE6-4342-B048-85BDC9FD1C3A}</a:tableStyleId>
              </a:tblPr>
              <a:tblGrid>
                <a:gridCol w="737035"/>
                <a:gridCol w="737035"/>
                <a:gridCol w="737035"/>
                <a:gridCol w="737035"/>
                <a:gridCol w="737035"/>
                <a:gridCol w="737035"/>
              </a:tblGrid>
              <a:tr h="370840">
                <a:tc>
                  <a:txBody>
                    <a:bodyPr/>
                    <a:lstStyle/>
                    <a:p>
                      <a:r>
                        <a:rPr lang="en-IN" dirty="0" smtClean="0">
                          <a:solidFill>
                            <a:srgbClr val="FF0000"/>
                          </a:solidFill>
                        </a:rPr>
                        <a:t>Index</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   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370840">
                <a:tc>
                  <a:txBody>
                    <a:bodyPr/>
                    <a:lstStyle/>
                    <a:p>
                      <a:r>
                        <a:rPr lang="en-IN" dirty="0" smtClean="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 19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 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370840">
                <a:tc>
                  <a:txBody>
                    <a:bodyPr/>
                    <a:lstStyle/>
                    <a:p>
                      <a:r>
                        <a:rPr lang="en-IN" dirty="0" smtClean="0"/>
                        <a:t>NOC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2</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3</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1</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2</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3</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bl>
          </a:graphicData>
        </a:graphic>
      </p:graphicFrame>
      <p:sp>
        <p:nvSpPr>
          <p:cNvPr id="9" name="Oval 8"/>
          <p:cNvSpPr/>
          <p:nvPr/>
        </p:nvSpPr>
        <p:spPr>
          <a:xfrm>
            <a:off x="8124117" y="1973738"/>
            <a:ext cx="671209" cy="583659"/>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3</a:t>
            </a:r>
            <a:endParaRPr lang="en-IN" dirty="0">
              <a:solidFill>
                <a:srgbClr val="FF0000"/>
              </a:solidFill>
            </a:endParaRPr>
          </a:p>
        </p:txBody>
      </p:sp>
      <p:sp>
        <p:nvSpPr>
          <p:cNvPr id="10" name="Oval 9"/>
          <p:cNvSpPr/>
          <p:nvPr/>
        </p:nvSpPr>
        <p:spPr>
          <a:xfrm>
            <a:off x="9337559" y="2888377"/>
            <a:ext cx="671209" cy="583659"/>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4</a:t>
            </a:r>
            <a:endParaRPr lang="en-IN" dirty="0">
              <a:solidFill>
                <a:srgbClr val="FF0000"/>
              </a:solidFill>
            </a:endParaRPr>
          </a:p>
        </p:txBody>
      </p:sp>
      <p:sp>
        <p:nvSpPr>
          <p:cNvPr id="11" name="Oval 10"/>
          <p:cNvSpPr/>
          <p:nvPr/>
        </p:nvSpPr>
        <p:spPr>
          <a:xfrm>
            <a:off x="7325355" y="2803325"/>
            <a:ext cx="671209" cy="583659"/>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1</a:t>
            </a:r>
            <a:endParaRPr lang="en-IN" dirty="0">
              <a:solidFill>
                <a:srgbClr val="FF0000"/>
              </a:solidFill>
            </a:endParaRPr>
          </a:p>
        </p:txBody>
      </p:sp>
      <p:sp>
        <p:nvSpPr>
          <p:cNvPr id="12" name="Oval 11"/>
          <p:cNvSpPr/>
          <p:nvPr/>
        </p:nvSpPr>
        <p:spPr>
          <a:xfrm>
            <a:off x="10494321" y="3857431"/>
            <a:ext cx="671209" cy="583659"/>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5</a:t>
            </a:r>
            <a:endParaRPr lang="en-IN" dirty="0">
              <a:solidFill>
                <a:srgbClr val="FF0000"/>
              </a:solidFill>
            </a:endParaRPr>
          </a:p>
        </p:txBody>
      </p:sp>
      <p:sp>
        <p:nvSpPr>
          <p:cNvPr id="13" name="Oval 12"/>
          <p:cNvSpPr/>
          <p:nvPr/>
        </p:nvSpPr>
        <p:spPr>
          <a:xfrm>
            <a:off x="8021060" y="4017970"/>
            <a:ext cx="671209" cy="583659"/>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2</a:t>
            </a:r>
            <a:endParaRPr lang="en-IN" dirty="0">
              <a:solidFill>
                <a:srgbClr val="FF0000"/>
              </a:solidFill>
            </a:endParaRPr>
          </a:p>
        </p:txBody>
      </p:sp>
      <p:cxnSp>
        <p:nvCxnSpPr>
          <p:cNvPr id="15" name="Straight Connector 14"/>
          <p:cNvCxnSpPr/>
          <p:nvPr/>
        </p:nvCxnSpPr>
        <p:spPr>
          <a:xfrm flipH="1">
            <a:off x="7375345" y="2392888"/>
            <a:ext cx="747251" cy="5311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780001" y="2220626"/>
            <a:ext cx="724975" cy="6990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endCxn id="12" idx="0"/>
          </p:cNvCxnSpPr>
          <p:nvPr/>
        </p:nvCxnSpPr>
        <p:spPr>
          <a:xfrm>
            <a:off x="9995292" y="3206733"/>
            <a:ext cx="834634" cy="6506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996564" y="3166585"/>
            <a:ext cx="557558" cy="901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6253373" y="3990968"/>
            <a:ext cx="732817" cy="54570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Rectangle 22"/>
          <p:cNvSpPr/>
          <p:nvPr/>
        </p:nvSpPr>
        <p:spPr>
          <a:xfrm>
            <a:off x="8897333" y="3987488"/>
            <a:ext cx="732817" cy="54570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Rectangle 23"/>
          <p:cNvSpPr/>
          <p:nvPr/>
        </p:nvSpPr>
        <p:spPr>
          <a:xfrm>
            <a:off x="9834137" y="5039091"/>
            <a:ext cx="732817" cy="54570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Rectangle 24"/>
          <p:cNvSpPr/>
          <p:nvPr/>
        </p:nvSpPr>
        <p:spPr>
          <a:xfrm>
            <a:off x="7163795" y="5050323"/>
            <a:ext cx="732817" cy="54570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Rectangle 25"/>
          <p:cNvSpPr/>
          <p:nvPr/>
        </p:nvSpPr>
        <p:spPr>
          <a:xfrm>
            <a:off x="11322786" y="5013641"/>
            <a:ext cx="732817" cy="54570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8" name="Straight Connector 27"/>
          <p:cNvCxnSpPr>
            <a:stCxn id="22" idx="0"/>
            <a:endCxn id="11" idx="2"/>
          </p:cNvCxnSpPr>
          <p:nvPr/>
        </p:nvCxnSpPr>
        <p:spPr>
          <a:xfrm flipV="1">
            <a:off x="6619782" y="3095155"/>
            <a:ext cx="705573" cy="8958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a:off x="9109465" y="3279727"/>
            <a:ext cx="278618" cy="8003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1168352" y="4201086"/>
            <a:ext cx="723328" cy="8719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10314897" y="4365463"/>
            <a:ext cx="278701" cy="6904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H="1">
            <a:off x="7710316" y="4441090"/>
            <a:ext cx="349881" cy="5857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8570182" y="5105926"/>
            <a:ext cx="732817" cy="54570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1" name="Straight Connector 40"/>
          <p:cNvCxnSpPr/>
          <p:nvPr/>
        </p:nvCxnSpPr>
        <p:spPr>
          <a:xfrm>
            <a:off x="8717359" y="4406380"/>
            <a:ext cx="356479" cy="680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6883597" y="2443750"/>
            <a:ext cx="59310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L=1</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45" name="TextBox 44"/>
          <p:cNvSpPr txBox="1"/>
          <p:nvPr/>
        </p:nvSpPr>
        <p:spPr>
          <a:xfrm>
            <a:off x="9386044" y="2516705"/>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H=5</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47" name="TextBox 46"/>
          <p:cNvSpPr txBox="1"/>
          <p:nvPr/>
        </p:nvSpPr>
        <p:spPr>
          <a:xfrm>
            <a:off x="9328304" y="2231578"/>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7751382" y="3526235"/>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L=2</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49" name="TextBox 48"/>
          <p:cNvSpPr txBox="1"/>
          <p:nvPr/>
        </p:nvSpPr>
        <p:spPr>
          <a:xfrm>
            <a:off x="10765396" y="3285613"/>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L=5</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6033124" y="3201967"/>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L=1</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51" name="TextBox 50"/>
          <p:cNvSpPr txBox="1"/>
          <p:nvPr/>
        </p:nvSpPr>
        <p:spPr>
          <a:xfrm>
            <a:off x="7760426" y="3763287"/>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H=2</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2" name="TextBox 51"/>
          <p:cNvSpPr txBox="1"/>
          <p:nvPr/>
        </p:nvSpPr>
        <p:spPr>
          <a:xfrm>
            <a:off x="5994389" y="3455939"/>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H=0</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3" name="TextBox 52"/>
          <p:cNvSpPr txBox="1"/>
          <p:nvPr/>
        </p:nvSpPr>
        <p:spPr>
          <a:xfrm>
            <a:off x="10826472" y="3548945"/>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H=5</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5" name="TextBox 54"/>
          <p:cNvSpPr txBox="1"/>
          <p:nvPr/>
        </p:nvSpPr>
        <p:spPr>
          <a:xfrm>
            <a:off x="6827062" y="2689056"/>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H=2</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6" name="TextBox 55"/>
          <p:cNvSpPr txBox="1"/>
          <p:nvPr/>
        </p:nvSpPr>
        <p:spPr>
          <a:xfrm>
            <a:off x="9756435" y="4688509"/>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8" name="TextBox 57"/>
          <p:cNvSpPr txBox="1"/>
          <p:nvPr/>
        </p:nvSpPr>
        <p:spPr>
          <a:xfrm>
            <a:off x="8124974" y="4737893"/>
            <a:ext cx="59310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L=3</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9" name="TextBox 58"/>
          <p:cNvSpPr txBox="1"/>
          <p:nvPr/>
        </p:nvSpPr>
        <p:spPr>
          <a:xfrm>
            <a:off x="8124117" y="4920974"/>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H=2</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0" name="TextBox 59"/>
          <p:cNvSpPr txBox="1"/>
          <p:nvPr/>
        </p:nvSpPr>
        <p:spPr>
          <a:xfrm>
            <a:off x="9787307" y="4452237"/>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L=5</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61" name="TextBox 60"/>
          <p:cNvSpPr txBox="1"/>
          <p:nvPr/>
        </p:nvSpPr>
        <p:spPr>
          <a:xfrm>
            <a:off x="11577866" y="4304775"/>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L=6</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62" name="TextBox 61"/>
          <p:cNvSpPr txBox="1"/>
          <p:nvPr/>
        </p:nvSpPr>
        <p:spPr>
          <a:xfrm>
            <a:off x="11594332" y="4561678"/>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H=5</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3" name="TextBox 62"/>
          <p:cNvSpPr txBox="1"/>
          <p:nvPr/>
        </p:nvSpPr>
        <p:spPr>
          <a:xfrm>
            <a:off x="8633758" y="3271698"/>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64" name="TextBox 63"/>
          <p:cNvSpPr txBox="1"/>
          <p:nvPr/>
        </p:nvSpPr>
        <p:spPr>
          <a:xfrm>
            <a:off x="8646253" y="3519617"/>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H=3</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3" name="TextBox 72"/>
          <p:cNvSpPr txBox="1"/>
          <p:nvPr/>
        </p:nvSpPr>
        <p:spPr>
          <a:xfrm>
            <a:off x="7710316" y="1527281"/>
            <a:ext cx="59310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L=1</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4" name="TextBox 73"/>
          <p:cNvSpPr txBox="1"/>
          <p:nvPr/>
        </p:nvSpPr>
        <p:spPr>
          <a:xfrm>
            <a:off x="7682048" y="1793517"/>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H=5</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5" name="TextBox 74"/>
          <p:cNvSpPr txBox="1"/>
          <p:nvPr/>
        </p:nvSpPr>
        <p:spPr>
          <a:xfrm>
            <a:off x="7205384" y="4713317"/>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6" name="TextBox 75"/>
          <p:cNvSpPr txBox="1"/>
          <p:nvPr/>
        </p:nvSpPr>
        <p:spPr>
          <a:xfrm>
            <a:off x="7246826" y="4492588"/>
            <a:ext cx="59310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L=2</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7" name="TextBox 76"/>
          <p:cNvSpPr txBox="1"/>
          <p:nvPr/>
        </p:nvSpPr>
        <p:spPr>
          <a:xfrm>
            <a:off x="8250917" y="2550298"/>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19</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78" name="TextBox 77"/>
          <p:cNvSpPr txBox="1"/>
          <p:nvPr/>
        </p:nvSpPr>
        <p:spPr>
          <a:xfrm>
            <a:off x="9767203" y="3414512"/>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25</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79" name="TextBox 78"/>
          <p:cNvSpPr txBox="1"/>
          <p:nvPr/>
        </p:nvSpPr>
        <p:spPr>
          <a:xfrm>
            <a:off x="7300861" y="3331976"/>
            <a:ext cx="649637" cy="338554"/>
          </a:xfrm>
          <a:prstGeom prst="rect">
            <a:avLst/>
          </a:prstGeom>
          <a:noFill/>
        </p:spPr>
        <p:txBody>
          <a:bodyPr wrap="square" rtlCol="0">
            <a:spAutoFit/>
          </a:bodyPr>
          <a:lstStyle/>
          <a:p>
            <a:r>
              <a:rPr lang="en-IN" sz="1600" b="1" dirty="0">
                <a:solidFill>
                  <a:srgbClr val="0070C0"/>
                </a:solidFill>
                <a:latin typeface="Times New Roman" panose="02020603050405020304" pitchFamily="18" charset="0"/>
                <a:cs typeface="Times New Roman" panose="02020603050405020304" pitchFamily="18" charset="0"/>
              </a:rPr>
              <a:t>10</a:t>
            </a:r>
          </a:p>
        </p:txBody>
      </p:sp>
      <p:sp>
        <p:nvSpPr>
          <p:cNvPr id="80" name="TextBox 79"/>
          <p:cNvSpPr txBox="1"/>
          <p:nvPr/>
        </p:nvSpPr>
        <p:spPr>
          <a:xfrm>
            <a:off x="10865635" y="4401536"/>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96</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81" name="TextBox 80"/>
          <p:cNvSpPr txBox="1"/>
          <p:nvPr/>
        </p:nvSpPr>
        <p:spPr>
          <a:xfrm>
            <a:off x="8452923" y="4456710"/>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15</a:t>
            </a:r>
            <a:endParaRPr lang="en-IN" sz="1600" b="1" dirty="0">
              <a:solidFill>
                <a:srgbClr val="0070C0"/>
              </a:solidFill>
              <a:latin typeface="Times New Roman" panose="02020603050405020304" pitchFamily="18" charset="0"/>
              <a:cs typeface="Times New Roman" panose="02020603050405020304" pitchFamily="18" charset="0"/>
            </a:endParaRPr>
          </a:p>
        </p:txBody>
      </p:sp>
      <p:cxnSp>
        <p:nvCxnSpPr>
          <p:cNvPr id="89" name="Straight Connector 88"/>
          <p:cNvCxnSpPr>
            <a:stCxn id="9" idx="2"/>
          </p:cNvCxnSpPr>
          <p:nvPr/>
        </p:nvCxnSpPr>
        <p:spPr>
          <a:xfrm flipH="1">
            <a:off x="6682761" y="2265568"/>
            <a:ext cx="1441356" cy="41048"/>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639342" y="2096229"/>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-1</a:t>
            </a:r>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93" name="Straight Connector 92"/>
          <p:cNvCxnSpPr/>
          <p:nvPr/>
        </p:nvCxnSpPr>
        <p:spPr>
          <a:xfrm flipH="1" flipV="1">
            <a:off x="5414528" y="5317474"/>
            <a:ext cx="1469069" cy="10892"/>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5238871" y="2723526"/>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-2</a:t>
            </a:r>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95" name="Straight Connector 94"/>
          <p:cNvCxnSpPr/>
          <p:nvPr/>
        </p:nvCxnSpPr>
        <p:spPr>
          <a:xfrm flipH="1">
            <a:off x="4698460" y="4550289"/>
            <a:ext cx="1465625" cy="11389"/>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a:off x="5827386" y="3115761"/>
            <a:ext cx="1441356" cy="41048"/>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4953302" y="4169168"/>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-3</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8" name="TextBox 97"/>
          <p:cNvSpPr txBox="1"/>
          <p:nvPr/>
        </p:nvSpPr>
        <p:spPr>
          <a:xfrm>
            <a:off x="5105179" y="4947941"/>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4" name="Date Placeholder 13"/>
          <p:cNvSpPr>
            <a:spLocks noGrp="1"/>
          </p:cNvSpPr>
          <p:nvPr>
            <p:ph type="dt" sz="half" idx="10"/>
          </p:nvPr>
        </p:nvSpPr>
        <p:spPr/>
        <p:txBody>
          <a:bodyPr/>
          <a:lstStyle/>
          <a:p>
            <a:fld id="{6B2BEF41-0EED-4A8B-9908-27140BE30DA9}" type="datetime1">
              <a:rPr lang="en-IN" smtClean="0"/>
              <a:t>21-03-2026</a:t>
            </a:fld>
            <a:endParaRPr lang="en-IN"/>
          </a:p>
        </p:txBody>
      </p:sp>
    </p:spTree>
    <p:extLst>
      <p:ext uri="{BB962C8B-B14F-4D97-AF65-F5344CB8AC3E}">
        <p14:creationId xmlns:p14="http://schemas.microsoft.com/office/powerpoint/2010/main" val="60130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5"/>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7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29"/>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63"/>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6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23"/>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7"/>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2"/>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49"/>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53"/>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80"/>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31"/>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60"/>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56"/>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24"/>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30"/>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61"/>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62"/>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26"/>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89"/>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91"/>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96"/>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94"/>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95"/>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97"/>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93"/>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grpId="0" nodeType="clickEffect">
                                  <p:stCondLst>
                                    <p:cond delay="0"/>
                                  </p:stCondLst>
                                  <p:childTnLst>
                                    <p:set>
                                      <p:cBhvr>
                                        <p:cTn id="226"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22" grpId="0" animBg="1"/>
      <p:bldP spid="23" grpId="0" animBg="1"/>
      <p:bldP spid="24" grpId="0" animBg="1"/>
      <p:bldP spid="25" grpId="0" animBg="1"/>
      <p:bldP spid="26" grpId="0" animBg="1"/>
      <p:bldP spid="40" grpId="0" animBg="1"/>
      <p:bldP spid="44" grpId="0"/>
      <p:bldP spid="45" grpId="0"/>
      <p:bldP spid="47" grpId="0"/>
      <p:bldP spid="48" grpId="0"/>
      <p:bldP spid="49" grpId="0"/>
      <p:bldP spid="50" grpId="0"/>
      <p:bldP spid="51" grpId="0"/>
      <p:bldP spid="52" grpId="0"/>
      <p:bldP spid="53" grpId="0"/>
      <p:bldP spid="55" grpId="0"/>
      <p:bldP spid="56" grpId="0"/>
      <p:bldP spid="58" grpId="0"/>
      <p:bldP spid="59" grpId="0"/>
      <p:bldP spid="60" grpId="0"/>
      <p:bldP spid="61" grpId="0"/>
      <p:bldP spid="62" grpId="0"/>
      <p:bldP spid="63" grpId="0"/>
      <p:bldP spid="64" grpId="0"/>
      <p:bldP spid="73" grpId="0"/>
      <p:bldP spid="74" grpId="0"/>
      <p:bldP spid="75" grpId="0"/>
      <p:bldP spid="76" grpId="0"/>
      <p:bldP spid="77" grpId="0"/>
      <p:bldP spid="78" grpId="0"/>
      <p:bldP spid="79" grpId="0"/>
      <p:bldP spid="80" grpId="0"/>
      <p:bldP spid="81" grpId="0"/>
      <p:bldP spid="91" grpId="0"/>
      <p:bldP spid="94" grpId="0"/>
      <p:bldP spid="97" grpId="0"/>
      <p:bldP spid="9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6" y="862739"/>
                <a:ext cx="12315217"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Time complexity analysis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To determine the successful cases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Average number of comparisons in successful cases = </a:t>
                </a:r>
                <a14:m>
                  <m:oMath xmlns:m="http://schemas.openxmlformats.org/officeDocument/2006/math">
                    <m:f>
                      <m:fPr>
                        <m:ctrlPr>
                          <a:rPr lang="en-IN" sz="2000" b="1" i="1" smtClean="0">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𝑻𝒐𝒕𝒂𝒍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𝒏𝒖𝒎𝒃𝒆𝒓</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𝒐𝒇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𝒄𝒐𝒎𝒑𝒂𝒓𝒊𝒔𝒊𝒐𝒏𝒔</m:t>
                        </m:r>
                      </m:num>
                      <m:den>
                        <m:r>
                          <a:rPr lang="en-IN" sz="2000" b="1" i="1" smtClean="0">
                            <a:solidFill>
                              <a:srgbClr val="002060"/>
                            </a:solidFill>
                            <a:latin typeface="Cambria Math" panose="02040503050406030204" pitchFamily="18" charset="0"/>
                            <a:cs typeface="Times New Roman" panose="02020603050405020304" pitchFamily="18" charset="0"/>
                          </a:rPr>
                          <m:t>𝑻𝒐𝒕𝒂𝒍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𝒏𝒖𝒎𝒃𝒆𝒓</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𝒐𝒇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𝒔𝒖𝒄𝒄𝒆𝒔𝒔𝒇𝒖𝒍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𝒏𝒐𝒅𝒆𝒔</m:t>
                        </m:r>
                      </m:den>
                    </m:f>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𝟏𝟏</m:t>
                        </m:r>
                      </m:num>
                      <m:den>
                        <m:r>
                          <a:rPr lang="en-IN" sz="2000" b="1" i="1" smtClean="0">
                            <a:solidFill>
                              <a:srgbClr val="002060"/>
                            </a:solidFill>
                            <a:latin typeface="Cambria Math" panose="02040503050406030204" pitchFamily="18" charset="0"/>
                            <a:cs typeface="Times New Roman" panose="02020603050405020304" pitchFamily="18" charset="0"/>
                          </a:rPr>
                          <m:t>𝟓</m:t>
                        </m:r>
                      </m:den>
                    </m:f>
                  </m:oMath>
                </a14:m>
                <a:r>
                  <a:rPr lang="en-IN" sz="2000" b="1" dirty="0" smtClean="0">
                    <a:solidFill>
                      <a:srgbClr val="002060"/>
                    </a:solidFill>
                    <a:latin typeface="Times New Roman" panose="02020603050405020304" pitchFamily="18" charset="0"/>
                    <a:cs typeface="Times New Roman" panose="02020603050405020304" pitchFamily="18" charset="0"/>
                  </a:rPr>
                  <a:t> = 2.2</a:t>
                </a: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6" y="862739"/>
                <a:ext cx="12315217" cy="5627707"/>
              </a:xfrm>
              <a:blipFill rotWithShape="0">
                <a:blip r:embed="rId3"/>
                <a:stretch>
                  <a:fillRect l="-792" t="-1517"/>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34</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945781585"/>
              </p:ext>
            </p:extLst>
          </p:nvPr>
        </p:nvGraphicFramePr>
        <p:xfrm>
          <a:off x="1166239" y="2023173"/>
          <a:ext cx="6401880" cy="2397760"/>
        </p:xfrm>
        <a:graphic>
          <a:graphicData uri="http://schemas.openxmlformats.org/drawingml/2006/table">
            <a:tbl>
              <a:tblPr firstRow="1" bandRow="1">
                <a:tableStyleId>{5C22544A-7EE6-4342-B048-85BDC9FD1C3A}</a:tableStyleId>
              </a:tblPr>
              <a:tblGrid>
                <a:gridCol w="3810875"/>
                <a:gridCol w="2591005"/>
              </a:tblGrid>
              <a:tr h="370840">
                <a:tc>
                  <a:txBody>
                    <a:bodyPr/>
                    <a:lstStyle/>
                    <a:p>
                      <a:r>
                        <a:rPr lang="en-IN" dirty="0" smtClean="0">
                          <a:solidFill>
                            <a:srgbClr val="0070C0"/>
                          </a:solidFill>
                          <a:latin typeface="Times New Roman" panose="02020603050405020304" pitchFamily="18" charset="0"/>
                          <a:cs typeface="Times New Roman" panose="02020603050405020304" pitchFamily="18" charset="0"/>
                        </a:rPr>
                        <a:t>Number of nodes </a:t>
                      </a:r>
                    </a:p>
                    <a:p>
                      <a:r>
                        <a:rPr lang="en-IN" dirty="0" smtClean="0">
                          <a:solidFill>
                            <a:srgbClr val="0070C0"/>
                          </a:solidFill>
                          <a:latin typeface="Times New Roman" panose="02020603050405020304" pitchFamily="18" charset="0"/>
                          <a:cs typeface="Times New Roman" panose="02020603050405020304" pitchFamily="18" charset="0"/>
                        </a:rPr>
                        <a:t>Level number*Number of successful nodes in each level</a:t>
                      </a:r>
                      <a:endParaRPr lang="en-IN"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800" b="1" kern="1200" dirty="0" smtClean="0">
                          <a:solidFill>
                            <a:srgbClr val="0070C0"/>
                          </a:solidFill>
                          <a:latin typeface="Times New Roman" panose="02020603050405020304" pitchFamily="18" charset="0"/>
                          <a:ea typeface="+mn-ea"/>
                          <a:cs typeface="Times New Roman" panose="02020603050405020304" pitchFamily="18" charset="0"/>
                        </a:rPr>
                        <a:t>Comparisons </a:t>
                      </a:r>
                      <a:endParaRPr lang="en-IN" sz="1800" b="1" kern="1200" dirty="0">
                        <a:solidFill>
                          <a:srgbClr val="0070C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1*1</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1</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2*2</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4</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3*2</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6</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gridSpan="2">
                  <a:txBody>
                    <a:bodyPr/>
                    <a:lstStyle/>
                    <a:p>
                      <a:pPr algn="ctr"/>
                      <a:r>
                        <a:rPr lang="en-IN" b="1" dirty="0" smtClean="0">
                          <a:solidFill>
                            <a:srgbClr val="FF0000"/>
                          </a:solidFill>
                        </a:rPr>
                        <a:t>Total</a:t>
                      </a:r>
                      <a:r>
                        <a:rPr lang="en-IN" b="1" baseline="0" dirty="0" smtClean="0">
                          <a:solidFill>
                            <a:srgbClr val="FF0000"/>
                          </a:solidFill>
                        </a:rPr>
                        <a:t> comparisons = 11</a:t>
                      </a:r>
                      <a:endParaRPr lang="en-IN"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pPr algn="ct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sp>
        <p:nvSpPr>
          <p:cNvPr id="9" name="Date Placeholder 8"/>
          <p:cNvSpPr>
            <a:spLocks noGrp="1"/>
          </p:cNvSpPr>
          <p:nvPr>
            <p:ph type="dt" sz="half" idx="10"/>
          </p:nvPr>
        </p:nvSpPr>
        <p:spPr/>
        <p:txBody>
          <a:bodyPr/>
          <a:lstStyle/>
          <a:p>
            <a:fld id="{DE2C4FAE-9696-4C96-BA8C-295A38D196E9}" type="datetime1">
              <a:rPr lang="en-IN" smtClean="0"/>
              <a:t>21-03-2026</a:t>
            </a:fld>
            <a:endParaRPr lang="en-IN"/>
          </a:p>
        </p:txBody>
      </p:sp>
    </p:spTree>
    <p:extLst>
      <p:ext uri="{BB962C8B-B14F-4D97-AF65-F5344CB8AC3E}">
        <p14:creationId xmlns:p14="http://schemas.microsoft.com/office/powerpoint/2010/main" val="16378738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6" y="862739"/>
                <a:ext cx="12315217"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Time complexity analysis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To determine the unsuccessful cases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Average number of comparisons in unsuccessful cases = </a:t>
                </a:r>
                <a14:m>
                  <m:oMath xmlns:m="http://schemas.openxmlformats.org/officeDocument/2006/math">
                    <m:f>
                      <m:fPr>
                        <m:ctrlPr>
                          <a:rPr lang="en-IN" sz="2000" b="1" i="1" smtClean="0">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𝑻𝒐𝒕𝒂𝒍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𝒏𝒖𝒎𝒃𝒆𝒓</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𝒐𝒇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𝒄𝒐𝒎𝒑𝒂𝒓𝒊𝒔𝒊𝒐𝒏𝒔</m:t>
                        </m:r>
                      </m:num>
                      <m:den>
                        <m:r>
                          <a:rPr lang="en-IN" sz="2000" b="1" i="1" smtClean="0">
                            <a:solidFill>
                              <a:srgbClr val="002060"/>
                            </a:solidFill>
                            <a:latin typeface="Cambria Math" panose="02040503050406030204" pitchFamily="18" charset="0"/>
                            <a:cs typeface="Times New Roman" panose="02020603050405020304" pitchFamily="18" charset="0"/>
                          </a:rPr>
                          <m:t>𝑻𝒐𝒕𝒂𝒍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𝒏𝒖𝒎𝒃𝒆𝒓</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𝒐𝒇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𝒖𝒏𝒔𝒖𝒄𝒄𝒆𝒔𝒔𝒇𝒖𝒍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𝒏𝒐𝒅𝒆𝒔</m:t>
                        </m:r>
                      </m:den>
                    </m:f>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𝟏𝟔</m:t>
                        </m:r>
                      </m:num>
                      <m:den>
                        <m:r>
                          <a:rPr lang="en-IN" sz="2000" b="1" i="1" smtClean="0">
                            <a:solidFill>
                              <a:srgbClr val="002060"/>
                            </a:solidFill>
                            <a:latin typeface="Cambria Math" panose="02040503050406030204" pitchFamily="18" charset="0"/>
                            <a:cs typeface="Times New Roman" panose="02020603050405020304" pitchFamily="18" charset="0"/>
                          </a:rPr>
                          <m:t>𝟔</m:t>
                        </m:r>
                      </m:den>
                    </m:f>
                  </m:oMath>
                </a14:m>
                <a:r>
                  <a:rPr lang="en-IN" sz="2000" b="1" dirty="0" smtClean="0">
                    <a:solidFill>
                      <a:srgbClr val="002060"/>
                    </a:solidFill>
                    <a:latin typeface="Times New Roman" panose="02020603050405020304" pitchFamily="18" charset="0"/>
                    <a:cs typeface="Times New Roman" panose="02020603050405020304" pitchFamily="18" charset="0"/>
                  </a:rPr>
                  <a:t> = 2.6</a:t>
                </a: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6" y="862739"/>
                <a:ext cx="12315217" cy="5627707"/>
              </a:xfrm>
              <a:blipFill rotWithShape="0">
                <a:blip r:embed="rId3"/>
                <a:stretch>
                  <a:fillRect l="-792" t="-1517"/>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35</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4121344268"/>
              </p:ext>
            </p:extLst>
          </p:nvPr>
        </p:nvGraphicFramePr>
        <p:xfrm>
          <a:off x="1166239" y="2023173"/>
          <a:ext cx="6401880" cy="2026920"/>
        </p:xfrm>
        <a:graphic>
          <a:graphicData uri="http://schemas.openxmlformats.org/drawingml/2006/table">
            <a:tbl>
              <a:tblPr firstRow="1" bandRow="1">
                <a:tableStyleId>{5C22544A-7EE6-4342-B048-85BDC9FD1C3A}</a:tableStyleId>
              </a:tblPr>
              <a:tblGrid>
                <a:gridCol w="3810875"/>
                <a:gridCol w="2591005"/>
              </a:tblGrid>
              <a:tr h="370840">
                <a:tc>
                  <a:txBody>
                    <a:bodyPr/>
                    <a:lstStyle/>
                    <a:p>
                      <a:pPr algn="ctr"/>
                      <a:r>
                        <a:rPr lang="en-IN" dirty="0" smtClean="0">
                          <a:solidFill>
                            <a:srgbClr val="FF0000"/>
                          </a:solidFill>
                          <a:latin typeface="Times New Roman" panose="02020603050405020304" pitchFamily="18" charset="0"/>
                          <a:cs typeface="Times New Roman" panose="02020603050405020304" pitchFamily="18" charset="0"/>
                        </a:rPr>
                        <a:t>Number of nodes </a:t>
                      </a:r>
                    </a:p>
                    <a:p>
                      <a:r>
                        <a:rPr lang="en-IN" dirty="0" smtClean="0">
                          <a:solidFill>
                            <a:srgbClr val="0070C0"/>
                          </a:solidFill>
                          <a:latin typeface="Times New Roman" panose="02020603050405020304" pitchFamily="18" charset="0"/>
                          <a:cs typeface="Times New Roman" panose="02020603050405020304" pitchFamily="18" charset="0"/>
                        </a:rPr>
                        <a:t>Number of unsuccessful nodes in each level * Level number-1</a:t>
                      </a:r>
                      <a:endParaRPr lang="en-IN"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800" b="1" kern="1200" dirty="0" smtClean="0">
                          <a:solidFill>
                            <a:srgbClr val="0070C0"/>
                          </a:solidFill>
                          <a:latin typeface="Times New Roman" panose="02020603050405020304" pitchFamily="18" charset="0"/>
                          <a:ea typeface="+mn-ea"/>
                          <a:cs typeface="Times New Roman" panose="02020603050405020304" pitchFamily="18" charset="0"/>
                        </a:rPr>
                        <a:t>Comparisons </a:t>
                      </a:r>
                      <a:endParaRPr lang="en-IN" sz="1800" b="1" kern="1200" dirty="0">
                        <a:solidFill>
                          <a:srgbClr val="0070C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2*(3-1)</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4</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4*(4-1)</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12</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gridSpan="2">
                  <a:txBody>
                    <a:bodyPr/>
                    <a:lstStyle/>
                    <a:p>
                      <a:pPr algn="ctr"/>
                      <a:r>
                        <a:rPr lang="en-IN" b="1" dirty="0" smtClean="0">
                          <a:solidFill>
                            <a:srgbClr val="FF0000"/>
                          </a:solidFill>
                        </a:rPr>
                        <a:t>Total</a:t>
                      </a:r>
                      <a:r>
                        <a:rPr lang="en-IN" b="1" baseline="0" dirty="0" smtClean="0">
                          <a:solidFill>
                            <a:srgbClr val="FF0000"/>
                          </a:solidFill>
                        </a:rPr>
                        <a:t> comparisons = 16</a:t>
                      </a:r>
                      <a:endParaRPr lang="en-IN"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pPr algn="ct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sp>
        <p:nvSpPr>
          <p:cNvPr id="9" name="Date Placeholder 8"/>
          <p:cNvSpPr>
            <a:spLocks noGrp="1"/>
          </p:cNvSpPr>
          <p:nvPr>
            <p:ph type="dt" sz="half" idx="10"/>
          </p:nvPr>
        </p:nvSpPr>
        <p:spPr/>
        <p:txBody>
          <a:bodyPr/>
          <a:lstStyle/>
          <a:p>
            <a:fld id="{CCC9A5FC-F1F5-4F92-90BC-650892DDC037}" type="datetime1">
              <a:rPr lang="en-IN" smtClean="0"/>
              <a:t>21-03-2026</a:t>
            </a:fld>
            <a:endParaRPr lang="en-IN"/>
          </a:p>
        </p:txBody>
      </p:sp>
    </p:spTree>
    <p:extLst>
      <p:ext uri="{BB962C8B-B14F-4D97-AF65-F5344CB8AC3E}">
        <p14:creationId xmlns:p14="http://schemas.microsoft.com/office/powerpoint/2010/main" val="19798801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43436" y="862739"/>
            <a:ext cx="12315217"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Time complexity analysis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Example: Write a binary decision tree for the following five elements  and also find the average number of comparisons in both successful and unsuccessful search.</a:t>
            </a:r>
          </a:p>
          <a:p>
            <a:pPr algn="just"/>
            <a:r>
              <a:rPr lang="en-IN" sz="2000" b="1" dirty="0" smtClean="0">
                <a:solidFill>
                  <a:srgbClr val="002060"/>
                </a:solidFill>
                <a:latin typeface="Times New Roman" panose="02020603050405020304" pitchFamily="18" charset="0"/>
                <a:cs typeface="Times New Roman" panose="02020603050405020304" pitchFamily="18" charset="0"/>
              </a:rPr>
              <a:t>List A is -15, -6, 0, 7, 9, 23, 24, 82, 101</a:t>
            </a:r>
          </a:p>
          <a:p>
            <a:pPr algn="just"/>
            <a:r>
              <a:rPr lang="en-IN" sz="2000" b="1" dirty="0" smtClean="0">
                <a:solidFill>
                  <a:srgbClr val="002060"/>
                </a:solidFill>
                <a:latin typeface="Times New Roman" panose="02020603050405020304" pitchFamily="18" charset="0"/>
                <a:cs typeface="Times New Roman" panose="02020603050405020304" pitchFamily="18" charset="0"/>
              </a:rPr>
              <a:t>Solution:</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36</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983606534"/>
              </p:ext>
            </p:extLst>
          </p:nvPr>
        </p:nvGraphicFramePr>
        <p:xfrm>
          <a:off x="143428" y="3003758"/>
          <a:ext cx="6409771" cy="1442720"/>
        </p:xfrm>
        <a:graphic>
          <a:graphicData uri="http://schemas.openxmlformats.org/drawingml/2006/table">
            <a:tbl>
              <a:tblPr firstRow="1" bandRow="1">
                <a:tableStyleId>{5C22544A-7EE6-4342-B048-85BDC9FD1C3A}</a:tableStyleId>
              </a:tblPr>
              <a:tblGrid>
                <a:gridCol w="770756"/>
                <a:gridCol w="658752"/>
                <a:gridCol w="493424"/>
                <a:gridCol w="640977"/>
                <a:gridCol w="640977"/>
                <a:gridCol w="640977"/>
                <a:gridCol w="640977"/>
                <a:gridCol w="640977"/>
                <a:gridCol w="640977"/>
                <a:gridCol w="640977"/>
              </a:tblGrid>
              <a:tr h="370840">
                <a:tc>
                  <a:txBody>
                    <a:bodyPr/>
                    <a:lstStyle/>
                    <a:p>
                      <a:r>
                        <a:rPr lang="en-IN" dirty="0" smtClean="0">
                          <a:solidFill>
                            <a:srgbClr val="FF0000"/>
                          </a:solidFill>
                        </a:rPr>
                        <a:t>Index</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   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8</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9</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62296">
                <a:tc>
                  <a:txBody>
                    <a:bodyPr/>
                    <a:lstStyle/>
                    <a:p>
                      <a:r>
                        <a:rPr lang="en-IN" dirty="0" smtClean="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 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1" dirty="0" smtClean="0">
                          <a:solidFill>
                            <a:srgbClr val="002060"/>
                          </a:solidFill>
                          <a:latin typeface="Times New Roman" panose="02020603050405020304" pitchFamily="18" charset="0"/>
                          <a:cs typeface="Times New Roman" panose="02020603050405020304" pitchFamily="18" charset="0"/>
                        </a:rPr>
                        <a:t>101</a:t>
                      </a:r>
                    </a:p>
                    <a:p>
                      <a:pPr algn="ctr"/>
                      <a:endParaRPr lang="en-IN" sz="2000" b="1" dirty="0" smtClean="0">
                        <a:solidFill>
                          <a:srgbClr val="00206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370840">
                <a:tc>
                  <a:txBody>
                    <a:bodyPr/>
                    <a:lstStyle/>
                    <a:p>
                      <a:r>
                        <a:rPr lang="en-IN" dirty="0" smtClean="0"/>
                        <a:t>NOC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bl>
          </a:graphicData>
        </a:graphic>
      </p:graphicFrame>
      <p:sp>
        <p:nvSpPr>
          <p:cNvPr id="9" name="Date Placeholder 8"/>
          <p:cNvSpPr>
            <a:spLocks noGrp="1"/>
          </p:cNvSpPr>
          <p:nvPr>
            <p:ph type="dt" sz="half" idx="10"/>
          </p:nvPr>
        </p:nvSpPr>
        <p:spPr/>
        <p:txBody>
          <a:bodyPr/>
          <a:lstStyle/>
          <a:p>
            <a:fld id="{2B41D9D1-6C55-46E9-8256-80C2C87AA66B}" type="datetime1">
              <a:rPr lang="en-IN" smtClean="0"/>
              <a:t>21-03-2026</a:t>
            </a:fld>
            <a:endParaRPr lang="en-IN"/>
          </a:p>
        </p:txBody>
      </p:sp>
    </p:spTree>
    <p:extLst>
      <p:ext uri="{BB962C8B-B14F-4D97-AF65-F5344CB8AC3E}">
        <p14:creationId xmlns:p14="http://schemas.microsoft.com/office/powerpoint/2010/main" val="27586831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803" y="112274"/>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43436" y="862739"/>
            <a:ext cx="12315217" cy="5627707"/>
          </a:xfrm>
        </p:spPr>
        <p:txBody>
          <a:bodyPr>
            <a:normAutofit/>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Solution:</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37</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317499526"/>
              </p:ext>
            </p:extLst>
          </p:nvPr>
        </p:nvGraphicFramePr>
        <p:xfrm>
          <a:off x="1543544" y="705950"/>
          <a:ext cx="6409771" cy="1203976"/>
        </p:xfrm>
        <a:graphic>
          <a:graphicData uri="http://schemas.openxmlformats.org/drawingml/2006/table">
            <a:tbl>
              <a:tblPr firstRow="1" bandRow="1">
                <a:tableStyleId>{5C22544A-7EE6-4342-B048-85BDC9FD1C3A}</a:tableStyleId>
              </a:tblPr>
              <a:tblGrid>
                <a:gridCol w="770756"/>
                <a:gridCol w="658752"/>
                <a:gridCol w="493424"/>
                <a:gridCol w="640977"/>
                <a:gridCol w="640977"/>
                <a:gridCol w="640977"/>
                <a:gridCol w="640977"/>
                <a:gridCol w="640977"/>
                <a:gridCol w="640977"/>
                <a:gridCol w="640977"/>
              </a:tblGrid>
              <a:tr h="370840">
                <a:tc>
                  <a:txBody>
                    <a:bodyPr/>
                    <a:lstStyle/>
                    <a:p>
                      <a:r>
                        <a:rPr lang="en-IN" dirty="0" smtClean="0">
                          <a:solidFill>
                            <a:srgbClr val="FF0000"/>
                          </a:solidFill>
                        </a:rPr>
                        <a:t>Index</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   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8</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9</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62296">
                <a:tc>
                  <a:txBody>
                    <a:bodyPr/>
                    <a:lstStyle/>
                    <a:p>
                      <a:r>
                        <a:rPr lang="en-IN" dirty="0" smtClean="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 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1" dirty="0" smtClean="0">
                          <a:solidFill>
                            <a:srgbClr val="002060"/>
                          </a:solidFill>
                          <a:latin typeface="Times New Roman" panose="02020603050405020304" pitchFamily="18" charset="0"/>
                          <a:cs typeface="Times New Roman" panose="02020603050405020304" pitchFamily="18" charset="0"/>
                        </a:rPr>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370840">
                <a:tc>
                  <a:txBody>
                    <a:bodyPr/>
                    <a:lstStyle/>
                    <a:p>
                      <a:r>
                        <a:rPr lang="en-IN" dirty="0" smtClean="0"/>
                        <a:t>NOC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3</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2</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3</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4</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1</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3</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2</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3</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4</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bl>
          </a:graphicData>
        </a:graphic>
      </p:graphicFrame>
      <p:sp>
        <p:nvSpPr>
          <p:cNvPr id="9" name="Oval 8"/>
          <p:cNvSpPr/>
          <p:nvPr/>
        </p:nvSpPr>
        <p:spPr>
          <a:xfrm>
            <a:off x="4362856" y="2269643"/>
            <a:ext cx="531778" cy="419413"/>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5</a:t>
            </a:r>
            <a:endParaRPr lang="en-IN" dirty="0">
              <a:solidFill>
                <a:srgbClr val="FF0000"/>
              </a:solidFill>
            </a:endParaRPr>
          </a:p>
        </p:txBody>
      </p:sp>
      <p:sp>
        <p:nvSpPr>
          <p:cNvPr id="10" name="Oval 9"/>
          <p:cNvSpPr/>
          <p:nvPr/>
        </p:nvSpPr>
        <p:spPr>
          <a:xfrm>
            <a:off x="3721717" y="3622893"/>
            <a:ext cx="532638" cy="466946"/>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3</a:t>
            </a:r>
            <a:endParaRPr lang="en-IN" dirty="0">
              <a:solidFill>
                <a:srgbClr val="FF0000"/>
              </a:solidFill>
            </a:endParaRPr>
          </a:p>
        </p:txBody>
      </p:sp>
      <p:sp>
        <p:nvSpPr>
          <p:cNvPr id="11" name="Oval 10"/>
          <p:cNvSpPr/>
          <p:nvPr/>
        </p:nvSpPr>
        <p:spPr>
          <a:xfrm>
            <a:off x="3172176" y="2891949"/>
            <a:ext cx="519948" cy="37139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2</a:t>
            </a:r>
            <a:endParaRPr lang="en-IN" dirty="0">
              <a:solidFill>
                <a:srgbClr val="FF0000"/>
              </a:solidFill>
            </a:endParaRPr>
          </a:p>
        </p:txBody>
      </p:sp>
      <p:sp>
        <p:nvSpPr>
          <p:cNvPr id="12" name="Oval 11"/>
          <p:cNvSpPr/>
          <p:nvPr/>
        </p:nvSpPr>
        <p:spPr>
          <a:xfrm>
            <a:off x="4132521" y="4331080"/>
            <a:ext cx="547131"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4</a:t>
            </a:r>
            <a:endParaRPr lang="en-IN" dirty="0">
              <a:solidFill>
                <a:srgbClr val="FF0000"/>
              </a:solidFill>
            </a:endParaRPr>
          </a:p>
        </p:txBody>
      </p:sp>
      <p:sp>
        <p:nvSpPr>
          <p:cNvPr id="13" name="Oval 12"/>
          <p:cNvSpPr/>
          <p:nvPr/>
        </p:nvSpPr>
        <p:spPr>
          <a:xfrm>
            <a:off x="2186656" y="3596392"/>
            <a:ext cx="472752" cy="419282"/>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1</a:t>
            </a:r>
            <a:endParaRPr lang="en-IN" dirty="0">
              <a:solidFill>
                <a:srgbClr val="FF0000"/>
              </a:solidFill>
            </a:endParaRPr>
          </a:p>
        </p:txBody>
      </p:sp>
      <p:cxnSp>
        <p:nvCxnSpPr>
          <p:cNvPr id="15" name="Straight Connector 14"/>
          <p:cNvCxnSpPr/>
          <p:nvPr/>
        </p:nvCxnSpPr>
        <p:spPr>
          <a:xfrm flipH="1">
            <a:off x="3462596" y="2608197"/>
            <a:ext cx="938474" cy="2870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9" idx="6"/>
          </p:cNvCxnSpPr>
          <p:nvPr/>
        </p:nvCxnSpPr>
        <p:spPr>
          <a:xfrm>
            <a:off x="4894634" y="2479350"/>
            <a:ext cx="1545471" cy="5123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239706" y="3948585"/>
            <a:ext cx="222009" cy="3828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684622" y="3084399"/>
            <a:ext cx="437598" cy="55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1563820" y="4331951"/>
            <a:ext cx="511300" cy="36382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Rectangle 22"/>
          <p:cNvSpPr/>
          <p:nvPr/>
        </p:nvSpPr>
        <p:spPr>
          <a:xfrm>
            <a:off x="2634785" y="4383758"/>
            <a:ext cx="511241" cy="34982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9" name="Straight Connector 28"/>
          <p:cNvCxnSpPr/>
          <p:nvPr/>
        </p:nvCxnSpPr>
        <p:spPr>
          <a:xfrm flipH="1">
            <a:off x="2515244" y="3101807"/>
            <a:ext cx="660103" cy="5232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616522" y="4697688"/>
            <a:ext cx="539095" cy="7334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3622195" y="4062698"/>
            <a:ext cx="193675" cy="36884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H="1">
            <a:off x="1610372" y="3892429"/>
            <a:ext cx="596681" cy="4306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639439" y="3904540"/>
            <a:ext cx="390658" cy="4811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737724" y="2059669"/>
            <a:ext cx="59310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L=1</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45" name="TextBox 44"/>
          <p:cNvSpPr txBox="1"/>
          <p:nvPr/>
        </p:nvSpPr>
        <p:spPr>
          <a:xfrm>
            <a:off x="6117832" y="2534958"/>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H=9</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47" name="TextBox 46"/>
          <p:cNvSpPr txBox="1"/>
          <p:nvPr/>
        </p:nvSpPr>
        <p:spPr>
          <a:xfrm>
            <a:off x="4068967" y="3277893"/>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L=3</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762285" y="3765669"/>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L=2</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49" name="TextBox 48"/>
          <p:cNvSpPr txBox="1"/>
          <p:nvPr/>
        </p:nvSpPr>
        <p:spPr>
          <a:xfrm>
            <a:off x="7512181" y="3059588"/>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L=8</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1040645" y="4309759"/>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L=1</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52" name="TextBox 51"/>
          <p:cNvSpPr txBox="1"/>
          <p:nvPr/>
        </p:nvSpPr>
        <p:spPr>
          <a:xfrm>
            <a:off x="1025135" y="4609355"/>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H=0</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3" name="TextBox 52"/>
          <p:cNvSpPr txBox="1"/>
          <p:nvPr/>
        </p:nvSpPr>
        <p:spPr>
          <a:xfrm>
            <a:off x="5288398" y="3924978"/>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H=5</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5" name="TextBox 54"/>
          <p:cNvSpPr txBox="1"/>
          <p:nvPr/>
        </p:nvSpPr>
        <p:spPr>
          <a:xfrm>
            <a:off x="2612611" y="2744002"/>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6" name="TextBox 55"/>
          <p:cNvSpPr txBox="1"/>
          <p:nvPr/>
        </p:nvSpPr>
        <p:spPr>
          <a:xfrm>
            <a:off x="4989981" y="5029241"/>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8" name="TextBox 57"/>
          <p:cNvSpPr txBox="1"/>
          <p:nvPr/>
        </p:nvSpPr>
        <p:spPr>
          <a:xfrm>
            <a:off x="4439148" y="4001067"/>
            <a:ext cx="59310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9" name="TextBox 58"/>
          <p:cNvSpPr txBox="1"/>
          <p:nvPr/>
        </p:nvSpPr>
        <p:spPr>
          <a:xfrm>
            <a:off x="4585335" y="4203096"/>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0" name="TextBox 59"/>
          <p:cNvSpPr txBox="1"/>
          <p:nvPr/>
        </p:nvSpPr>
        <p:spPr>
          <a:xfrm>
            <a:off x="4910154" y="4748604"/>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L=5</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61" name="TextBox 60"/>
          <p:cNvSpPr txBox="1"/>
          <p:nvPr/>
        </p:nvSpPr>
        <p:spPr>
          <a:xfrm>
            <a:off x="5631623" y="3052091"/>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L=6</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62" name="TextBox 61"/>
          <p:cNvSpPr txBox="1"/>
          <p:nvPr/>
        </p:nvSpPr>
        <p:spPr>
          <a:xfrm>
            <a:off x="5669859" y="3288101"/>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H=6</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3" name="TextBox 62"/>
          <p:cNvSpPr txBox="1"/>
          <p:nvPr/>
        </p:nvSpPr>
        <p:spPr>
          <a:xfrm>
            <a:off x="6081052" y="2263404"/>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L=6</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64" name="TextBox 63"/>
          <p:cNvSpPr txBox="1"/>
          <p:nvPr/>
        </p:nvSpPr>
        <p:spPr>
          <a:xfrm>
            <a:off x="3765786" y="4819193"/>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H=3</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3" name="TextBox 72"/>
          <p:cNvSpPr txBox="1"/>
          <p:nvPr/>
        </p:nvSpPr>
        <p:spPr>
          <a:xfrm>
            <a:off x="2694335" y="2559542"/>
            <a:ext cx="59310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L=1</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4" name="TextBox 73"/>
          <p:cNvSpPr txBox="1"/>
          <p:nvPr/>
        </p:nvSpPr>
        <p:spPr>
          <a:xfrm>
            <a:off x="3717878" y="2340063"/>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H=9</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5" name="TextBox 74"/>
          <p:cNvSpPr txBox="1"/>
          <p:nvPr/>
        </p:nvSpPr>
        <p:spPr>
          <a:xfrm>
            <a:off x="2785561" y="3974872"/>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7" name="TextBox 76"/>
          <p:cNvSpPr txBox="1"/>
          <p:nvPr/>
        </p:nvSpPr>
        <p:spPr>
          <a:xfrm>
            <a:off x="4505980" y="2678617"/>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9</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78" name="TextBox 77"/>
          <p:cNvSpPr txBox="1"/>
          <p:nvPr/>
        </p:nvSpPr>
        <p:spPr>
          <a:xfrm>
            <a:off x="7896612" y="3932904"/>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82</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79" name="TextBox 78"/>
          <p:cNvSpPr txBox="1"/>
          <p:nvPr/>
        </p:nvSpPr>
        <p:spPr>
          <a:xfrm>
            <a:off x="3041795" y="3116336"/>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-6</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81" name="TextBox 80"/>
          <p:cNvSpPr txBox="1"/>
          <p:nvPr/>
        </p:nvSpPr>
        <p:spPr>
          <a:xfrm>
            <a:off x="4365375" y="4725396"/>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7</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91" name="TextBox 90"/>
          <p:cNvSpPr txBox="1"/>
          <p:nvPr/>
        </p:nvSpPr>
        <p:spPr>
          <a:xfrm>
            <a:off x="8323964" y="1952221"/>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-1</a:t>
            </a:r>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93" name="Straight Connector 92"/>
          <p:cNvCxnSpPr/>
          <p:nvPr/>
        </p:nvCxnSpPr>
        <p:spPr>
          <a:xfrm flipH="1">
            <a:off x="8239702" y="3710755"/>
            <a:ext cx="2356580" cy="1922"/>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8821424" y="2534958"/>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-2</a:t>
            </a:r>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95" name="Straight Connector 94"/>
          <p:cNvCxnSpPr/>
          <p:nvPr/>
        </p:nvCxnSpPr>
        <p:spPr>
          <a:xfrm flipH="1">
            <a:off x="6822318" y="2941883"/>
            <a:ext cx="2764078" cy="42672"/>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a:off x="4804973" y="2266620"/>
            <a:ext cx="3748420" cy="44858"/>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9310502" y="3336470"/>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-3</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8" name="TextBox 97"/>
          <p:cNvSpPr txBox="1"/>
          <p:nvPr/>
        </p:nvSpPr>
        <p:spPr>
          <a:xfrm>
            <a:off x="10480935" y="4156030"/>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8" name="TextBox 67"/>
          <p:cNvSpPr txBox="1"/>
          <p:nvPr/>
        </p:nvSpPr>
        <p:spPr>
          <a:xfrm>
            <a:off x="1547434" y="3477828"/>
            <a:ext cx="59310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L=1</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9" name="TextBox 68"/>
          <p:cNvSpPr txBox="1"/>
          <p:nvPr/>
        </p:nvSpPr>
        <p:spPr>
          <a:xfrm>
            <a:off x="1532812" y="3713598"/>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0" name="TextBox 69"/>
          <p:cNvSpPr txBox="1"/>
          <p:nvPr/>
        </p:nvSpPr>
        <p:spPr>
          <a:xfrm>
            <a:off x="1955313" y="3958922"/>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-15</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72" name="TextBox 71"/>
          <p:cNvSpPr txBox="1"/>
          <p:nvPr/>
        </p:nvSpPr>
        <p:spPr>
          <a:xfrm>
            <a:off x="4156006" y="3543657"/>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82" name="TextBox 81"/>
          <p:cNvSpPr txBox="1"/>
          <p:nvPr/>
        </p:nvSpPr>
        <p:spPr>
          <a:xfrm>
            <a:off x="3886579" y="4035184"/>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0</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83" name="TextBox 82"/>
          <p:cNvSpPr txBox="1"/>
          <p:nvPr/>
        </p:nvSpPr>
        <p:spPr>
          <a:xfrm>
            <a:off x="3331791" y="3811986"/>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L=3</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84" name="TextBox 83"/>
          <p:cNvSpPr txBox="1"/>
          <p:nvPr/>
        </p:nvSpPr>
        <p:spPr>
          <a:xfrm>
            <a:off x="3277661" y="4015882"/>
            <a:ext cx="61221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H=2</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85" name="Rectangle 84"/>
          <p:cNvSpPr/>
          <p:nvPr/>
        </p:nvSpPr>
        <p:spPr>
          <a:xfrm>
            <a:off x="3294034" y="4444734"/>
            <a:ext cx="511241" cy="34982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86" name="Straight Connector 85"/>
          <p:cNvCxnSpPr/>
          <p:nvPr/>
        </p:nvCxnSpPr>
        <p:spPr>
          <a:xfrm flipH="1">
            <a:off x="4044109" y="4763018"/>
            <a:ext cx="347412" cy="5923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Rectangle 86"/>
          <p:cNvSpPr/>
          <p:nvPr/>
        </p:nvSpPr>
        <p:spPr>
          <a:xfrm>
            <a:off x="3719632" y="5371550"/>
            <a:ext cx="504833"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8" name="TextBox 87"/>
          <p:cNvSpPr txBox="1"/>
          <p:nvPr/>
        </p:nvSpPr>
        <p:spPr>
          <a:xfrm>
            <a:off x="3768699" y="4585642"/>
            <a:ext cx="866045"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2" name="Rectangle 91"/>
          <p:cNvSpPr/>
          <p:nvPr/>
        </p:nvSpPr>
        <p:spPr>
          <a:xfrm>
            <a:off x="4823374" y="5438152"/>
            <a:ext cx="504833"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9" name="Oval 98"/>
          <p:cNvSpPr/>
          <p:nvPr/>
        </p:nvSpPr>
        <p:spPr>
          <a:xfrm>
            <a:off x="6386538" y="2892128"/>
            <a:ext cx="547131"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7</a:t>
            </a:r>
            <a:endParaRPr lang="en-IN" dirty="0">
              <a:solidFill>
                <a:srgbClr val="FF0000"/>
              </a:solidFill>
            </a:endParaRPr>
          </a:p>
        </p:txBody>
      </p:sp>
      <p:sp>
        <p:nvSpPr>
          <p:cNvPr id="100" name="TextBox 99"/>
          <p:cNvSpPr txBox="1"/>
          <p:nvPr/>
        </p:nvSpPr>
        <p:spPr>
          <a:xfrm>
            <a:off x="6582940" y="3270991"/>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24</a:t>
            </a:r>
            <a:endParaRPr lang="en-IN" sz="1600" b="1" dirty="0">
              <a:solidFill>
                <a:srgbClr val="0070C0"/>
              </a:solidFill>
              <a:latin typeface="Times New Roman" panose="02020603050405020304" pitchFamily="18" charset="0"/>
              <a:cs typeface="Times New Roman" panose="02020603050405020304" pitchFamily="18" charset="0"/>
            </a:endParaRPr>
          </a:p>
        </p:txBody>
      </p:sp>
      <p:cxnSp>
        <p:nvCxnSpPr>
          <p:cNvPr id="101" name="Straight Connector 100"/>
          <p:cNvCxnSpPr/>
          <p:nvPr/>
        </p:nvCxnSpPr>
        <p:spPr>
          <a:xfrm flipH="1">
            <a:off x="6094682" y="3242544"/>
            <a:ext cx="354174" cy="3439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Oval 102"/>
          <p:cNvSpPr/>
          <p:nvPr/>
        </p:nvSpPr>
        <p:spPr>
          <a:xfrm>
            <a:off x="5935205" y="3532408"/>
            <a:ext cx="594942"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6</a:t>
            </a:r>
            <a:endParaRPr lang="en-IN" dirty="0">
              <a:solidFill>
                <a:srgbClr val="FF0000"/>
              </a:solidFill>
            </a:endParaRPr>
          </a:p>
        </p:txBody>
      </p:sp>
      <p:sp>
        <p:nvSpPr>
          <p:cNvPr id="104" name="TextBox 103"/>
          <p:cNvSpPr txBox="1"/>
          <p:nvPr/>
        </p:nvSpPr>
        <p:spPr>
          <a:xfrm>
            <a:off x="5346828" y="3692937"/>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L=6</a:t>
            </a:r>
            <a:endParaRPr lang="en-IN" b="1" dirty="0">
              <a:solidFill>
                <a:srgbClr val="002060"/>
              </a:solidFill>
              <a:latin typeface="Times New Roman" panose="02020603050405020304" pitchFamily="18" charset="0"/>
              <a:cs typeface="Times New Roman" panose="02020603050405020304" pitchFamily="18" charset="0"/>
            </a:endParaRPr>
          </a:p>
        </p:txBody>
      </p:sp>
      <p:cxnSp>
        <p:nvCxnSpPr>
          <p:cNvPr id="105" name="Straight Connector 104"/>
          <p:cNvCxnSpPr/>
          <p:nvPr/>
        </p:nvCxnSpPr>
        <p:spPr>
          <a:xfrm flipH="1">
            <a:off x="5695796" y="3898639"/>
            <a:ext cx="295845" cy="4483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Rectangle 106"/>
          <p:cNvSpPr/>
          <p:nvPr/>
        </p:nvSpPr>
        <p:spPr>
          <a:xfrm>
            <a:off x="5440175" y="4345771"/>
            <a:ext cx="511241" cy="34982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08" name="Straight Connector 107"/>
          <p:cNvCxnSpPr/>
          <p:nvPr/>
        </p:nvCxnSpPr>
        <p:spPr>
          <a:xfrm>
            <a:off x="6517728" y="3817023"/>
            <a:ext cx="437598" cy="55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6764058" y="3800693"/>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L=7</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10" name="TextBox 109"/>
          <p:cNvSpPr txBox="1"/>
          <p:nvPr/>
        </p:nvSpPr>
        <p:spPr>
          <a:xfrm>
            <a:off x="6010466" y="3962566"/>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23</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111" name="TextBox 110"/>
          <p:cNvSpPr txBox="1"/>
          <p:nvPr/>
        </p:nvSpPr>
        <p:spPr>
          <a:xfrm>
            <a:off x="6843495" y="4032773"/>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H=6</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12" name="Rectangle 111"/>
          <p:cNvSpPr/>
          <p:nvPr/>
        </p:nvSpPr>
        <p:spPr>
          <a:xfrm>
            <a:off x="6669617" y="4335158"/>
            <a:ext cx="504833"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13" name="Straight Connector 112"/>
          <p:cNvCxnSpPr/>
          <p:nvPr/>
        </p:nvCxnSpPr>
        <p:spPr>
          <a:xfrm>
            <a:off x="6947720" y="3177015"/>
            <a:ext cx="834275" cy="4912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7499037" y="3261076"/>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H=9</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16" name="Oval 115"/>
          <p:cNvSpPr/>
          <p:nvPr/>
        </p:nvSpPr>
        <p:spPr>
          <a:xfrm>
            <a:off x="7738370" y="3550928"/>
            <a:ext cx="594942"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8</a:t>
            </a:r>
            <a:endParaRPr lang="en-IN" dirty="0">
              <a:solidFill>
                <a:srgbClr val="FF0000"/>
              </a:solidFill>
            </a:endParaRPr>
          </a:p>
        </p:txBody>
      </p:sp>
      <p:cxnSp>
        <p:nvCxnSpPr>
          <p:cNvPr id="117" name="Straight Connector 116"/>
          <p:cNvCxnSpPr/>
          <p:nvPr/>
        </p:nvCxnSpPr>
        <p:spPr>
          <a:xfrm flipH="1">
            <a:off x="7817175" y="3995509"/>
            <a:ext cx="168745" cy="3396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TextBox 117"/>
          <p:cNvSpPr txBox="1"/>
          <p:nvPr/>
        </p:nvSpPr>
        <p:spPr>
          <a:xfrm>
            <a:off x="7305904" y="3785173"/>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L=8</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19" name="TextBox 118"/>
          <p:cNvSpPr txBox="1"/>
          <p:nvPr/>
        </p:nvSpPr>
        <p:spPr>
          <a:xfrm>
            <a:off x="7322647" y="4016469"/>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H=7</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23" name="Rectangle 122"/>
          <p:cNvSpPr/>
          <p:nvPr/>
        </p:nvSpPr>
        <p:spPr>
          <a:xfrm>
            <a:off x="7522662" y="4401201"/>
            <a:ext cx="504833"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31" name="Straight Connector 130"/>
          <p:cNvCxnSpPr/>
          <p:nvPr/>
        </p:nvCxnSpPr>
        <p:spPr>
          <a:xfrm>
            <a:off x="8334151" y="3819709"/>
            <a:ext cx="695015" cy="5430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TextBox 132"/>
          <p:cNvSpPr txBox="1"/>
          <p:nvPr/>
        </p:nvSpPr>
        <p:spPr>
          <a:xfrm>
            <a:off x="8533214" y="4737950"/>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L=9</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34" name="TextBox 133"/>
          <p:cNvSpPr txBox="1"/>
          <p:nvPr/>
        </p:nvSpPr>
        <p:spPr>
          <a:xfrm>
            <a:off x="8948071" y="4024160"/>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H=9</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35" name="Oval 134"/>
          <p:cNvSpPr/>
          <p:nvPr/>
        </p:nvSpPr>
        <p:spPr>
          <a:xfrm>
            <a:off x="8961044" y="4284497"/>
            <a:ext cx="625352"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9</a:t>
            </a:r>
            <a:endParaRPr lang="en-IN" dirty="0">
              <a:solidFill>
                <a:srgbClr val="FF0000"/>
              </a:solidFill>
            </a:endParaRPr>
          </a:p>
        </p:txBody>
      </p:sp>
      <p:sp>
        <p:nvSpPr>
          <p:cNvPr id="136" name="TextBox 135"/>
          <p:cNvSpPr txBox="1"/>
          <p:nvPr/>
        </p:nvSpPr>
        <p:spPr>
          <a:xfrm>
            <a:off x="9386301" y="4518814"/>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101</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137" name="TextBox 136"/>
          <p:cNvSpPr txBox="1"/>
          <p:nvPr/>
        </p:nvSpPr>
        <p:spPr>
          <a:xfrm>
            <a:off x="8974236" y="3806843"/>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L=9</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38" name="TextBox 137"/>
          <p:cNvSpPr txBox="1"/>
          <p:nvPr/>
        </p:nvSpPr>
        <p:spPr>
          <a:xfrm>
            <a:off x="8445251" y="4984133"/>
            <a:ext cx="869254"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H=8</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39" name="Rectangle 138"/>
          <p:cNvSpPr/>
          <p:nvPr/>
        </p:nvSpPr>
        <p:spPr>
          <a:xfrm>
            <a:off x="8850754" y="5456112"/>
            <a:ext cx="504833"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40" name="Straight Connector 139"/>
          <p:cNvCxnSpPr/>
          <p:nvPr/>
        </p:nvCxnSpPr>
        <p:spPr>
          <a:xfrm flipH="1">
            <a:off x="8895370" y="4658673"/>
            <a:ext cx="370832" cy="8204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9430943" y="4690238"/>
            <a:ext cx="539095" cy="7334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Rectangle 141"/>
          <p:cNvSpPr/>
          <p:nvPr/>
        </p:nvSpPr>
        <p:spPr>
          <a:xfrm>
            <a:off x="9755728" y="5439873"/>
            <a:ext cx="504833"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3" name="TextBox 142"/>
          <p:cNvSpPr txBox="1"/>
          <p:nvPr/>
        </p:nvSpPr>
        <p:spPr>
          <a:xfrm>
            <a:off x="10014680" y="5054205"/>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H=9</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44" name="TextBox 143"/>
          <p:cNvSpPr txBox="1"/>
          <p:nvPr/>
        </p:nvSpPr>
        <p:spPr>
          <a:xfrm>
            <a:off x="9952378" y="4783958"/>
            <a:ext cx="805687" cy="369332"/>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L=10</a:t>
            </a:r>
            <a:endParaRPr lang="en-IN" b="1" dirty="0">
              <a:solidFill>
                <a:srgbClr val="002060"/>
              </a:solidFill>
              <a:latin typeface="Times New Roman" panose="02020603050405020304" pitchFamily="18" charset="0"/>
              <a:cs typeface="Times New Roman" panose="02020603050405020304" pitchFamily="18" charset="0"/>
            </a:endParaRPr>
          </a:p>
        </p:txBody>
      </p:sp>
      <p:cxnSp>
        <p:nvCxnSpPr>
          <p:cNvPr id="148" name="Straight Connector 147"/>
          <p:cNvCxnSpPr/>
          <p:nvPr/>
        </p:nvCxnSpPr>
        <p:spPr>
          <a:xfrm flipH="1" flipV="1">
            <a:off x="9623873" y="4553727"/>
            <a:ext cx="2447724" cy="8962"/>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flipV="1">
            <a:off x="10323659" y="5719700"/>
            <a:ext cx="1747938" cy="5236"/>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152" name="TextBox 151"/>
          <p:cNvSpPr txBox="1"/>
          <p:nvPr/>
        </p:nvSpPr>
        <p:spPr>
          <a:xfrm>
            <a:off x="10743156" y="5331688"/>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-5</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4" name="Date Placeholder 13"/>
          <p:cNvSpPr>
            <a:spLocks noGrp="1"/>
          </p:cNvSpPr>
          <p:nvPr>
            <p:ph type="dt" sz="half" idx="10"/>
          </p:nvPr>
        </p:nvSpPr>
        <p:spPr/>
        <p:txBody>
          <a:bodyPr/>
          <a:lstStyle/>
          <a:p>
            <a:fld id="{0F27C564-2B97-47B5-BEAD-9187BA3D712B}" type="datetime1">
              <a:rPr lang="en-IN" smtClean="0"/>
              <a:t>21-03-2026</a:t>
            </a:fld>
            <a:endParaRPr lang="en-IN"/>
          </a:p>
        </p:txBody>
      </p:sp>
    </p:spTree>
    <p:extLst>
      <p:ext uri="{BB962C8B-B14F-4D97-AF65-F5344CB8AC3E}">
        <p14:creationId xmlns:p14="http://schemas.microsoft.com/office/powerpoint/2010/main" val="114827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7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8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8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8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1"/>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8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2"/>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58"/>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59"/>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86"/>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88"/>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64"/>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81"/>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87"/>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30"/>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60"/>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56"/>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92"/>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6"/>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99"/>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63"/>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45"/>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100"/>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01"/>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61"/>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62"/>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103"/>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110"/>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05"/>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grpId="0" nodeType="clickEffect">
                                  <p:stCondLst>
                                    <p:cond delay="0"/>
                                  </p:stCondLst>
                                  <p:childTnLst>
                                    <p:set>
                                      <p:cBhvr>
                                        <p:cTn id="226" dur="1" fill="hold">
                                          <p:stCondLst>
                                            <p:cond delay="0"/>
                                          </p:stCondLst>
                                        </p:cTn>
                                        <p:tgtEl>
                                          <p:spTgt spid="104"/>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53"/>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grpId="0" nodeType="clickEffect">
                                  <p:stCondLst>
                                    <p:cond delay="0"/>
                                  </p:stCondLst>
                                  <p:childTnLst>
                                    <p:set>
                                      <p:cBhvr>
                                        <p:cTn id="234" dur="1" fill="hold">
                                          <p:stCondLst>
                                            <p:cond delay="0"/>
                                          </p:stCondLst>
                                        </p:cTn>
                                        <p:tgtEl>
                                          <p:spTgt spid="107"/>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08"/>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grpId="0" nodeType="clickEffect">
                                  <p:stCondLst>
                                    <p:cond delay="0"/>
                                  </p:stCondLst>
                                  <p:childTnLst>
                                    <p:set>
                                      <p:cBhvr>
                                        <p:cTn id="242" dur="1" fill="hold">
                                          <p:stCondLst>
                                            <p:cond delay="0"/>
                                          </p:stCondLst>
                                        </p:cTn>
                                        <p:tgtEl>
                                          <p:spTgt spid="109"/>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grpId="0" nodeType="clickEffect">
                                  <p:stCondLst>
                                    <p:cond delay="0"/>
                                  </p:stCondLst>
                                  <p:childTnLst>
                                    <p:set>
                                      <p:cBhvr>
                                        <p:cTn id="246" dur="1" fill="hold">
                                          <p:stCondLst>
                                            <p:cond delay="0"/>
                                          </p:stCondLst>
                                        </p:cTn>
                                        <p:tgtEl>
                                          <p:spTgt spid="111"/>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112"/>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113"/>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116"/>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grpId="0" nodeType="clickEffect">
                                  <p:stCondLst>
                                    <p:cond delay="0"/>
                                  </p:stCondLst>
                                  <p:childTnLst>
                                    <p:set>
                                      <p:cBhvr>
                                        <p:cTn id="262" dur="1" fill="hold">
                                          <p:stCondLst>
                                            <p:cond delay="0"/>
                                          </p:stCondLst>
                                        </p:cTn>
                                        <p:tgtEl>
                                          <p:spTgt spid="49"/>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grpId="0" nodeType="clickEffect">
                                  <p:stCondLst>
                                    <p:cond delay="0"/>
                                  </p:stCondLst>
                                  <p:childTnLst>
                                    <p:set>
                                      <p:cBhvr>
                                        <p:cTn id="266" dur="1" fill="hold">
                                          <p:stCondLst>
                                            <p:cond delay="0"/>
                                          </p:stCondLst>
                                        </p:cTn>
                                        <p:tgtEl>
                                          <p:spTgt spid="115"/>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grpId="0" nodeType="clickEffect">
                                  <p:stCondLst>
                                    <p:cond delay="0"/>
                                  </p:stCondLst>
                                  <p:childTnLst>
                                    <p:set>
                                      <p:cBhvr>
                                        <p:cTn id="270" dur="1" fill="hold">
                                          <p:stCondLst>
                                            <p:cond delay="0"/>
                                          </p:stCondLst>
                                        </p:cTn>
                                        <p:tgtEl>
                                          <p:spTgt spid="78"/>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117"/>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grpId="0" nodeType="clickEffect">
                                  <p:stCondLst>
                                    <p:cond delay="0"/>
                                  </p:stCondLst>
                                  <p:childTnLst>
                                    <p:set>
                                      <p:cBhvr>
                                        <p:cTn id="278" dur="1" fill="hold">
                                          <p:stCondLst>
                                            <p:cond delay="0"/>
                                          </p:stCondLst>
                                        </p:cTn>
                                        <p:tgtEl>
                                          <p:spTgt spid="119"/>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grpId="0" nodeType="clickEffect">
                                  <p:stCondLst>
                                    <p:cond delay="0"/>
                                  </p:stCondLst>
                                  <p:childTnLst>
                                    <p:set>
                                      <p:cBhvr>
                                        <p:cTn id="282" dur="1" fill="hold">
                                          <p:stCondLst>
                                            <p:cond delay="0"/>
                                          </p:stCondLst>
                                        </p:cTn>
                                        <p:tgtEl>
                                          <p:spTgt spid="118"/>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grpId="0" nodeType="clickEffect">
                                  <p:stCondLst>
                                    <p:cond delay="0"/>
                                  </p:stCondLst>
                                  <p:childTnLst>
                                    <p:set>
                                      <p:cBhvr>
                                        <p:cTn id="286" dur="1" fill="hold">
                                          <p:stCondLst>
                                            <p:cond delay="0"/>
                                          </p:stCondLst>
                                        </p:cTn>
                                        <p:tgtEl>
                                          <p:spTgt spid="123"/>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131"/>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grpId="0" nodeType="clickEffect">
                                  <p:stCondLst>
                                    <p:cond delay="0"/>
                                  </p:stCondLst>
                                  <p:childTnLst>
                                    <p:set>
                                      <p:cBhvr>
                                        <p:cTn id="294" dur="1" fill="hold">
                                          <p:stCondLst>
                                            <p:cond delay="0"/>
                                          </p:stCondLst>
                                        </p:cTn>
                                        <p:tgtEl>
                                          <p:spTgt spid="135"/>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grpId="0" nodeType="clickEffect">
                                  <p:stCondLst>
                                    <p:cond delay="0"/>
                                  </p:stCondLst>
                                  <p:childTnLst>
                                    <p:set>
                                      <p:cBhvr>
                                        <p:cTn id="298" dur="1" fill="hold">
                                          <p:stCondLst>
                                            <p:cond delay="0"/>
                                          </p:stCondLst>
                                        </p:cTn>
                                        <p:tgtEl>
                                          <p:spTgt spid="137"/>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grpId="0" nodeType="clickEffect">
                                  <p:stCondLst>
                                    <p:cond delay="0"/>
                                  </p:stCondLst>
                                  <p:childTnLst>
                                    <p:set>
                                      <p:cBhvr>
                                        <p:cTn id="302" dur="1" fill="hold">
                                          <p:stCondLst>
                                            <p:cond delay="0"/>
                                          </p:stCondLst>
                                        </p:cTn>
                                        <p:tgtEl>
                                          <p:spTgt spid="134"/>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grpId="0" nodeType="clickEffect">
                                  <p:stCondLst>
                                    <p:cond delay="0"/>
                                  </p:stCondLst>
                                  <p:childTnLst>
                                    <p:set>
                                      <p:cBhvr>
                                        <p:cTn id="306" dur="1" fill="hold">
                                          <p:stCondLst>
                                            <p:cond delay="0"/>
                                          </p:stCondLst>
                                        </p:cTn>
                                        <p:tgtEl>
                                          <p:spTgt spid="136"/>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140"/>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grpId="0" nodeType="clickEffect">
                                  <p:stCondLst>
                                    <p:cond delay="0"/>
                                  </p:stCondLst>
                                  <p:childTnLst>
                                    <p:set>
                                      <p:cBhvr>
                                        <p:cTn id="314" dur="1" fill="hold">
                                          <p:stCondLst>
                                            <p:cond delay="0"/>
                                          </p:stCondLst>
                                        </p:cTn>
                                        <p:tgtEl>
                                          <p:spTgt spid="133"/>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grpId="0" nodeType="clickEffect">
                                  <p:stCondLst>
                                    <p:cond delay="0"/>
                                  </p:stCondLst>
                                  <p:childTnLst>
                                    <p:set>
                                      <p:cBhvr>
                                        <p:cTn id="318" dur="1" fill="hold">
                                          <p:stCondLst>
                                            <p:cond delay="0"/>
                                          </p:stCondLst>
                                        </p:cTn>
                                        <p:tgtEl>
                                          <p:spTgt spid="138"/>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grpId="0" nodeType="clickEffect">
                                  <p:stCondLst>
                                    <p:cond delay="0"/>
                                  </p:stCondLst>
                                  <p:childTnLst>
                                    <p:set>
                                      <p:cBhvr>
                                        <p:cTn id="322" dur="1" fill="hold">
                                          <p:stCondLst>
                                            <p:cond delay="0"/>
                                          </p:stCondLst>
                                        </p:cTn>
                                        <p:tgtEl>
                                          <p:spTgt spid="139"/>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141"/>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grpId="0" nodeType="clickEffect">
                                  <p:stCondLst>
                                    <p:cond delay="0"/>
                                  </p:stCondLst>
                                  <p:childTnLst>
                                    <p:set>
                                      <p:cBhvr>
                                        <p:cTn id="330" dur="1" fill="hold">
                                          <p:stCondLst>
                                            <p:cond delay="0"/>
                                          </p:stCondLst>
                                        </p:cTn>
                                        <p:tgtEl>
                                          <p:spTgt spid="144"/>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grpId="0" nodeType="clickEffect">
                                  <p:stCondLst>
                                    <p:cond delay="0"/>
                                  </p:stCondLst>
                                  <p:childTnLst>
                                    <p:set>
                                      <p:cBhvr>
                                        <p:cTn id="334" dur="1" fill="hold">
                                          <p:stCondLst>
                                            <p:cond delay="0"/>
                                          </p:stCondLst>
                                        </p:cTn>
                                        <p:tgtEl>
                                          <p:spTgt spid="143"/>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grpId="0" nodeType="clickEffect">
                                  <p:stCondLst>
                                    <p:cond delay="0"/>
                                  </p:stCondLst>
                                  <p:childTnLst>
                                    <p:set>
                                      <p:cBhvr>
                                        <p:cTn id="338" dur="1" fill="hold">
                                          <p:stCondLst>
                                            <p:cond delay="0"/>
                                          </p:stCondLst>
                                        </p:cTn>
                                        <p:tgtEl>
                                          <p:spTgt spid="142"/>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96"/>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grpId="0" nodeType="clickEffect">
                                  <p:stCondLst>
                                    <p:cond delay="0"/>
                                  </p:stCondLst>
                                  <p:childTnLst>
                                    <p:set>
                                      <p:cBhvr>
                                        <p:cTn id="346" dur="1" fill="hold">
                                          <p:stCondLst>
                                            <p:cond delay="0"/>
                                          </p:stCondLst>
                                        </p:cTn>
                                        <p:tgtEl>
                                          <p:spTgt spid="91"/>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95"/>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grpId="0" nodeType="clickEffect">
                                  <p:stCondLst>
                                    <p:cond delay="0"/>
                                  </p:stCondLst>
                                  <p:childTnLst>
                                    <p:set>
                                      <p:cBhvr>
                                        <p:cTn id="354" dur="1" fill="hold">
                                          <p:stCondLst>
                                            <p:cond delay="0"/>
                                          </p:stCondLst>
                                        </p:cTn>
                                        <p:tgtEl>
                                          <p:spTgt spid="94"/>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93"/>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grpId="0" nodeType="clickEffect">
                                  <p:stCondLst>
                                    <p:cond delay="0"/>
                                  </p:stCondLst>
                                  <p:childTnLst>
                                    <p:set>
                                      <p:cBhvr>
                                        <p:cTn id="362" dur="1" fill="hold">
                                          <p:stCondLst>
                                            <p:cond delay="0"/>
                                          </p:stCondLst>
                                        </p:cTn>
                                        <p:tgtEl>
                                          <p:spTgt spid="97"/>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148"/>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grpId="0" nodeType="clickEffect">
                                  <p:stCondLst>
                                    <p:cond delay="0"/>
                                  </p:stCondLst>
                                  <p:childTnLst>
                                    <p:set>
                                      <p:cBhvr>
                                        <p:cTn id="370" dur="1" fill="hold">
                                          <p:stCondLst>
                                            <p:cond delay="0"/>
                                          </p:stCondLst>
                                        </p:cTn>
                                        <p:tgtEl>
                                          <p:spTgt spid="98"/>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150"/>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grpId="0" nodeType="clickEffect">
                                  <p:stCondLst>
                                    <p:cond delay="0"/>
                                  </p:stCondLst>
                                  <p:childTnLst>
                                    <p:set>
                                      <p:cBhvr>
                                        <p:cTn id="378"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22" grpId="0" animBg="1"/>
      <p:bldP spid="23" grpId="0" animBg="1"/>
      <p:bldP spid="44" grpId="0"/>
      <p:bldP spid="45" grpId="0"/>
      <p:bldP spid="47" grpId="0"/>
      <p:bldP spid="48" grpId="0"/>
      <p:bldP spid="49" grpId="0"/>
      <p:bldP spid="50" grpId="0"/>
      <p:bldP spid="52" grpId="0"/>
      <p:bldP spid="53" grpId="0"/>
      <p:bldP spid="55" grpId="0"/>
      <p:bldP spid="56" grpId="0"/>
      <p:bldP spid="58" grpId="0"/>
      <p:bldP spid="59" grpId="0"/>
      <p:bldP spid="60" grpId="0"/>
      <p:bldP spid="61" grpId="0"/>
      <p:bldP spid="62" grpId="0"/>
      <p:bldP spid="63" grpId="0"/>
      <p:bldP spid="64" grpId="0"/>
      <p:bldP spid="73" grpId="0"/>
      <p:bldP spid="74" grpId="0"/>
      <p:bldP spid="75" grpId="0"/>
      <p:bldP spid="77" grpId="0"/>
      <p:bldP spid="78" grpId="0"/>
      <p:bldP spid="79" grpId="0"/>
      <p:bldP spid="81" grpId="0"/>
      <p:bldP spid="91" grpId="0"/>
      <p:bldP spid="94" grpId="0"/>
      <p:bldP spid="97" grpId="0"/>
      <p:bldP spid="98" grpId="0"/>
      <p:bldP spid="68" grpId="0"/>
      <p:bldP spid="69" grpId="0"/>
      <p:bldP spid="70" grpId="0"/>
      <p:bldP spid="72" grpId="0"/>
      <p:bldP spid="82" grpId="0"/>
      <p:bldP spid="83" grpId="0"/>
      <p:bldP spid="84" grpId="0"/>
      <p:bldP spid="85" grpId="0" animBg="1"/>
      <p:bldP spid="87" grpId="0" animBg="1"/>
      <p:bldP spid="88" grpId="0"/>
      <p:bldP spid="92" grpId="0" animBg="1"/>
      <p:bldP spid="99" grpId="0" animBg="1"/>
      <p:bldP spid="100" grpId="0"/>
      <p:bldP spid="103" grpId="0" animBg="1"/>
      <p:bldP spid="104" grpId="0"/>
      <p:bldP spid="107" grpId="0" animBg="1"/>
      <p:bldP spid="109" grpId="0"/>
      <p:bldP spid="110" grpId="0"/>
      <p:bldP spid="111" grpId="0"/>
      <p:bldP spid="112" grpId="0" animBg="1"/>
      <p:bldP spid="115" grpId="0"/>
      <p:bldP spid="116" grpId="0" animBg="1"/>
      <p:bldP spid="118" grpId="0"/>
      <p:bldP spid="119" grpId="0"/>
      <p:bldP spid="123" grpId="0" animBg="1"/>
      <p:bldP spid="133" grpId="0"/>
      <p:bldP spid="134" grpId="0"/>
      <p:bldP spid="135" grpId="0" animBg="1"/>
      <p:bldP spid="136" grpId="0"/>
      <p:bldP spid="137" grpId="0"/>
      <p:bldP spid="138" grpId="0"/>
      <p:bldP spid="139" grpId="0" animBg="1"/>
      <p:bldP spid="142" grpId="0" animBg="1"/>
      <p:bldP spid="143" grpId="0"/>
      <p:bldP spid="144" grpId="0"/>
      <p:bldP spid="15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6" y="862739"/>
                <a:ext cx="12315217"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Time complexity analysis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To determine the successful cases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Average number of comparisons in successful cases = </a:t>
                </a:r>
                <a14:m>
                  <m:oMath xmlns:m="http://schemas.openxmlformats.org/officeDocument/2006/math">
                    <m:f>
                      <m:fPr>
                        <m:ctrlPr>
                          <a:rPr lang="en-IN" sz="2000" b="1" i="1" smtClean="0">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𝑻𝒐𝒕𝒂𝒍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𝒏𝒖𝒎𝒃𝒆𝒓</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𝒐𝒇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𝒄𝒐𝒎𝒑𝒂𝒓𝒊𝒔𝒊𝒐𝒏𝒔</m:t>
                        </m:r>
                      </m:num>
                      <m:den>
                        <m:r>
                          <a:rPr lang="en-IN" sz="2000" b="1" i="1" smtClean="0">
                            <a:solidFill>
                              <a:srgbClr val="002060"/>
                            </a:solidFill>
                            <a:latin typeface="Cambria Math" panose="02040503050406030204" pitchFamily="18" charset="0"/>
                            <a:cs typeface="Times New Roman" panose="02020603050405020304" pitchFamily="18" charset="0"/>
                          </a:rPr>
                          <m:t>𝑻𝒐𝒕𝒂𝒍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𝒏𝒖𝒎𝒃𝒆𝒓</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𝒐𝒇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𝒔𝒖𝒄𝒄𝒆𝒔𝒔𝒇𝒖𝒍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𝒏𝒐𝒅𝒆𝒔</m:t>
                        </m:r>
                      </m:den>
                    </m:f>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𝟐𝟓</m:t>
                        </m:r>
                      </m:num>
                      <m:den>
                        <m:r>
                          <a:rPr lang="en-IN" sz="2000" b="1" i="1" smtClean="0">
                            <a:solidFill>
                              <a:srgbClr val="002060"/>
                            </a:solidFill>
                            <a:latin typeface="Cambria Math" panose="02040503050406030204" pitchFamily="18" charset="0"/>
                            <a:cs typeface="Times New Roman" panose="02020603050405020304" pitchFamily="18" charset="0"/>
                          </a:rPr>
                          <m:t>𝟗</m:t>
                        </m:r>
                      </m:den>
                    </m:f>
                  </m:oMath>
                </a14:m>
                <a:r>
                  <a:rPr lang="en-IN" sz="2000" b="1" dirty="0" smtClean="0">
                    <a:solidFill>
                      <a:srgbClr val="002060"/>
                    </a:solidFill>
                    <a:latin typeface="Times New Roman" panose="02020603050405020304" pitchFamily="18" charset="0"/>
                    <a:cs typeface="Times New Roman" panose="02020603050405020304" pitchFamily="18" charset="0"/>
                  </a:rPr>
                  <a:t> = 2.77</a:t>
                </a: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6" y="862739"/>
                <a:ext cx="12315217" cy="5627707"/>
              </a:xfrm>
              <a:blipFill rotWithShape="1">
                <a:blip r:embed="rId6"/>
                <a:stretch>
                  <a:fillRect l="-792" t="-1517" b="-7259"/>
                </a:stretch>
              </a:blipFill>
            </p:spPr>
            <p:txBody>
              <a:bodyPr/>
              <a:lstStyle/>
              <a:p>
                <a:r>
                  <a:rPr lang="en-IN">
                    <a:noFill/>
                  </a:rPr>
                  <a:t> </a:t>
                </a:r>
              </a:p>
            </p:txBody>
          </p:sp>
        </mc:Fallback>
      </mc:AlternateContent>
      <p:pic>
        <p:nvPicPr>
          <p:cNvPr id="4" name="Picture 3"/>
          <p:cNvPicPr>
            <a:picLocks noChangeAspect="1"/>
          </p:cNvPicPr>
          <p:nvPr/>
        </p:nvPicPr>
        <p:blipFill>
          <a:blip r:embed="rId7"/>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38</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596585311"/>
              </p:ext>
            </p:extLst>
          </p:nvPr>
        </p:nvGraphicFramePr>
        <p:xfrm>
          <a:off x="1166239" y="2023173"/>
          <a:ext cx="6401880" cy="2768600"/>
        </p:xfrm>
        <a:graphic>
          <a:graphicData uri="http://schemas.openxmlformats.org/drawingml/2006/table">
            <a:tbl>
              <a:tblPr firstRow="1" bandRow="1">
                <a:tableStyleId>{5C22544A-7EE6-4342-B048-85BDC9FD1C3A}</a:tableStyleId>
              </a:tblPr>
              <a:tblGrid>
                <a:gridCol w="3810875"/>
                <a:gridCol w="2591005"/>
              </a:tblGrid>
              <a:tr h="370840">
                <a:tc>
                  <a:txBody>
                    <a:bodyPr/>
                    <a:lstStyle/>
                    <a:p>
                      <a:r>
                        <a:rPr lang="en-IN" dirty="0" smtClean="0">
                          <a:solidFill>
                            <a:srgbClr val="0070C0"/>
                          </a:solidFill>
                          <a:latin typeface="Times New Roman" panose="02020603050405020304" pitchFamily="18" charset="0"/>
                          <a:cs typeface="Times New Roman" panose="02020603050405020304" pitchFamily="18" charset="0"/>
                        </a:rPr>
                        <a:t>Number of nodes </a:t>
                      </a:r>
                    </a:p>
                    <a:p>
                      <a:r>
                        <a:rPr lang="en-IN" dirty="0" smtClean="0">
                          <a:solidFill>
                            <a:srgbClr val="0070C0"/>
                          </a:solidFill>
                          <a:latin typeface="Times New Roman" panose="02020603050405020304" pitchFamily="18" charset="0"/>
                          <a:cs typeface="Times New Roman" panose="02020603050405020304" pitchFamily="18" charset="0"/>
                        </a:rPr>
                        <a:t>Level number*Number of successful nodes in each level</a:t>
                      </a:r>
                      <a:endParaRPr lang="en-IN"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800" b="1" kern="1200" dirty="0" smtClean="0">
                          <a:solidFill>
                            <a:srgbClr val="0070C0"/>
                          </a:solidFill>
                          <a:latin typeface="Times New Roman" panose="02020603050405020304" pitchFamily="18" charset="0"/>
                          <a:ea typeface="+mn-ea"/>
                          <a:cs typeface="Times New Roman" panose="02020603050405020304" pitchFamily="18" charset="0"/>
                        </a:rPr>
                        <a:t>Comparisons </a:t>
                      </a:r>
                      <a:endParaRPr lang="en-IN" sz="1800" b="1" kern="1200" dirty="0">
                        <a:solidFill>
                          <a:srgbClr val="0070C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1*1</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1</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2*2</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4</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3*4</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12</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4*2</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8</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gridSpan="2">
                  <a:txBody>
                    <a:bodyPr/>
                    <a:lstStyle/>
                    <a:p>
                      <a:pPr algn="ctr"/>
                      <a:r>
                        <a:rPr lang="en-IN" b="1" dirty="0" smtClean="0">
                          <a:solidFill>
                            <a:srgbClr val="FF0000"/>
                          </a:solidFill>
                        </a:rPr>
                        <a:t>Total</a:t>
                      </a:r>
                      <a:r>
                        <a:rPr lang="en-IN" b="1" baseline="0" dirty="0" smtClean="0">
                          <a:solidFill>
                            <a:srgbClr val="FF0000"/>
                          </a:solidFill>
                        </a:rPr>
                        <a:t> comparisons = 25</a:t>
                      </a:r>
                      <a:endParaRPr lang="en-IN"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pPr algn="ct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sp>
        <p:nvSpPr>
          <p:cNvPr id="9" name="Date Placeholder 8"/>
          <p:cNvSpPr>
            <a:spLocks noGrp="1"/>
          </p:cNvSpPr>
          <p:nvPr>
            <p:ph type="dt" sz="half" idx="10"/>
          </p:nvPr>
        </p:nvSpPr>
        <p:spPr/>
        <p:txBody>
          <a:bodyPr/>
          <a:lstStyle/>
          <a:p>
            <a:fld id="{BD2F9416-3E5E-48B1-AD14-2DD2073577B2}" type="datetime1">
              <a:rPr lang="en-IN" smtClean="0"/>
              <a:t>21-03-2026</a:t>
            </a:fld>
            <a:endParaRPr lang="en-IN"/>
          </a:p>
        </p:txBody>
      </p:sp>
    </p:spTree>
    <p:extLst>
      <p:ext uri="{BB962C8B-B14F-4D97-AF65-F5344CB8AC3E}">
        <p14:creationId xmlns:p14="http://schemas.microsoft.com/office/powerpoint/2010/main" val="37840605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6" y="862739"/>
                <a:ext cx="12315217"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Time complexity analysis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To determine the unsuccessful cases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Average number of comparisons in unsuccessful cases = </a:t>
                </a:r>
                <a14:m>
                  <m:oMath xmlns:m="http://schemas.openxmlformats.org/officeDocument/2006/math">
                    <m:f>
                      <m:fPr>
                        <m:ctrlPr>
                          <a:rPr lang="en-IN" sz="2000" b="1" i="1" smtClean="0">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𝑻𝒐𝒕𝒂𝒍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𝒏𝒖𝒎𝒃𝒆𝒓</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𝒐𝒇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𝒄𝒐𝒎𝒑𝒂𝒓𝒊𝒔𝒊𝒐𝒏𝒔</m:t>
                        </m:r>
                      </m:num>
                      <m:den>
                        <m:r>
                          <a:rPr lang="en-IN" sz="2000" b="1" i="1" smtClean="0">
                            <a:solidFill>
                              <a:srgbClr val="002060"/>
                            </a:solidFill>
                            <a:latin typeface="Cambria Math" panose="02040503050406030204" pitchFamily="18" charset="0"/>
                            <a:cs typeface="Times New Roman" panose="02020603050405020304" pitchFamily="18" charset="0"/>
                          </a:rPr>
                          <m:t>𝑻𝒐𝒕𝒂𝒍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𝒏𝒖𝒎𝒃𝒆𝒓</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𝒐𝒇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𝒖𝒏𝒔𝒖𝒄𝒄𝒆𝒔𝒔𝒇𝒖𝒍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𝒏𝒐𝒅𝒆𝒔</m:t>
                        </m:r>
                      </m:den>
                    </m:f>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𝟑𝟒</m:t>
                        </m:r>
                      </m:num>
                      <m:den>
                        <m:r>
                          <a:rPr lang="en-IN" sz="2000" b="1" i="1" smtClean="0">
                            <a:solidFill>
                              <a:srgbClr val="002060"/>
                            </a:solidFill>
                            <a:latin typeface="Cambria Math" panose="02040503050406030204" pitchFamily="18" charset="0"/>
                            <a:cs typeface="Times New Roman" panose="02020603050405020304" pitchFamily="18" charset="0"/>
                          </a:rPr>
                          <m:t>𝟏𝟎</m:t>
                        </m:r>
                      </m:den>
                    </m:f>
                  </m:oMath>
                </a14:m>
                <a:r>
                  <a:rPr lang="en-IN" sz="2000" b="1" dirty="0" smtClean="0">
                    <a:solidFill>
                      <a:srgbClr val="002060"/>
                    </a:solidFill>
                    <a:latin typeface="Times New Roman" panose="02020603050405020304" pitchFamily="18" charset="0"/>
                    <a:cs typeface="Times New Roman" panose="02020603050405020304" pitchFamily="18" charset="0"/>
                  </a:rPr>
                  <a:t> = 3.4</a:t>
                </a: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6" y="862739"/>
                <a:ext cx="12315217" cy="5627707"/>
              </a:xfrm>
              <a:blipFill rotWithShape="1">
                <a:blip r:embed="rId6"/>
                <a:stretch>
                  <a:fillRect l="-792" t="-1517" b="-108"/>
                </a:stretch>
              </a:blipFill>
            </p:spPr>
            <p:txBody>
              <a:bodyPr/>
              <a:lstStyle/>
              <a:p>
                <a:r>
                  <a:rPr lang="en-IN">
                    <a:noFill/>
                  </a:rPr>
                  <a:t> </a:t>
                </a:r>
              </a:p>
            </p:txBody>
          </p:sp>
        </mc:Fallback>
      </mc:AlternateContent>
      <p:pic>
        <p:nvPicPr>
          <p:cNvPr id="4" name="Picture 3"/>
          <p:cNvPicPr>
            <a:picLocks noChangeAspect="1"/>
          </p:cNvPicPr>
          <p:nvPr/>
        </p:nvPicPr>
        <p:blipFill>
          <a:blip r:embed="rId7"/>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39</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428381589"/>
              </p:ext>
            </p:extLst>
          </p:nvPr>
        </p:nvGraphicFramePr>
        <p:xfrm>
          <a:off x="1166239" y="2023173"/>
          <a:ext cx="6401880" cy="2026920"/>
        </p:xfrm>
        <a:graphic>
          <a:graphicData uri="http://schemas.openxmlformats.org/drawingml/2006/table">
            <a:tbl>
              <a:tblPr firstRow="1" bandRow="1">
                <a:tableStyleId>{5C22544A-7EE6-4342-B048-85BDC9FD1C3A}</a:tableStyleId>
              </a:tblPr>
              <a:tblGrid>
                <a:gridCol w="3810875"/>
                <a:gridCol w="2591005"/>
              </a:tblGrid>
              <a:tr h="370840">
                <a:tc>
                  <a:txBody>
                    <a:bodyPr/>
                    <a:lstStyle/>
                    <a:p>
                      <a:pPr algn="ctr"/>
                      <a:r>
                        <a:rPr lang="en-IN" dirty="0" smtClean="0">
                          <a:solidFill>
                            <a:srgbClr val="FF0000"/>
                          </a:solidFill>
                          <a:latin typeface="Times New Roman" panose="02020603050405020304" pitchFamily="18" charset="0"/>
                          <a:cs typeface="Times New Roman" panose="02020603050405020304" pitchFamily="18" charset="0"/>
                        </a:rPr>
                        <a:t>Number of nodes </a:t>
                      </a:r>
                    </a:p>
                    <a:p>
                      <a:r>
                        <a:rPr lang="en-IN" dirty="0" smtClean="0">
                          <a:solidFill>
                            <a:srgbClr val="0070C0"/>
                          </a:solidFill>
                          <a:latin typeface="Times New Roman" panose="02020603050405020304" pitchFamily="18" charset="0"/>
                          <a:cs typeface="Times New Roman" panose="02020603050405020304" pitchFamily="18" charset="0"/>
                        </a:rPr>
                        <a:t>Number of unsuccessful nodes in each level * Level number-1</a:t>
                      </a:r>
                      <a:endParaRPr lang="en-IN"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800" b="1" kern="1200" dirty="0" smtClean="0">
                          <a:solidFill>
                            <a:srgbClr val="0070C0"/>
                          </a:solidFill>
                          <a:latin typeface="Times New Roman" panose="02020603050405020304" pitchFamily="18" charset="0"/>
                          <a:ea typeface="+mn-ea"/>
                          <a:cs typeface="Times New Roman" panose="02020603050405020304" pitchFamily="18" charset="0"/>
                        </a:rPr>
                        <a:t>Comparisons </a:t>
                      </a:r>
                      <a:endParaRPr lang="en-IN" sz="1800" b="1" kern="1200" dirty="0">
                        <a:solidFill>
                          <a:srgbClr val="0070C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6*(4-1)</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18</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4*(5-1)</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16</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gridSpan="2">
                  <a:txBody>
                    <a:bodyPr/>
                    <a:lstStyle/>
                    <a:p>
                      <a:pPr algn="ctr"/>
                      <a:r>
                        <a:rPr lang="en-IN" b="1" dirty="0" smtClean="0">
                          <a:solidFill>
                            <a:srgbClr val="FF0000"/>
                          </a:solidFill>
                        </a:rPr>
                        <a:t>Total</a:t>
                      </a:r>
                      <a:r>
                        <a:rPr lang="en-IN" b="1" baseline="0" dirty="0" smtClean="0">
                          <a:solidFill>
                            <a:srgbClr val="FF0000"/>
                          </a:solidFill>
                        </a:rPr>
                        <a:t> comparisons = 34</a:t>
                      </a:r>
                      <a:endParaRPr lang="en-IN"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pPr algn="ct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sp>
        <p:nvSpPr>
          <p:cNvPr id="9" name="Date Placeholder 8"/>
          <p:cNvSpPr>
            <a:spLocks noGrp="1"/>
          </p:cNvSpPr>
          <p:nvPr>
            <p:ph type="dt" sz="half" idx="10"/>
          </p:nvPr>
        </p:nvSpPr>
        <p:spPr/>
        <p:txBody>
          <a:bodyPr/>
          <a:lstStyle/>
          <a:p>
            <a:fld id="{F781512C-231E-4BCB-A23B-5CD53D50FB29}" type="datetime1">
              <a:rPr lang="en-IN" smtClean="0"/>
              <a:t>21-03-2026</a:t>
            </a:fld>
            <a:endParaRPr lang="en-IN"/>
          </a:p>
        </p:txBody>
      </p:sp>
    </p:spTree>
    <p:extLst>
      <p:ext uri="{BB962C8B-B14F-4D97-AF65-F5344CB8AC3E}">
        <p14:creationId xmlns:p14="http://schemas.microsoft.com/office/powerpoint/2010/main" val="413910180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803" y="112274"/>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43436" y="862739"/>
            <a:ext cx="12315217" cy="5627707"/>
          </a:xfrm>
        </p:spPr>
        <p:txBody>
          <a:bodyPr>
            <a:normAutofit/>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Solution:</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40</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317499526"/>
              </p:ext>
            </p:extLst>
          </p:nvPr>
        </p:nvGraphicFramePr>
        <p:xfrm>
          <a:off x="1543544" y="705950"/>
          <a:ext cx="6409771" cy="1203976"/>
        </p:xfrm>
        <a:graphic>
          <a:graphicData uri="http://schemas.openxmlformats.org/drawingml/2006/table">
            <a:tbl>
              <a:tblPr firstRow="1" bandRow="1">
                <a:tableStyleId>{5C22544A-7EE6-4342-B048-85BDC9FD1C3A}</a:tableStyleId>
              </a:tblPr>
              <a:tblGrid>
                <a:gridCol w="770756"/>
                <a:gridCol w="658752"/>
                <a:gridCol w="493424"/>
                <a:gridCol w="640977"/>
                <a:gridCol w="640977"/>
                <a:gridCol w="640977"/>
                <a:gridCol w="640977"/>
                <a:gridCol w="640977"/>
                <a:gridCol w="640977"/>
                <a:gridCol w="640977"/>
              </a:tblGrid>
              <a:tr h="370840">
                <a:tc>
                  <a:txBody>
                    <a:bodyPr/>
                    <a:lstStyle/>
                    <a:p>
                      <a:r>
                        <a:rPr lang="en-IN" dirty="0" smtClean="0">
                          <a:solidFill>
                            <a:srgbClr val="FF0000"/>
                          </a:solidFill>
                        </a:rPr>
                        <a:t>Index</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   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8</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dirty="0" smtClean="0">
                          <a:solidFill>
                            <a:srgbClr val="FF0000"/>
                          </a:solidFill>
                        </a:rPr>
                        <a:t>9</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62296">
                <a:tc>
                  <a:txBody>
                    <a:bodyPr/>
                    <a:lstStyle/>
                    <a:p>
                      <a:r>
                        <a:rPr lang="en-IN" dirty="0" smtClean="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 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2000" b="1" dirty="0" smtClean="0">
                          <a:solidFill>
                            <a:srgbClr val="002060"/>
                          </a:solidFill>
                          <a:latin typeface="Times New Roman" panose="02020603050405020304" pitchFamily="18" charset="0"/>
                          <a:cs typeface="Times New Roman" panose="02020603050405020304" pitchFamily="18" charset="0"/>
                        </a:rPr>
                        <a:t>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1" dirty="0" smtClean="0">
                          <a:solidFill>
                            <a:srgbClr val="002060"/>
                          </a:solidFill>
                          <a:latin typeface="Times New Roman" panose="02020603050405020304" pitchFamily="18" charset="0"/>
                          <a:cs typeface="Times New Roman" panose="02020603050405020304" pitchFamily="18" charset="0"/>
                        </a:rPr>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370840">
                <a:tc>
                  <a:txBody>
                    <a:bodyPr/>
                    <a:lstStyle/>
                    <a:p>
                      <a:r>
                        <a:rPr lang="en-IN" dirty="0" smtClean="0"/>
                        <a:t>NOC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3</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2</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3</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4</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1</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3</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2</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3</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b="1" dirty="0" smtClean="0">
                          <a:solidFill>
                            <a:srgbClr val="0070C0"/>
                          </a:solidFill>
                          <a:latin typeface="Times New Roman" panose="02020603050405020304" pitchFamily="18" charset="0"/>
                          <a:cs typeface="Times New Roman" panose="02020603050405020304" pitchFamily="18" charset="0"/>
                        </a:rPr>
                        <a:t>4</a:t>
                      </a:r>
                      <a:endParaRPr lang="en-IN" b="1"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bl>
          </a:graphicData>
        </a:graphic>
      </p:graphicFrame>
      <p:sp>
        <p:nvSpPr>
          <p:cNvPr id="9" name="Oval 8"/>
          <p:cNvSpPr/>
          <p:nvPr/>
        </p:nvSpPr>
        <p:spPr>
          <a:xfrm>
            <a:off x="4362856" y="2269643"/>
            <a:ext cx="531778" cy="419413"/>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7</a:t>
            </a:r>
            <a:endParaRPr lang="en-IN" dirty="0">
              <a:solidFill>
                <a:srgbClr val="FF0000"/>
              </a:solidFill>
            </a:endParaRPr>
          </a:p>
        </p:txBody>
      </p:sp>
      <p:sp>
        <p:nvSpPr>
          <p:cNvPr id="10" name="Oval 9"/>
          <p:cNvSpPr/>
          <p:nvPr/>
        </p:nvSpPr>
        <p:spPr>
          <a:xfrm>
            <a:off x="3721717" y="3622893"/>
            <a:ext cx="532638" cy="466946"/>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5</a:t>
            </a:r>
          </a:p>
        </p:txBody>
      </p:sp>
      <p:sp>
        <p:nvSpPr>
          <p:cNvPr id="11" name="Oval 10"/>
          <p:cNvSpPr/>
          <p:nvPr/>
        </p:nvSpPr>
        <p:spPr>
          <a:xfrm>
            <a:off x="2722441" y="2919135"/>
            <a:ext cx="519948" cy="37139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3</a:t>
            </a:r>
            <a:endParaRPr lang="en-IN" dirty="0">
              <a:solidFill>
                <a:srgbClr val="FF0000"/>
              </a:solidFill>
            </a:endParaRPr>
          </a:p>
        </p:txBody>
      </p:sp>
      <p:sp>
        <p:nvSpPr>
          <p:cNvPr id="12" name="Oval 11"/>
          <p:cNvSpPr/>
          <p:nvPr/>
        </p:nvSpPr>
        <p:spPr>
          <a:xfrm>
            <a:off x="4537117" y="4294502"/>
            <a:ext cx="547131"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6</a:t>
            </a:r>
            <a:endParaRPr lang="en-IN" dirty="0">
              <a:solidFill>
                <a:srgbClr val="FF0000"/>
              </a:solidFill>
            </a:endParaRPr>
          </a:p>
        </p:txBody>
      </p:sp>
      <p:sp>
        <p:nvSpPr>
          <p:cNvPr id="13" name="Oval 12"/>
          <p:cNvSpPr/>
          <p:nvPr/>
        </p:nvSpPr>
        <p:spPr>
          <a:xfrm>
            <a:off x="1827218" y="3613456"/>
            <a:ext cx="472752" cy="419282"/>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1</a:t>
            </a:r>
            <a:endParaRPr lang="en-IN" dirty="0">
              <a:solidFill>
                <a:srgbClr val="FF0000"/>
              </a:solidFill>
            </a:endParaRPr>
          </a:p>
        </p:txBody>
      </p:sp>
      <p:cxnSp>
        <p:nvCxnSpPr>
          <p:cNvPr id="15" name="Straight Connector 14"/>
          <p:cNvCxnSpPr>
            <a:endCxn id="55" idx="3"/>
          </p:cNvCxnSpPr>
          <p:nvPr/>
        </p:nvCxnSpPr>
        <p:spPr>
          <a:xfrm flipH="1">
            <a:off x="2947539" y="2608197"/>
            <a:ext cx="1453531" cy="3150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9" idx="6"/>
          </p:cNvCxnSpPr>
          <p:nvPr/>
        </p:nvCxnSpPr>
        <p:spPr>
          <a:xfrm>
            <a:off x="4894634" y="2479350"/>
            <a:ext cx="1545471" cy="5123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endCxn id="12" idx="1"/>
          </p:cNvCxnSpPr>
          <p:nvPr/>
        </p:nvCxnSpPr>
        <p:spPr>
          <a:xfrm>
            <a:off x="4239706" y="3948585"/>
            <a:ext cx="377536" cy="4107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endCxn id="10" idx="0"/>
          </p:cNvCxnSpPr>
          <p:nvPr/>
        </p:nvCxnSpPr>
        <p:spPr>
          <a:xfrm>
            <a:off x="3256440" y="3129987"/>
            <a:ext cx="731596" cy="4929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991529" y="4349913"/>
            <a:ext cx="350750" cy="36382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9" name="Straight Connector 28"/>
          <p:cNvCxnSpPr/>
          <p:nvPr/>
        </p:nvCxnSpPr>
        <p:spPr>
          <a:xfrm flipH="1">
            <a:off x="2067053" y="3146795"/>
            <a:ext cx="660103" cy="5232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902337" y="4728755"/>
            <a:ext cx="539095" cy="7334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3622195" y="4062698"/>
            <a:ext cx="193675" cy="36884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H="1">
            <a:off x="1215359" y="3899173"/>
            <a:ext cx="596681" cy="4306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308083" y="3815089"/>
            <a:ext cx="253936" cy="3783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737724" y="2059669"/>
            <a:ext cx="59310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L=1</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45" name="TextBox 44"/>
          <p:cNvSpPr txBox="1"/>
          <p:nvPr/>
        </p:nvSpPr>
        <p:spPr>
          <a:xfrm>
            <a:off x="6117832" y="2534958"/>
            <a:ext cx="71092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47" name="TextBox 46"/>
          <p:cNvSpPr txBox="1"/>
          <p:nvPr/>
        </p:nvSpPr>
        <p:spPr>
          <a:xfrm>
            <a:off x="4068967" y="3277893"/>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413972" y="3702621"/>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L=2</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49" name="TextBox 48"/>
          <p:cNvSpPr txBox="1"/>
          <p:nvPr/>
        </p:nvSpPr>
        <p:spPr>
          <a:xfrm>
            <a:off x="7512181" y="3059588"/>
            <a:ext cx="768678" cy="369332"/>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L=12</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494092" y="4140019"/>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L=1</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52" name="TextBox 51"/>
          <p:cNvSpPr txBox="1"/>
          <p:nvPr/>
        </p:nvSpPr>
        <p:spPr>
          <a:xfrm>
            <a:off x="422491" y="4492820"/>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H=0</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3" name="TextBox 52"/>
          <p:cNvSpPr txBox="1"/>
          <p:nvPr/>
        </p:nvSpPr>
        <p:spPr>
          <a:xfrm>
            <a:off x="5288398" y="3924978"/>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H=8</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5" name="TextBox 54"/>
          <p:cNvSpPr txBox="1"/>
          <p:nvPr/>
        </p:nvSpPr>
        <p:spPr>
          <a:xfrm>
            <a:off x="2297902" y="2753990"/>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H=6</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6" name="TextBox 55"/>
          <p:cNvSpPr txBox="1"/>
          <p:nvPr/>
        </p:nvSpPr>
        <p:spPr>
          <a:xfrm>
            <a:off x="5043350" y="4894560"/>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H=6</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8" name="TextBox 57"/>
          <p:cNvSpPr txBox="1"/>
          <p:nvPr/>
        </p:nvSpPr>
        <p:spPr>
          <a:xfrm>
            <a:off x="4304237" y="3796030"/>
            <a:ext cx="59310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L=6</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59" name="TextBox 58"/>
          <p:cNvSpPr txBox="1"/>
          <p:nvPr/>
        </p:nvSpPr>
        <p:spPr>
          <a:xfrm>
            <a:off x="4340287" y="3982753"/>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H=6</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0" name="TextBox 59"/>
          <p:cNvSpPr txBox="1"/>
          <p:nvPr/>
        </p:nvSpPr>
        <p:spPr>
          <a:xfrm>
            <a:off x="4983301" y="4655756"/>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L=7</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61" name="TextBox 60"/>
          <p:cNvSpPr txBox="1"/>
          <p:nvPr/>
        </p:nvSpPr>
        <p:spPr>
          <a:xfrm>
            <a:off x="5631623" y="3052091"/>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L=8</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62" name="TextBox 61"/>
          <p:cNvSpPr txBox="1"/>
          <p:nvPr/>
        </p:nvSpPr>
        <p:spPr>
          <a:xfrm>
            <a:off x="5555383" y="3288101"/>
            <a:ext cx="764114"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H=10</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3" name="TextBox 62"/>
          <p:cNvSpPr txBox="1"/>
          <p:nvPr/>
        </p:nvSpPr>
        <p:spPr>
          <a:xfrm>
            <a:off x="6081052" y="2263404"/>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L=8</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64" name="TextBox 63"/>
          <p:cNvSpPr txBox="1"/>
          <p:nvPr/>
        </p:nvSpPr>
        <p:spPr>
          <a:xfrm>
            <a:off x="4085776" y="4803102"/>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H=5</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3" name="TextBox 72"/>
          <p:cNvSpPr txBox="1"/>
          <p:nvPr/>
        </p:nvSpPr>
        <p:spPr>
          <a:xfrm>
            <a:off x="2336138" y="2479962"/>
            <a:ext cx="59310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L=1</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4" name="TextBox 73"/>
          <p:cNvSpPr txBox="1"/>
          <p:nvPr/>
        </p:nvSpPr>
        <p:spPr>
          <a:xfrm>
            <a:off x="3622196" y="2340063"/>
            <a:ext cx="745320"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5" name="TextBox 74"/>
          <p:cNvSpPr txBox="1"/>
          <p:nvPr/>
        </p:nvSpPr>
        <p:spPr>
          <a:xfrm>
            <a:off x="2455536" y="3938032"/>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H=2</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7" name="TextBox 76"/>
          <p:cNvSpPr txBox="1"/>
          <p:nvPr/>
        </p:nvSpPr>
        <p:spPr>
          <a:xfrm>
            <a:off x="4505980" y="2678617"/>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54</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78" name="TextBox 77"/>
          <p:cNvSpPr txBox="1"/>
          <p:nvPr/>
        </p:nvSpPr>
        <p:spPr>
          <a:xfrm>
            <a:off x="7896612" y="3932904"/>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142</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79" name="TextBox 78"/>
          <p:cNvSpPr txBox="1"/>
          <p:nvPr/>
        </p:nvSpPr>
        <p:spPr>
          <a:xfrm>
            <a:off x="2844866" y="3250586"/>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0</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81" name="TextBox 80"/>
          <p:cNvSpPr txBox="1"/>
          <p:nvPr/>
        </p:nvSpPr>
        <p:spPr>
          <a:xfrm>
            <a:off x="4641096" y="4712293"/>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23</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91" name="TextBox 90"/>
          <p:cNvSpPr txBox="1"/>
          <p:nvPr/>
        </p:nvSpPr>
        <p:spPr>
          <a:xfrm>
            <a:off x="8323964" y="1952221"/>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-1</a:t>
            </a:r>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93" name="Straight Connector 92"/>
          <p:cNvCxnSpPr/>
          <p:nvPr/>
        </p:nvCxnSpPr>
        <p:spPr>
          <a:xfrm flipH="1">
            <a:off x="8239702" y="3710755"/>
            <a:ext cx="2356580" cy="1922"/>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8821424" y="2534958"/>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-2</a:t>
            </a:r>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95" name="Straight Connector 94"/>
          <p:cNvCxnSpPr/>
          <p:nvPr/>
        </p:nvCxnSpPr>
        <p:spPr>
          <a:xfrm flipH="1">
            <a:off x="6822318" y="2941883"/>
            <a:ext cx="2764078" cy="42672"/>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a:off x="4804973" y="2266620"/>
            <a:ext cx="3748420" cy="44858"/>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9310502" y="3336470"/>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-3</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8" name="TextBox 97"/>
          <p:cNvSpPr txBox="1"/>
          <p:nvPr/>
        </p:nvSpPr>
        <p:spPr>
          <a:xfrm>
            <a:off x="10480935" y="4156030"/>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8" name="TextBox 67"/>
          <p:cNvSpPr txBox="1"/>
          <p:nvPr/>
        </p:nvSpPr>
        <p:spPr>
          <a:xfrm>
            <a:off x="1181323" y="3397304"/>
            <a:ext cx="59310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L=1</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9" name="TextBox 68"/>
          <p:cNvSpPr txBox="1"/>
          <p:nvPr/>
        </p:nvSpPr>
        <p:spPr>
          <a:xfrm>
            <a:off x="1192799" y="3633758"/>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H=2</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70" name="TextBox 69"/>
          <p:cNvSpPr txBox="1"/>
          <p:nvPr/>
        </p:nvSpPr>
        <p:spPr>
          <a:xfrm>
            <a:off x="1686501" y="3968646"/>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-15</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72" name="TextBox 71"/>
          <p:cNvSpPr txBox="1"/>
          <p:nvPr/>
        </p:nvSpPr>
        <p:spPr>
          <a:xfrm>
            <a:off x="4156006" y="3543657"/>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H=6</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82" name="TextBox 81"/>
          <p:cNvSpPr txBox="1"/>
          <p:nvPr/>
        </p:nvSpPr>
        <p:spPr>
          <a:xfrm>
            <a:off x="3886579" y="4035183"/>
            <a:ext cx="742048" cy="338554"/>
          </a:xfrm>
          <a:prstGeom prst="rect">
            <a:avLst/>
          </a:prstGeom>
          <a:noFill/>
        </p:spPr>
        <p:txBody>
          <a:bodyPr wrap="square" rtlCol="0">
            <a:spAutoFit/>
          </a:bodyPr>
          <a:lstStyle/>
          <a:p>
            <a:r>
              <a:rPr lang="en-IN" sz="1600" b="1" dirty="0">
                <a:solidFill>
                  <a:srgbClr val="0070C0"/>
                </a:solidFill>
                <a:latin typeface="Times New Roman" panose="02020603050405020304" pitchFamily="18" charset="0"/>
                <a:cs typeface="Times New Roman" panose="02020603050405020304" pitchFamily="18" charset="0"/>
              </a:rPr>
              <a:t>9</a:t>
            </a:r>
          </a:p>
        </p:txBody>
      </p:sp>
      <p:sp>
        <p:nvSpPr>
          <p:cNvPr id="83" name="TextBox 82"/>
          <p:cNvSpPr txBox="1"/>
          <p:nvPr/>
        </p:nvSpPr>
        <p:spPr>
          <a:xfrm>
            <a:off x="3208724" y="3901658"/>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84" name="TextBox 83"/>
          <p:cNvSpPr txBox="1"/>
          <p:nvPr/>
        </p:nvSpPr>
        <p:spPr>
          <a:xfrm>
            <a:off x="3186890" y="4131843"/>
            <a:ext cx="612212"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H=4</a:t>
            </a:r>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86" name="Straight Connector 85"/>
          <p:cNvCxnSpPr/>
          <p:nvPr/>
        </p:nvCxnSpPr>
        <p:spPr>
          <a:xfrm flipH="1">
            <a:off x="4426681" y="4712293"/>
            <a:ext cx="347412" cy="5923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Rectangle 86"/>
          <p:cNvSpPr/>
          <p:nvPr/>
        </p:nvSpPr>
        <p:spPr>
          <a:xfrm>
            <a:off x="4322533" y="5270451"/>
            <a:ext cx="339006"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8" name="TextBox 87"/>
          <p:cNvSpPr txBox="1"/>
          <p:nvPr/>
        </p:nvSpPr>
        <p:spPr>
          <a:xfrm>
            <a:off x="4144794" y="4608825"/>
            <a:ext cx="866045"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L=6</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2" name="Rectangle 91"/>
          <p:cNvSpPr/>
          <p:nvPr/>
        </p:nvSpPr>
        <p:spPr>
          <a:xfrm>
            <a:off x="5076558" y="5295551"/>
            <a:ext cx="339422" cy="33466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9" name="Oval 98"/>
          <p:cNvSpPr/>
          <p:nvPr/>
        </p:nvSpPr>
        <p:spPr>
          <a:xfrm>
            <a:off x="6386538" y="2892128"/>
            <a:ext cx="626779"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11</a:t>
            </a:r>
            <a:endParaRPr lang="en-IN" dirty="0">
              <a:solidFill>
                <a:srgbClr val="FF0000"/>
              </a:solidFill>
            </a:endParaRPr>
          </a:p>
        </p:txBody>
      </p:sp>
      <p:sp>
        <p:nvSpPr>
          <p:cNvPr id="100" name="TextBox 99"/>
          <p:cNvSpPr txBox="1"/>
          <p:nvPr/>
        </p:nvSpPr>
        <p:spPr>
          <a:xfrm>
            <a:off x="6582940" y="3270991"/>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125</a:t>
            </a:r>
            <a:endParaRPr lang="en-IN" sz="1600" b="1" dirty="0">
              <a:solidFill>
                <a:srgbClr val="0070C0"/>
              </a:solidFill>
              <a:latin typeface="Times New Roman" panose="02020603050405020304" pitchFamily="18" charset="0"/>
              <a:cs typeface="Times New Roman" panose="02020603050405020304" pitchFamily="18" charset="0"/>
            </a:endParaRPr>
          </a:p>
        </p:txBody>
      </p:sp>
      <p:cxnSp>
        <p:nvCxnSpPr>
          <p:cNvPr id="101" name="Straight Connector 100"/>
          <p:cNvCxnSpPr/>
          <p:nvPr/>
        </p:nvCxnSpPr>
        <p:spPr>
          <a:xfrm flipH="1">
            <a:off x="6094682" y="3242544"/>
            <a:ext cx="354174" cy="3439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Oval 102"/>
          <p:cNvSpPr/>
          <p:nvPr/>
        </p:nvSpPr>
        <p:spPr>
          <a:xfrm>
            <a:off x="5935205" y="3532408"/>
            <a:ext cx="594942"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9</a:t>
            </a:r>
          </a:p>
        </p:txBody>
      </p:sp>
      <p:sp>
        <p:nvSpPr>
          <p:cNvPr id="104" name="TextBox 103"/>
          <p:cNvSpPr txBox="1"/>
          <p:nvPr/>
        </p:nvSpPr>
        <p:spPr>
          <a:xfrm>
            <a:off x="5346828" y="3692937"/>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L=8</a:t>
            </a:r>
            <a:endParaRPr lang="en-IN" b="1" dirty="0">
              <a:solidFill>
                <a:srgbClr val="002060"/>
              </a:solidFill>
              <a:latin typeface="Times New Roman" panose="02020603050405020304" pitchFamily="18" charset="0"/>
              <a:cs typeface="Times New Roman" panose="02020603050405020304" pitchFamily="18" charset="0"/>
            </a:endParaRPr>
          </a:p>
        </p:txBody>
      </p:sp>
      <p:cxnSp>
        <p:nvCxnSpPr>
          <p:cNvPr id="105" name="Straight Connector 104"/>
          <p:cNvCxnSpPr/>
          <p:nvPr/>
        </p:nvCxnSpPr>
        <p:spPr>
          <a:xfrm flipH="1">
            <a:off x="5695796" y="3898639"/>
            <a:ext cx="295845" cy="4483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a:off x="6517728" y="3817023"/>
            <a:ext cx="437598" cy="55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6667205" y="3775219"/>
            <a:ext cx="712531" cy="369332"/>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L=10</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10" name="TextBox 109"/>
          <p:cNvSpPr txBox="1"/>
          <p:nvPr/>
        </p:nvSpPr>
        <p:spPr>
          <a:xfrm>
            <a:off x="6010466" y="3962566"/>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101</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111" name="TextBox 110"/>
          <p:cNvSpPr txBox="1"/>
          <p:nvPr/>
        </p:nvSpPr>
        <p:spPr>
          <a:xfrm>
            <a:off x="6735281" y="4033023"/>
            <a:ext cx="736921"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H=10</a:t>
            </a:r>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113" name="Straight Connector 112"/>
          <p:cNvCxnSpPr/>
          <p:nvPr/>
        </p:nvCxnSpPr>
        <p:spPr>
          <a:xfrm>
            <a:off x="6947720" y="3177015"/>
            <a:ext cx="834275" cy="4912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7499037" y="3261076"/>
            <a:ext cx="834275"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16" name="Oval 115"/>
          <p:cNvSpPr/>
          <p:nvPr/>
        </p:nvSpPr>
        <p:spPr>
          <a:xfrm>
            <a:off x="7738370" y="3550928"/>
            <a:ext cx="594942"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13</a:t>
            </a:r>
            <a:endParaRPr lang="en-IN" dirty="0">
              <a:solidFill>
                <a:srgbClr val="FF0000"/>
              </a:solidFill>
            </a:endParaRPr>
          </a:p>
        </p:txBody>
      </p:sp>
      <p:cxnSp>
        <p:nvCxnSpPr>
          <p:cNvPr id="117" name="Straight Connector 116"/>
          <p:cNvCxnSpPr/>
          <p:nvPr/>
        </p:nvCxnSpPr>
        <p:spPr>
          <a:xfrm flipH="1">
            <a:off x="7817175" y="3995509"/>
            <a:ext cx="168745" cy="3396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TextBox 117"/>
          <p:cNvSpPr txBox="1"/>
          <p:nvPr/>
        </p:nvSpPr>
        <p:spPr>
          <a:xfrm>
            <a:off x="7237464" y="3785173"/>
            <a:ext cx="718078" cy="369332"/>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L=12</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19" name="TextBox 118"/>
          <p:cNvSpPr txBox="1"/>
          <p:nvPr/>
        </p:nvSpPr>
        <p:spPr>
          <a:xfrm>
            <a:off x="7285280" y="4019253"/>
            <a:ext cx="712331"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H=12</a:t>
            </a:r>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131" name="Straight Connector 130"/>
          <p:cNvCxnSpPr/>
          <p:nvPr/>
        </p:nvCxnSpPr>
        <p:spPr>
          <a:xfrm>
            <a:off x="8322981" y="3836454"/>
            <a:ext cx="695015" cy="5430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TextBox 132"/>
          <p:cNvSpPr txBox="1"/>
          <p:nvPr/>
        </p:nvSpPr>
        <p:spPr>
          <a:xfrm>
            <a:off x="8533214" y="4737950"/>
            <a:ext cx="759339" cy="369332"/>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L=14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34" name="TextBox 133"/>
          <p:cNvSpPr txBox="1"/>
          <p:nvPr/>
        </p:nvSpPr>
        <p:spPr>
          <a:xfrm>
            <a:off x="8948071" y="4024160"/>
            <a:ext cx="80765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35" name="Oval 134"/>
          <p:cNvSpPr/>
          <p:nvPr/>
        </p:nvSpPr>
        <p:spPr>
          <a:xfrm>
            <a:off x="8961044" y="4284497"/>
            <a:ext cx="625352"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14</a:t>
            </a:r>
            <a:endParaRPr lang="en-IN" dirty="0">
              <a:solidFill>
                <a:srgbClr val="FF0000"/>
              </a:solidFill>
            </a:endParaRPr>
          </a:p>
        </p:txBody>
      </p:sp>
      <p:sp>
        <p:nvSpPr>
          <p:cNvPr id="136" name="TextBox 135"/>
          <p:cNvSpPr txBox="1"/>
          <p:nvPr/>
        </p:nvSpPr>
        <p:spPr>
          <a:xfrm>
            <a:off x="9386301" y="4518814"/>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151</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137" name="TextBox 136"/>
          <p:cNvSpPr txBox="1"/>
          <p:nvPr/>
        </p:nvSpPr>
        <p:spPr>
          <a:xfrm>
            <a:off x="8974236" y="3806843"/>
            <a:ext cx="781492" cy="369332"/>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L=14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38" name="TextBox 137"/>
          <p:cNvSpPr txBox="1"/>
          <p:nvPr/>
        </p:nvSpPr>
        <p:spPr>
          <a:xfrm>
            <a:off x="8445251" y="4984133"/>
            <a:ext cx="869254"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H=13</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39" name="Rectangle 138"/>
          <p:cNvSpPr/>
          <p:nvPr/>
        </p:nvSpPr>
        <p:spPr>
          <a:xfrm>
            <a:off x="8850754" y="5456112"/>
            <a:ext cx="504833"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40" name="Straight Connector 139"/>
          <p:cNvCxnSpPr/>
          <p:nvPr/>
        </p:nvCxnSpPr>
        <p:spPr>
          <a:xfrm flipH="1">
            <a:off x="8895370" y="4658673"/>
            <a:ext cx="370832" cy="8204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9430943" y="4690238"/>
            <a:ext cx="539095" cy="7334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Rectangle 141"/>
          <p:cNvSpPr/>
          <p:nvPr/>
        </p:nvSpPr>
        <p:spPr>
          <a:xfrm>
            <a:off x="9755728" y="5439873"/>
            <a:ext cx="504833"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3" name="TextBox 142"/>
          <p:cNvSpPr txBox="1"/>
          <p:nvPr/>
        </p:nvSpPr>
        <p:spPr>
          <a:xfrm>
            <a:off x="10014680" y="5054205"/>
            <a:ext cx="76731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H=14</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44" name="TextBox 143"/>
          <p:cNvSpPr txBox="1"/>
          <p:nvPr/>
        </p:nvSpPr>
        <p:spPr>
          <a:xfrm>
            <a:off x="9952378" y="4783958"/>
            <a:ext cx="805687" cy="369332"/>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L=15</a:t>
            </a:r>
            <a:endParaRPr lang="en-IN" b="1" dirty="0">
              <a:solidFill>
                <a:srgbClr val="002060"/>
              </a:solidFill>
              <a:latin typeface="Times New Roman" panose="02020603050405020304" pitchFamily="18" charset="0"/>
              <a:cs typeface="Times New Roman" panose="02020603050405020304" pitchFamily="18" charset="0"/>
            </a:endParaRPr>
          </a:p>
        </p:txBody>
      </p:sp>
      <p:cxnSp>
        <p:nvCxnSpPr>
          <p:cNvPr id="148" name="Straight Connector 147"/>
          <p:cNvCxnSpPr/>
          <p:nvPr/>
        </p:nvCxnSpPr>
        <p:spPr>
          <a:xfrm flipH="1" flipV="1">
            <a:off x="9623873" y="4553727"/>
            <a:ext cx="2447724" cy="8962"/>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flipV="1">
            <a:off x="10323659" y="5719700"/>
            <a:ext cx="1747938" cy="5236"/>
          </a:xfrm>
          <a:prstGeom prst="line">
            <a:avLst/>
          </a:prstGeom>
          <a:ln w="22225">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152" name="TextBox 151"/>
          <p:cNvSpPr txBox="1"/>
          <p:nvPr/>
        </p:nvSpPr>
        <p:spPr>
          <a:xfrm>
            <a:off x="10743156" y="5331688"/>
            <a:ext cx="1068326"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Level -5</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06" name="Oval 105"/>
          <p:cNvSpPr/>
          <p:nvPr/>
        </p:nvSpPr>
        <p:spPr>
          <a:xfrm>
            <a:off x="2296502" y="4196085"/>
            <a:ext cx="472752" cy="419282"/>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2</a:t>
            </a:r>
            <a:endParaRPr lang="en-IN" dirty="0">
              <a:solidFill>
                <a:srgbClr val="FF0000"/>
              </a:solidFill>
            </a:endParaRPr>
          </a:p>
        </p:txBody>
      </p:sp>
      <p:cxnSp>
        <p:nvCxnSpPr>
          <p:cNvPr id="114" name="Straight Connector 113"/>
          <p:cNvCxnSpPr/>
          <p:nvPr/>
        </p:nvCxnSpPr>
        <p:spPr>
          <a:xfrm flipH="1">
            <a:off x="1861751" y="4448449"/>
            <a:ext cx="452247" cy="7544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2626768" y="4548080"/>
            <a:ext cx="294375" cy="7106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Rectangle 120"/>
          <p:cNvSpPr/>
          <p:nvPr/>
        </p:nvSpPr>
        <p:spPr>
          <a:xfrm>
            <a:off x="2625271" y="5255080"/>
            <a:ext cx="331142"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2" name="Rectangle 121"/>
          <p:cNvSpPr/>
          <p:nvPr/>
        </p:nvSpPr>
        <p:spPr>
          <a:xfrm>
            <a:off x="1580636" y="5194335"/>
            <a:ext cx="339348"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4" name="TextBox 123"/>
          <p:cNvSpPr txBox="1"/>
          <p:nvPr/>
        </p:nvSpPr>
        <p:spPr>
          <a:xfrm>
            <a:off x="1526766" y="4612506"/>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L=2</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25" name="TextBox 124"/>
          <p:cNvSpPr txBox="1"/>
          <p:nvPr/>
        </p:nvSpPr>
        <p:spPr>
          <a:xfrm>
            <a:off x="1482763" y="4847597"/>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H=1</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26" name="TextBox 125"/>
          <p:cNvSpPr txBox="1"/>
          <p:nvPr/>
        </p:nvSpPr>
        <p:spPr>
          <a:xfrm>
            <a:off x="2218789" y="4983795"/>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H=2</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27" name="TextBox 126"/>
          <p:cNvSpPr txBox="1"/>
          <p:nvPr/>
        </p:nvSpPr>
        <p:spPr>
          <a:xfrm>
            <a:off x="2181965" y="4757690"/>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L=3</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29" name="Oval 128"/>
          <p:cNvSpPr/>
          <p:nvPr/>
        </p:nvSpPr>
        <p:spPr>
          <a:xfrm>
            <a:off x="3309719" y="4412843"/>
            <a:ext cx="547131"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4</a:t>
            </a:r>
            <a:endParaRPr lang="en-IN" dirty="0">
              <a:solidFill>
                <a:srgbClr val="FF0000"/>
              </a:solidFill>
            </a:endParaRPr>
          </a:p>
        </p:txBody>
      </p:sp>
      <p:sp>
        <p:nvSpPr>
          <p:cNvPr id="130" name="TextBox 129"/>
          <p:cNvSpPr txBox="1"/>
          <p:nvPr/>
        </p:nvSpPr>
        <p:spPr>
          <a:xfrm>
            <a:off x="3429281" y="4858829"/>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7</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132" name="TextBox 131"/>
          <p:cNvSpPr txBox="1"/>
          <p:nvPr/>
        </p:nvSpPr>
        <p:spPr>
          <a:xfrm>
            <a:off x="2261309" y="4514949"/>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-6</a:t>
            </a:r>
            <a:endParaRPr lang="en-IN" sz="1600" b="1" dirty="0">
              <a:solidFill>
                <a:srgbClr val="0070C0"/>
              </a:solidFill>
              <a:latin typeface="Times New Roman" panose="02020603050405020304" pitchFamily="18" charset="0"/>
              <a:cs typeface="Times New Roman" panose="02020603050405020304" pitchFamily="18" charset="0"/>
            </a:endParaRPr>
          </a:p>
        </p:txBody>
      </p:sp>
      <p:sp>
        <p:nvSpPr>
          <p:cNvPr id="145" name="Rectangle 144"/>
          <p:cNvSpPr/>
          <p:nvPr/>
        </p:nvSpPr>
        <p:spPr>
          <a:xfrm>
            <a:off x="3822723" y="5272108"/>
            <a:ext cx="316851"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6" name="Rectangle 145"/>
          <p:cNvSpPr/>
          <p:nvPr/>
        </p:nvSpPr>
        <p:spPr>
          <a:xfrm>
            <a:off x="3187588" y="5283163"/>
            <a:ext cx="354020" cy="3688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47" name="Straight Connector 146"/>
          <p:cNvCxnSpPr/>
          <p:nvPr/>
        </p:nvCxnSpPr>
        <p:spPr>
          <a:xfrm flipH="1">
            <a:off x="3180308" y="4800312"/>
            <a:ext cx="209177" cy="5396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a:endCxn id="145" idx="0"/>
          </p:cNvCxnSpPr>
          <p:nvPr/>
        </p:nvCxnSpPr>
        <p:spPr>
          <a:xfrm>
            <a:off x="3838022" y="4682851"/>
            <a:ext cx="143127" cy="5892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1" name="TextBox 150"/>
          <p:cNvSpPr txBox="1"/>
          <p:nvPr/>
        </p:nvSpPr>
        <p:spPr>
          <a:xfrm>
            <a:off x="2840392" y="4645546"/>
            <a:ext cx="649637" cy="369651"/>
          </a:xfrm>
          <a:prstGeom prst="rect">
            <a:avLst/>
          </a:prstGeom>
          <a:noFill/>
        </p:spPr>
        <p:txBody>
          <a:bodyPr wrap="square" rtlCol="0">
            <a:spAutoFit/>
          </a:bodyPr>
          <a:lstStyle/>
          <a:p>
            <a:r>
              <a:rPr lang="en-IN" b="1" dirty="0" smtClean="0">
                <a:solidFill>
                  <a:srgbClr val="002060"/>
                </a:solidFill>
                <a:latin typeface="Times New Roman" panose="02020603050405020304" pitchFamily="18" charset="0"/>
                <a:cs typeface="Times New Roman" panose="02020603050405020304" pitchFamily="18" charset="0"/>
              </a:rPr>
              <a:t>L=4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53" name="TextBox 152"/>
          <p:cNvSpPr txBox="1"/>
          <p:nvPr/>
        </p:nvSpPr>
        <p:spPr>
          <a:xfrm>
            <a:off x="2960187" y="4902723"/>
            <a:ext cx="649637" cy="338554"/>
          </a:xfrm>
          <a:prstGeom prst="rect">
            <a:avLst/>
          </a:prstGeom>
          <a:noFill/>
        </p:spPr>
        <p:txBody>
          <a:bodyPr wrap="square" rtlCol="0">
            <a:spAutoFit/>
          </a:bodyPr>
          <a:lstStyle/>
          <a:p>
            <a:r>
              <a:rPr lang="en-IN" sz="1600" b="1" dirty="0" smtClean="0">
                <a:solidFill>
                  <a:srgbClr val="002060"/>
                </a:solidFill>
                <a:latin typeface="Times New Roman" panose="02020603050405020304" pitchFamily="18" charset="0"/>
                <a:cs typeface="Times New Roman" panose="02020603050405020304" pitchFamily="18" charset="0"/>
              </a:rPr>
              <a:t>H=3</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54" name="TextBox 153"/>
          <p:cNvSpPr txBox="1"/>
          <p:nvPr/>
        </p:nvSpPr>
        <p:spPr>
          <a:xfrm>
            <a:off x="3710673" y="5596810"/>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L=5</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55" name="TextBox 154"/>
          <p:cNvSpPr txBox="1"/>
          <p:nvPr/>
        </p:nvSpPr>
        <p:spPr>
          <a:xfrm>
            <a:off x="3681189" y="5777195"/>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H=4</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56" name="Oval 155"/>
          <p:cNvSpPr/>
          <p:nvPr/>
        </p:nvSpPr>
        <p:spPr>
          <a:xfrm>
            <a:off x="5495141" y="4312153"/>
            <a:ext cx="594942"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8</a:t>
            </a:r>
            <a:endParaRPr lang="en-IN" dirty="0">
              <a:solidFill>
                <a:srgbClr val="FF0000"/>
              </a:solidFill>
            </a:endParaRPr>
          </a:p>
        </p:txBody>
      </p:sp>
      <p:sp>
        <p:nvSpPr>
          <p:cNvPr id="157" name="TextBox 156"/>
          <p:cNvSpPr txBox="1"/>
          <p:nvPr/>
        </p:nvSpPr>
        <p:spPr>
          <a:xfrm>
            <a:off x="5669651" y="4741398"/>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82</a:t>
            </a:r>
            <a:endParaRPr lang="en-IN" sz="1600" b="1" dirty="0">
              <a:solidFill>
                <a:srgbClr val="0070C0"/>
              </a:solidFill>
              <a:latin typeface="Times New Roman" panose="02020603050405020304" pitchFamily="18" charset="0"/>
              <a:cs typeface="Times New Roman" panose="02020603050405020304" pitchFamily="18" charset="0"/>
            </a:endParaRPr>
          </a:p>
        </p:txBody>
      </p:sp>
      <p:cxnSp>
        <p:nvCxnSpPr>
          <p:cNvPr id="158" name="Straight Connector 157"/>
          <p:cNvCxnSpPr/>
          <p:nvPr/>
        </p:nvCxnSpPr>
        <p:spPr>
          <a:xfrm flipH="1">
            <a:off x="5595688" y="4742887"/>
            <a:ext cx="125989" cy="5746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5972093" y="4714300"/>
            <a:ext cx="260583" cy="6031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Rectangle 159"/>
          <p:cNvSpPr/>
          <p:nvPr/>
        </p:nvSpPr>
        <p:spPr>
          <a:xfrm>
            <a:off x="5506455" y="5277708"/>
            <a:ext cx="339422" cy="33466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1" name="Rectangle 160"/>
          <p:cNvSpPr/>
          <p:nvPr/>
        </p:nvSpPr>
        <p:spPr>
          <a:xfrm>
            <a:off x="6027248" y="5294863"/>
            <a:ext cx="339422" cy="33466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2" name="TextBox 161"/>
          <p:cNvSpPr txBox="1"/>
          <p:nvPr/>
        </p:nvSpPr>
        <p:spPr>
          <a:xfrm>
            <a:off x="5958145" y="5795018"/>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H=8</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63" name="TextBox 162"/>
          <p:cNvSpPr txBox="1"/>
          <p:nvPr/>
        </p:nvSpPr>
        <p:spPr>
          <a:xfrm>
            <a:off x="5396858" y="5785832"/>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H=7</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64" name="TextBox 163"/>
          <p:cNvSpPr txBox="1"/>
          <p:nvPr/>
        </p:nvSpPr>
        <p:spPr>
          <a:xfrm>
            <a:off x="5388030" y="5596809"/>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L=8</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65" name="TextBox 164"/>
          <p:cNvSpPr txBox="1"/>
          <p:nvPr/>
        </p:nvSpPr>
        <p:spPr>
          <a:xfrm>
            <a:off x="5970076" y="5599457"/>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L=9</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66" name="Oval 165"/>
          <p:cNvSpPr/>
          <p:nvPr/>
        </p:nvSpPr>
        <p:spPr>
          <a:xfrm>
            <a:off x="6687151" y="4320985"/>
            <a:ext cx="594942"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10</a:t>
            </a:r>
            <a:endParaRPr lang="en-IN" dirty="0">
              <a:solidFill>
                <a:srgbClr val="FF0000"/>
              </a:solidFill>
            </a:endParaRPr>
          </a:p>
        </p:txBody>
      </p:sp>
      <p:sp>
        <p:nvSpPr>
          <p:cNvPr id="167" name="TextBox 166"/>
          <p:cNvSpPr txBox="1"/>
          <p:nvPr/>
        </p:nvSpPr>
        <p:spPr>
          <a:xfrm>
            <a:off x="6809177" y="4688708"/>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112</a:t>
            </a:r>
            <a:endParaRPr lang="en-IN" sz="1600" b="1" dirty="0">
              <a:solidFill>
                <a:srgbClr val="0070C0"/>
              </a:solidFill>
              <a:latin typeface="Times New Roman" panose="02020603050405020304" pitchFamily="18" charset="0"/>
              <a:cs typeface="Times New Roman" panose="02020603050405020304" pitchFamily="18" charset="0"/>
            </a:endParaRPr>
          </a:p>
        </p:txBody>
      </p:sp>
      <p:cxnSp>
        <p:nvCxnSpPr>
          <p:cNvPr id="168" name="Straight Connector 167"/>
          <p:cNvCxnSpPr/>
          <p:nvPr/>
        </p:nvCxnSpPr>
        <p:spPr>
          <a:xfrm flipH="1">
            <a:off x="6680282" y="4724034"/>
            <a:ext cx="125989" cy="5746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a:off x="7219114" y="4651330"/>
            <a:ext cx="179417" cy="6886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0" name="Rectangle 169"/>
          <p:cNvSpPr/>
          <p:nvPr/>
        </p:nvSpPr>
        <p:spPr>
          <a:xfrm>
            <a:off x="6528610" y="5304668"/>
            <a:ext cx="339422" cy="33466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1" name="Rectangle 170"/>
          <p:cNvSpPr/>
          <p:nvPr/>
        </p:nvSpPr>
        <p:spPr>
          <a:xfrm>
            <a:off x="7091241" y="5276960"/>
            <a:ext cx="339422" cy="33466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2" name="TextBox 171"/>
          <p:cNvSpPr txBox="1"/>
          <p:nvPr/>
        </p:nvSpPr>
        <p:spPr>
          <a:xfrm>
            <a:off x="6386253" y="5662600"/>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L=10</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73" name="TextBox 172"/>
          <p:cNvSpPr txBox="1"/>
          <p:nvPr/>
        </p:nvSpPr>
        <p:spPr>
          <a:xfrm>
            <a:off x="7037130" y="5618279"/>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L=11</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76" name="TextBox 175"/>
          <p:cNvSpPr txBox="1"/>
          <p:nvPr/>
        </p:nvSpPr>
        <p:spPr>
          <a:xfrm>
            <a:off x="6352563" y="5839756"/>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H=9</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77" name="TextBox 176"/>
          <p:cNvSpPr txBox="1"/>
          <p:nvPr/>
        </p:nvSpPr>
        <p:spPr>
          <a:xfrm>
            <a:off x="7019182" y="5831501"/>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H=10</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78" name="Oval 177"/>
          <p:cNvSpPr/>
          <p:nvPr/>
        </p:nvSpPr>
        <p:spPr>
          <a:xfrm>
            <a:off x="7544058" y="4310579"/>
            <a:ext cx="625352" cy="44246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12</a:t>
            </a:r>
            <a:endParaRPr lang="en-IN" dirty="0">
              <a:solidFill>
                <a:srgbClr val="FF0000"/>
              </a:solidFill>
            </a:endParaRPr>
          </a:p>
        </p:txBody>
      </p:sp>
      <p:sp>
        <p:nvSpPr>
          <p:cNvPr id="179" name="TextBox 178"/>
          <p:cNvSpPr txBox="1"/>
          <p:nvPr/>
        </p:nvSpPr>
        <p:spPr>
          <a:xfrm>
            <a:off x="7626791" y="4656416"/>
            <a:ext cx="649637" cy="338554"/>
          </a:xfrm>
          <a:prstGeom prst="rect">
            <a:avLst/>
          </a:prstGeom>
          <a:noFill/>
        </p:spPr>
        <p:txBody>
          <a:bodyPr wrap="square" rtlCol="0">
            <a:spAutoFit/>
          </a:bodyPr>
          <a:lstStyle/>
          <a:p>
            <a:r>
              <a:rPr lang="en-IN" sz="1600" b="1" dirty="0" smtClean="0">
                <a:solidFill>
                  <a:srgbClr val="0070C0"/>
                </a:solidFill>
                <a:latin typeface="Times New Roman" panose="02020603050405020304" pitchFamily="18" charset="0"/>
                <a:cs typeface="Times New Roman" panose="02020603050405020304" pitchFamily="18" charset="0"/>
              </a:rPr>
              <a:t>131</a:t>
            </a:r>
            <a:endParaRPr lang="en-IN" sz="1600" b="1" dirty="0">
              <a:solidFill>
                <a:srgbClr val="0070C0"/>
              </a:solidFill>
              <a:latin typeface="Times New Roman" panose="02020603050405020304" pitchFamily="18" charset="0"/>
              <a:cs typeface="Times New Roman" panose="02020603050405020304" pitchFamily="18" charset="0"/>
            </a:endParaRPr>
          </a:p>
        </p:txBody>
      </p:sp>
      <p:cxnSp>
        <p:nvCxnSpPr>
          <p:cNvPr id="180" name="Straight Connector 179"/>
          <p:cNvCxnSpPr/>
          <p:nvPr/>
        </p:nvCxnSpPr>
        <p:spPr>
          <a:xfrm flipH="1">
            <a:off x="7668819" y="4714454"/>
            <a:ext cx="32748" cy="6172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8142215" y="4651312"/>
            <a:ext cx="105961" cy="6330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2" name="Rectangle 181"/>
          <p:cNvSpPr/>
          <p:nvPr/>
        </p:nvSpPr>
        <p:spPr>
          <a:xfrm>
            <a:off x="7538438" y="5331688"/>
            <a:ext cx="339422" cy="33466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3" name="Rectangle 182"/>
          <p:cNvSpPr/>
          <p:nvPr/>
        </p:nvSpPr>
        <p:spPr>
          <a:xfrm>
            <a:off x="8129145" y="5304668"/>
            <a:ext cx="339422" cy="33466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4" name="TextBox 183"/>
          <p:cNvSpPr txBox="1"/>
          <p:nvPr/>
        </p:nvSpPr>
        <p:spPr>
          <a:xfrm>
            <a:off x="7465593" y="5619075"/>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L=12</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85" name="TextBox 184"/>
          <p:cNvSpPr txBox="1"/>
          <p:nvPr/>
        </p:nvSpPr>
        <p:spPr>
          <a:xfrm>
            <a:off x="8032354" y="5645263"/>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L=13</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86" name="TextBox 185"/>
          <p:cNvSpPr txBox="1"/>
          <p:nvPr/>
        </p:nvSpPr>
        <p:spPr>
          <a:xfrm>
            <a:off x="7485298" y="5804481"/>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H=11</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87" name="TextBox 186"/>
          <p:cNvSpPr txBox="1"/>
          <p:nvPr/>
        </p:nvSpPr>
        <p:spPr>
          <a:xfrm>
            <a:off x="8050302" y="5831501"/>
            <a:ext cx="649637" cy="307777"/>
          </a:xfrm>
          <a:prstGeom prst="rect">
            <a:avLst/>
          </a:prstGeom>
          <a:noFill/>
        </p:spPr>
        <p:txBody>
          <a:bodyPr wrap="square" rtlCol="0">
            <a:spAutoFit/>
          </a:bodyPr>
          <a:lstStyle/>
          <a:p>
            <a:r>
              <a:rPr lang="en-IN" sz="1400" b="1" dirty="0" smtClean="0">
                <a:solidFill>
                  <a:srgbClr val="002060"/>
                </a:solidFill>
                <a:latin typeface="Times New Roman" panose="02020603050405020304" pitchFamily="18" charset="0"/>
                <a:cs typeface="Times New Roman" panose="02020603050405020304" pitchFamily="18" charset="0"/>
              </a:rPr>
              <a:t>H=12</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4" name="Date Placeholder 13"/>
          <p:cNvSpPr>
            <a:spLocks noGrp="1"/>
          </p:cNvSpPr>
          <p:nvPr>
            <p:ph type="dt" sz="half" idx="10"/>
          </p:nvPr>
        </p:nvSpPr>
        <p:spPr/>
        <p:txBody>
          <a:bodyPr/>
          <a:lstStyle/>
          <a:p>
            <a:fld id="{89EDA20C-4D52-4E51-BCFF-8EDCCBF23C52}" type="datetime1">
              <a:rPr lang="en-IN" smtClean="0"/>
              <a:t>21-03-2026</a:t>
            </a:fld>
            <a:endParaRPr lang="en-IN"/>
          </a:p>
        </p:txBody>
      </p:sp>
    </p:spTree>
    <p:extLst>
      <p:ext uri="{BB962C8B-B14F-4D97-AF65-F5344CB8AC3E}">
        <p14:creationId xmlns:p14="http://schemas.microsoft.com/office/powerpoint/2010/main" val="1585161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7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8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8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8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3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2"/>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5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5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86"/>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8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64"/>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81"/>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87"/>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30"/>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60"/>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56"/>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9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6"/>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99"/>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63"/>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45"/>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100"/>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01"/>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61"/>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62"/>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103"/>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110"/>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05"/>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104"/>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53"/>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08"/>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109"/>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grpId="0" nodeType="clickEffect">
                                  <p:stCondLst>
                                    <p:cond delay="0"/>
                                  </p:stCondLst>
                                  <p:childTnLst>
                                    <p:set>
                                      <p:cBhvr>
                                        <p:cTn id="234" dur="1" fill="hold">
                                          <p:stCondLst>
                                            <p:cond delay="0"/>
                                          </p:stCondLst>
                                        </p:cTn>
                                        <p:tgtEl>
                                          <p:spTgt spid="111"/>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13"/>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grpId="0" nodeType="clickEffect">
                                  <p:stCondLst>
                                    <p:cond delay="0"/>
                                  </p:stCondLst>
                                  <p:childTnLst>
                                    <p:set>
                                      <p:cBhvr>
                                        <p:cTn id="242" dur="1" fill="hold">
                                          <p:stCondLst>
                                            <p:cond delay="0"/>
                                          </p:stCondLst>
                                        </p:cTn>
                                        <p:tgtEl>
                                          <p:spTgt spid="116"/>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grpId="0" nodeType="clickEffect">
                                  <p:stCondLst>
                                    <p:cond delay="0"/>
                                  </p:stCondLst>
                                  <p:childTnLst>
                                    <p:set>
                                      <p:cBhvr>
                                        <p:cTn id="246" dur="1" fill="hold">
                                          <p:stCondLst>
                                            <p:cond delay="0"/>
                                          </p:stCondLst>
                                        </p:cTn>
                                        <p:tgtEl>
                                          <p:spTgt spid="49"/>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115"/>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grpId="0" nodeType="clickEffect">
                                  <p:stCondLst>
                                    <p:cond delay="0"/>
                                  </p:stCondLst>
                                  <p:childTnLst>
                                    <p:set>
                                      <p:cBhvr>
                                        <p:cTn id="254" dur="1" fill="hold">
                                          <p:stCondLst>
                                            <p:cond delay="0"/>
                                          </p:stCondLst>
                                        </p:cTn>
                                        <p:tgtEl>
                                          <p:spTgt spid="78"/>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117"/>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grpId="0" nodeType="clickEffect">
                                  <p:stCondLst>
                                    <p:cond delay="0"/>
                                  </p:stCondLst>
                                  <p:childTnLst>
                                    <p:set>
                                      <p:cBhvr>
                                        <p:cTn id="262" dur="1" fill="hold">
                                          <p:stCondLst>
                                            <p:cond delay="0"/>
                                          </p:stCondLst>
                                        </p:cTn>
                                        <p:tgtEl>
                                          <p:spTgt spid="119"/>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grpId="0" nodeType="clickEffect">
                                  <p:stCondLst>
                                    <p:cond delay="0"/>
                                  </p:stCondLst>
                                  <p:childTnLst>
                                    <p:set>
                                      <p:cBhvr>
                                        <p:cTn id="266" dur="1" fill="hold">
                                          <p:stCondLst>
                                            <p:cond delay="0"/>
                                          </p:stCondLst>
                                        </p:cTn>
                                        <p:tgtEl>
                                          <p:spTgt spid="118"/>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131"/>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grpId="0" nodeType="clickEffect">
                                  <p:stCondLst>
                                    <p:cond delay="0"/>
                                  </p:stCondLst>
                                  <p:childTnLst>
                                    <p:set>
                                      <p:cBhvr>
                                        <p:cTn id="274" dur="1" fill="hold">
                                          <p:stCondLst>
                                            <p:cond delay="0"/>
                                          </p:stCondLst>
                                        </p:cTn>
                                        <p:tgtEl>
                                          <p:spTgt spid="135"/>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grpId="0" nodeType="clickEffect">
                                  <p:stCondLst>
                                    <p:cond delay="0"/>
                                  </p:stCondLst>
                                  <p:childTnLst>
                                    <p:set>
                                      <p:cBhvr>
                                        <p:cTn id="278" dur="1" fill="hold">
                                          <p:stCondLst>
                                            <p:cond delay="0"/>
                                          </p:stCondLst>
                                        </p:cTn>
                                        <p:tgtEl>
                                          <p:spTgt spid="137"/>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grpId="0" nodeType="clickEffect">
                                  <p:stCondLst>
                                    <p:cond delay="0"/>
                                  </p:stCondLst>
                                  <p:childTnLst>
                                    <p:set>
                                      <p:cBhvr>
                                        <p:cTn id="282" dur="1" fill="hold">
                                          <p:stCondLst>
                                            <p:cond delay="0"/>
                                          </p:stCondLst>
                                        </p:cTn>
                                        <p:tgtEl>
                                          <p:spTgt spid="134"/>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grpId="0" nodeType="clickEffect">
                                  <p:stCondLst>
                                    <p:cond delay="0"/>
                                  </p:stCondLst>
                                  <p:childTnLst>
                                    <p:set>
                                      <p:cBhvr>
                                        <p:cTn id="286" dur="1" fill="hold">
                                          <p:stCondLst>
                                            <p:cond delay="0"/>
                                          </p:stCondLst>
                                        </p:cTn>
                                        <p:tgtEl>
                                          <p:spTgt spid="136"/>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140"/>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grpId="0" nodeType="clickEffect">
                                  <p:stCondLst>
                                    <p:cond delay="0"/>
                                  </p:stCondLst>
                                  <p:childTnLst>
                                    <p:set>
                                      <p:cBhvr>
                                        <p:cTn id="294" dur="1" fill="hold">
                                          <p:stCondLst>
                                            <p:cond delay="0"/>
                                          </p:stCondLst>
                                        </p:cTn>
                                        <p:tgtEl>
                                          <p:spTgt spid="133"/>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grpId="0" nodeType="clickEffect">
                                  <p:stCondLst>
                                    <p:cond delay="0"/>
                                  </p:stCondLst>
                                  <p:childTnLst>
                                    <p:set>
                                      <p:cBhvr>
                                        <p:cTn id="298" dur="1" fill="hold">
                                          <p:stCondLst>
                                            <p:cond delay="0"/>
                                          </p:stCondLst>
                                        </p:cTn>
                                        <p:tgtEl>
                                          <p:spTgt spid="138"/>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grpId="0" nodeType="clickEffect">
                                  <p:stCondLst>
                                    <p:cond delay="0"/>
                                  </p:stCondLst>
                                  <p:childTnLst>
                                    <p:set>
                                      <p:cBhvr>
                                        <p:cTn id="302" dur="1" fill="hold">
                                          <p:stCondLst>
                                            <p:cond delay="0"/>
                                          </p:stCondLst>
                                        </p:cTn>
                                        <p:tgtEl>
                                          <p:spTgt spid="139"/>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141"/>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grpId="0" nodeType="clickEffect">
                                  <p:stCondLst>
                                    <p:cond delay="0"/>
                                  </p:stCondLst>
                                  <p:childTnLst>
                                    <p:set>
                                      <p:cBhvr>
                                        <p:cTn id="310" dur="1" fill="hold">
                                          <p:stCondLst>
                                            <p:cond delay="0"/>
                                          </p:stCondLst>
                                        </p:cTn>
                                        <p:tgtEl>
                                          <p:spTgt spid="144"/>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grpId="0" nodeType="clickEffect">
                                  <p:stCondLst>
                                    <p:cond delay="0"/>
                                  </p:stCondLst>
                                  <p:childTnLst>
                                    <p:set>
                                      <p:cBhvr>
                                        <p:cTn id="314" dur="1" fill="hold">
                                          <p:stCondLst>
                                            <p:cond delay="0"/>
                                          </p:stCondLst>
                                        </p:cTn>
                                        <p:tgtEl>
                                          <p:spTgt spid="143"/>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grpId="0" nodeType="clickEffect">
                                  <p:stCondLst>
                                    <p:cond delay="0"/>
                                  </p:stCondLst>
                                  <p:childTnLst>
                                    <p:set>
                                      <p:cBhvr>
                                        <p:cTn id="318" dur="1" fill="hold">
                                          <p:stCondLst>
                                            <p:cond delay="0"/>
                                          </p:stCondLst>
                                        </p:cTn>
                                        <p:tgtEl>
                                          <p:spTgt spid="142"/>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96"/>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grpId="0" nodeType="clickEffect">
                                  <p:stCondLst>
                                    <p:cond delay="0"/>
                                  </p:stCondLst>
                                  <p:childTnLst>
                                    <p:set>
                                      <p:cBhvr>
                                        <p:cTn id="326" dur="1" fill="hold">
                                          <p:stCondLst>
                                            <p:cond delay="0"/>
                                          </p:stCondLst>
                                        </p:cTn>
                                        <p:tgtEl>
                                          <p:spTgt spid="91"/>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95"/>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grpId="0" nodeType="clickEffect">
                                  <p:stCondLst>
                                    <p:cond delay="0"/>
                                  </p:stCondLst>
                                  <p:childTnLst>
                                    <p:set>
                                      <p:cBhvr>
                                        <p:cTn id="334" dur="1" fill="hold">
                                          <p:stCondLst>
                                            <p:cond delay="0"/>
                                          </p:stCondLst>
                                        </p:cTn>
                                        <p:tgtEl>
                                          <p:spTgt spid="94"/>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93"/>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grpId="0" nodeType="clickEffect">
                                  <p:stCondLst>
                                    <p:cond delay="0"/>
                                  </p:stCondLst>
                                  <p:childTnLst>
                                    <p:set>
                                      <p:cBhvr>
                                        <p:cTn id="342" dur="1" fill="hold">
                                          <p:stCondLst>
                                            <p:cond delay="0"/>
                                          </p:stCondLst>
                                        </p:cTn>
                                        <p:tgtEl>
                                          <p:spTgt spid="97"/>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148"/>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grpId="0" nodeType="clickEffect">
                                  <p:stCondLst>
                                    <p:cond delay="0"/>
                                  </p:stCondLst>
                                  <p:childTnLst>
                                    <p:set>
                                      <p:cBhvr>
                                        <p:cTn id="350" dur="1" fill="hold">
                                          <p:stCondLst>
                                            <p:cond delay="0"/>
                                          </p:stCondLst>
                                        </p:cTn>
                                        <p:tgtEl>
                                          <p:spTgt spid="98"/>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150"/>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grpId="0" nodeType="clickEffect">
                                  <p:stCondLst>
                                    <p:cond delay="0"/>
                                  </p:stCondLst>
                                  <p:childTnLst>
                                    <p:set>
                                      <p:cBhvr>
                                        <p:cTn id="358" dur="1" fill="hold">
                                          <p:stCondLst>
                                            <p:cond delay="0"/>
                                          </p:stCondLst>
                                        </p:cTn>
                                        <p:tgtEl>
                                          <p:spTgt spid="152"/>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grpId="0" nodeType="clickEffect">
                                  <p:stCondLst>
                                    <p:cond delay="0"/>
                                  </p:stCondLst>
                                  <p:childTnLst>
                                    <p:set>
                                      <p:cBhvr>
                                        <p:cTn id="362" dur="1" fill="hold">
                                          <p:stCondLst>
                                            <p:cond delay="0"/>
                                          </p:stCondLst>
                                        </p:cTn>
                                        <p:tgtEl>
                                          <p:spTgt spid="106"/>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114"/>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120"/>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grpId="0" nodeType="clickEffect">
                                  <p:stCondLst>
                                    <p:cond delay="0"/>
                                  </p:stCondLst>
                                  <p:childTnLst>
                                    <p:set>
                                      <p:cBhvr>
                                        <p:cTn id="374" dur="1" fill="hold">
                                          <p:stCondLst>
                                            <p:cond delay="0"/>
                                          </p:stCondLst>
                                        </p:cTn>
                                        <p:tgtEl>
                                          <p:spTgt spid="121"/>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grpId="0" nodeType="clickEffect">
                                  <p:stCondLst>
                                    <p:cond delay="0"/>
                                  </p:stCondLst>
                                  <p:childTnLst>
                                    <p:set>
                                      <p:cBhvr>
                                        <p:cTn id="378" dur="1" fill="hold">
                                          <p:stCondLst>
                                            <p:cond delay="0"/>
                                          </p:stCondLst>
                                        </p:cTn>
                                        <p:tgtEl>
                                          <p:spTgt spid="122"/>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grpId="0" nodeType="clickEffect">
                                  <p:stCondLst>
                                    <p:cond delay="0"/>
                                  </p:stCondLst>
                                  <p:childTnLst>
                                    <p:set>
                                      <p:cBhvr>
                                        <p:cTn id="382" dur="1" fill="hold">
                                          <p:stCondLst>
                                            <p:cond delay="0"/>
                                          </p:stCondLst>
                                        </p:cTn>
                                        <p:tgtEl>
                                          <p:spTgt spid="124"/>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grpId="0" nodeType="clickEffect">
                                  <p:stCondLst>
                                    <p:cond delay="0"/>
                                  </p:stCondLst>
                                  <p:childTnLst>
                                    <p:set>
                                      <p:cBhvr>
                                        <p:cTn id="386" dur="1" fill="hold">
                                          <p:stCondLst>
                                            <p:cond delay="0"/>
                                          </p:stCondLst>
                                        </p:cTn>
                                        <p:tgtEl>
                                          <p:spTgt spid="125"/>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grpId="0" nodeType="clickEffect">
                                  <p:stCondLst>
                                    <p:cond delay="0"/>
                                  </p:stCondLst>
                                  <p:childTnLst>
                                    <p:set>
                                      <p:cBhvr>
                                        <p:cTn id="390" dur="1" fill="hold">
                                          <p:stCondLst>
                                            <p:cond delay="0"/>
                                          </p:stCondLst>
                                        </p:cTn>
                                        <p:tgtEl>
                                          <p:spTgt spid="126"/>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grpId="0" nodeType="clickEffect">
                                  <p:stCondLst>
                                    <p:cond delay="0"/>
                                  </p:stCondLst>
                                  <p:childTnLst>
                                    <p:set>
                                      <p:cBhvr>
                                        <p:cTn id="394" dur="1" fill="hold">
                                          <p:stCondLst>
                                            <p:cond delay="0"/>
                                          </p:stCondLst>
                                        </p:cTn>
                                        <p:tgtEl>
                                          <p:spTgt spid="127"/>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grpId="0" nodeType="clickEffect">
                                  <p:stCondLst>
                                    <p:cond delay="0"/>
                                  </p:stCondLst>
                                  <p:childTnLst>
                                    <p:set>
                                      <p:cBhvr>
                                        <p:cTn id="398" dur="1" fill="hold">
                                          <p:stCondLst>
                                            <p:cond delay="0"/>
                                          </p:stCondLst>
                                        </p:cTn>
                                        <p:tgtEl>
                                          <p:spTgt spid="129"/>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grpId="0" nodeType="clickEffect">
                                  <p:stCondLst>
                                    <p:cond delay="0"/>
                                  </p:stCondLst>
                                  <p:childTnLst>
                                    <p:set>
                                      <p:cBhvr>
                                        <p:cTn id="402" dur="1" fill="hold">
                                          <p:stCondLst>
                                            <p:cond delay="0"/>
                                          </p:stCondLst>
                                        </p:cTn>
                                        <p:tgtEl>
                                          <p:spTgt spid="130"/>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grpId="0" nodeType="clickEffect">
                                  <p:stCondLst>
                                    <p:cond delay="0"/>
                                  </p:stCondLst>
                                  <p:childTnLst>
                                    <p:set>
                                      <p:cBhvr>
                                        <p:cTn id="406" dur="1" fill="hold">
                                          <p:stCondLst>
                                            <p:cond delay="0"/>
                                          </p:stCondLst>
                                        </p:cTn>
                                        <p:tgtEl>
                                          <p:spTgt spid="132"/>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grpId="0" nodeType="clickEffect">
                                  <p:stCondLst>
                                    <p:cond delay="0"/>
                                  </p:stCondLst>
                                  <p:childTnLst>
                                    <p:set>
                                      <p:cBhvr>
                                        <p:cTn id="410" dur="1" fill="hold">
                                          <p:stCondLst>
                                            <p:cond delay="0"/>
                                          </p:stCondLst>
                                        </p:cTn>
                                        <p:tgtEl>
                                          <p:spTgt spid="145"/>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grpId="0" nodeType="clickEffect">
                                  <p:stCondLst>
                                    <p:cond delay="0"/>
                                  </p:stCondLst>
                                  <p:childTnLst>
                                    <p:set>
                                      <p:cBhvr>
                                        <p:cTn id="414" dur="1" fill="hold">
                                          <p:stCondLst>
                                            <p:cond delay="0"/>
                                          </p:stCondLst>
                                        </p:cTn>
                                        <p:tgtEl>
                                          <p:spTgt spid="146"/>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147"/>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149"/>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grpId="0" nodeType="clickEffect">
                                  <p:stCondLst>
                                    <p:cond delay="0"/>
                                  </p:stCondLst>
                                  <p:childTnLst>
                                    <p:set>
                                      <p:cBhvr>
                                        <p:cTn id="426" dur="1" fill="hold">
                                          <p:stCondLst>
                                            <p:cond delay="0"/>
                                          </p:stCondLst>
                                        </p:cTn>
                                        <p:tgtEl>
                                          <p:spTgt spid="151"/>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grpId="0" nodeType="clickEffect">
                                  <p:stCondLst>
                                    <p:cond delay="0"/>
                                  </p:stCondLst>
                                  <p:childTnLst>
                                    <p:set>
                                      <p:cBhvr>
                                        <p:cTn id="430" dur="1" fill="hold">
                                          <p:stCondLst>
                                            <p:cond delay="0"/>
                                          </p:stCondLst>
                                        </p:cTn>
                                        <p:tgtEl>
                                          <p:spTgt spid="153"/>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grpId="0" nodeType="clickEffect">
                                  <p:stCondLst>
                                    <p:cond delay="0"/>
                                  </p:stCondLst>
                                  <p:childTnLst>
                                    <p:set>
                                      <p:cBhvr>
                                        <p:cTn id="434" dur="1" fill="hold">
                                          <p:stCondLst>
                                            <p:cond delay="0"/>
                                          </p:stCondLst>
                                        </p:cTn>
                                        <p:tgtEl>
                                          <p:spTgt spid="154"/>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grpId="0" nodeType="clickEffect">
                                  <p:stCondLst>
                                    <p:cond delay="0"/>
                                  </p:stCondLst>
                                  <p:childTnLst>
                                    <p:set>
                                      <p:cBhvr>
                                        <p:cTn id="438" dur="1" fill="hold">
                                          <p:stCondLst>
                                            <p:cond delay="0"/>
                                          </p:stCondLst>
                                        </p:cTn>
                                        <p:tgtEl>
                                          <p:spTgt spid="155"/>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grpId="0" nodeType="clickEffect">
                                  <p:stCondLst>
                                    <p:cond delay="0"/>
                                  </p:stCondLst>
                                  <p:childTnLst>
                                    <p:set>
                                      <p:cBhvr>
                                        <p:cTn id="442" dur="1" fill="hold">
                                          <p:stCondLst>
                                            <p:cond delay="0"/>
                                          </p:stCondLst>
                                        </p:cTn>
                                        <p:tgtEl>
                                          <p:spTgt spid="156"/>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grpId="0" nodeType="clickEffect">
                                  <p:stCondLst>
                                    <p:cond delay="0"/>
                                  </p:stCondLst>
                                  <p:childTnLst>
                                    <p:set>
                                      <p:cBhvr>
                                        <p:cTn id="446" dur="1" fill="hold">
                                          <p:stCondLst>
                                            <p:cond delay="0"/>
                                          </p:stCondLst>
                                        </p:cTn>
                                        <p:tgtEl>
                                          <p:spTgt spid="157"/>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158"/>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159"/>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grpId="0" nodeType="clickEffect">
                                  <p:stCondLst>
                                    <p:cond delay="0"/>
                                  </p:stCondLst>
                                  <p:childTnLst>
                                    <p:set>
                                      <p:cBhvr>
                                        <p:cTn id="458" dur="1" fill="hold">
                                          <p:stCondLst>
                                            <p:cond delay="0"/>
                                          </p:stCondLst>
                                        </p:cTn>
                                        <p:tgtEl>
                                          <p:spTgt spid="160"/>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grpId="0" nodeType="clickEffect">
                                  <p:stCondLst>
                                    <p:cond delay="0"/>
                                  </p:stCondLst>
                                  <p:childTnLst>
                                    <p:set>
                                      <p:cBhvr>
                                        <p:cTn id="462" dur="1" fill="hold">
                                          <p:stCondLst>
                                            <p:cond delay="0"/>
                                          </p:stCondLst>
                                        </p:cTn>
                                        <p:tgtEl>
                                          <p:spTgt spid="161"/>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grpId="0" nodeType="clickEffect">
                                  <p:stCondLst>
                                    <p:cond delay="0"/>
                                  </p:stCondLst>
                                  <p:childTnLst>
                                    <p:set>
                                      <p:cBhvr>
                                        <p:cTn id="466" dur="1" fill="hold">
                                          <p:stCondLst>
                                            <p:cond delay="0"/>
                                          </p:stCondLst>
                                        </p:cTn>
                                        <p:tgtEl>
                                          <p:spTgt spid="162"/>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grpId="0" nodeType="clickEffect">
                                  <p:stCondLst>
                                    <p:cond delay="0"/>
                                  </p:stCondLst>
                                  <p:childTnLst>
                                    <p:set>
                                      <p:cBhvr>
                                        <p:cTn id="470" dur="1" fill="hold">
                                          <p:stCondLst>
                                            <p:cond delay="0"/>
                                          </p:stCondLst>
                                        </p:cTn>
                                        <p:tgtEl>
                                          <p:spTgt spid="163"/>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grpId="0" nodeType="clickEffect">
                                  <p:stCondLst>
                                    <p:cond delay="0"/>
                                  </p:stCondLst>
                                  <p:childTnLst>
                                    <p:set>
                                      <p:cBhvr>
                                        <p:cTn id="474" dur="1" fill="hold">
                                          <p:stCondLst>
                                            <p:cond delay="0"/>
                                          </p:stCondLst>
                                        </p:cTn>
                                        <p:tgtEl>
                                          <p:spTgt spid="164"/>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grpId="0" nodeType="clickEffect">
                                  <p:stCondLst>
                                    <p:cond delay="0"/>
                                  </p:stCondLst>
                                  <p:childTnLst>
                                    <p:set>
                                      <p:cBhvr>
                                        <p:cTn id="478" dur="1" fill="hold">
                                          <p:stCondLst>
                                            <p:cond delay="0"/>
                                          </p:stCondLst>
                                        </p:cTn>
                                        <p:tgtEl>
                                          <p:spTgt spid="165"/>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grpId="0" nodeType="clickEffect">
                                  <p:stCondLst>
                                    <p:cond delay="0"/>
                                  </p:stCondLst>
                                  <p:childTnLst>
                                    <p:set>
                                      <p:cBhvr>
                                        <p:cTn id="482" dur="1" fill="hold">
                                          <p:stCondLst>
                                            <p:cond delay="0"/>
                                          </p:stCondLst>
                                        </p:cTn>
                                        <p:tgtEl>
                                          <p:spTgt spid="166"/>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grpId="0" nodeType="clickEffect">
                                  <p:stCondLst>
                                    <p:cond delay="0"/>
                                  </p:stCondLst>
                                  <p:childTnLst>
                                    <p:set>
                                      <p:cBhvr>
                                        <p:cTn id="486" dur="1" fill="hold">
                                          <p:stCondLst>
                                            <p:cond delay="0"/>
                                          </p:stCondLst>
                                        </p:cTn>
                                        <p:tgtEl>
                                          <p:spTgt spid="167"/>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168"/>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169"/>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grpId="0" nodeType="clickEffect">
                                  <p:stCondLst>
                                    <p:cond delay="0"/>
                                  </p:stCondLst>
                                  <p:childTnLst>
                                    <p:set>
                                      <p:cBhvr>
                                        <p:cTn id="498" dur="1" fill="hold">
                                          <p:stCondLst>
                                            <p:cond delay="0"/>
                                          </p:stCondLst>
                                        </p:cTn>
                                        <p:tgtEl>
                                          <p:spTgt spid="170"/>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grpId="0" nodeType="clickEffect">
                                  <p:stCondLst>
                                    <p:cond delay="0"/>
                                  </p:stCondLst>
                                  <p:childTnLst>
                                    <p:set>
                                      <p:cBhvr>
                                        <p:cTn id="502" dur="1" fill="hold">
                                          <p:stCondLst>
                                            <p:cond delay="0"/>
                                          </p:stCondLst>
                                        </p:cTn>
                                        <p:tgtEl>
                                          <p:spTgt spid="171"/>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grpId="0" nodeType="clickEffect">
                                  <p:stCondLst>
                                    <p:cond delay="0"/>
                                  </p:stCondLst>
                                  <p:childTnLst>
                                    <p:set>
                                      <p:cBhvr>
                                        <p:cTn id="506" dur="1" fill="hold">
                                          <p:stCondLst>
                                            <p:cond delay="0"/>
                                          </p:stCondLst>
                                        </p:cTn>
                                        <p:tgtEl>
                                          <p:spTgt spid="172"/>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grpId="0" nodeType="clickEffect">
                                  <p:stCondLst>
                                    <p:cond delay="0"/>
                                  </p:stCondLst>
                                  <p:childTnLst>
                                    <p:set>
                                      <p:cBhvr>
                                        <p:cTn id="510" dur="1" fill="hold">
                                          <p:stCondLst>
                                            <p:cond delay="0"/>
                                          </p:stCondLst>
                                        </p:cTn>
                                        <p:tgtEl>
                                          <p:spTgt spid="173"/>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grpId="0" nodeType="clickEffect">
                                  <p:stCondLst>
                                    <p:cond delay="0"/>
                                  </p:stCondLst>
                                  <p:childTnLst>
                                    <p:set>
                                      <p:cBhvr>
                                        <p:cTn id="514" dur="1" fill="hold">
                                          <p:stCondLst>
                                            <p:cond delay="0"/>
                                          </p:stCondLst>
                                        </p:cTn>
                                        <p:tgtEl>
                                          <p:spTgt spid="176"/>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grpId="0" nodeType="clickEffect">
                                  <p:stCondLst>
                                    <p:cond delay="0"/>
                                  </p:stCondLst>
                                  <p:childTnLst>
                                    <p:set>
                                      <p:cBhvr>
                                        <p:cTn id="518" dur="1" fill="hold">
                                          <p:stCondLst>
                                            <p:cond delay="0"/>
                                          </p:stCondLst>
                                        </p:cTn>
                                        <p:tgtEl>
                                          <p:spTgt spid="177"/>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grpId="0" nodeType="clickEffect">
                                  <p:stCondLst>
                                    <p:cond delay="0"/>
                                  </p:stCondLst>
                                  <p:childTnLst>
                                    <p:set>
                                      <p:cBhvr>
                                        <p:cTn id="522" dur="1" fill="hold">
                                          <p:stCondLst>
                                            <p:cond delay="0"/>
                                          </p:stCondLst>
                                        </p:cTn>
                                        <p:tgtEl>
                                          <p:spTgt spid="178"/>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grpId="0" nodeType="clickEffect">
                                  <p:stCondLst>
                                    <p:cond delay="0"/>
                                  </p:stCondLst>
                                  <p:childTnLst>
                                    <p:set>
                                      <p:cBhvr>
                                        <p:cTn id="526" dur="1" fill="hold">
                                          <p:stCondLst>
                                            <p:cond delay="0"/>
                                          </p:stCondLst>
                                        </p:cTn>
                                        <p:tgtEl>
                                          <p:spTgt spid="179"/>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180"/>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181"/>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grpId="0" nodeType="clickEffect">
                                  <p:stCondLst>
                                    <p:cond delay="0"/>
                                  </p:stCondLst>
                                  <p:childTnLst>
                                    <p:set>
                                      <p:cBhvr>
                                        <p:cTn id="538" dur="1" fill="hold">
                                          <p:stCondLst>
                                            <p:cond delay="0"/>
                                          </p:stCondLst>
                                        </p:cTn>
                                        <p:tgtEl>
                                          <p:spTgt spid="182"/>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grpId="0" nodeType="clickEffect">
                                  <p:stCondLst>
                                    <p:cond delay="0"/>
                                  </p:stCondLst>
                                  <p:childTnLst>
                                    <p:set>
                                      <p:cBhvr>
                                        <p:cTn id="542" dur="1" fill="hold">
                                          <p:stCondLst>
                                            <p:cond delay="0"/>
                                          </p:stCondLst>
                                        </p:cTn>
                                        <p:tgtEl>
                                          <p:spTgt spid="183"/>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grpId="0" nodeType="clickEffect">
                                  <p:stCondLst>
                                    <p:cond delay="0"/>
                                  </p:stCondLst>
                                  <p:childTnLst>
                                    <p:set>
                                      <p:cBhvr>
                                        <p:cTn id="546" dur="1" fill="hold">
                                          <p:stCondLst>
                                            <p:cond delay="0"/>
                                          </p:stCondLst>
                                        </p:cTn>
                                        <p:tgtEl>
                                          <p:spTgt spid="184"/>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grpId="0" nodeType="clickEffect">
                                  <p:stCondLst>
                                    <p:cond delay="0"/>
                                  </p:stCondLst>
                                  <p:childTnLst>
                                    <p:set>
                                      <p:cBhvr>
                                        <p:cTn id="550" dur="1" fill="hold">
                                          <p:stCondLst>
                                            <p:cond delay="0"/>
                                          </p:stCondLst>
                                        </p:cTn>
                                        <p:tgtEl>
                                          <p:spTgt spid="185"/>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grpId="0" nodeType="clickEffect">
                                  <p:stCondLst>
                                    <p:cond delay="0"/>
                                  </p:stCondLst>
                                  <p:childTnLst>
                                    <p:set>
                                      <p:cBhvr>
                                        <p:cTn id="554" dur="1" fill="hold">
                                          <p:stCondLst>
                                            <p:cond delay="0"/>
                                          </p:stCondLst>
                                        </p:cTn>
                                        <p:tgtEl>
                                          <p:spTgt spid="186"/>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grpId="0" nodeType="clickEffect">
                                  <p:stCondLst>
                                    <p:cond delay="0"/>
                                  </p:stCondLst>
                                  <p:childTnLst>
                                    <p:set>
                                      <p:cBhvr>
                                        <p:cTn id="558"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22" grpId="0" animBg="1"/>
      <p:bldP spid="44" grpId="0"/>
      <p:bldP spid="45" grpId="0"/>
      <p:bldP spid="47" grpId="0"/>
      <p:bldP spid="48" grpId="0"/>
      <p:bldP spid="49" grpId="0"/>
      <p:bldP spid="50" grpId="0"/>
      <p:bldP spid="52" grpId="0"/>
      <p:bldP spid="53" grpId="0"/>
      <p:bldP spid="55" grpId="0"/>
      <p:bldP spid="56" grpId="0"/>
      <p:bldP spid="58" grpId="0"/>
      <p:bldP spid="59" grpId="0"/>
      <p:bldP spid="60" grpId="0"/>
      <p:bldP spid="61" grpId="0"/>
      <p:bldP spid="62" grpId="0"/>
      <p:bldP spid="63" grpId="0"/>
      <p:bldP spid="64" grpId="0"/>
      <p:bldP spid="73" grpId="0"/>
      <p:bldP spid="74" grpId="0"/>
      <p:bldP spid="75" grpId="0"/>
      <p:bldP spid="77" grpId="0"/>
      <p:bldP spid="78" grpId="0"/>
      <p:bldP spid="79" grpId="0"/>
      <p:bldP spid="81" grpId="0"/>
      <p:bldP spid="91" grpId="0"/>
      <p:bldP spid="94" grpId="0"/>
      <p:bldP spid="97" grpId="0"/>
      <p:bldP spid="98" grpId="0"/>
      <p:bldP spid="68" grpId="0"/>
      <p:bldP spid="69" grpId="0"/>
      <p:bldP spid="70" grpId="0"/>
      <p:bldP spid="72" grpId="0"/>
      <p:bldP spid="82" grpId="0"/>
      <p:bldP spid="83" grpId="0"/>
      <p:bldP spid="84" grpId="0"/>
      <p:bldP spid="87" grpId="0" animBg="1"/>
      <p:bldP spid="88" grpId="0"/>
      <p:bldP spid="92" grpId="0" animBg="1"/>
      <p:bldP spid="99" grpId="0" animBg="1"/>
      <p:bldP spid="100" grpId="0"/>
      <p:bldP spid="103" grpId="0" animBg="1"/>
      <p:bldP spid="104" grpId="0"/>
      <p:bldP spid="109" grpId="0"/>
      <p:bldP spid="110" grpId="0"/>
      <p:bldP spid="111" grpId="0"/>
      <p:bldP spid="115" grpId="0"/>
      <p:bldP spid="116" grpId="0" animBg="1"/>
      <p:bldP spid="118" grpId="0"/>
      <p:bldP spid="119" grpId="0"/>
      <p:bldP spid="133" grpId="0"/>
      <p:bldP spid="134" grpId="0"/>
      <p:bldP spid="135" grpId="0" animBg="1"/>
      <p:bldP spid="136" grpId="0"/>
      <p:bldP spid="137" grpId="0"/>
      <p:bldP spid="138" grpId="0"/>
      <p:bldP spid="139" grpId="0" animBg="1"/>
      <p:bldP spid="142" grpId="0" animBg="1"/>
      <p:bldP spid="143" grpId="0"/>
      <p:bldP spid="144" grpId="0"/>
      <p:bldP spid="152" grpId="0"/>
      <p:bldP spid="106" grpId="0" animBg="1"/>
      <p:bldP spid="121" grpId="0" animBg="1"/>
      <p:bldP spid="122" grpId="0" animBg="1"/>
      <p:bldP spid="124" grpId="0"/>
      <p:bldP spid="125" grpId="0"/>
      <p:bldP spid="126" grpId="0"/>
      <p:bldP spid="127" grpId="0"/>
      <p:bldP spid="129" grpId="0" animBg="1"/>
      <p:bldP spid="130" grpId="0"/>
      <p:bldP spid="132" grpId="0"/>
      <p:bldP spid="145" grpId="0" animBg="1"/>
      <p:bldP spid="146" grpId="0" animBg="1"/>
      <p:bldP spid="151" grpId="0"/>
      <p:bldP spid="153" grpId="0"/>
      <p:bldP spid="154" grpId="0"/>
      <p:bldP spid="155" grpId="0"/>
      <p:bldP spid="156" grpId="0" animBg="1"/>
      <p:bldP spid="157" grpId="0"/>
      <p:bldP spid="160" grpId="0" animBg="1"/>
      <p:bldP spid="161" grpId="0" animBg="1"/>
      <p:bldP spid="162" grpId="0"/>
      <p:bldP spid="163" grpId="0"/>
      <p:bldP spid="164" grpId="0"/>
      <p:bldP spid="165" grpId="0"/>
      <p:bldP spid="166" grpId="0" animBg="1"/>
      <p:bldP spid="167" grpId="0"/>
      <p:bldP spid="170" grpId="0" animBg="1"/>
      <p:bldP spid="171" grpId="0" animBg="1"/>
      <p:bldP spid="172" grpId="0"/>
      <p:bldP spid="173" grpId="0"/>
      <p:bldP spid="176" grpId="0"/>
      <p:bldP spid="177" grpId="0"/>
      <p:bldP spid="178" grpId="0" animBg="1"/>
      <p:bldP spid="179" grpId="0"/>
      <p:bldP spid="182" grpId="0" animBg="1"/>
      <p:bldP spid="183" grpId="0" animBg="1"/>
      <p:bldP spid="184" grpId="0"/>
      <p:bldP spid="185" grpId="0"/>
      <p:bldP spid="186" grpId="0"/>
      <p:bldP spid="18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6" y="862739"/>
                <a:ext cx="12315217"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 complexity analysis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To determine the successful cases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Average number of comparisons in successful cases = </a:t>
                </a:r>
                <a14:m>
                  <m:oMath xmlns:m="http://schemas.openxmlformats.org/officeDocument/2006/math">
                    <m:f>
                      <m:fPr>
                        <m:ctrlPr>
                          <a:rPr lang="en-IN" sz="2000" b="1" i="1" smtClean="0">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𝑻𝒐𝒕𝒂𝒍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𝒏𝒖𝒎𝒃𝒆𝒓</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𝒐𝒇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𝒄𝒐𝒎𝒑𝒂𝒓𝒊𝒔𝒊𝒐𝒏𝒔</m:t>
                        </m:r>
                      </m:num>
                      <m:den>
                        <m:r>
                          <a:rPr lang="en-IN" sz="2000" b="1" i="1" smtClean="0">
                            <a:solidFill>
                              <a:srgbClr val="002060"/>
                            </a:solidFill>
                            <a:latin typeface="Cambria Math" panose="02040503050406030204" pitchFamily="18" charset="0"/>
                            <a:cs typeface="Times New Roman" panose="02020603050405020304" pitchFamily="18" charset="0"/>
                          </a:rPr>
                          <m:t>𝑻𝒐𝒕𝒂𝒍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𝒏𝒖𝒎𝒃𝒆𝒓</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𝒐𝒇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𝒔𝒖𝒄𝒄𝒆𝒔𝒔𝒇𝒖𝒍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𝒏𝒐𝒅𝒆𝒔</m:t>
                        </m:r>
                      </m:den>
                    </m:f>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𝟒𝟓</m:t>
                        </m:r>
                      </m:num>
                      <m:den>
                        <m:r>
                          <a:rPr lang="en-IN" sz="2000" b="1" i="1" smtClean="0">
                            <a:solidFill>
                              <a:srgbClr val="002060"/>
                            </a:solidFill>
                            <a:latin typeface="Cambria Math" panose="02040503050406030204" pitchFamily="18" charset="0"/>
                            <a:cs typeface="Times New Roman" panose="02020603050405020304" pitchFamily="18" charset="0"/>
                          </a:rPr>
                          <m:t>𝟏𝟒</m:t>
                        </m:r>
                      </m:den>
                    </m:f>
                  </m:oMath>
                </a14:m>
                <a:r>
                  <a:rPr lang="en-IN" sz="2000" b="1" dirty="0" smtClean="0">
                    <a:solidFill>
                      <a:srgbClr val="002060"/>
                    </a:solidFill>
                    <a:latin typeface="Times New Roman" panose="02020603050405020304" pitchFamily="18" charset="0"/>
                    <a:cs typeface="Times New Roman" panose="02020603050405020304" pitchFamily="18" charset="0"/>
                  </a:rPr>
                  <a:t> = 3.21</a:t>
                </a: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6" y="862739"/>
                <a:ext cx="12315217" cy="5627707"/>
              </a:xfrm>
              <a:blipFill rotWithShape="0">
                <a:blip r:embed="rId3"/>
                <a:stretch>
                  <a:fillRect l="-792" t="-1517"/>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41</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188976863"/>
              </p:ext>
            </p:extLst>
          </p:nvPr>
        </p:nvGraphicFramePr>
        <p:xfrm>
          <a:off x="1166239" y="2023173"/>
          <a:ext cx="6401880" cy="2768600"/>
        </p:xfrm>
        <a:graphic>
          <a:graphicData uri="http://schemas.openxmlformats.org/drawingml/2006/table">
            <a:tbl>
              <a:tblPr firstRow="1" bandRow="1">
                <a:tableStyleId>{5C22544A-7EE6-4342-B048-85BDC9FD1C3A}</a:tableStyleId>
              </a:tblPr>
              <a:tblGrid>
                <a:gridCol w="3810875"/>
                <a:gridCol w="2591005"/>
              </a:tblGrid>
              <a:tr h="370840">
                <a:tc>
                  <a:txBody>
                    <a:bodyPr/>
                    <a:lstStyle/>
                    <a:p>
                      <a:r>
                        <a:rPr lang="en-IN" dirty="0" smtClean="0">
                          <a:solidFill>
                            <a:srgbClr val="0070C0"/>
                          </a:solidFill>
                          <a:latin typeface="Times New Roman" panose="02020603050405020304" pitchFamily="18" charset="0"/>
                          <a:cs typeface="Times New Roman" panose="02020603050405020304" pitchFamily="18" charset="0"/>
                        </a:rPr>
                        <a:t>Number of nodes </a:t>
                      </a:r>
                    </a:p>
                    <a:p>
                      <a:r>
                        <a:rPr lang="en-IN" dirty="0" smtClean="0">
                          <a:solidFill>
                            <a:srgbClr val="0070C0"/>
                          </a:solidFill>
                          <a:latin typeface="Times New Roman" panose="02020603050405020304" pitchFamily="18" charset="0"/>
                          <a:cs typeface="Times New Roman" panose="02020603050405020304" pitchFamily="18" charset="0"/>
                        </a:rPr>
                        <a:t>Level number*Number of successful nodes in each level</a:t>
                      </a:r>
                      <a:endParaRPr lang="en-IN"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800" b="1" kern="1200" dirty="0" smtClean="0">
                          <a:solidFill>
                            <a:srgbClr val="0070C0"/>
                          </a:solidFill>
                          <a:latin typeface="Times New Roman" panose="02020603050405020304" pitchFamily="18" charset="0"/>
                          <a:ea typeface="+mn-ea"/>
                          <a:cs typeface="Times New Roman" panose="02020603050405020304" pitchFamily="18" charset="0"/>
                        </a:rPr>
                        <a:t>Comparisons </a:t>
                      </a:r>
                      <a:endParaRPr lang="en-IN" sz="1800" b="1" kern="1200" dirty="0">
                        <a:solidFill>
                          <a:srgbClr val="0070C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1*1</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1</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2*2</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4</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3*4</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12</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4*7</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28</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gridSpan="2">
                  <a:txBody>
                    <a:bodyPr/>
                    <a:lstStyle/>
                    <a:p>
                      <a:pPr algn="ctr"/>
                      <a:r>
                        <a:rPr lang="en-IN" b="1" dirty="0" smtClean="0">
                          <a:solidFill>
                            <a:srgbClr val="FF0000"/>
                          </a:solidFill>
                        </a:rPr>
                        <a:t>Total</a:t>
                      </a:r>
                      <a:r>
                        <a:rPr lang="en-IN" b="1" baseline="0" dirty="0" smtClean="0">
                          <a:solidFill>
                            <a:srgbClr val="FF0000"/>
                          </a:solidFill>
                        </a:rPr>
                        <a:t> comparisons = 45</a:t>
                      </a:r>
                      <a:endParaRPr lang="en-IN"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pPr algn="ct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sp>
        <p:nvSpPr>
          <p:cNvPr id="9" name="Date Placeholder 8"/>
          <p:cNvSpPr>
            <a:spLocks noGrp="1"/>
          </p:cNvSpPr>
          <p:nvPr>
            <p:ph type="dt" sz="half" idx="10"/>
          </p:nvPr>
        </p:nvSpPr>
        <p:spPr/>
        <p:txBody>
          <a:bodyPr/>
          <a:lstStyle/>
          <a:p>
            <a:fld id="{15580477-307B-46CF-80E7-5C5BE75CEBCF}" type="datetime1">
              <a:rPr lang="en-IN" smtClean="0"/>
              <a:t>21-03-2026</a:t>
            </a:fld>
            <a:endParaRPr lang="en-IN"/>
          </a:p>
        </p:txBody>
      </p:sp>
    </p:spTree>
    <p:extLst>
      <p:ext uri="{BB962C8B-B14F-4D97-AF65-F5344CB8AC3E}">
        <p14:creationId xmlns:p14="http://schemas.microsoft.com/office/powerpoint/2010/main" val="216248410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6" y="862739"/>
                <a:ext cx="12315217"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 complexity analysis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To determine the unsuccessful cases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Average number of comparisons in unsuccessful cases = </a:t>
                </a:r>
                <a14:m>
                  <m:oMath xmlns:m="http://schemas.openxmlformats.org/officeDocument/2006/math">
                    <m:f>
                      <m:fPr>
                        <m:ctrlPr>
                          <a:rPr lang="en-IN" sz="2000" b="1" i="1" smtClean="0">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𝑻𝒐𝒕𝒂𝒍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𝒏𝒖𝒎𝒃𝒆𝒓</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𝒐𝒇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𝒄𝒐𝒎𝒑𝒂𝒓𝒊𝒔𝒊𝒐𝒏𝒔</m:t>
                        </m:r>
                      </m:num>
                      <m:den>
                        <m:r>
                          <a:rPr lang="en-IN" sz="2000" b="1" i="1" smtClean="0">
                            <a:solidFill>
                              <a:srgbClr val="002060"/>
                            </a:solidFill>
                            <a:latin typeface="Cambria Math" panose="02040503050406030204" pitchFamily="18" charset="0"/>
                            <a:cs typeface="Times New Roman" panose="02020603050405020304" pitchFamily="18" charset="0"/>
                          </a:rPr>
                          <m:t>𝑻𝒐𝒕𝒂𝒍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𝒏𝒖𝒎𝒃𝒆𝒓</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𝒐𝒇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𝒖𝒏𝒔𝒖𝒄𝒄𝒆𝒔𝒔𝒇𝒖𝒍</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𝒏𝒐𝒅𝒆𝒔</m:t>
                        </m:r>
                      </m:den>
                    </m:f>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𝟓𝟗</m:t>
                        </m:r>
                      </m:num>
                      <m:den>
                        <m:r>
                          <a:rPr lang="en-IN" sz="2000" b="1" i="1" smtClean="0">
                            <a:solidFill>
                              <a:srgbClr val="002060"/>
                            </a:solidFill>
                            <a:latin typeface="Cambria Math" panose="02040503050406030204" pitchFamily="18" charset="0"/>
                            <a:cs typeface="Times New Roman" panose="02020603050405020304" pitchFamily="18" charset="0"/>
                          </a:rPr>
                          <m:t>𝟏𝟓</m:t>
                        </m:r>
                      </m:den>
                    </m:f>
                  </m:oMath>
                </a14:m>
                <a:r>
                  <a:rPr lang="en-IN" sz="2000" b="1" dirty="0" smtClean="0">
                    <a:solidFill>
                      <a:srgbClr val="002060"/>
                    </a:solidFill>
                    <a:latin typeface="Times New Roman" panose="02020603050405020304" pitchFamily="18" charset="0"/>
                    <a:cs typeface="Times New Roman" panose="02020603050405020304" pitchFamily="18" charset="0"/>
                  </a:rPr>
                  <a:t> = 3.93</a:t>
                </a: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6" y="862739"/>
                <a:ext cx="12315217" cy="5627707"/>
              </a:xfrm>
              <a:blipFill rotWithShape="0">
                <a:blip r:embed="rId3"/>
                <a:stretch>
                  <a:fillRect l="-792" t="-1517"/>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42</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125615850"/>
              </p:ext>
            </p:extLst>
          </p:nvPr>
        </p:nvGraphicFramePr>
        <p:xfrm>
          <a:off x="1166239" y="2023173"/>
          <a:ext cx="6401880" cy="2026920"/>
        </p:xfrm>
        <a:graphic>
          <a:graphicData uri="http://schemas.openxmlformats.org/drawingml/2006/table">
            <a:tbl>
              <a:tblPr firstRow="1" bandRow="1">
                <a:tableStyleId>{5C22544A-7EE6-4342-B048-85BDC9FD1C3A}</a:tableStyleId>
              </a:tblPr>
              <a:tblGrid>
                <a:gridCol w="3810875"/>
                <a:gridCol w="2591005"/>
              </a:tblGrid>
              <a:tr h="370840">
                <a:tc>
                  <a:txBody>
                    <a:bodyPr/>
                    <a:lstStyle/>
                    <a:p>
                      <a:pPr algn="ctr"/>
                      <a:r>
                        <a:rPr lang="en-IN" dirty="0" smtClean="0">
                          <a:solidFill>
                            <a:srgbClr val="FF0000"/>
                          </a:solidFill>
                          <a:latin typeface="Times New Roman" panose="02020603050405020304" pitchFamily="18" charset="0"/>
                          <a:cs typeface="Times New Roman" panose="02020603050405020304" pitchFamily="18" charset="0"/>
                        </a:rPr>
                        <a:t>Number of nodes </a:t>
                      </a:r>
                    </a:p>
                    <a:p>
                      <a:r>
                        <a:rPr lang="en-IN" dirty="0" smtClean="0">
                          <a:solidFill>
                            <a:srgbClr val="0070C0"/>
                          </a:solidFill>
                          <a:latin typeface="Times New Roman" panose="02020603050405020304" pitchFamily="18" charset="0"/>
                          <a:cs typeface="Times New Roman" panose="02020603050405020304" pitchFamily="18" charset="0"/>
                        </a:rPr>
                        <a:t>Number of unsuccessful nodes in each level * Level number-1</a:t>
                      </a:r>
                      <a:endParaRPr lang="en-IN"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800" b="1" kern="1200" dirty="0" smtClean="0">
                          <a:solidFill>
                            <a:srgbClr val="0070C0"/>
                          </a:solidFill>
                          <a:latin typeface="Times New Roman" panose="02020603050405020304" pitchFamily="18" charset="0"/>
                          <a:ea typeface="+mn-ea"/>
                          <a:cs typeface="Times New Roman" panose="02020603050405020304" pitchFamily="18" charset="0"/>
                        </a:rPr>
                        <a:t>Comparisons </a:t>
                      </a:r>
                      <a:endParaRPr lang="en-IN" sz="1800" b="1" kern="1200" dirty="0">
                        <a:solidFill>
                          <a:srgbClr val="0070C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1*(4-1)</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3</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a:txBody>
                    <a:bodyPr/>
                    <a:lstStyle/>
                    <a:p>
                      <a:pPr algn="ctr"/>
                      <a:r>
                        <a:rPr lang="en-IN" dirty="0" smtClean="0">
                          <a:solidFill>
                            <a:srgbClr val="0070C0"/>
                          </a:solidFill>
                        </a:rPr>
                        <a:t>14*(5-1)</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smtClean="0">
                          <a:solidFill>
                            <a:srgbClr val="0070C0"/>
                          </a:solidFill>
                        </a:rPr>
                        <a:t>56</a:t>
                      </a: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70840">
                <a:tc gridSpan="2">
                  <a:txBody>
                    <a:bodyPr/>
                    <a:lstStyle/>
                    <a:p>
                      <a:pPr algn="ctr"/>
                      <a:r>
                        <a:rPr lang="en-IN" b="1" dirty="0" smtClean="0">
                          <a:solidFill>
                            <a:srgbClr val="FF0000"/>
                          </a:solidFill>
                        </a:rPr>
                        <a:t>Total</a:t>
                      </a:r>
                      <a:r>
                        <a:rPr lang="en-IN" b="1" baseline="0" dirty="0" smtClean="0">
                          <a:solidFill>
                            <a:srgbClr val="FF0000"/>
                          </a:solidFill>
                        </a:rPr>
                        <a:t> comparisons = 59</a:t>
                      </a:r>
                      <a:endParaRPr lang="en-IN"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pPr algn="ctr"/>
                      <a:endParaRPr lang="en-IN"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sp>
        <p:nvSpPr>
          <p:cNvPr id="9" name="Date Placeholder 8"/>
          <p:cNvSpPr>
            <a:spLocks noGrp="1"/>
          </p:cNvSpPr>
          <p:nvPr>
            <p:ph type="dt" sz="half" idx="10"/>
          </p:nvPr>
        </p:nvSpPr>
        <p:spPr/>
        <p:txBody>
          <a:bodyPr/>
          <a:lstStyle/>
          <a:p>
            <a:fld id="{ABAD89D3-969E-47C8-9236-5F50CBD236E6}" type="datetime1">
              <a:rPr lang="en-IN" smtClean="0"/>
              <a:t>21-03-2026</a:t>
            </a:fld>
            <a:endParaRPr lang="en-IN"/>
          </a:p>
        </p:txBody>
      </p:sp>
    </p:spTree>
    <p:extLst>
      <p:ext uri="{BB962C8B-B14F-4D97-AF65-F5344CB8AC3E}">
        <p14:creationId xmlns:p14="http://schemas.microsoft.com/office/powerpoint/2010/main" val="373673435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43436" y="862739"/>
            <a:ext cx="12315217"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Example: </a:t>
            </a:r>
            <a:r>
              <a:rPr lang="en-IN" b="1" dirty="0" smtClean="0">
                <a:solidFill>
                  <a:srgbClr val="C00000"/>
                </a:solidFill>
                <a:latin typeface="Times New Roman" panose="02020603050405020304" pitchFamily="18" charset="0"/>
                <a:cs typeface="Times New Roman" panose="02020603050405020304" pitchFamily="18" charset="0"/>
              </a:rPr>
              <a:t>Binary Search</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B0F0"/>
                </a:solidFill>
                <a:latin typeface="Times New Roman" panose="02020603050405020304" pitchFamily="18" charset="0"/>
                <a:cs typeface="Times New Roman" panose="02020603050405020304" pitchFamily="18" charset="0"/>
              </a:rPr>
              <a:t>Time complexity analysis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Theorem: Prove that Binary search tree has more comparisons in unsuccessful search that in </a:t>
            </a:r>
            <a:r>
              <a:rPr lang="en-IN" sz="2000" b="1" dirty="0">
                <a:solidFill>
                  <a:srgbClr val="002060"/>
                </a:solidFill>
                <a:latin typeface="Times New Roman" panose="02020603050405020304" pitchFamily="18" charset="0"/>
                <a:cs typeface="Times New Roman" panose="02020603050405020304" pitchFamily="18" charset="0"/>
              </a:rPr>
              <a:t>successful </a:t>
            </a:r>
            <a:r>
              <a:rPr lang="en-IN" sz="2000" b="1" dirty="0" smtClean="0">
                <a:solidFill>
                  <a:srgbClr val="002060"/>
                </a:solidFill>
                <a:latin typeface="Times New Roman" panose="02020603050405020304" pitchFamily="18" charset="0"/>
                <a:cs typeface="Times New Roman" panose="02020603050405020304" pitchFamily="18" charset="0"/>
              </a:rPr>
              <a:t>search</a:t>
            </a:r>
          </a:p>
          <a:p>
            <a:pPr algn="just"/>
            <a:r>
              <a:rPr lang="en-IN" sz="2000" b="1" dirty="0" smtClean="0">
                <a:solidFill>
                  <a:srgbClr val="002060"/>
                </a:solidFill>
                <a:latin typeface="Times New Roman" panose="02020603050405020304" pitchFamily="18" charset="0"/>
                <a:cs typeface="Times New Roman" panose="02020603050405020304" pitchFamily="18" charset="0"/>
              </a:rPr>
              <a:t>Proof :</a:t>
            </a:r>
          </a:p>
          <a:p>
            <a:pPr algn="just"/>
            <a:r>
              <a:rPr lang="en-IN" sz="2000" b="1" dirty="0" smtClean="0">
                <a:solidFill>
                  <a:srgbClr val="002060"/>
                </a:solidFill>
                <a:latin typeface="Times New Roman" panose="02020603050405020304" pitchFamily="18" charset="0"/>
                <a:cs typeface="Times New Roman" panose="02020603050405020304" pitchFamily="18" charset="0"/>
              </a:rPr>
              <a:t>Assume E=I+2n</a:t>
            </a:r>
          </a:p>
          <a:p>
            <a:pPr algn="just"/>
            <a:r>
              <a:rPr lang="en-IN" sz="2000" b="1" dirty="0" smtClean="0">
                <a:solidFill>
                  <a:srgbClr val="002060"/>
                </a:solidFill>
                <a:latin typeface="Times New Roman" panose="02020603050405020304" pitchFamily="18" charset="0"/>
                <a:cs typeface="Times New Roman" panose="02020603050405020304" pitchFamily="18" charset="0"/>
              </a:rPr>
              <a:t>Where</a:t>
            </a:r>
          </a:p>
          <a:p>
            <a:pPr algn="just"/>
            <a:r>
              <a:rPr lang="en-IN" sz="2000" b="1" dirty="0" smtClean="0">
                <a:solidFill>
                  <a:srgbClr val="002060"/>
                </a:solidFill>
                <a:latin typeface="Times New Roman" panose="02020603050405020304" pitchFamily="18" charset="0"/>
                <a:cs typeface="Times New Roman" panose="02020603050405020304" pitchFamily="18" charset="0"/>
              </a:rPr>
              <a:t>E is sum of distances of the external nodes to the root node </a:t>
            </a:r>
          </a:p>
          <a:p>
            <a:pPr algn="just"/>
            <a:r>
              <a:rPr lang="en-IN" sz="2000" b="1" dirty="0" smtClean="0">
                <a:solidFill>
                  <a:srgbClr val="002060"/>
                </a:solidFill>
                <a:latin typeface="Times New Roman" panose="02020603050405020304" pitchFamily="18" charset="0"/>
                <a:cs typeface="Times New Roman" panose="02020603050405020304" pitchFamily="18" charset="0"/>
              </a:rPr>
              <a:t>I is sum of distances of the internal nodes to the root node</a:t>
            </a:r>
          </a:p>
          <a:p>
            <a:pPr algn="just"/>
            <a:r>
              <a:rPr lang="en-IN" sz="2000" b="1" dirty="0">
                <a:solidFill>
                  <a:srgbClr val="002060"/>
                </a:solidFill>
                <a:latin typeface="Times New Roman" panose="02020603050405020304" pitchFamily="18" charset="0"/>
                <a:cs typeface="Times New Roman" panose="02020603050405020304" pitchFamily="18" charset="0"/>
              </a:rPr>
              <a:t>n</a:t>
            </a:r>
            <a:r>
              <a:rPr lang="en-IN" sz="2000" b="1" dirty="0" smtClean="0">
                <a:solidFill>
                  <a:srgbClr val="002060"/>
                </a:solidFill>
                <a:latin typeface="Times New Roman" panose="02020603050405020304" pitchFamily="18" charset="0"/>
                <a:cs typeface="Times New Roman" panose="02020603050405020304" pitchFamily="18" charset="0"/>
              </a:rPr>
              <a:t> is number of elements</a:t>
            </a:r>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43</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Oval 5"/>
          <p:cNvSpPr/>
          <p:nvPr/>
        </p:nvSpPr>
        <p:spPr>
          <a:xfrm>
            <a:off x="4607859" y="4123765"/>
            <a:ext cx="502023" cy="4482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p:cNvSpPr/>
          <p:nvPr/>
        </p:nvSpPr>
        <p:spPr>
          <a:xfrm>
            <a:off x="4179794" y="5283695"/>
            <a:ext cx="502023" cy="4482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p:cNvSpPr/>
          <p:nvPr/>
        </p:nvSpPr>
        <p:spPr>
          <a:xfrm>
            <a:off x="7339689" y="5340730"/>
            <a:ext cx="502023" cy="4482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p:cNvSpPr/>
          <p:nvPr/>
        </p:nvSpPr>
        <p:spPr>
          <a:xfrm>
            <a:off x="6301044" y="4617921"/>
            <a:ext cx="502023" cy="4482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p:cNvSpPr/>
          <p:nvPr/>
        </p:nvSpPr>
        <p:spPr>
          <a:xfrm>
            <a:off x="2664921" y="5305191"/>
            <a:ext cx="502023" cy="4482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3523129" y="4617921"/>
            <a:ext cx="502023" cy="4482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p:cNvSpPr/>
          <p:nvPr/>
        </p:nvSpPr>
        <p:spPr>
          <a:xfrm>
            <a:off x="5824816" y="5340731"/>
            <a:ext cx="502023" cy="4482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3929438" y="6019078"/>
            <a:ext cx="436890" cy="368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5520385" y="5986549"/>
            <a:ext cx="419055" cy="368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4823011" y="5986549"/>
            <a:ext cx="436890" cy="368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3158567" y="6030640"/>
            <a:ext cx="436890" cy="368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2013241" y="5988977"/>
            <a:ext cx="436890" cy="368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7129706" y="6017215"/>
            <a:ext cx="436890" cy="368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6418173" y="5995513"/>
            <a:ext cx="436890" cy="368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p:cNvSpPr/>
          <p:nvPr/>
        </p:nvSpPr>
        <p:spPr>
          <a:xfrm>
            <a:off x="8082617" y="5982085"/>
            <a:ext cx="436890" cy="368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Arrow Connector 25"/>
          <p:cNvCxnSpPr>
            <a:stCxn id="6" idx="2"/>
            <a:endCxn id="13" idx="0"/>
          </p:cNvCxnSpPr>
          <p:nvPr/>
        </p:nvCxnSpPr>
        <p:spPr>
          <a:xfrm flipH="1">
            <a:off x="3774141" y="4347883"/>
            <a:ext cx="833718" cy="270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21" idx="0"/>
          </p:cNvCxnSpPr>
          <p:nvPr/>
        </p:nvCxnSpPr>
        <p:spPr>
          <a:xfrm flipH="1">
            <a:off x="2231686" y="5505137"/>
            <a:ext cx="635304" cy="483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12" idx="0"/>
          </p:cNvCxnSpPr>
          <p:nvPr/>
        </p:nvCxnSpPr>
        <p:spPr>
          <a:xfrm flipH="1">
            <a:off x="2915933" y="4857962"/>
            <a:ext cx="607196" cy="4472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endCxn id="14" idx="0"/>
          </p:cNvCxnSpPr>
          <p:nvPr/>
        </p:nvCxnSpPr>
        <p:spPr>
          <a:xfrm flipH="1">
            <a:off x="6075828" y="4977427"/>
            <a:ext cx="296204" cy="3633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endCxn id="11" idx="0"/>
          </p:cNvCxnSpPr>
          <p:nvPr/>
        </p:nvCxnSpPr>
        <p:spPr>
          <a:xfrm>
            <a:off x="5109882" y="4371488"/>
            <a:ext cx="1442174" cy="246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10" idx="0"/>
          </p:cNvCxnSpPr>
          <p:nvPr/>
        </p:nvCxnSpPr>
        <p:spPr>
          <a:xfrm>
            <a:off x="6788891" y="4894910"/>
            <a:ext cx="801810" cy="445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endCxn id="24" idx="0"/>
          </p:cNvCxnSpPr>
          <p:nvPr/>
        </p:nvCxnSpPr>
        <p:spPr>
          <a:xfrm>
            <a:off x="7812844" y="5618407"/>
            <a:ext cx="488218" cy="363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a:off x="7237898" y="5726019"/>
            <a:ext cx="172413" cy="25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18" idx="0"/>
          </p:cNvCxnSpPr>
          <p:nvPr/>
        </p:nvCxnSpPr>
        <p:spPr>
          <a:xfrm flipH="1">
            <a:off x="5729913" y="5649831"/>
            <a:ext cx="236363" cy="336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4091218" y="5701716"/>
            <a:ext cx="172413" cy="25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endCxn id="19" idx="0"/>
          </p:cNvCxnSpPr>
          <p:nvPr/>
        </p:nvCxnSpPr>
        <p:spPr>
          <a:xfrm>
            <a:off x="4694066" y="5490374"/>
            <a:ext cx="347390" cy="496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3144386" y="5629029"/>
            <a:ext cx="338280" cy="398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endCxn id="23" idx="0"/>
          </p:cNvCxnSpPr>
          <p:nvPr/>
        </p:nvCxnSpPr>
        <p:spPr>
          <a:xfrm>
            <a:off x="6326840" y="5690157"/>
            <a:ext cx="309778" cy="305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4059886" y="4791944"/>
            <a:ext cx="347390" cy="496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6" idx="7"/>
          </p:cNvCxnSpPr>
          <p:nvPr/>
        </p:nvCxnSpPr>
        <p:spPr>
          <a:xfrm>
            <a:off x="5036362" y="4189407"/>
            <a:ext cx="4537943" cy="1638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7841712" y="5512546"/>
            <a:ext cx="3743931" cy="16762"/>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6486015" y="4795817"/>
            <a:ext cx="4537943" cy="1638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8610600" y="6233717"/>
            <a:ext cx="3374365" cy="23269"/>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650684" y="4357192"/>
            <a:ext cx="1305267" cy="369332"/>
          </a:xfrm>
          <a:prstGeom prst="rect">
            <a:avLst/>
          </a:prstGeom>
          <a:noFill/>
        </p:spPr>
        <p:txBody>
          <a:bodyPr wrap="square" rtlCol="0">
            <a:spAutoFit/>
          </a:bodyPr>
          <a:lstStyle/>
          <a:p>
            <a:r>
              <a:rPr lang="en-IN" dirty="0" smtClean="0"/>
              <a:t>Level 2</a:t>
            </a:r>
            <a:endParaRPr lang="en-IN" dirty="0"/>
          </a:p>
        </p:txBody>
      </p:sp>
      <p:sp>
        <p:nvSpPr>
          <p:cNvPr id="61" name="TextBox 60"/>
          <p:cNvSpPr txBox="1"/>
          <p:nvPr/>
        </p:nvSpPr>
        <p:spPr>
          <a:xfrm>
            <a:off x="8844915" y="5120525"/>
            <a:ext cx="1305267" cy="369332"/>
          </a:xfrm>
          <a:prstGeom prst="rect">
            <a:avLst/>
          </a:prstGeom>
          <a:noFill/>
        </p:spPr>
        <p:txBody>
          <a:bodyPr wrap="square" rtlCol="0">
            <a:spAutoFit/>
          </a:bodyPr>
          <a:lstStyle/>
          <a:p>
            <a:r>
              <a:rPr lang="en-IN" dirty="0" smtClean="0"/>
              <a:t>Level 3</a:t>
            </a:r>
            <a:endParaRPr lang="en-IN" dirty="0"/>
          </a:p>
        </p:txBody>
      </p:sp>
      <p:sp>
        <p:nvSpPr>
          <p:cNvPr id="62" name="TextBox 61"/>
          <p:cNvSpPr txBox="1"/>
          <p:nvPr/>
        </p:nvSpPr>
        <p:spPr>
          <a:xfrm>
            <a:off x="8469159" y="3676592"/>
            <a:ext cx="1305267" cy="369332"/>
          </a:xfrm>
          <a:prstGeom prst="rect">
            <a:avLst/>
          </a:prstGeom>
          <a:noFill/>
        </p:spPr>
        <p:txBody>
          <a:bodyPr wrap="square" rtlCol="0">
            <a:spAutoFit/>
          </a:bodyPr>
          <a:lstStyle/>
          <a:p>
            <a:r>
              <a:rPr lang="en-IN" dirty="0" smtClean="0"/>
              <a:t>Level 1</a:t>
            </a:r>
            <a:endParaRPr lang="en-IN" dirty="0"/>
          </a:p>
        </p:txBody>
      </p:sp>
      <p:sp>
        <p:nvSpPr>
          <p:cNvPr id="63" name="TextBox 62"/>
          <p:cNvSpPr txBox="1"/>
          <p:nvPr/>
        </p:nvSpPr>
        <p:spPr>
          <a:xfrm>
            <a:off x="9035528" y="5894605"/>
            <a:ext cx="1305267" cy="369332"/>
          </a:xfrm>
          <a:prstGeom prst="rect">
            <a:avLst/>
          </a:prstGeom>
          <a:noFill/>
        </p:spPr>
        <p:txBody>
          <a:bodyPr wrap="square" rtlCol="0">
            <a:spAutoFit/>
          </a:bodyPr>
          <a:lstStyle/>
          <a:p>
            <a:r>
              <a:rPr lang="en-IN" dirty="0" smtClean="0"/>
              <a:t>Level 4</a:t>
            </a:r>
            <a:endParaRPr lang="en-IN" dirty="0"/>
          </a:p>
        </p:txBody>
      </p:sp>
      <p:sp>
        <p:nvSpPr>
          <p:cNvPr id="15" name="Date Placeholder 14"/>
          <p:cNvSpPr>
            <a:spLocks noGrp="1"/>
          </p:cNvSpPr>
          <p:nvPr>
            <p:ph type="dt" sz="half" idx="10"/>
          </p:nvPr>
        </p:nvSpPr>
        <p:spPr/>
        <p:txBody>
          <a:bodyPr/>
          <a:lstStyle/>
          <a:p>
            <a:fld id="{4238817E-4070-4514-8DCF-2C0AB8FF9B27}" type="datetime1">
              <a:rPr lang="en-IN" smtClean="0"/>
              <a:t>21-03-2026</a:t>
            </a:fld>
            <a:endParaRPr lang="en-IN"/>
          </a:p>
        </p:txBody>
      </p:sp>
    </p:spTree>
    <p:extLst>
      <p:ext uri="{BB962C8B-B14F-4D97-AF65-F5344CB8AC3E}">
        <p14:creationId xmlns:p14="http://schemas.microsoft.com/office/powerpoint/2010/main" val="14358339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p:sp>
        <p:nvSpPr>
          <p:cNvPr id="3" name="Subtitle 2"/>
          <p:cNvSpPr>
            <a:spLocks noGrp="1"/>
          </p:cNvSpPr>
          <p:nvPr>
            <p:ph type="subTitle" idx="1"/>
          </p:nvPr>
        </p:nvSpPr>
        <p:spPr>
          <a:xfrm>
            <a:off x="143436" y="862739"/>
            <a:ext cx="12315217" cy="5627707"/>
          </a:xfrm>
        </p:spPr>
        <p:txBody>
          <a:bodyPr>
            <a:normAutofit/>
          </a:bodyPr>
          <a:lstStyle/>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I=0+2*1+4*2=0+2+8=10</a:t>
            </a:r>
          </a:p>
          <a:p>
            <a:pPr algn="just"/>
            <a:r>
              <a:rPr lang="en-IN" sz="2000" b="1" dirty="0" smtClean="0">
                <a:solidFill>
                  <a:srgbClr val="002060"/>
                </a:solidFill>
                <a:latin typeface="Times New Roman" panose="02020603050405020304" pitchFamily="18" charset="0"/>
                <a:cs typeface="Times New Roman" panose="02020603050405020304" pitchFamily="18" charset="0"/>
              </a:rPr>
              <a:t>E=3*8=24</a:t>
            </a:r>
          </a:p>
          <a:p>
            <a:pPr algn="just"/>
            <a:r>
              <a:rPr lang="en-IN" sz="2000" b="1" dirty="0" smtClean="0">
                <a:solidFill>
                  <a:srgbClr val="002060"/>
                </a:solidFill>
                <a:latin typeface="Times New Roman" panose="02020603050405020304" pitchFamily="18" charset="0"/>
                <a:cs typeface="Times New Roman" panose="02020603050405020304" pitchFamily="18" charset="0"/>
              </a:rPr>
              <a:t>n=7</a:t>
            </a:r>
          </a:p>
          <a:p>
            <a:pPr algn="just"/>
            <a:r>
              <a:rPr lang="en-IN" sz="2000" b="1" dirty="0" smtClean="0">
                <a:solidFill>
                  <a:srgbClr val="002060"/>
                </a:solidFill>
                <a:latin typeface="Times New Roman" panose="02020603050405020304" pitchFamily="18" charset="0"/>
                <a:cs typeface="Times New Roman" panose="02020603050405020304" pitchFamily="18" charset="0"/>
              </a:rPr>
              <a:t>Substituting in I+2n  we get</a:t>
            </a:r>
          </a:p>
          <a:p>
            <a:pPr algn="just"/>
            <a:r>
              <a:rPr lang="en-IN" sz="2000" b="1" dirty="0" smtClean="0">
                <a:solidFill>
                  <a:srgbClr val="002060"/>
                </a:solidFill>
                <a:latin typeface="Times New Roman" panose="02020603050405020304" pitchFamily="18" charset="0"/>
                <a:cs typeface="Times New Roman" panose="02020603050405020304" pitchFamily="18" charset="0"/>
              </a:rPr>
              <a:t>10+2*7=24=E</a:t>
            </a:r>
          </a:p>
          <a:p>
            <a:pPr algn="just"/>
            <a:r>
              <a:rPr lang="en-IN" sz="2000" b="1" dirty="0" smtClean="0">
                <a:solidFill>
                  <a:srgbClr val="002060"/>
                </a:solidFill>
                <a:latin typeface="Times New Roman" panose="02020603050405020304" pitchFamily="18" charset="0"/>
                <a:cs typeface="Times New Roman" panose="02020603050405020304" pitchFamily="18" charset="0"/>
              </a:rPr>
              <a:t>S(n) is average no of comparison in successful search is   S(n)= 1+I/n</a:t>
            </a:r>
          </a:p>
          <a:p>
            <a:pPr algn="just"/>
            <a:r>
              <a:rPr lang="en-IN" sz="2000" b="1" dirty="0" smtClean="0">
                <a:solidFill>
                  <a:srgbClr val="002060"/>
                </a:solidFill>
                <a:latin typeface="Times New Roman" panose="02020603050405020304" pitchFamily="18" charset="0"/>
                <a:cs typeface="Times New Roman" panose="02020603050405020304" pitchFamily="18" charset="0"/>
              </a:rPr>
              <a:t>U(n</a:t>
            </a:r>
            <a:r>
              <a:rPr lang="en-IN" sz="2000" b="1" dirty="0">
                <a:solidFill>
                  <a:srgbClr val="002060"/>
                </a:solidFill>
                <a:latin typeface="Times New Roman" panose="02020603050405020304" pitchFamily="18" charset="0"/>
                <a:cs typeface="Times New Roman" panose="02020603050405020304" pitchFamily="18" charset="0"/>
              </a:rPr>
              <a:t>) is average no of comparison in </a:t>
            </a:r>
            <a:r>
              <a:rPr lang="en-IN" sz="2000" b="1" dirty="0" smtClean="0">
                <a:solidFill>
                  <a:srgbClr val="002060"/>
                </a:solidFill>
                <a:latin typeface="Times New Roman" panose="02020603050405020304" pitchFamily="18" charset="0"/>
                <a:cs typeface="Times New Roman" panose="02020603050405020304" pitchFamily="18" charset="0"/>
              </a:rPr>
              <a:t>unsuccessful </a:t>
            </a:r>
            <a:r>
              <a:rPr lang="en-IN" sz="2000" b="1" dirty="0">
                <a:solidFill>
                  <a:srgbClr val="002060"/>
                </a:solidFill>
                <a:latin typeface="Times New Roman" panose="02020603050405020304" pitchFamily="18" charset="0"/>
                <a:cs typeface="Times New Roman" panose="02020603050405020304" pitchFamily="18" charset="0"/>
              </a:rPr>
              <a:t>search </a:t>
            </a:r>
            <a:r>
              <a:rPr lang="en-IN" sz="2000" b="1" dirty="0" smtClean="0">
                <a:solidFill>
                  <a:srgbClr val="002060"/>
                </a:solidFill>
                <a:latin typeface="Times New Roman" panose="02020603050405020304" pitchFamily="18" charset="0"/>
                <a:cs typeface="Times New Roman" panose="02020603050405020304" pitchFamily="18" charset="0"/>
              </a:rPr>
              <a:t>is   U(n) = E/(n+1)</a:t>
            </a:r>
          </a:p>
          <a:p>
            <a:pPr algn="just"/>
            <a:r>
              <a:rPr lang="en-IN" sz="2000" b="1" dirty="0" smtClean="0">
                <a:solidFill>
                  <a:srgbClr val="002060"/>
                </a:solidFill>
                <a:latin typeface="Times New Roman" panose="02020603050405020304" pitchFamily="18" charset="0"/>
                <a:cs typeface="Times New Roman" panose="02020603050405020304" pitchFamily="18" charset="0"/>
              </a:rPr>
              <a:t>Thus average no of comparisons in successful case 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S(n)= 1+10/7 =17/7 = 2.43</a:t>
            </a:r>
          </a:p>
          <a:p>
            <a:pPr algn="just"/>
            <a:r>
              <a:rPr lang="en-IN" sz="2000" b="1" dirty="0">
                <a:solidFill>
                  <a:srgbClr val="002060"/>
                </a:solidFill>
                <a:latin typeface="Times New Roman" panose="02020603050405020304" pitchFamily="18" charset="0"/>
                <a:cs typeface="Times New Roman" panose="02020603050405020304" pitchFamily="18" charset="0"/>
              </a:rPr>
              <a:t>Thus average no of comparisons in </a:t>
            </a:r>
            <a:r>
              <a:rPr lang="en-IN" sz="2000" b="1" dirty="0" smtClean="0">
                <a:solidFill>
                  <a:srgbClr val="002060"/>
                </a:solidFill>
                <a:latin typeface="Times New Roman" panose="02020603050405020304" pitchFamily="18" charset="0"/>
                <a:cs typeface="Times New Roman" panose="02020603050405020304" pitchFamily="18" charset="0"/>
              </a:rPr>
              <a:t>unsuccessful </a:t>
            </a:r>
            <a:r>
              <a:rPr lang="en-IN" sz="2000" b="1" dirty="0">
                <a:solidFill>
                  <a:srgbClr val="002060"/>
                </a:solidFill>
                <a:latin typeface="Times New Roman" panose="02020603050405020304" pitchFamily="18" charset="0"/>
                <a:cs typeface="Times New Roman" panose="02020603050405020304" pitchFamily="18" charset="0"/>
              </a:rPr>
              <a:t>case 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U(n</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24/(1+7) =24/8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44</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23DBE152-2DFC-4670-963F-A9195060419F}" type="datetime1">
              <a:rPr lang="en-IN" smtClean="0"/>
              <a:t>21-03-2026</a:t>
            </a:fld>
            <a:endParaRPr lang="en-IN"/>
          </a:p>
        </p:txBody>
      </p:sp>
    </p:spTree>
    <p:extLst>
      <p:ext uri="{BB962C8B-B14F-4D97-AF65-F5344CB8AC3E}">
        <p14:creationId xmlns:p14="http://schemas.microsoft.com/office/powerpoint/2010/main" val="312271694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6" y="862739"/>
                <a:ext cx="12315217" cy="5627707"/>
              </a:xfrm>
            </p:spPr>
            <p:txBody>
              <a:bodyPr>
                <a:normAutofit/>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We have </a:t>
                </a:r>
              </a:p>
              <a:p>
                <a:pPr algn="just"/>
                <a:r>
                  <a:rPr lang="en-IN" sz="2000" b="1" dirty="0">
                    <a:solidFill>
                      <a:srgbClr val="002060"/>
                    </a:solidFill>
                    <a:latin typeface="Times New Roman" panose="02020603050405020304" pitchFamily="18" charset="0"/>
                    <a:cs typeface="Times New Roman" panose="02020603050405020304" pitchFamily="18" charset="0"/>
                  </a:rPr>
                  <a:t>U(n) = </a:t>
                </a:r>
                <a14:m>
                  <m:oMath xmlns:m="http://schemas.openxmlformats.org/officeDocument/2006/math">
                    <m:f>
                      <m:fPr>
                        <m:ctrlPr>
                          <a:rPr lang="en-IN" sz="2000" b="1" i="1" smtClean="0">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𝑬</m:t>
                        </m:r>
                      </m:num>
                      <m:den>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+1) </m:t>
                        </m:r>
                      </m:den>
                    </m:f>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E=U(n) * (n+1)                                     Eq. 1</a:t>
                </a: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We have </a:t>
                </a:r>
              </a:p>
              <a:p>
                <a:pPr algn="just"/>
                <a:r>
                  <a:rPr lang="en-IN" sz="2000" b="1" dirty="0" smtClean="0">
                    <a:solidFill>
                      <a:srgbClr val="002060"/>
                    </a:solidFill>
                    <a:latin typeface="Times New Roman" panose="02020603050405020304" pitchFamily="18" charset="0"/>
                    <a:cs typeface="Times New Roman" panose="02020603050405020304" pitchFamily="18" charset="0"/>
                  </a:rPr>
                  <a:t>E=I+2n</a:t>
                </a:r>
              </a:p>
              <a:p>
                <a:pPr algn="just"/>
                <a:r>
                  <a:rPr lang="en-IN" sz="2000" b="1" dirty="0" smtClean="0">
                    <a:solidFill>
                      <a:srgbClr val="002060"/>
                    </a:solidFill>
                    <a:latin typeface="Times New Roman" panose="02020603050405020304" pitchFamily="18" charset="0"/>
                    <a:cs typeface="Times New Roman" panose="02020603050405020304" pitchFamily="18" charset="0"/>
                  </a:rPr>
                  <a:t>I= E - 2n                                               </a:t>
                </a:r>
                <a:r>
                  <a:rPr lang="en-IN" sz="2000" b="1" dirty="0">
                    <a:solidFill>
                      <a:srgbClr val="002060"/>
                    </a:solidFill>
                    <a:latin typeface="Times New Roman" panose="02020603050405020304" pitchFamily="18" charset="0"/>
                    <a:cs typeface="Times New Roman" panose="02020603050405020304" pitchFamily="18" charset="0"/>
                  </a:rPr>
                  <a:t>Eq. </a:t>
                </a:r>
                <a:r>
                  <a:rPr lang="en-IN" sz="2000" b="1" dirty="0" smtClean="0">
                    <a:solidFill>
                      <a:srgbClr val="002060"/>
                    </a:solidFill>
                    <a:latin typeface="Times New Roman" panose="02020603050405020304" pitchFamily="18" charset="0"/>
                    <a:cs typeface="Times New Roman" panose="02020603050405020304" pitchFamily="18" charset="0"/>
                  </a:rPr>
                  <a:t>2</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We have </a:t>
                </a:r>
              </a:p>
              <a:p>
                <a:pPr algn="just"/>
                <a:r>
                  <a:rPr lang="en-IN" sz="2000" b="1" dirty="0" smtClean="0">
                    <a:solidFill>
                      <a:srgbClr val="002060"/>
                    </a:solidFill>
                    <a:latin typeface="Times New Roman" panose="02020603050405020304" pitchFamily="18" charset="0"/>
                    <a:cs typeface="Times New Roman" panose="02020603050405020304" pitchFamily="18" charset="0"/>
                  </a:rPr>
                  <a:t>S(n)= 1+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𝑰</m:t>
                        </m:r>
                      </m:num>
                      <m:den>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 </m:t>
                        </m:r>
                      </m:den>
                    </m:f>
                  </m:oMath>
                </a14:m>
                <a:r>
                  <a:rPr lang="en-IN" sz="2000" b="1" dirty="0" smtClean="0">
                    <a:solidFill>
                      <a:srgbClr val="002060"/>
                    </a:solidFill>
                    <a:latin typeface="Times New Roman" panose="02020603050405020304" pitchFamily="18" charset="0"/>
                    <a:cs typeface="Times New Roman" panose="02020603050405020304" pitchFamily="18" charset="0"/>
                  </a:rPr>
                  <a:t>                                           Eq</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Substituting 2 in 3 we get</a:t>
                </a:r>
              </a:p>
              <a:p>
                <a:pPr algn="just"/>
                <a:r>
                  <a:rPr lang="en-IN" sz="2000" b="1" dirty="0">
                    <a:solidFill>
                      <a:srgbClr val="002060"/>
                    </a:solidFill>
                    <a:latin typeface="Times New Roman" panose="02020603050405020304" pitchFamily="18" charset="0"/>
                    <a:cs typeface="Times New Roman" panose="02020603050405020304" pitchFamily="18" charset="0"/>
                  </a:rPr>
                  <a:t>S(n)= 1+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𝑬</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𝟐</m:t>
                        </m:r>
                        <m:r>
                          <a:rPr lang="en-IN" sz="2000" b="1" i="1" smtClean="0">
                            <a:solidFill>
                              <a:srgbClr val="002060"/>
                            </a:solidFill>
                            <a:latin typeface="Cambria Math" panose="02040503050406030204" pitchFamily="18" charset="0"/>
                            <a:cs typeface="Times New Roman" panose="02020603050405020304" pitchFamily="18" charset="0"/>
                          </a:rPr>
                          <m:t>𝒏</m:t>
                        </m:r>
                      </m:num>
                      <m:den>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 </m:t>
                        </m:r>
                      </m:den>
                    </m:f>
                  </m:oMath>
                </a14:m>
                <a:r>
                  <a:rPr lang="en-IN" sz="2000" b="1" dirty="0" smtClean="0">
                    <a:solidFill>
                      <a:srgbClr val="002060"/>
                    </a:solidFill>
                    <a:latin typeface="Times New Roman" panose="02020603050405020304" pitchFamily="18" charset="0"/>
                    <a:cs typeface="Times New Roman" panose="02020603050405020304" pitchFamily="18" charset="0"/>
                  </a:rPr>
                  <a:t>                                      Eq</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6" y="862739"/>
                <a:ext cx="12315217" cy="5627707"/>
              </a:xfrm>
              <a:blipFill rotWithShape="0">
                <a:blip r:embed="rId3"/>
                <a:stretch>
                  <a:fillRect l="-545" t="-1192"/>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970384" cy="92809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277319" y="24005"/>
            <a:ext cx="914681" cy="914681"/>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45</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Box 8"/>
              <p:cNvSpPr txBox="1"/>
              <p:nvPr/>
            </p:nvSpPr>
            <p:spPr>
              <a:xfrm>
                <a:off x="6698225" y="784143"/>
                <a:ext cx="5208429" cy="6534481"/>
              </a:xfrm>
              <a:prstGeom prst="rect">
                <a:avLst/>
              </a:prstGeom>
              <a:noFill/>
            </p:spPr>
            <p:txBody>
              <a:bodyPr wrap="square" rtlCol="0">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Substituting 1 </a:t>
                </a:r>
                <a:r>
                  <a:rPr lang="en-IN" b="1" dirty="0">
                    <a:solidFill>
                      <a:srgbClr val="002060"/>
                    </a:solidFill>
                    <a:latin typeface="Times New Roman" panose="02020603050405020304" pitchFamily="18" charset="0"/>
                    <a:cs typeface="Times New Roman" panose="02020603050405020304" pitchFamily="18" charset="0"/>
                  </a:rPr>
                  <a:t>in </a:t>
                </a:r>
                <a:r>
                  <a:rPr lang="en-IN" b="1" dirty="0" smtClean="0">
                    <a:solidFill>
                      <a:srgbClr val="002060"/>
                    </a:solidFill>
                    <a:latin typeface="Times New Roman" panose="02020603050405020304" pitchFamily="18" charset="0"/>
                    <a:cs typeface="Times New Roman" panose="02020603050405020304" pitchFamily="18" charset="0"/>
                  </a:rPr>
                  <a:t>4 </a:t>
                </a:r>
                <a:r>
                  <a:rPr lang="en-IN" b="1" dirty="0">
                    <a:solidFill>
                      <a:srgbClr val="002060"/>
                    </a:solidFill>
                    <a:latin typeface="Times New Roman" panose="02020603050405020304" pitchFamily="18" charset="0"/>
                    <a:cs typeface="Times New Roman" panose="02020603050405020304" pitchFamily="18" charset="0"/>
                  </a:rPr>
                  <a:t>we </a:t>
                </a:r>
                <a:r>
                  <a:rPr lang="en-IN" b="1" dirty="0" smtClean="0">
                    <a:solidFill>
                      <a:srgbClr val="002060"/>
                    </a:solidFill>
                    <a:latin typeface="Times New Roman" panose="02020603050405020304" pitchFamily="18" charset="0"/>
                    <a:cs typeface="Times New Roman" panose="02020603050405020304" pitchFamily="18" charset="0"/>
                  </a:rPr>
                  <a:t>get</a:t>
                </a:r>
              </a:p>
              <a:p>
                <a:pPr algn="just"/>
                <a:endParaRPr lang="en-IN" b="1" dirty="0" smtClean="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S(n)= 1+ </a:t>
                </a:r>
                <a14:m>
                  <m:oMath xmlns:m="http://schemas.openxmlformats.org/officeDocument/2006/math">
                    <m:f>
                      <m:fPr>
                        <m:ctrlPr>
                          <a:rPr lang="en-IN" b="1" i="1">
                            <a:solidFill>
                              <a:srgbClr val="002060"/>
                            </a:solidFill>
                            <a:latin typeface="Cambria Math"/>
                            <a:cs typeface="Times New Roman" panose="02020603050405020304" pitchFamily="18" charset="0"/>
                          </a:rPr>
                        </m:ctrlPr>
                      </m:fPr>
                      <m:num>
                        <m:r>
                          <m:rPr>
                            <m:nor/>
                          </m:rPr>
                          <a:rPr lang="en-IN" b="1" dirty="0">
                            <a:solidFill>
                              <a:srgbClr val="002060"/>
                            </a:solidFill>
                            <a:latin typeface="Times New Roman" panose="02020603050405020304" pitchFamily="18" charset="0"/>
                            <a:cs typeface="Times New Roman" panose="02020603050405020304" pitchFamily="18" charset="0"/>
                          </a:rPr>
                          <m:t>U</m:t>
                        </m:r>
                        <m:r>
                          <m:rPr>
                            <m:nor/>
                          </m:rPr>
                          <a:rPr lang="en-IN" b="1" dirty="0">
                            <a:solidFill>
                              <a:srgbClr val="002060"/>
                            </a:solidFill>
                            <a:latin typeface="Times New Roman" panose="02020603050405020304" pitchFamily="18" charset="0"/>
                            <a:cs typeface="Times New Roman" panose="02020603050405020304" pitchFamily="18" charset="0"/>
                          </a:rPr>
                          <m:t>(</m:t>
                        </m:r>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 ∗ (</m:t>
                        </m:r>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+1)</m:t>
                        </m:r>
                        <m:r>
                          <a:rPr lang="en-IN" b="1" i="1">
                            <a:solidFill>
                              <a:srgbClr val="002060"/>
                            </a:solidFill>
                            <a:latin typeface="Cambria Math" panose="02040503050406030204" pitchFamily="18" charset="0"/>
                            <a:cs typeface="Times New Roman" panose="02020603050405020304" pitchFamily="18" charset="0"/>
                          </a:rPr>
                          <m:t>−</m:t>
                        </m:r>
                        <m:r>
                          <a:rPr lang="en-IN" b="1" i="1">
                            <a:solidFill>
                              <a:srgbClr val="002060"/>
                            </a:solidFill>
                            <a:latin typeface="Cambria Math" panose="02040503050406030204" pitchFamily="18" charset="0"/>
                            <a:cs typeface="Times New Roman" panose="02020603050405020304" pitchFamily="18" charset="0"/>
                          </a:rPr>
                          <m:t>𝟐</m:t>
                        </m:r>
                        <m:r>
                          <a:rPr lang="en-IN" b="1" i="1">
                            <a:solidFill>
                              <a:srgbClr val="002060"/>
                            </a:solidFill>
                            <a:latin typeface="Cambria Math" panose="02040503050406030204" pitchFamily="18" charset="0"/>
                            <a:cs typeface="Times New Roman" panose="02020603050405020304" pitchFamily="18" charset="0"/>
                          </a:rPr>
                          <m:t>𝒏</m:t>
                        </m:r>
                      </m:num>
                      <m:den>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 </m:t>
                        </m:r>
                      </m:den>
                    </m:f>
                  </m:oMath>
                </a14:m>
                <a:endParaRPr lang="en-IN" b="1" dirty="0" smtClean="0">
                  <a:solidFill>
                    <a:srgbClr val="002060"/>
                  </a:solidFill>
                  <a:latin typeface="Times New Roman" panose="02020603050405020304" pitchFamily="18" charset="0"/>
                  <a:cs typeface="Times New Roman" panose="02020603050405020304" pitchFamily="18" charset="0"/>
                </a:endParaRPr>
              </a:p>
              <a:p>
                <a:pPr algn="just"/>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S(n)= </a:t>
                </a:r>
                <a:r>
                  <a:rPr lang="en-IN"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b="1" i="1">
                            <a:solidFill>
                              <a:srgbClr val="002060"/>
                            </a:solidFill>
                            <a:latin typeface="Cambria Math"/>
                            <a:cs typeface="Times New Roman" panose="02020603050405020304" pitchFamily="18" charset="0"/>
                          </a:rPr>
                        </m:ctrlPr>
                      </m:fPr>
                      <m:num>
                        <m:r>
                          <m:rPr>
                            <m:nor/>
                          </m:rPr>
                          <a:rPr lang="en-IN" b="1" i="0" smtClean="0">
                            <a:solidFill>
                              <a:srgbClr val="002060"/>
                            </a:solidFill>
                            <a:latin typeface="Cambria Math" panose="02040503050406030204" pitchFamily="18" charset="0"/>
                            <a:cs typeface="Times New Roman" panose="02020603050405020304" pitchFamily="18" charset="0"/>
                          </a:rPr>
                          <m:t>n</m:t>
                        </m:r>
                        <m:r>
                          <m:rPr>
                            <m:nor/>
                          </m:rPr>
                          <a:rPr lang="en-IN" b="1" i="0" smtClean="0">
                            <a:solidFill>
                              <a:srgbClr val="002060"/>
                            </a:solidFill>
                            <a:latin typeface="Cambria Math" panose="02040503050406030204" pitchFamily="18" charset="0"/>
                            <a:cs typeface="Times New Roman" panose="02020603050405020304" pitchFamily="18" charset="0"/>
                          </a:rPr>
                          <m:t>+</m:t>
                        </m:r>
                        <m:r>
                          <m:rPr>
                            <m:nor/>
                          </m:rPr>
                          <a:rPr lang="en-IN" b="1" dirty="0">
                            <a:solidFill>
                              <a:srgbClr val="002060"/>
                            </a:solidFill>
                            <a:latin typeface="Times New Roman" panose="02020603050405020304" pitchFamily="18" charset="0"/>
                            <a:cs typeface="Times New Roman" panose="02020603050405020304" pitchFamily="18" charset="0"/>
                          </a:rPr>
                          <m:t>U</m:t>
                        </m:r>
                        <m:r>
                          <m:rPr>
                            <m:nor/>
                          </m:rPr>
                          <a:rPr lang="en-IN" b="1" dirty="0">
                            <a:solidFill>
                              <a:srgbClr val="002060"/>
                            </a:solidFill>
                            <a:latin typeface="Times New Roman" panose="02020603050405020304" pitchFamily="18" charset="0"/>
                            <a:cs typeface="Times New Roman" panose="02020603050405020304" pitchFamily="18" charset="0"/>
                          </a:rPr>
                          <m:t>(</m:t>
                        </m:r>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 ∗ (</m:t>
                        </m:r>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+1)</m:t>
                        </m:r>
                        <m:r>
                          <a:rPr lang="en-IN" b="1" i="1">
                            <a:solidFill>
                              <a:srgbClr val="002060"/>
                            </a:solidFill>
                            <a:latin typeface="Cambria Math" panose="02040503050406030204" pitchFamily="18" charset="0"/>
                            <a:cs typeface="Times New Roman" panose="02020603050405020304" pitchFamily="18" charset="0"/>
                          </a:rPr>
                          <m:t>−</m:t>
                        </m:r>
                        <m:r>
                          <a:rPr lang="en-IN" b="1" i="1">
                            <a:solidFill>
                              <a:srgbClr val="002060"/>
                            </a:solidFill>
                            <a:latin typeface="Cambria Math" panose="02040503050406030204" pitchFamily="18" charset="0"/>
                            <a:cs typeface="Times New Roman" panose="02020603050405020304" pitchFamily="18" charset="0"/>
                          </a:rPr>
                          <m:t>𝟐</m:t>
                        </m:r>
                        <m:r>
                          <a:rPr lang="en-IN" b="1" i="1">
                            <a:solidFill>
                              <a:srgbClr val="002060"/>
                            </a:solidFill>
                            <a:latin typeface="Cambria Math" panose="02040503050406030204" pitchFamily="18" charset="0"/>
                            <a:cs typeface="Times New Roman" panose="02020603050405020304" pitchFamily="18" charset="0"/>
                          </a:rPr>
                          <m:t>𝒏</m:t>
                        </m:r>
                      </m:num>
                      <m:den>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 </m:t>
                        </m:r>
                      </m:den>
                    </m:f>
                  </m:oMath>
                </a14:m>
                <a:endParaRPr lang="en-IN" b="1" dirty="0" smtClean="0">
                  <a:solidFill>
                    <a:srgbClr val="002060"/>
                  </a:solidFill>
                  <a:latin typeface="Times New Roman" panose="02020603050405020304" pitchFamily="18" charset="0"/>
                  <a:cs typeface="Times New Roman" panose="02020603050405020304" pitchFamily="18" charset="0"/>
                </a:endParaRPr>
              </a:p>
              <a:p>
                <a:pPr algn="just"/>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S(n)=  </a:t>
                </a:r>
                <a14:m>
                  <m:oMath xmlns:m="http://schemas.openxmlformats.org/officeDocument/2006/math">
                    <m:f>
                      <m:fPr>
                        <m:ctrlPr>
                          <a:rPr lang="en-IN" b="1" i="1">
                            <a:solidFill>
                              <a:srgbClr val="002060"/>
                            </a:solidFill>
                            <a:latin typeface="Cambria Math"/>
                            <a:cs typeface="Times New Roman" panose="02020603050405020304" pitchFamily="18" charset="0"/>
                          </a:rPr>
                        </m:ctrlPr>
                      </m:fPr>
                      <m:num>
                        <m:r>
                          <m:rPr>
                            <m:nor/>
                          </m:rPr>
                          <a:rPr lang="en-IN" b="1" dirty="0">
                            <a:solidFill>
                              <a:srgbClr val="002060"/>
                            </a:solidFill>
                            <a:latin typeface="Times New Roman" panose="02020603050405020304" pitchFamily="18" charset="0"/>
                            <a:cs typeface="Times New Roman" panose="02020603050405020304" pitchFamily="18" charset="0"/>
                          </a:rPr>
                          <m:t>U</m:t>
                        </m:r>
                        <m:r>
                          <m:rPr>
                            <m:nor/>
                          </m:rPr>
                          <a:rPr lang="en-IN" b="1" dirty="0">
                            <a:solidFill>
                              <a:srgbClr val="002060"/>
                            </a:solidFill>
                            <a:latin typeface="Times New Roman" panose="02020603050405020304" pitchFamily="18" charset="0"/>
                            <a:cs typeface="Times New Roman" panose="02020603050405020304" pitchFamily="18" charset="0"/>
                          </a:rPr>
                          <m:t>(</m:t>
                        </m:r>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 ∗ (</m:t>
                        </m:r>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+1)</m:t>
                        </m:r>
                        <m:r>
                          <a:rPr lang="en-IN" b="1" i="1">
                            <a:solidFill>
                              <a:srgbClr val="002060"/>
                            </a:solidFill>
                            <a:latin typeface="Cambria Math" panose="02040503050406030204" pitchFamily="18" charset="0"/>
                            <a:cs typeface="Times New Roman" panose="02020603050405020304" pitchFamily="18" charset="0"/>
                          </a:rPr>
                          <m:t>−</m:t>
                        </m:r>
                        <m:r>
                          <a:rPr lang="en-IN" b="1" i="1">
                            <a:solidFill>
                              <a:srgbClr val="002060"/>
                            </a:solidFill>
                            <a:latin typeface="Cambria Math" panose="02040503050406030204" pitchFamily="18" charset="0"/>
                            <a:cs typeface="Times New Roman" panose="02020603050405020304" pitchFamily="18" charset="0"/>
                          </a:rPr>
                          <m:t>𝒏</m:t>
                        </m:r>
                      </m:num>
                      <m:den>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 </m:t>
                        </m:r>
                      </m:den>
                    </m:f>
                  </m:oMath>
                </a14:m>
                <a:endParaRPr lang="en-IN" b="1" dirty="0" smtClean="0">
                  <a:solidFill>
                    <a:srgbClr val="002060"/>
                  </a:solidFill>
                  <a:latin typeface="Times New Roman" panose="02020603050405020304" pitchFamily="18" charset="0"/>
                  <a:cs typeface="Times New Roman" panose="02020603050405020304" pitchFamily="18" charset="0"/>
                </a:endParaRPr>
              </a:p>
              <a:p>
                <a:pPr algn="just"/>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S(n)=  </a:t>
                </a:r>
                <a14:m>
                  <m:oMath xmlns:m="http://schemas.openxmlformats.org/officeDocument/2006/math">
                    <m:f>
                      <m:fPr>
                        <m:ctrlPr>
                          <a:rPr lang="en-IN" b="1" i="1">
                            <a:solidFill>
                              <a:srgbClr val="002060"/>
                            </a:solidFill>
                            <a:latin typeface="Cambria Math"/>
                            <a:cs typeface="Times New Roman" panose="02020603050405020304" pitchFamily="18" charset="0"/>
                          </a:rPr>
                        </m:ctrlPr>
                      </m:fPr>
                      <m:num>
                        <m:r>
                          <m:rPr>
                            <m:nor/>
                          </m:rPr>
                          <a:rPr lang="en-IN" b="1" dirty="0">
                            <a:solidFill>
                              <a:srgbClr val="002060"/>
                            </a:solidFill>
                            <a:latin typeface="Times New Roman" panose="02020603050405020304" pitchFamily="18" charset="0"/>
                            <a:cs typeface="Times New Roman" panose="02020603050405020304" pitchFamily="18" charset="0"/>
                          </a:rPr>
                          <m:t>U</m:t>
                        </m:r>
                        <m:r>
                          <m:rPr>
                            <m:nor/>
                          </m:rPr>
                          <a:rPr lang="en-IN" b="1" dirty="0">
                            <a:solidFill>
                              <a:srgbClr val="002060"/>
                            </a:solidFill>
                            <a:latin typeface="Times New Roman" panose="02020603050405020304" pitchFamily="18" charset="0"/>
                            <a:cs typeface="Times New Roman" panose="02020603050405020304" pitchFamily="18" charset="0"/>
                          </a:rPr>
                          <m:t>(</m:t>
                        </m:r>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 ∗ (</m:t>
                        </m:r>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+1)</m:t>
                        </m:r>
                      </m:num>
                      <m:den>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 </m:t>
                        </m:r>
                      </m:den>
                    </m:f>
                  </m:oMath>
                </a14:m>
                <a:r>
                  <a:rPr lang="en-IN" b="1" dirty="0" smtClean="0">
                    <a:solidFill>
                      <a:srgbClr val="002060"/>
                    </a:solidFill>
                    <a:latin typeface="Times New Roman" panose="02020603050405020304" pitchFamily="18" charset="0"/>
                    <a:cs typeface="Times New Roman" panose="02020603050405020304" pitchFamily="18" charset="0"/>
                  </a:rPr>
                  <a:t> - 1</a:t>
                </a:r>
              </a:p>
              <a:p>
                <a:pPr algn="just"/>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S(n)= </a:t>
                </a:r>
                <a14:m>
                  <m:oMath xmlns:m="http://schemas.openxmlformats.org/officeDocument/2006/math">
                    <m:r>
                      <m:rPr>
                        <m:nor/>
                      </m:rPr>
                      <a:rPr lang="en-IN" b="1" dirty="0">
                        <a:solidFill>
                          <a:srgbClr val="002060"/>
                        </a:solidFill>
                        <a:latin typeface="Times New Roman" panose="02020603050405020304" pitchFamily="18" charset="0"/>
                        <a:cs typeface="Times New Roman" panose="02020603050405020304" pitchFamily="18" charset="0"/>
                      </a:rPr>
                      <m:t>U</m:t>
                    </m:r>
                    <m:r>
                      <m:rPr>
                        <m:nor/>
                      </m:rPr>
                      <a:rPr lang="en-IN" b="1" dirty="0">
                        <a:solidFill>
                          <a:srgbClr val="002060"/>
                        </a:solidFill>
                        <a:latin typeface="Times New Roman" panose="02020603050405020304" pitchFamily="18" charset="0"/>
                        <a:cs typeface="Times New Roman" panose="02020603050405020304" pitchFamily="18" charset="0"/>
                      </a:rPr>
                      <m:t>(</m:t>
                    </m:r>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 ∗ (1+</m:t>
                    </m:r>
                    <m:f>
                      <m:fPr>
                        <m:ctrlPr>
                          <a:rPr lang="en-IN" b="1" i="1">
                            <a:solidFill>
                              <a:srgbClr val="002060"/>
                            </a:solidFill>
                            <a:latin typeface="Cambria Math"/>
                            <a:cs typeface="Times New Roman" panose="02020603050405020304" pitchFamily="18" charset="0"/>
                          </a:rPr>
                        </m:ctrlPr>
                      </m:fPr>
                      <m:num>
                        <m:r>
                          <a:rPr lang="en-IN" b="1" i="1" smtClean="0">
                            <a:solidFill>
                              <a:srgbClr val="002060"/>
                            </a:solidFill>
                            <a:latin typeface="Cambria Math" panose="02040503050406030204" pitchFamily="18" charset="0"/>
                            <a:cs typeface="Times New Roman" panose="02020603050405020304" pitchFamily="18" charset="0"/>
                          </a:rPr>
                          <m:t>𝟏</m:t>
                        </m:r>
                      </m:num>
                      <m:den>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 </m:t>
                        </m:r>
                      </m:den>
                    </m:f>
                  </m:oMath>
                </a14:m>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 1</a:t>
                </a:r>
              </a:p>
              <a:p>
                <a:pPr algn="just"/>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S(n</a:t>
                </a:r>
                <a:r>
                  <a:rPr lang="en-IN" b="1" dirty="0" smtClean="0">
                    <a:solidFill>
                      <a:srgbClr val="002060"/>
                    </a:solidFill>
                    <a:latin typeface="Times New Roman" panose="02020603050405020304" pitchFamily="18" charset="0"/>
                    <a:cs typeface="Times New Roman" panose="02020603050405020304" pitchFamily="18" charset="0"/>
                  </a:rPr>
                  <a:t>) + 1 = </a:t>
                </a:r>
                <a14:m>
                  <m:oMath xmlns:m="http://schemas.openxmlformats.org/officeDocument/2006/math">
                    <m:r>
                      <m:rPr>
                        <m:nor/>
                      </m:rPr>
                      <a:rPr lang="en-IN" b="1" dirty="0">
                        <a:solidFill>
                          <a:srgbClr val="002060"/>
                        </a:solidFill>
                        <a:latin typeface="Times New Roman" panose="02020603050405020304" pitchFamily="18" charset="0"/>
                        <a:cs typeface="Times New Roman" panose="02020603050405020304" pitchFamily="18" charset="0"/>
                      </a:rPr>
                      <m:t>U</m:t>
                    </m:r>
                    <m:r>
                      <m:rPr>
                        <m:nor/>
                      </m:rPr>
                      <a:rPr lang="en-IN" b="1" dirty="0">
                        <a:solidFill>
                          <a:srgbClr val="002060"/>
                        </a:solidFill>
                        <a:latin typeface="Times New Roman" panose="02020603050405020304" pitchFamily="18" charset="0"/>
                        <a:cs typeface="Times New Roman" panose="02020603050405020304" pitchFamily="18" charset="0"/>
                      </a:rPr>
                      <m:t>(</m:t>
                    </m:r>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 ∗ (1+</m:t>
                    </m:r>
                    <m:f>
                      <m:fPr>
                        <m:ctrlPr>
                          <a:rPr lang="en-IN" b="1" i="1">
                            <a:solidFill>
                              <a:srgbClr val="002060"/>
                            </a:solidFill>
                            <a:latin typeface="Cambria Math"/>
                            <a:cs typeface="Times New Roman" panose="02020603050405020304" pitchFamily="18" charset="0"/>
                          </a:rPr>
                        </m:ctrlPr>
                      </m:fPr>
                      <m:num>
                        <m:r>
                          <a:rPr lang="en-IN" b="1" i="1">
                            <a:solidFill>
                              <a:srgbClr val="002060"/>
                            </a:solidFill>
                            <a:latin typeface="Cambria Math" panose="02040503050406030204" pitchFamily="18" charset="0"/>
                            <a:cs typeface="Times New Roman" panose="02020603050405020304" pitchFamily="18" charset="0"/>
                          </a:rPr>
                          <m:t>𝟏</m:t>
                        </m:r>
                      </m:num>
                      <m:den>
                        <m:r>
                          <m:rPr>
                            <m:nor/>
                          </m:rPr>
                          <a:rPr lang="en-IN" b="1" dirty="0">
                            <a:solidFill>
                              <a:srgbClr val="002060"/>
                            </a:solidFill>
                            <a:latin typeface="Times New Roman" panose="02020603050405020304" pitchFamily="18" charset="0"/>
                            <a:cs typeface="Times New Roman" panose="02020603050405020304" pitchFamily="18" charset="0"/>
                          </a:rPr>
                          <m:t>n</m:t>
                        </m:r>
                        <m:r>
                          <m:rPr>
                            <m:nor/>
                          </m:rPr>
                          <a:rPr lang="en-IN" b="1" dirty="0">
                            <a:solidFill>
                              <a:srgbClr val="002060"/>
                            </a:solidFill>
                            <a:latin typeface="Times New Roman" panose="02020603050405020304" pitchFamily="18" charset="0"/>
                            <a:cs typeface="Times New Roman" panose="02020603050405020304" pitchFamily="18" charset="0"/>
                          </a:rPr>
                          <m:t> </m:t>
                        </m:r>
                      </m:den>
                    </m:f>
                  </m:oMath>
                </a14:m>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a:t>
                </a:r>
              </a:p>
              <a:p>
                <a:pPr algn="just"/>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err="1">
                    <a:solidFill>
                      <a:srgbClr val="002060"/>
                    </a:solidFill>
                    <a:latin typeface="Times New Roman" panose="02020603050405020304" pitchFamily="18" charset="0"/>
                    <a:cs typeface="Times New Roman" panose="02020603050405020304" pitchFamily="18" charset="0"/>
                  </a:rPr>
                  <a:t>i</a:t>
                </a:r>
                <a:r>
                  <a:rPr lang="en-IN" b="1" dirty="0" smtClean="0">
                    <a:solidFill>
                      <a:srgbClr val="002060"/>
                    </a:solidFill>
                    <a:latin typeface="Times New Roman" panose="02020603050405020304" pitchFamily="18" charset="0"/>
                    <a:cs typeface="Times New Roman" panose="02020603050405020304" pitchFamily="18" charset="0"/>
                  </a:rPr>
                  <a:t> e  S(n) &lt; U(n)</a:t>
                </a:r>
              </a:p>
              <a:p>
                <a:pPr algn="just"/>
                <a:r>
                  <a:rPr lang="en-IN" b="1" dirty="0" smtClean="0">
                    <a:solidFill>
                      <a:srgbClr val="FF0000"/>
                    </a:solidFill>
                    <a:latin typeface="Times New Roman" panose="02020603050405020304" pitchFamily="18" charset="0"/>
                    <a:cs typeface="Times New Roman" panose="02020603050405020304" pitchFamily="18" charset="0"/>
                  </a:rPr>
                  <a:t>Thus average </a:t>
                </a:r>
                <a:r>
                  <a:rPr lang="en-IN" b="1" dirty="0">
                    <a:solidFill>
                      <a:srgbClr val="FF0000"/>
                    </a:solidFill>
                    <a:latin typeface="Times New Roman" panose="02020603050405020304" pitchFamily="18" charset="0"/>
                    <a:cs typeface="Times New Roman" panose="02020603050405020304" pitchFamily="18" charset="0"/>
                  </a:rPr>
                  <a:t>no of comparison in successful search </a:t>
                </a:r>
                <a:r>
                  <a:rPr lang="en-IN" b="1" dirty="0" smtClean="0">
                    <a:solidFill>
                      <a:srgbClr val="FF0000"/>
                    </a:solidFill>
                    <a:latin typeface="Times New Roman" panose="02020603050405020304" pitchFamily="18" charset="0"/>
                    <a:cs typeface="Times New Roman" panose="02020603050405020304" pitchFamily="18" charset="0"/>
                  </a:rPr>
                  <a:t>S(n) is always less than average </a:t>
                </a:r>
                <a:r>
                  <a:rPr lang="en-IN" b="1" dirty="0">
                    <a:solidFill>
                      <a:srgbClr val="FF0000"/>
                    </a:solidFill>
                    <a:latin typeface="Times New Roman" panose="02020603050405020304" pitchFamily="18" charset="0"/>
                    <a:cs typeface="Times New Roman" panose="02020603050405020304" pitchFamily="18" charset="0"/>
                  </a:rPr>
                  <a:t>no of comparison in unsuccessful search </a:t>
                </a:r>
                <a:r>
                  <a:rPr lang="en-IN" b="1" dirty="0" smtClean="0">
                    <a:solidFill>
                      <a:srgbClr val="FF0000"/>
                    </a:solidFill>
                    <a:latin typeface="Times New Roman" panose="02020603050405020304" pitchFamily="18" charset="0"/>
                    <a:cs typeface="Times New Roman" panose="02020603050405020304" pitchFamily="18" charset="0"/>
                  </a:rPr>
                  <a:t>  U(n) </a:t>
                </a:r>
                <a:endParaRPr lang="en-IN" b="1" dirty="0">
                  <a:solidFill>
                    <a:srgbClr val="FF0000"/>
                  </a:solidFill>
                  <a:latin typeface="Times New Roman" panose="02020603050405020304" pitchFamily="18" charset="0"/>
                  <a:cs typeface="Times New Roman" panose="02020603050405020304" pitchFamily="18" charset="0"/>
                </a:endParaRPr>
              </a:p>
              <a:p>
                <a:pPr algn="just"/>
                <a:endParaRPr lang="en-IN" b="1" dirty="0">
                  <a:solidFill>
                    <a:srgbClr val="002060"/>
                  </a:solidFill>
                  <a:latin typeface="Times New Roman" panose="02020603050405020304" pitchFamily="18" charset="0"/>
                  <a:cs typeface="Times New Roman" panose="02020603050405020304" pitchFamily="18" charset="0"/>
                </a:endParaRPr>
              </a:p>
              <a:p>
                <a:pPr algn="just"/>
                <a:endParaRPr lang="en-IN"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6698225" y="784143"/>
                <a:ext cx="5208429" cy="6534481"/>
              </a:xfrm>
              <a:prstGeom prst="rect">
                <a:avLst/>
              </a:prstGeom>
              <a:blipFill rotWithShape="0">
                <a:blip r:embed="rId6"/>
                <a:stretch>
                  <a:fillRect l="-1054" t="-560" r="-937"/>
                </a:stretch>
              </a:blipFill>
            </p:spPr>
            <p:txBody>
              <a:bodyPr/>
              <a:lstStyle/>
              <a:p>
                <a:r>
                  <a:rPr lang="en-IN">
                    <a:noFill/>
                  </a:rPr>
                  <a:t> </a:t>
                </a:r>
              </a:p>
            </p:txBody>
          </p:sp>
        </mc:Fallback>
      </mc:AlternateContent>
      <p:sp>
        <p:nvSpPr>
          <p:cNvPr id="6" name="Date Placeholder 5"/>
          <p:cNvSpPr>
            <a:spLocks noGrp="1"/>
          </p:cNvSpPr>
          <p:nvPr>
            <p:ph type="dt" sz="half" idx="10"/>
          </p:nvPr>
        </p:nvSpPr>
        <p:spPr/>
        <p:txBody>
          <a:bodyPr/>
          <a:lstStyle/>
          <a:p>
            <a:fld id="{2E2DF5E7-CDCF-4FAA-B47B-05DD59A4D05E}" type="datetime1">
              <a:rPr lang="en-IN" smtClean="0"/>
              <a:t>21-03-2026</a:t>
            </a:fld>
            <a:endParaRPr lang="en-IN"/>
          </a:p>
        </p:txBody>
      </p:sp>
    </p:spTree>
    <p:extLst>
      <p:ext uri="{BB962C8B-B14F-4D97-AF65-F5344CB8AC3E}">
        <p14:creationId xmlns:p14="http://schemas.microsoft.com/office/powerpoint/2010/main" val="199903914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Merge sort</a:t>
                </a:r>
                <a:endParaRPr lang="en-IN" sz="2000" b="1" dirty="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Best example for Divide and Conquer</a:t>
                </a:r>
              </a:p>
              <a:p>
                <a:pPr marL="342900" indent="-342900" algn="just">
                  <a:lnSpc>
                    <a:spcPct val="150000"/>
                  </a:lnSpc>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Given with a list of elements A[0,1,……..n-1], where </a:t>
                </a:r>
                <a:r>
                  <a:rPr lang="en-IN" sz="2000" b="1" dirty="0" smtClean="0">
                    <a:solidFill>
                      <a:srgbClr val="FF0000"/>
                    </a:solidFill>
                    <a:latin typeface="Times New Roman" panose="02020603050405020304" pitchFamily="18" charset="0"/>
                    <a:cs typeface="Times New Roman" panose="02020603050405020304" pitchFamily="18" charset="0"/>
                  </a:rPr>
                  <a:t>n</a:t>
                </a:r>
                <a:r>
                  <a:rPr lang="en-IN" sz="2000" b="1" dirty="0" smtClean="0">
                    <a:solidFill>
                      <a:srgbClr val="002060"/>
                    </a:solidFill>
                    <a:latin typeface="Times New Roman" panose="02020603050405020304" pitchFamily="18" charset="0"/>
                    <a:cs typeface="Times New Roman" panose="02020603050405020304" pitchFamily="18" charset="0"/>
                  </a:rPr>
                  <a:t> is size of list A. Merge sort sorts the list A as follows</a:t>
                </a:r>
              </a:p>
              <a:p>
                <a:pPr marL="342900" indent="-342900" algn="just">
                  <a:lnSpc>
                    <a:spcPct val="150000"/>
                  </a:lnSpc>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 Divides a list A  into two parts   A[0,1,……..</a:t>
                </a:r>
                <a14:m>
                  <m:oMath xmlns:m="http://schemas.openxmlformats.org/officeDocument/2006/math">
                    <m:f>
                      <m:fPr>
                        <m:ctrlPr>
                          <a:rPr lang="en-IN" sz="2000" b="1" i="1" smtClean="0">
                            <a:solidFill>
                              <a:srgbClr val="002060"/>
                            </a:solidFill>
                            <a:latin typeface="Cambria Math"/>
                            <a:cs typeface="Times New Roman" panose="02020603050405020304" pitchFamily="18" charset="0"/>
                          </a:rPr>
                        </m:ctrlPr>
                      </m:fPr>
                      <m:num>
                        <m:r>
                          <a:rPr lang="en-IN" sz="2000" b="1" i="1" smtClean="0">
                            <a:solidFill>
                              <a:srgbClr val="002060"/>
                            </a:solidFill>
                            <a:latin typeface="Cambria Math" panose="02040503050406030204" pitchFamily="18" charset="0"/>
                            <a:cs typeface="Times New Roman" panose="02020603050405020304" pitchFamily="18" charset="0"/>
                          </a:rPr>
                          <m:t>𝒏</m:t>
                        </m:r>
                      </m:num>
                      <m:den>
                        <m:r>
                          <a:rPr lang="en-IN" sz="2000" b="1" i="1" smtClean="0">
                            <a:solidFill>
                              <a:srgbClr val="002060"/>
                            </a:solidFill>
                            <a:latin typeface="Cambria Math" panose="02040503050406030204" pitchFamily="18" charset="0"/>
                            <a:cs typeface="Times New Roman" panose="02020603050405020304" pitchFamily="18" charset="0"/>
                          </a:rPr>
                          <m:t>𝟐</m:t>
                        </m:r>
                      </m:den>
                    </m:f>
                  </m:oMath>
                </a14:m>
                <a:r>
                  <a:rPr lang="en-IN" sz="2000" b="1" dirty="0">
                    <a:solidFill>
                      <a:srgbClr val="002060"/>
                    </a:solidFill>
                    <a:latin typeface="Times New Roman" panose="02020603050405020304" pitchFamily="18" charset="0"/>
                    <a:cs typeface="Times New Roman" panose="02020603050405020304" pitchFamily="18" charset="0"/>
                  </a:rPr>
                  <a:t> -1] and </a:t>
                </a:r>
                <a:r>
                  <a:rPr lang="en-IN" sz="2000" b="1" dirty="0" smtClean="0">
                    <a:solidFill>
                      <a:srgbClr val="002060"/>
                    </a:solidFill>
                    <a:latin typeface="Times New Roman" panose="02020603050405020304" pitchFamily="18" charset="0"/>
                    <a:cs typeface="Times New Roman" panose="02020603050405020304" pitchFamily="18" charset="0"/>
                  </a:rPr>
                  <a:t>A[</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a:rPr lang="en-IN" sz="2000" b="1" i="1">
                            <a:solidFill>
                              <a:srgbClr val="002060"/>
                            </a:solidFill>
                            <a:latin typeface="Cambria Math" panose="02040503050406030204" pitchFamily="18" charset="0"/>
                            <a:cs typeface="Times New Roman" panose="02020603050405020304" pitchFamily="18" charset="0"/>
                          </a:rPr>
                          <m:t>𝒏</m:t>
                        </m:r>
                      </m:num>
                      <m:den>
                        <m:r>
                          <a:rPr lang="en-IN" sz="2000" b="1" i="1">
                            <a:solidFill>
                              <a:srgbClr val="002060"/>
                            </a:solidFill>
                            <a:latin typeface="Cambria Math" panose="02040503050406030204" pitchFamily="18" charset="0"/>
                            <a:cs typeface="Times New Roman" panose="02020603050405020304" pitchFamily="18" charset="0"/>
                          </a:rPr>
                          <m:t>𝟐</m:t>
                        </m:r>
                      </m:den>
                    </m:f>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𝒏</m:t>
                    </m:r>
                  </m:oMath>
                </a14:m>
                <a:r>
                  <a:rPr lang="en-IN" sz="2000" b="1" dirty="0">
                    <a:solidFill>
                      <a:srgbClr val="002060"/>
                    </a:solidFill>
                    <a:latin typeface="Times New Roman" panose="02020603050405020304" pitchFamily="18" charset="0"/>
                    <a:cs typeface="Times New Roman" panose="02020603050405020304" pitchFamily="18" charset="0"/>
                  </a:rPr>
                  <a:t> -1] </a:t>
                </a:r>
                <a:endParaRPr lang="en-IN" sz="2000" b="1" dirty="0" smtClean="0">
                  <a:solidFill>
                    <a:srgbClr val="002060"/>
                  </a:solidFill>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Sorts each sub parts separately</a:t>
                </a:r>
              </a:p>
              <a:p>
                <a:pPr marL="342900" indent="-342900" algn="just">
                  <a:lnSpc>
                    <a:spcPct val="150000"/>
                  </a:lnSpc>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Merges the sorted sub parts.</a:t>
                </a:r>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7" y="862739"/>
                <a:ext cx="11797552" cy="5627707"/>
              </a:xfrm>
              <a:blipFill rotWithShape="1">
                <a:blip r:embed="rId6"/>
                <a:stretch>
                  <a:fillRect l="-827" t="-1517" r="-1034"/>
                </a:stretch>
              </a:blipFill>
            </p:spPr>
            <p:txBody>
              <a:bodyPr/>
              <a:lstStyle/>
              <a:p>
                <a:r>
                  <a:rPr lang="en-IN">
                    <a:noFill/>
                  </a:rPr>
                  <a:t> </a:t>
                </a:r>
              </a:p>
            </p:txBody>
          </p:sp>
        </mc:Fallback>
      </mc:AlternateContent>
      <p:pic>
        <p:nvPicPr>
          <p:cNvPr id="4" name="Picture 3"/>
          <p:cNvPicPr>
            <a:picLocks noChangeAspect="1"/>
          </p:cNvPicPr>
          <p:nvPr/>
        </p:nvPicPr>
        <p:blipFill>
          <a:blip r:embed="rId7"/>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46</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B1CEDED-5164-4CC3-B13C-40ECB105FCD0}" type="datetime1">
              <a:rPr lang="en-IN" smtClean="0"/>
              <a:t>21-03-2026</a:t>
            </a:fld>
            <a:endParaRPr lang="en-IN"/>
          </a:p>
        </p:txBody>
      </p:sp>
    </p:spTree>
    <p:extLst>
      <p:ext uri="{BB962C8B-B14F-4D97-AF65-F5344CB8AC3E}">
        <p14:creationId xmlns:p14="http://schemas.microsoft.com/office/powerpoint/2010/main" val="387752558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Merge sort</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1800" b="1" dirty="0" smtClean="0">
                <a:solidFill>
                  <a:srgbClr val="C00000"/>
                </a:solidFill>
                <a:latin typeface="Times New Roman" panose="02020603050405020304" pitchFamily="18" charset="0"/>
                <a:cs typeface="Times New Roman" panose="02020603050405020304" pitchFamily="18" charset="0"/>
              </a:rPr>
              <a:t>ALGORITHM </a:t>
            </a:r>
          </a:p>
          <a:p>
            <a:pPr algn="just"/>
            <a:r>
              <a:rPr lang="en-IN" sz="2000" b="1" i="1" dirty="0" err="1" smtClean="0">
                <a:solidFill>
                  <a:srgbClr val="C00000"/>
                </a:solidFill>
                <a:latin typeface="Times New Roman" panose="02020603050405020304" pitchFamily="18" charset="0"/>
                <a:cs typeface="Times New Roman" panose="02020603050405020304" pitchFamily="18" charset="0"/>
              </a:rPr>
              <a:t>Mergesort</a:t>
            </a:r>
            <a:r>
              <a:rPr lang="en-IN" sz="2000" b="1" i="1" dirty="0" smtClean="0">
                <a:solidFill>
                  <a:srgbClr val="C00000"/>
                </a:solidFill>
                <a:latin typeface="Times New Roman" panose="02020603050405020304" pitchFamily="18" charset="0"/>
                <a:cs typeface="Times New Roman" panose="02020603050405020304" pitchFamily="18" charset="0"/>
              </a:rPr>
              <a:t> (A</a:t>
            </a:r>
            <a:r>
              <a:rPr lang="en-IN" sz="2000" b="1" dirty="0" smtClean="0">
                <a:solidFill>
                  <a:srgbClr val="C00000"/>
                </a:solidFill>
                <a:latin typeface="Times New Roman" panose="02020603050405020304" pitchFamily="18" charset="0"/>
                <a:cs typeface="Times New Roman" panose="02020603050405020304" pitchFamily="18" charset="0"/>
              </a:rPr>
              <a:t>[0</a:t>
            </a:r>
            <a:r>
              <a:rPr lang="en-IN" sz="2000" b="1" i="1" dirty="0">
                <a:solidFill>
                  <a:srgbClr val="C00000"/>
                </a:solidFill>
                <a:latin typeface="Times New Roman" panose="02020603050405020304" pitchFamily="18" charset="0"/>
                <a:cs typeface="Times New Roman" panose="02020603050405020304" pitchFamily="18" charset="0"/>
              </a:rPr>
              <a:t>..n </a:t>
            </a:r>
            <a:r>
              <a:rPr lang="en-IN" sz="2000" b="1" dirty="0">
                <a:solidFill>
                  <a:srgbClr val="C00000"/>
                </a:solidFill>
                <a:latin typeface="Times New Roman" panose="02020603050405020304" pitchFamily="18" charset="0"/>
                <a:cs typeface="Times New Roman" panose="02020603050405020304" pitchFamily="18" charset="0"/>
              </a:rPr>
              <a:t>− 1]</a:t>
            </a:r>
            <a:r>
              <a:rPr lang="en-IN" sz="2000" b="1" i="1" dirty="0">
                <a:solidFill>
                  <a:srgbClr val="C00000"/>
                </a:solidFill>
                <a:latin typeface="Times New Roman" panose="02020603050405020304" pitchFamily="18" charset="0"/>
                <a:cs typeface="Times New Roman" panose="02020603050405020304" pitchFamily="18" charset="0"/>
              </a:rPr>
              <a:t>)</a:t>
            </a:r>
          </a:p>
          <a:p>
            <a:pPr algn="just"/>
            <a:r>
              <a:rPr lang="en-US" sz="2000" b="1" dirty="0">
                <a:solidFill>
                  <a:srgbClr val="002060"/>
                </a:solidFill>
                <a:latin typeface="Times New Roman" panose="02020603050405020304" pitchFamily="18" charset="0"/>
                <a:cs typeface="Times New Roman" panose="02020603050405020304" pitchFamily="18" charset="0"/>
              </a:rPr>
              <a:t>//Sorts array </a:t>
            </a:r>
            <a:r>
              <a:rPr lang="en-US" sz="2000" b="1" i="1" dirty="0">
                <a:solidFill>
                  <a:srgbClr val="002060"/>
                </a:solidFill>
                <a:latin typeface="Times New Roman" panose="02020603050405020304" pitchFamily="18" charset="0"/>
                <a:cs typeface="Times New Roman" panose="02020603050405020304" pitchFamily="18" charset="0"/>
              </a:rPr>
              <a:t>A</a:t>
            </a:r>
            <a:r>
              <a:rPr lang="en-US" sz="2000" b="1" dirty="0">
                <a:solidFill>
                  <a:srgbClr val="002060"/>
                </a:solidFill>
                <a:latin typeface="Times New Roman" panose="02020603050405020304" pitchFamily="18" charset="0"/>
                <a:cs typeface="Times New Roman" panose="02020603050405020304" pitchFamily="18" charset="0"/>
              </a:rPr>
              <a:t>[0</a:t>
            </a:r>
            <a:r>
              <a:rPr lang="en-US" sz="2000" b="1" i="1" dirty="0">
                <a:solidFill>
                  <a:srgbClr val="002060"/>
                </a:solidFill>
                <a:latin typeface="Times New Roman" panose="02020603050405020304" pitchFamily="18" charset="0"/>
                <a:cs typeface="Times New Roman" panose="02020603050405020304" pitchFamily="18" charset="0"/>
              </a:rPr>
              <a:t>..n </a:t>
            </a:r>
            <a:r>
              <a:rPr lang="en-US" sz="2000" b="1" dirty="0">
                <a:solidFill>
                  <a:srgbClr val="002060"/>
                </a:solidFill>
                <a:latin typeface="Times New Roman" panose="02020603050405020304" pitchFamily="18" charset="0"/>
                <a:cs typeface="Times New Roman" panose="02020603050405020304" pitchFamily="18" charset="0"/>
              </a:rPr>
              <a:t>− 1] by recursive </a:t>
            </a:r>
            <a:r>
              <a:rPr lang="en-US" sz="2000" b="1" dirty="0" err="1">
                <a:solidFill>
                  <a:srgbClr val="002060"/>
                </a:solidFill>
                <a:latin typeface="Times New Roman" panose="02020603050405020304" pitchFamily="18" charset="0"/>
                <a:cs typeface="Times New Roman" panose="02020603050405020304" pitchFamily="18" charset="0"/>
              </a:rPr>
              <a:t>mergesort</a:t>
            </a:r>
            <a:endParaRPr lang="en-US" sz="2000" b="1" dirty="0">
              <a:solidFill>
                <a:srgbClr val="002060"/>
              </a:solidFill>
              <a:latin typeface="Times New Roman" panose="02020603050405020304" pitchFamily="18" charset="0"/>
              <a:cs typeface="Times New Roman" panose="02020603050405020304" pitchFamily="18" charset="0"/>
            </a:endParaRPr>
          </a:p>
          <a:p>
            <a:pPr algn="just"/>
            <a:r>
              <a:rPr lang="en-US" sz="2000" b="1" dirty="0">
                <a:solidFill>
                  <a:srgbClr val="002060"/>
                </a:solidFill>
                <a:latin typeface="Times New Roman" panose="02020603050405020304" pitchFamily="18" charset="0"/>
                <a:cs typeface="Times New Roman" panose="02020603050405020304" pitchFamily="18" charset="0"/>
              </a:rPr>
              <a:t>//Input: An array </a:t>
            </a:r>
            <a:r>
              <a:rPr lang="en-US" sz="2000" b="1" i="1" dirty="0">
                <a:solidFill>
                  <a:srgbClr val="002060"/>
                </a:solidFill>
                <a:latin typeface="Times New Roman" panose="02020603050405020304" pitchFamily="18" charset="0"/>
                <a:cs typeface="Times New Roman" panose="02020603050405020304" pitchFamily="18" charset="0"/>
              </a:rPr>
              <a:t>A</a:t>
            </a:r>
            <a:r>
              <a:rPr lang="en-US" sz="2000" b="1" dirty="0">
                <a:solidFill>
                  <a:srgbClr val="002060"/>
                </a:solidFill>
                <a:latin typeface="Times New Roman" panose="02020603050405020304" pitchFamily="18" charset="0"/>
                <a:cs typeface="Times New Roman" panose="02020603050405020304" pitchFamily="18" charset="0"/>
              </a:rPr>
              <a:t>[0</a:t>
            </a:r>
            <a:r>
              <a:rPr lang="en-US" sz="2000" b="1" i="1" dirty="0">
                <a:solidFill>
                  <a:srgbClr val="002060"/>
                </a:solidFill>
                <a:latin typeface="Times New Roman" panose="02020603050405020304" pitchFamily="18" charset="0"/>
                <a:cs typeface="Times New Roman" panose="02020603050405020304" pitchFamily="18" charset="0"/>
              </a:rPr>
              <a:t>..n </a:t>
            </a:r>
            <a:r>
              <a:rPr lang="en-US" sz="2000" b="1" dirty="0">
                <a:solidFill>
                  <a:srgbClr val="002060"/>
                </a:solidFill>
                <a:latin typeface="Times New Roman" panose="02020603050405020304" pitchFamily="18" charset="0"/>
                <a:cs typeface="Times New Roman" panose="02020603050405020304" pitchFamily="18" charset="0"/>
              </a:rPr>
              <a:t>− 1] of orderable elements</a:t>
            </a:r>
          </a:p>
          <a:p>
            <a:pPr algn="just"/>
            <a:r>
              <a:rPr lang="en-US" sz="2000" b="1" dirty="0">
                <a:solidFill>
                  <a:srgbClr val="002060"/>
                </a:solidFill>
                <a:latin typeface="Times New Roman" panose="02020603050405020304" pitchFamily="18" charset="0"/>
                <a:cs typeface="Times New Roman" panose="02020603050405020304" pitchFamily="18" charset="0"/>
              </a:rPr>
              <a:t>//Output: Array </a:t>
            </a:r>
            <a:r>
              <a:rPr lang="en-US" sz="2000" b="1" i="1" dirty="0">
                <a:solidFill>
                  <a:srgbClr val="002060"/>
                </a:solidFill>
                <a:latin typeface="Times New Roman" panose="02020603050405020304" pitchFamily="18" charset="0"/>
                <a:cs typeface="Times New Roman" panose="02020603050405020304" pitchFamily="18" charset="0"/>
              </a:rPr>
              <a:t>A</a:t>
            </a:r>
            <a:r>
              <a:rPr lang="en-US" sz="2000" b="1" dirty="0">
                <a:solidFill>
                  <a:srgbClr val="002060"/>
                </a:solidFill>
                <a:latin typeface="Times New Roman" panose="02020603050405020304" pitchFamily="18" charset="0"/>
                <a:cs typeface="Times New Roman" panose="02020603050405020304" pitchFamily="18" charset="0"/>
              </a:rPr>
              <a:t>[0</a:t>
            </a:r>
            <a:r>
              <a:rPr lang="en-US" sz="2000" b="1" i="1" dirty="0">
                <a:solidFill>
                  <a:srgbClr val="002060"/>
                </a:solidFill>
                <a:latin typeface="Times New Roman" panose="02020603050405020304" pitchFamily="18" charset="0"/>
                <a:cs typeface="Times New Roman" panose="02020603050405020304" pitchFamily="18" charset="0"/>
              </a:rPr>
              <a:t>..n </a:t>
            </a:r>
            <a:r>
              <a:rPr lang="en-US" sz="2000" b="1" dirty="0">
                <a:solidFill>
                  <a:srgbClr val="002060"/>
                </a:solidFill>
                <a:latin typeface="Times New Roman" panose="02020603050405020304" pitchFamily="18" charset="0"/>
                <a:cs typeface="Times New Roman" panose="02020603050405020304" pitchFamily="18" charset="0"/>
              </a:rPr>
              <a:t>− 1] sorted in </a:t>
            </a:r>
            <a:r>
              <a:rPr lang="en-US" sz="2000" b="1" dirty="0" err="1">
                <a:solidFill>
                  <a:srgbClr val="002060"/>
                </a:solidFill>
                <a:latin typeface="Times New Roman" panose="02020603050405020304" pitchFamily="18" charset="0"/>
                <a:cs typeface="Times New Roman" panose="02020603050405020304" pitchFamily="18" charset="0"/>
              </a:rPr>
              <a:t>nondecreasing</a:t>
            </a:r>
            <a:r>
              <a:rPr lang="en-US" sz="2000" b="1" dirty="0">
                <a:solidFill>
                  <a:srgbClr val="002060"/>
                </a:solidFill>
                <a:latin typeface="Times New Roman" panose="02020603050405020304" pitchFamily="18" charset="0"/>
                <a:cs typeface="Times New Roman" panose="02020603050405020304" pitchFamily="18" charset="0"/>
              </a:rPr>
              <a:t> order</a:t>
            </a:r>
          </a:p>
          <a:p>
            <a:pPr algn="just"/>
            <a:r>
              <a:rPr lang="en-IN" sz="2000" b="1" dirty="0">
                <a:solidFill>
                  <a:srgbClr val="002060"/>
                </a:solidFill>
                <a:latin typeface="Times New Roman" panose="02020603050405020304" pitchFamily="18" charset="0"/>
                <a:cs typeface="Times New Roman" panose="02020603050405020304" pitchFamily="18" charset="0"/>
              </a:rPr>
              <a:t>if </a:t>
            </a:r>
            <a:r>
              <a:rPr lang="en-IN" sz="2000" b="1" i="1" dirty="0">
                <a:solidFill>
                  <a:srgbClr val="002060"/>
                </a:solidFill>
                <a:latin typeface="Times New Roman" panose="02020603050405020304" pitchFamily="18" charset="0"/>
                <a:cs typeface="Times New Roman" panose="02020603050405020304" pitchFamily="18" charset="0"/>
              </a:rPr>
              <a:t>n &gt; </a:t>
            </a:r>
            <a:r>
              <a:rPr lang="en-IN" sz="2000" b="1" dirty="0">
                <a:solidFill>
                  <a:srgbClr val="002060"/>
                </a:solidFill>
                <a:latin typeface="Times New Roman" panose="02020603050405020304" pitchFamily="18" charset="0"/>
                <a:cs typeface="Times New Roman" panose="02020603050405020304" pitchFamily="18" charset="0"/>
              </a:rPr>
              <a:t>1</a:t>
            </a:r>
          </a:p>
          <a:p>
            <a:pPr algn="just"/>
            <a:r>
              <a:rPr lang="pt-BR" sz="2000" b="1" dirty="0" smtClean="0">
                <a:solidFill>
                  <a:srgbClr val="002060"/>
                </a:solidFill>
                <a:latin typeface="Times New Roman" panose="02020603050405020304" pitchFamily="18" charset="0"/>
                <a:cs typeface="Times New Roman" panose="02020603050405020304" pitchFamily="18" charset="0"/>
              </a:rPr>
              <a:t>      copy </a:t>
            </a:r>
            <a:r>
              <a:rPr lang="pt-BR" sz="2000" b="1" i="1" dirty="0">
                <a:solidFill>
                  <a:srgbClr val="002060"/>
                </a:solidFill>
                <a:latin typeface="Times New Roman" panose="02020603050405020304" pitchFamily="18" charset="0"/>
                <a:cs typeface="Times New Roman" panose="02020603050405020304" pitchFamily="18" charset="0"/>
              </a:rPr>
              <a:t>A</a:t>
            </a:r>
            <a:r>
              <a:rPr lang="pt-BR" sz="2000" b="1" dirty="0">
                <a:solidFill>
                  <a:srgbClr val="002060"/>
                </a:solidFill>
                <a:latin typeface="Times New Roman" panose="02020603050405020304" pitchFamily="18" charset="0"/>
                <a:cs typeface="Times New Roman" panose="02020603050405020304" pitchFamily="18" charset="0"/>
              </a:rPr>
              <a:t>[0</a:t>
            </a:r>
            <a:r>
              <a:rPr lang="pt-BR" sz="2000" b="1" i="1" dirty="0">
                <a:solidFill>
                  <a:srgbClr val="002060"/>
                </a:solidFill>
                <a:latin typeface="Times New Roman" panose="02020603050405020304" pitchFamily="18" charset="0"/>
                <a:cs typeface="Times New Roman" panose="02020603050405020304" pitchFamily="18" charset="0"/>
              </a:rPr>
              <a:t>..n/</a:t>
            </a:r>
            <a:r>
              <a:rPr lang="pt-BR" sz="2000" b="1" dirty="0">
                <a:solidFill>
                  <a:srgbClr val="002060"/>
                </a:solidFill>
                <a:latin typeface="Times New Roman" panose="02020603050405020304" pitchFamily="18" charset="0"/>
                <a:cs typeface="Times New Roman" panose="02020603050405020304" pitchFamily="18" charset="0"/>
              </a:rPr>
              <a:t>2 − 1] to </a:t>
            </a:r>
            <a:r>
              <a:rPr lang="pt-BR" sz="2000" b="1" i="1" dirty="0">
                <a:solidFill>
                  <a:srgbClr val="002060"/>
                </a:solidFill>
                <a:latin typeface="Times New Roman" panose="02020603050405020304" pitchFamily="18" charset="0"/>
                <a:cs typeface="Times New Roman" panose="02020603050405020304" pitchFamily="18" charset="0"/>
              </a:rPr>
              <a:t>B</a:t>
            </a:r>
            <a:r>
              <a:rPr lang="pt-BR" sz="2000" b="1" dirty="0">
                <a:solidFill>
                  <a:srgbClr val="002060"/>
                </a:solidFill>
                <a:latin typeface="Times New Roman" panose="02020603050405020304" pitchFamily="18" charset="0"/>
                <a:cs typeface="Times New Roman" panose="02020603050405020304" pitchFamily="18" charset="0"/>
              </a:rPr>
              <a:t>[0</a:t>
            </a:r>
            <a:r>
              <a:rPr lang="pt-BR" sz="2000" b="1" i="1" dirty="0">
                <a:solidFill>
                  <a:srgbClr val="002060"/>
                </a:solidFill>
                <a:latin typeface="Times New Roman" panose="02020603050405020304" pitchFamily="18" charset="0"/>
                <a:cs typeface="Times New Roman" panose="02020603050405020304" pitchFamily="18" charset="0"/>
              </a:rPr>
              <a:t>..n/</a:t>
            </a:r>
            <a:r>
              <a:rPr lang="pt-BR" sz="2000" b="1" dirty="0">
                <a:solidFill>
                  <a:srgbClr val="002060"/>
                </a:solidFill>
                <a:latin typeface="Times New Roman" panose="02020603050405020304" pitchFamily="18" charset="0"/>
                <a:cs typeface="Times New Roman" panose="02020603050405020304" pitchFamily="18" charset="0"/>
              </a:rPr>
              <a:t>2 − 1]</a:t>
            </a:r>
          </a:p>
          <a:p>
            <a:pPr algn="just"/>
            <a:r>
              <a:rPr lang="pt-BR" sz="2000" b="1" dirty="0" smtClean="0">
                <a:solidFill>
                  <a:srgbClr val="002060"/>
                </a:solidFill>
                <a:latin typeface="Times New Roman" panose="02020603050405020304" pitchFamily="18" charset="0"/>
                <a:cs typeface="Times New Roman" panose="02020603050405020304" pitchFamily="18" charset="0"/>
              </a:rPr>
              <a:t>      copy </a:t>
            </a:r>
            <a:r>
              <a:rPr lang="pt-BR" sz="2000" b="1" i="1" dirty="0">
                <a:solidFill>
                  <a:srgbClr val="002060"/>
                </a:solidFill>
                <a:latin typeface="Times New Roman" panose="02020603050405020304" pitchFamily="18" charset="0"/>
                <a:cs typeface="Times New Roman" panose="02020603050405020304" pitchFamily="18" charset="0"/>
              </a:rPr>
              <a:t>A</a:t>
            </a:r>
            <a:r>
              <a:rPr lang="pt-BR" sz="2000" b="1" dirty="0">
                <a:solidFill>
                  <a:srgbClr val="002060"/>
                </a:solidFill>
                <a:latin typeface="Times New Roman" panose="02020603050405020304" pitchFamily="18" charset="0"/>
                <a:cs typeface="Times New Roman" panose="02020603050405020304" pitchFamily="18" charset="0"/>
              </a:rPr>
              <a:t>[</a:t>
            </a:r>
            <a:r>
              <a:rPr lang="pt-BR" sz="2000" b="1" i="1" dirty="0">
                <a:solidFill>
                  <a:srgbClr val="002060"/>
                </a:solidFill>
                <a:latin typeface="Times New Roman" panose="02020603050405020304" pitchFamily="18" charset="0"/>
                <a:cs typeface="Times New Roman" panose="02020603050405020304" pitchFamily="18" charset="0"/>
              </a:rPr>
              <a:t>n/</a:t>
            </a:r>
            <a:r>
              <a:rPr lang="pt-BR" sz="2000" b="1" dirty="0">
                <a:solidFill>
                  <a:srgbClr val="002060"/>
                </a:solidFill>
                <a:latin typeface="Times New Roman" panose="02020603050405020304" pitchFamily="18" charset="0"/>
                <a:cs typeface="Times New Roman" panose="02020603050405020304" pitchFamily="18" charset="0"/>
              </a:rPr>
              <a:t>2</a:t>
            </a:r>
            <a:r>
              <a:rPr lang="pt-BR" sz="2000" b="1" i="1" dirty="0">
                <a:solidFill>
                  <a:srgbClr val="002060"/>
                </a:solidFill>
                <a:latin typeface="Times New Roman" panose="02020603050405020304" pitchFamily="18" charset="0"/>
                <a:cs typeface="Times New Roman" panose="02020603050405020304" pitchFamily="18" charset="0"/>
              </a:rPr>
              <a:t>..n </a:t>
            </a:r>
            <a:r>
              <a:rPr lang="pt-BR" sz="2000" b="1" dirty="0">
                <a:solidFill>
                  <a:srgbClr val="002060"/>
                </a:solidFill>
                <a:latin typeface="Times New Roman" panose="02020603050405020304" pitchFamily="18" charset="0"/>
                <a:cs typeface="Times New Roman" panose="02020603050405020304" pitchFamily="18" charset="0"/>
              </a:rPr>
              <a:t>− 1] to </a:t>
            </a:r>
            <a:r>
              <a:rPr lang="pt-BR" sz="2000" b="1" i="1" dirty="0">
                <a:solidFill>
                  <a:srgbClr val="002060"/>
                </a:solidFill>
                <a:latin typeface="Times New Roman" panose="02020603050405020304" pitchFamily="18" charset="0"/>
                <a:cs typeface="Times New Roman" panose="02020603050405020304" pitchFamily="18" charset="0"/>
              </a:rPr>
              <a:t>C</a:t>
            </a:r>
            <a:r>
              <a:rPr lang="pt-BR" sz="2000" b="1" dirty="0">
                <a:solidFill>
                  <a:srgbClr val="002060"/>
                </a:solidFill>
                <a:latin typeface="Times New Roman" panose="02020603050405020304" pitchFamily="18" charset="0"/>
                <a:cs typeface="Times New Roman" panose="02020603050405020304" pitchFamily="18" charset="0"/>
              </a:rPr>
              <a:t>[0</a:t>
            </a:r>
            <a:r>
              <a:rPr lang="pt-BR" sz="2000" b="1" i="1" dirty="0">
                <a:solidFill>
                  <a:srgbClr val="002060"/>
                </a:solidFill>
                <a:latin typeface="Times New Roman" panose="02020603050405020304" pitchFamily="18" charset="0"/>
                <a:cs typeface="Times New Roman" panose="02020603050405020304" pitchFamily="18" charset="0"/>
              </a:rPr>
              <a:t>..n/</a:t>
            </a:r>
            <a:r>
              <a:rPr lang="pt-BR" sz="2000" b="1" dirty="0">
                <a:solidFill>
                  <a:srgbClr val="002060"/>
                </a:solidFill>
                <a:latin typeface="Times New Roman" panose="02020603050405020304" pitchFamily="18" charset="0"/>
                <a:cs typeface="Times New Roman" panose="02020603050405020304" pitchFamily="18" charset="0"/>
              </a:rPr>
              <a:t>2 − 1]</a:t>
            </a:r>
          </a:p>
          <a:p>
            <a:pPr algn="just"/>
            <a:r>
              <a:rPr lang="en-IN" sz="2000" b="1" i="1" dirty="0" smtClean="0">
                <a:solidFill>
                  <a:srgbClr val="002060"/>
                </a:solidFill>
                <a:latin typeface="Times New Roman" panose="02020603050405020304" pitchFamily="18" charset="0"/>
                <a:cs typeface="Times New Roman" panose="02020603050405020304" pitchFamily="18" charset="0"/>
              </a:rPr>
              <a:t>      </a:t>
            </a:r>
            <a:r>
              <a:rPr lang="en-IN" sz="2000" b="1" i="1" dirty="0" err="1" smtClean="0">
                <a:solidFill>
                  <a:srgbClr val="002060"/>
                </a:solidFill>
                <a:latin typeface="Times New Roman" panose="02020603050405020304" pitchFamily="18" charset="0"/>
                <a:cs typeface="Times New Roman" panose="02020603050405020304" pitchFamily="18" charset="0"/>
              </a:rPr>
              <a:t>Mergesort</a:t>
            </a:r>
            <a:r>
              <a:rPr lang="en-IN" sz="2000" b="1" i="1" dirty="0" smtClean="0">
                <a:solidFill>
                  <a:srgbClr val="002060"/>
                </a:solidFill>
                <a:latin typeface="Times New Roman" panose="02020603050405020304" pitchFamily="18" charset="0"/>
                <a:cs typeface="Times New Roman" panose="02020603050405020304" pitchFamily="18" charset="0"/>
              </a:rPr>
              <a:t>(B</a:t>
            </a:r>
            <a:r>
              <a:rPr lang="en-IN" sz="2000" b="1" dirty="0" smtClean="0">
                <a:solidFill>
                  <a:srgbClr val="002060"/>
                </a:solidFill>
                <a:latin typeface="Times New Roman" panose="02020603050405020304" pitchFamily="18" charset="0"/>
                <a:cs typeface="Times New Roman" panose="02020603050405020304" pitchFamily="18" charset="0"/>
              </a:rPr>
              <a:t>[0</a:t>
            </a:r>
            <a:r>
              <a:rPr lang="en-IN" sz="2000" b="1" i="1" dirty="0">
                <a:solidFill>
                  <a:srgbClr val="002060"/>
                </a:solidFill>
                <a:latin typeface="Times New Roman" panose="02020603050405020304" pitchFamily="18" charset="0"/>
                <a:cs typeface="Times New Roman" panose="02020603050405020304" pitchFamily="18" charset="0"/>
              </a:rPr>
              <a:t>..n/</a:t>
            </a:r>
            <a:r>
              <a:rPr lang="en-IN" sz="2000" b="1" dirty="0">
                <a:solidFill>
                  <a:srgbClr val="002060"/>
                </a:solidFill>
                <a:latin typeface="Times New Roman" panose="02020603050405020304" pitchFamily="18" charset="0"/>
                <a:cs typeface="Times New Roman" panose="02020603050405020304" pitchFamily="18" charset="0"/>
              </a:rPr>
              <a:t>2 − 1]</a:t>
            </a:r>
            <a:r>
              <a:rPr lang="en-IN" sz="2000" b="1" i="1" dirty="0">
                <a:solidFill>
                  <a:srgbClr val="002060"/>
                </a:solidFill>
                <a:latin typeface="Times New Roman" panose="02020603050405020304" pitchFamily="18" charset="0"/>
                <a:cs typeface="Times New Roman" panose="02020603050405020304" pitchFamily="18" charset="0"/>
              </a:rPr>
              <a:t>)</a:t>
            </a:r>
          </a:p>
          <a:p>
            <a:pPr algn="just"/>
            <a:r>
              <a:rPr lang="en-IN" sz="2000" b="1" i="1" dirty="0" smtClean="0">
                <a:solidFill>
                  <a:srgbClr val="002060"/>
                </a:solidFill>
                <a:latin typeface="Times New Roman" panose="02020603050405020304" pitchFamily="18" charset="0"/>
                <a:cs typeface="Times New Roman" panose="02020603050405020304" pitchFamily="18" charset="0"/>
              </a:rPr>
              <a:t>     </a:t>
            </a:r>
            <a:r>
              <a:rPr lang="en-IN" sz="2000" b="1" i="1" dirty="0" err="1" smtClean="0">
                <a:solidFill>
                  <a:srgbClr val="002060"/>
                </a:solidFill>
                <a:latin typeface="Times New Roman" panose="02020603050405020304" pitchFamily="18" charset="0"/>
                <a:cs typeface="Times New Roman" panose="02020603050405020304" pitchFamily="18" charset="0"/>
              </a:rPr>
              <a:t>Mergesort</a:t>
            </a:r>
            <a:r>
              <a:rPr lang="en-IN" sz="2000" b="1" i="1" dirty="0" smtClean="0">
                <a:solidFill>
                  <a:srgbClr val="002060"/>
                </a:solidFill>
                <a:latin typeface="Times New Roman" panose="02020603050405020304" pitchFamily="18" charset="0"/>
                <a:cs typeface="Times New Roman" panose="02020603050405020304" pitchFamily="18" charset="0"/>
              </a:rPr>
              <a:t>(C</a:t>
            </a:r>
            <a:r>
              <a:rPr lang="en-IN" sz="2000" b="1" dirty="0" smtClean="0">
                <a:solidFill>
                  <a:srgbClr val="002060"/>
                </a:solidFill>
                <a:latin typeface="Times New Roman" panose="02020603050405020304" pitchFamily="18" charset="0"/>
                <a:cs typeface="Times New Roman" panose="02020603050405020304" pitchFamily="18" charset="0"/>
              </a:rPr>
              <a:t>[0</a:t>
            </a:r>
            <a:r>
              <a:rPr lang="en-IN" sz="2000" b="1" i="1" dirty="0">
                <a:solidFill>
                  <a:srgbClr val="002060"/>
                </a:solidFill>
                <a:latin typeface="Times New Roman" panose="02020603050405020304" pitchFamily="18" charset="0"/>
                <a:cs typeface="Times New Roman" panose="02020603050405020304" pitchFamily="18" charset="0"/>
              </a:rPr>
              <a:t>..n/</a:t>
            </a:r>
            <a:r>
              <a:rPr lang="en-IN" sz="2000" b="1" dirty="0">
                <a:solidFill>
                  <a:srgbClr val="002060"/>
                </a:solidFill>
                <a:latin typeface="Times New Roman" panose="02020603050405020304" pitchFamily="18" charset="0"/>
                <a:cs typeface="Times New Roman" panose="02020603050405020304" pitchFamily="18" charset="0"/>
              </a:rPr>
              <a:t>2 − 1</a:t>
            </a:r>
            <a:r>
              <a:rPr lang="en-IN" sz="2000" b="1" dirty="0" smtClean="0">
                <a:solidFill>
                  <a:srgbClr val="002060"/>
                </a:solidFill>
                <a:latin typeface="Times New Roman" panose="02020603050405020304" pitchFamily="18" charset="0"/>
                <a:cs typeface="Times New Roman" panose="02020603050405020304" pitchFamily="18" charset="0"/>
              </a:rPr>
              <a:t>]</a:t>
            </a:r>
            <a:r>
              <a:rPr lang="en-IN" sz="2000" b="1" i="1" dirty="0" smtClean="0">
                <a:solidFill>
                  <a:srgbClr val="002060"/>
                </a:solidFill>
                <a:latin typeface="Times New Roman" panose="02020603050405020304" pitchFamily="18" charset="0"/>
                <a:cs typeface="Times New Roman" panose="02020603050405020304" pitchFamily="18" charset="0"/>
              </a:rPr>
              <a:t>)</a:t>
            </a:r>
          </a:p>
          <a:p>
            <a:pPr algn="just"/>
            <a:r>
              <a:rPr lang="en-IN" sz="2000" b="1" i="1" dirty="0">
                <a:solidFill>
                  <a:srgbClr val="002060"/>
                </a:solidFill>
                <a:latin typeface="Times New Roman" panose="02020603050405020304" pitchFamily="18" charset="0"/>
                <a:cs typeface="Times New Roman" panose="02020603050405020304" pitchFamily="18" charset="0"/>
              </a:rPr>
              <a:t> </a:t>
            </a:r>
            <a:r>
              <a:rPr lang="en-IN" sz="2000" b="1" i="1" dirty="0" smtClean="0">
                <a:solidFill>
                  <a:srgbClr val="002060"/>
                </a:solidFill>
                <a:latin typeface="Times New Roman" panose="02020603050405020304" pitchFamily="18" charset="0"/>
                <a:cs typeface="Times New Roman" panose="02020603050405020304" pitchFamily="18" charset="0"/>
              </a:rPr>
              <a:t>     Merge(B, C, A) </a:t>
            </a:r>
            <a:endParaRPr lang="en-IN" sz="2000" b="1" i="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47</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6642847" y="772659"/>
            <a:ext cx="5549153" cy="5878532"/>
          </a:xfrm>
          <a:prstGeom prst="rect">
            <a:avLst/>
          </a:prstGeom>
          <a:noFill/>
        </p:spPr>
        <p:txBody>
          <a:bodyPr wrap="square" rtlCol="0">
            <a:spAutoFit/>
          </a:bodyPr>
          <a:lstStyle/>
          <a:p>
            <a:r>
              <a:rPr lang="en-IN" b="1" dirty="0">
                <a:solidFill>
                  <a:srgbClr val="C00000"/>
                </a:solidFill>
                <a:latin typeface="Times New Roman" panose="02020603050405020304" pitchFamily="18" charset="0"/>
                <a:cs typeface="Times New Roman" panose="02020603050405020304" pitchFamily="18" charset="0"/>
              </a:rPr>
              <a:t>ALGORITHM </a:t>
            </a:r>
          </a:p>
          <a:p>
            <a:r>
              <a:rPr lang="en-IN" sz="2000" b="1" i="1" dirty="0" smtClean="0">
                <a:solidFill>
                  <a:srgbClr val="C00000"/>
                </a:solidFill>
                <a:latin typeface="Times New Roman" panose="02020603050405020304" pitchFamily="18" charset="0"/>
                <a:cs typeface="Times New Roman" panose="02020603050405020304" pitchFamily="18" charset="0"/>
              </a:rPr>
              <a:t>Merge (</a:t>
            </a:r>
            <a:r>
              <a:rPr lang="en-IN" sz="2000" b="1" i="1" dirty="0">
                <a:solidFill>
                  <a:srgbClr val="C00000"/>
                </a:solidFill>
                <a:latin typeface="Times New Roman" panose="02020603050405020304" pitchFamily="18" charset="0"/>
                <a:cs typeface="Times New Roman" panose="02020603050405020304" pitchFamily="18" charset="0"/>
              </a:rPr>
              <a:t>B[0..p − 1], C[0..q − 1], A[0..p + q − 1])</a:t>
            </a:r>
          </a:p>
          <a:p>
            <a:r>
              <a:rPr lang="en-US" sz="2000" b="1" dirty="0">
                <a:solidFill>
                  <a:srgbClr val="002060"/>
                </a:solidFill>
                <a:latin typeface="Times New Roman" panose="02020603050405020304" pitchFamily="18" charset="0"/>
                <a:cs typeface="Times New Roman" panose="02020603050405020304" pitchFamily="18" charset="0"/>
              </a:rPr>
              <a:t>//Merges two sorted arrays into one sorted array</a:t>
            </a:r>
          </a:p>
          <a:p>
            <a:r>
              <a:rPr lang="en-US" sz="2000" b="1" dirty="0">
                <a:solidFill>
                  <a:srgbClr val="002060"/>
                </a:solidFill>
                <a:latin typeface="Times New Roman" panose="02020603050405020304" pitchFamily="18" charset="0"/>
                <a:cs typeface="Times New Roman" panose="02020603050405020304" pitchFamily="18" charset="0"/>
              </a:rPr>
              <a:t>//Input: Arrays B[0..p − 1] and C[0..q − 1] both sorted</a:t>
            </a:r>
          </a:p>
          <a:p>
            <a:r>
              <a:rPr lang="en-US" sz="2000" b="1" dirty="0">
                <a:solidFill>
                  <a:srgbClr val="002060"/>
                </a:solidFill>
                <a:latin typeface="Times New Roman" panose="02020603050405020304" pitchFamily="18" charset="0"/>
                <a:cs typeface="Times New Roman" panose="02020603050405020304" pitchFamily="18" charset="0"/>
              </a:rPr>
              <a:t>//Output: Sorted array A[0..p + q − 1] of the elements of B and C</a:t>
            </a:r>
          </a:p>
          <a:p>
            <a:r>
              <a:rPr lang="en-IN" sz="2000" b="1" dirty="0" err="1">
                <a:solidFill>
                  <a:srgbClr val="002060"/>
                </a:solidFill>
                <a:latin typeface="Times New Roman" panose="02020603050405020304" pitchFamily="18" charset="0"/>
                <a:cs typeface="Times New Roman" panose="02020603050405020304" pitchFamily="18" charset="0"/>
              </a:rPr>
              <a:t>i</a:t>
            </a:r>
            <a:r>
              <a:rPr lang="en-IN" sz="2000" b="1" dirty="0">
                <a:solidFill>
                  <a:srgbClr val="002060"/>
                </a:solidFill>
                <a:latin typeface="Times New Roman" panose="02020603050405020304" pitchFamily="18" charset="0"/>
                <a:cs typeface="Times New Roman" panose="02020603050405020304" pitchFamily="18" charset="0"/>
              </a:rPr>
              <a:t> ←0; j ←0; k←0</a:t>
            </a:r>
          </a:p>
          <a:p>
            <a:r>
              <a:rPr lang="en-US" sz="2000" b="1" dirty="0">
                <a:solidFill>
                  <a:srgbClr val="002060"/>
                </a:solidFill>
                <a:latin typeface="Times New Roman" panose="02020603050405020304" pitchFamily="18" charset="0"/>
                <a:cs typeface="Times New Roman" panose="02020603050405020304" pitchFamily="18" charset="0"/>
              </a:rPr>
              <a:t>while </a:t>
            </a:r>
            <a:r>
              <a:rPr lang="en-US" sz="2000" b="1" dirty="0" err="1">
                <a:solidFill>
                  <a:srgbClr val="002060"/>
                </a:solidFill>
                <a:latin typeface="Times New Roman" panose="02020603050405020304" pitchFamily="18" charset="0"/>
                <a:cs typeface="Times New Roman" panose="02020603050405020304" pitchFamily="18" charset="0"/>
              </a:rPr>
              <a:t>i</a:t>
            </a:r>
            <a:r>
              <a:rPr lang="en-US" sz="2000" b="1" dirty="0">
                <a:solidFill>
                  <a:srgbClr val="002060"/>
                </a:solidFill>
                <a:latin typeface="Times New Roman" panose="02020603050405020304" pitchFamily="18" charset="0"/>
                <a:cs typeface="Times New Roman" panose="02020603050405020304" pitchFamily="18" charset="0"/>
              </a:rPr>
              <a:t> &lt;p and j &lt;q do</a:t>
            </a:r>
          </a:p>
          <a:p>
            <a:r>
              <a:rPr lang="en-IN" sz="2000" b="1" dirty="0" smtClean="0">
                <a:solidFill>
                  <a:srgbClr val="002060"/>
                </a:solidFill>
                <a:latin typeface="Times New Roman" panose="02020603050405020304" pitchFamily="18" charset="0"/>
                <a:cs typeface="Times New Roman" panose="02020603050405020304" pitchFamily="18" charset="0"/>
              </a:rPr>
              <a:t>      if </a:t>
            </a:r>
            <a:r>
              <a:rPr lang="en-IN" sz="2000" b="1" dirty="0">
                <a:solidFill>
                  <a:srgbClr val="002060"/>
                </a:solidFill>
                <a:latin typeface="Times New Roman" panose="02020603050405020304" pitchFamily="18" charset="0"/>
                <a:cs typeface="Times New Roman" panose="02020603050405020304" pitchFamily="18" charset="0"/>
              </a:rPr>
              <a:t>B[</a:t>
            </a:r>
            <a:r>
              <a:rPr lang="en-IN" sz="2000" b="1" dirty="0" err="1">
                <a:solidFill>
                  <a:srgbClr val="002060"/>
                </a:solidFill>
                <a:latin typeface="Times New Roman" panose="02020603050405020304" pitchFamily="18" charset="0"/>
                <a:cs typeface="Times New Roman" panose="02020603050405020304" pitchFamily="18" charset="0"/>
              </a:rPr>
              <a:t>i</a:t>
            </a:r>
            <a:r>
              <a:rPr lang="en-IN" sz="2000" b="1" dirty="0">
                <a:solidFill>
                  <a:srgbClr val="002060"/>
                </a:solidFill>
                <a:latin typeface="Times New Roman" panose="02020603050405020304" pitchFamily="18" charset="0"/>
                <a:cs typeface="Times New Roman" panose="02020603050405020304" pitchFamily="18" charset="0"/>
              </a:rPr>
              <a:t>]≤ C[j ]</a:t>
            </a:r>
          </a:p>
          <a:p>
            <a:r>
              <a:rPr lang="en-IN" sz="2000" b="1" dirty="0" smtClean="0">
                <a:solidFill>
                  <a:srgbClr val="002060"/>
                </a:solidFill>
                <a:latin typeface="Times New Roman" panose="02020603050405020304" pitchFamily="18" charset="0"/>
                <a:cs typeface="Times New Roman" panose="02020603050405020304" pitchFamily="18" charset="0"/>
              </a:rPr>
              <a:t>              </a:t>
            </a:r>
            <a:r>
              <a:rPr lang="pl-PL" sz="2000" b="1" dirty="0" smtClean="0">
                <a:solidFill>
                  <a:srgbClr val="002060"/>
                </a:solidFill>
                <a:latin typeface="Times New Roman" panose="02020603050405020304" pitchFamily="18" charset="0"/>
                <a:cs typeface="Times New Roman" panose="02020603050405020304" pitchFamily="18" charset="0"/>
              </a:rPr>
              <a:t>A[k</a:t>
            </a:r>
            <a:r>
              <a:rPr lang="pl-PL" sz="2000" b="1" dirty="0">
                <a:solidFill>
                  <a:srgbClr val="002060"/>
                </a:solidFill>
                <a:latin typeface="Times New Roman" panose="02020603050405020304" pitchFamily="18" charset="0"/>
                <a:cs typeface="Times New Roman" panose="02020603050405020304" pitchFamily="18" charset="0"/>
              </a:rPr>
              <a:t>]←B[i]; i ←i + 1</a:t>
            </a:r>
          </a:p>
          <a:p>
            <a:r>
              <a:rPr lang="en-US" sz="2000" b="1" dirty="0" smtClean="0">
                <a:solidFill>
                  <a:srgbClr val="002060"/>
                </a:solidFill>
                <a:latin typeface="Times New Roman" panose="02020603050405020304" pitchFamily="18" charset="0"/>
                <a:cs typeface="Times New Roman" panose="02020603050405020304" pitchFamily="18" charset="0"/>
              </a:rPr>
              <a:t>     else </a:t>
            </a:r>
          </a:p>
          <a:p>
            <a:r>
              <a:rPr lang="en-US" sz="2000" b="1" dirty="0">
                <a:solidFill>
                  <a:srgbClr val="002060"/>
                </a:solidFill>
                <a:latin typeface="Times New Roman" panose="02020603050405020304" pitchFamily="18" charset="0"/>
                <a:cs typeface="Times New Roman" panose="02020603050405020304" pitchFamily="18" charset="0"/>
              </a:rPr>
              <a:t> </a:t>
            </a:r>
            <a:r>
              <a:rPr lang="en-US" sz="2000" b="1" dirty="0" smtClean="0">
                <a:solidFill>
                  <a:srgbClr val="002060"/>
                </a:solidFill>
                <a:latin typeface="Times New Roman" panose="02020603050405020304" pitchFamily="18" charset="0"/>
                <a:cs typeface="Times New Roman" panose="02020603050405020304" pitchFamily="18" charset="0"/>
              </a:rPr>
              <a:t>             A[k</a:t>
            </a:r>
            <a:r>
              <a:rPr lang="en-US" sz="2000" b="1" dirty="0">
                <a:solidFill>
                  <a:srgbClr val="002060"/>
                </a:solidFill>
                <a:latin typeface="Times New Roman" panose="02020603050405020304" pitchFamily="18" charset="0"/>
                <a:cs typeface="Times New Roman" panose="02020603050405020304" pitchFamily="18" charset="0"/>
              </a:rPr>
              <a:t>]←C[j ]; j ←j + 1</a:t>
            </a:r>
          </a:p>
          <a:p>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err="1" smtClean="0">
                <a:solidFill>
                  <a:srgbClr val="002060"/>
                </a:solidFill>
                <a:latin typeface="Times New Roman" panose="02020603050405020304" pitchFamily="18" charset="0"/>
                <a:cs typeface="Times New Roman" panose="02020603050405020304" pitchFamily="18" charset="0"/>
              </a:rPr>
              <a:t>k</a:t>
            </a:r>
            <a:r>
              <a:rPr lang="en-IN" sz="2000" b="1" dirty="0" err="1">
                <a:solidFill>
                  <a:srgbClr val="002060"/>
                </a:solidFill>
                <a:latin typeface="Times New Roman" panose="02020603050405020304" pitchFamily="18" charset="0"/>
                <a:cs typeface="Times New Roman" panose="02020603050405020304" pitchFamily="18" charset="0"/>
              </a:rPr>
              <a:t>←k</a:t>
            </a:r>
            <a:r>
              <a:rPr lang="en-IN" sz="2000" b="1" dirty="0">
                <a:solidFill>
                  <a:srgbClr val="002060"/>
                </a:solidFill>
                <a:latin typeface="Times New Roman" panose="02020603050405020304" pitchFamily="18" charset="0"/>
                <a:cs typeface="Times New Roman" panose="02020603050405020304" pitchFamily="18" charset="0"/>
              </a:rPr>
              <a:t> + 1</a:t>
            </a:r>
          </a:p>
          <a:p>
            <a:r>
              <a:rPr lang="en-IN" sz="2000" b="1" dirty="0" smtClean="0">
                <a:solidFill>
                  <a:srgbClr val="002060"/>
                </a:solidFill>
                <a:latin typeface="Times New Roman" panose="02020603050405020304" pitchFamily="18" charset="0"/>
                <a:cs typeface="Times New Roman" panose="02020603050405020304" pitchFamily="18" charset="0"/>
              </a:rPr>
              <a:t>     if </a:t>
            </a:r>
            <a:r>
              <a:rPr lang="en-IN" sz="2000" b="1" dirty="0" err="1">
                <a:solidFill>
                  <a:srgbClr val="002060"/>
                </a:solidFill>
                <a:latin typeface="Times New Roman" panose="02020603050405020304" pitchFamily="18" charset="0"/>
                <a:cs typeface="Times New Roman" panose="02020603050405020304" pitchFamily="18" charset="0"/>
              </a:rPr>
              <a:t>i</a:t>
            </a:r>
            <a:r>
              <a:rPr lang="en-IN" sz="2000" b="1" dirty="0">
                <a:solidFill>
                  <a:srgbClr val="002060"/>
                </a:solidFill>
                <a:latin typeface="Times New Roman" panose="02020603050405020304" pitchFamily="18" charset="0"/>
                <a:cs typeface="Times New Roman" panose="02020603050405020304" pitchFamily="18" charset="0"/>
              </a:rPr>
              <a:t> = p</a:t>
            </a:r>
          </a:p>
          <a:p>
            <a:r>
              <a:rPr lang="en-IN" sz="2000" b="1" dirty="0" smtClean="0">
                <a:solidFill>
                  <a:srgbClr val="002060"/>
                </a:solidFill>
                <a:latin typeface="Times New Roman" panose="02020603050405020304" pitchFamily="18" charset="0"/>
                <a:cs typeface="Times New Roman" panose="02020603050405020304" pitchFamily="18" charset="0"/>
              </a:rPr>
              <a:t>               copy </a:t>
            </a:r>
            <a:r>
              <a:rPr lang="en-IN" sz="2000" b="1" dirty="0">
                <a:solidFill>
                  <a:srgbClr val="002060"/>
                </a:solidFill>
                <a:latin typeface="Times New Roman" panose="02020603050405020304" pitchFamily="18" charset="0"/>
                <a:cs typeface="Times New Roman" panose="02020603050405020304" pitchFamily="18" charset="0"/>
              </a:rPr>
              <a:t>C[</a:t>
            </a:r>
            <a:r>
              <a:rPr lang="en-IN" sz="2000" b="1" dirty="0" err="1">
                <a:solidFill>
                  <a:srgbClr val="002060"/>
                </a:solidFill>
                <a:latin typeface="Times New Roman" panose="02020603050405020304" pitchFamily="18" charset="0"/>
                <a:cs typeface="Times New Roman" panose="02020603050405020304" pitchFamily="18" charset="0"/>
              </a:rPr>
              <a:t>j..q</a:t>
            </a:r>
            <a:r>
              <a:rPr lang="en-IN" sz="2000" b="1" dirty="0">
                <a:solidFill>
                  <a:srgbClr val="002060"/>
                </a:solidFill>
                <a:latin typeface="Times New Roman" panose="02020603050405020304" pitchFamily="18" charset="0"/>
                <a:cs typeface="Times New Roman" panose="02020603050405020304" pitchFamily="18" charset="0"/>
              </a:rPr>
              <a:t> − 1] to A[</a:t>
            </a:r>
            <a:r>
              <a:rPr lang="en-IN" sz="2000" b="1" dirty="0" err="1">
                <a:solidFill>
                  <a:srgbClr val="002060"/>
                </a:solidFill>
                <a:latin typeface="Times New Roman" panose="02020603050405020304" pitchFamily="18" charset="0"/>
                <a:cs typeface="Times New Roman" panose="02020603050405020304" pitchFamily="18" charset="0"/>
              </a:rPr>
              <a:t>k..p</a:t>
            </a:r>
            <a:r>
              <a:rPr lang="en-IN" sz="2000" b="1" dirty="0">
                <a:solidFill>
                  <a:srgbClr val="002060"/>
                </a:solidFill>
                <a:latin typeface="Times New Roman" panose="02020603050405020304" pitchFamily="18" charset="0"/>
                <a:cs typeface="Times New Roman" panose="02020603050405020304" pitchFamily="18" charset="0"/>
              </a:rPr>
              <a:t> + q − 1]</a:t>
            </a:r>
          </a:p>
          <a:p>
            <a:r>
              <a:rPr lang="en-US" sz="2000" b="1" dirty="0">
                <a:solidFill>
                  <a:srgbClr val="002060"/>
                </a:solidFill>
                <a:latin typeface="Times New Roman" panose="02020603050405020304" pitchFamily="18" charset="0"/>
                <a:cs typeface="Times New Roman" panose="02020603050405020304" pitchFamily="18" charset="0"/>
              </a:rPr>
              <a:t>else </a:t>
            </a:r>
            <a:endParaRPr lang="en-US" sz="2000" b="1" dirty="0" smtClean="0">
              <a:solidFill>
                <a:srgbClr val="002060"/>
              </a:solidFill>
              <a:latin typeface="Times New Roman" panose="02020603050405020304" pitchFamily="18" charset="0"/>
              <a:cs typeface="Times New Roman" panose="02020603050405020304" pitchFamily="18" charset="0"/>
            </a:endParaRPr>
          </a:p>
          <a:p>
            <a:r>
              <a:rPr lang="en-US" sz="2000" b="1" dirty="0">
                <a:solidFill>
                  <a:srgbClr val="002060"/>
                </a:solidFill>
                <a:latin typeface="Times New Roman" panose="02020603050405020304" pitchFamily="18" charset="0"/>
                <a:cs typeface="Times New Roman" panose="02020603050405020304" pitchFamily="18" charset="0"/>
              </a:rPr>
              <a:t> </a:t>
            </a:r>
            <a:r>
              <a:rPr lang="en-US" sz="2000" b="1" dirty="0" smtClean="0">
                <a:solidFill>
                  <a:srgbClr val="002060"/>
                </a:solidFill>
                <a:latin typeface="Times New Roman" panose="02020603050405020304" pitchFamily="18" charset="0"/>
                <a:cs typeface="Times New Roman" panose="02020603050405020304" pitchFamily="18" charset="0"/>
              </a:rPr>
              <a:t>              copy </a:t>
            </a:r>
            <a:r>
              <a:rPr lang="en-US" sz="2000" b="1" dirty="0">
                <a:solidFill>
                  <a:srgbClr val="002060"/>
                </a:solidFill>
                <a:latin typeface="Times New Roman" panose="02020603050405020304" pitchFamily="18" charset="0"/>
                <a:cs typeface="Times New Roman" panose="02020603050405020304" pitchFamily="18" charset="0"/>
              </a:rPr>
              <a:t>B[</a:t>
            </a:r>
            <a:r>
              <a:rPr lang="en-US" sz="2000" b="1" dirty="0" err="1">
                <a:solidFill>
                  <a:srgbClr val="002060"/>
                </a:solidFill>
                <a:latin typeface="Times New Roman" panose="02020603050405020304" pitchFamily="18" charset="0"/>
                <a:cs typeface="Times New Roman" panose="02020603050405020304" pitchFamily="18" charset="0"/>
              </a:rPr>
              <a:t>i</a:t>
            </a:r>
            <a:r>
              <a:rPr lang="en-US" sz="2000" b="1" dirty="0">
                <a:solidFill>
                  <a:srgbClr val="002060"/>
                </a:solidFill>
                <a:latin typeface="Times New Roman" panose="02020603050405020304" pitchFamily="18" charset="0"/>
                <a:cs typeface="Times New Roman" panose="02020603050405020304" pitchFamily="18" charset="0"/>
              </a:rPr>
              <a:t>..p − 1] to A[</a:t>
            </a:r>
            <a:r>
              <a:rPr lang="en-US" sz="2000" b="1" dirty="0" err="1">
                <a:solidFill>
                  <a:srgbClr val="002060"/>
                </a:solidFill>
                <a:latin typeface="Times New Roman" panose="02020603050405020304" pitchFamily="18" charset="0"/>
                <a:cs typeface="Times New Roman" panose="02020603050405020304" pitchFamily="18" charset="0"/>
              </a:rPr>
              <a:t>k..p</a:t>
            </a:r>
            <a:r>
              <a:rPr lang="en-US" sz="2000" b="1" dirty="0">
                <a:solidFill>
                  <a:srgbClr val="002060"/>
                </a:solidFill>
                <a:latin typeface="Times New Roman" panose="02020603050405020304" pitchFamily="18" charset="0"/>
                <a:cs typeface="Times New Roman" panose="02020603050405020304" pitchFamily="18" charset="0"/>
              </a:rPr>
              <a:t> + q − 1]</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36E3F722-F2A9-483D-B34F-E55338AEE2A5}" type="datetime1">
              <a:rPr lang="en-IN" smtClean="0"/>
              <a:t>21-03-2026</a:t>
            </a:fld>
            <a:endParaRPr lang="en-IN"/>
          </a:p>
        </p:txBody>
      </p:sp>
    </p:spTree>
    <p:extLst>
      <p:ext uri="{BB962C8B-B14F-4D97-AF65-F5344CB8AC3E}">
        <p14:creationId xmlns:p14="http://schemas.microsoft.com/office/powerpoint/2010/main" val="59276936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Merge sort- Example</a:t>
            </a:r>
          </a:p>
          <a:p>
            <a:pPr algn="just"/>
            <a:r>
              <a:rPr lang="en-IN" sz="2000" b="1" dirty="0" smtClean="0">
                <a:solidFill>
                  <a:srgbClr val="002060"/>
                </a:solidFill>
                <a:latin typeface="Times New Roman" panose="02020603050405020304" pitchFamily="18" charset="0"/>
                <a:cs typeface="Times New Roman" panose="02020603050405020304" pitchFamily="18" charset="0"/>
              </a:rPr>
              <a:t>Trace the merge sort algorithm for a given list of elements</a:t>
            </a:r>
          </a:p>
          <a:p>
            <a:pPr algn="just"/>
            <a:r>
              <a:rPr lang="en-IN" sz="2000" b="1" dirty="0">
                <a:solidFill>
                  <a:srgbClr val="C00000"/>
                </a:solidFill>
                <a:latin typeface="Times New Roman" panose="02020603050405020304" pitchFamily="18" charset="0"/>
                <a:cs typeface="Times New Roman" panose="02020603050405020304" pitchFamily="18" charset="0"/>
              </a:rPr>
              <a:t>8</a:t>
            </a:r>
            <a:r>
              <a:rPr lang="en-IN" sz="2000" b="1" dirty="0" smtClean="0">
                <a:solidFill>
                  <a:srgbClr val="C00000"/>
                </a:solidFill>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3</a:t>
            </a:r>
            <a:r>
              <a:rPr lang="en-IN" sz="2000" b="1" dirty="0" smtClean="0">
                <a:solidFill>
                  <a:srgbClr val="C00000"/>
                </a:solidFill>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2, </a:t>
            </a:r>
            <a:r>
              <a:rPr lang="en-IN" sz="2000" b="1" dirty="0" smtClean="0">
                <a:solidFill>
                  <a:srgbClr val="C00000"/>
                </a:solidFill>
                <a:latin typeface="Times New Roman" panose="02020603050405020304" pitchFamily="18" charset="0"/>
                <a:cs typeface="Times New Roman" panose="02020603050405020304" pitchFamily="18" charset="0"/>
              </a:rPr>
              <a:t> 9</a:t>
            </a:r>
            <a:r>
              <a:rPr lang="en-IN" sz="2000" b="1" dirty="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 7</a:t>
            </a:r>
            <a:r>
              <a:rPr lang="en-IN" sz="2000" b="1" dirty="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 1</a:t>
            </a:r>
            <a:r>
              <a:rPr lang="en-IN" sz="2000" b="1" dirty="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 5</a:t>
            </a:r>
            <a:r>
              <a:rPr lang="en-IN" sz="2000" b="1" dirty="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 4</a:t>
            </a:r>
          </a:p>
          <a:p>
            <a:pPr algn="just"/>
            <a:r>
              <a:rPr lang="en-IN" sz="2000" b="1" dirty="0" smtClean="0">
                <a:solidFill>
                  <a:srgbClr val="C00000"/>
                </a:solidFill>
                <a:latin typeface="Times New Roman" panose="02020603050405020304" pitchFamily="18" charset="0"/>
                <a:cs typeface="Times New Roman" panose="02020603050405020304" pitchFamily="18" charset="0"/>
              </a:rPr>
              <a:t>Solution:</a:t>
            </a: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smtClean="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r>
              <a:rPr lang="en-IN" sz="2000" b="1" dirty="0" smtClean="0">
                <a:solidFill>
                  <a:srgbClr val="C00000"/>
                </a:solidFill>
                <a:latin typeface="Times New Roman" panose="02020603050405020304" pitchFamily="18" charset="0"/>
                <a:cs typeface="Times New Roman" panose="02020603050405020304" pitchFamily="18" charset="0"/>
              </a:rPr>
              <a:t>Array size is n=8</a:t>
            </a:r>
          </a:p>
          <a:p>
            <a:pPr algn="just"/>
            <a:endParaRPr lang="en-IN" sz="20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48</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4058257838"/>
              </p:ext>
            </p:extLst>
          </p:nvPr>
        </p:nvGraphicFramePr>
        <p:xfrm>
          <a:off x="2081591" y="2746262"/>
          <a:ext cx="6502400" cy="74168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gridCol w="812800"/>
              </a:tblGrid>
              <a:tr h="370840">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9</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9" name="TextBox 8"/>
          <p:cNvSpPr txBox="1"/>
          <p:nvPr/>
        </p:nvSpPr>
        <p:spPr>
          <a:xfrm>
            <a:off x="1032036" y="2640048"/>
            <a:ext cx="943583" cy="646331"/>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Index</a:t>
            </a:r>
          </a:p>
          <a:p>
            <a:endParaRPr lang="en-IN" dirty="0"/>
          </a:p>
        </p:txBody>
      </p:sp>
      <p:cxnSp>
        <p:nvCxnSpPr>
          <p:cNvPr id="11" name="Straight Arrow Connector 10"/>
          <p:cNvCxnSpPr/>
          <p:nvPr/>
        </p:nvCxnSpPr>
        <p:spPr>
          <a:xfrm flipV="1">
            <a:off x="1077789" y="2963213"/>
            <a:ext cx="852075" cy="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680546" y="2354599"/>
            <a:ext cx="943583"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A</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0" name="Date Placeholder 9"/>
          <p:cNvSpPr>
            <a:spLocks noGrp="1"/>
          </p:cNvSpPr>
          <p:nvPr>
            <p:ph type="dt" sz="half" idx="10"/>
          </p:nvPr>
        </p:nvSpPr>
        <p:spPr/>
        <p:txBody>
          <a:bodyPr/>
          <a:lstStyle/>
          <a:p>
            <a:fld id="{5C22B9DE-7AC1-4890-B008-A516A4F68E9E}" type="datetime1">
              <a:rPr lang="en-IN" smtClean="0"/>
              <a:t>21-03-2026</a:t>
            </a:fld>
            <a:endParaRPr lang="en-IN"/>
          </a:p>
        </p:txBody>
      </p:sp>
    </p:spTree>
    <p:extLst>
      <p:ext uri="{BB962C8B-B14F-4D97-AF65-F5344CB8AC3E}">
        <p14:creationId xmlns:p14="http://schemas.microsoft.com/office/powerpoint/2010/main" val="223522948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4543" y="47518"/>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p:sp>
        <p:nvSpPr>
          <p:cNvPr id="3" name="Subtitle 2"/>
          <p:cNvSpPr>
            <a:spLocks noGrp="1"/>
          </p:cNvSpPr>
          <p:nvPr>
            <p:ph type="subTitle" idx="1"/>
          </p:nvPr>
        </p:nvSpPr>
        <p:spPr>
          <a:xfrm>
            <a:off x="143437" y="611479"/>
            <a:ext cx="12048563" cy="5627707"/>
          </a:xfrm>
        </p:spPr>
        <p:txBody>
          <a:bodyPr>
            <a:normAutofit/>
          </a:bodyPr>
          <a:lstStyle/>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49</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863640925"/>
              </p:ext>
            </p:extLst>
          </p:nvPr>
        </p:nvGraphicFramePr>
        <p:xfrm>
          <a:off x="3161362" y="719447"/>
          <a:ext cx="6502400" cy="73152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gridCol w="812800"/>
              </a:tblGrid>
              <a:tr h="316349">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16349">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9</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259540239"/>
              </p:ext>
            </p:extLst>
          </p:nvPr>
        </p:nvGraphicFramePr>
        <p:xfrm>
          <a:off x="8021948" y="1741070"/>
          <a:ext cx="3251200" cy="370840"/>
        </p:xfrm>
        <a:graphic>
          <a:graphicData uri="http://schemas.openxmlformats.org/drawingml/2006/table">
            <a:tbl>
              <a:tblPr firstRow="1" bandRow="1">
                <a:tableStyleId>{5C22544A-7EE6-4342-B048-85BDC9FD1C3A}</a:tableStyleId>
              </a:tblPr>
              <a:tblGrid>
                <a:gridCol w="812800"/>
                <a:gridCol w="812800"/>
                <a:gridCol w="812800"/>
                <a:gridCol w="812800"/>
              </a:tblGrid>
              <a:tr h="370840">
                <a:tc>
                  <a:txBody>
                    <a:bodyPr/>
                    <a:lstStyle/>
                    <a:p>
                      <a:pPr algn="ctr"/>
                      <a:r>
                        <a:rPr lang="en-IN" b="1" dirty="0" smtClean="0">
                          <a:solidFill>
                            <a:srgbClr val="002060"/>
                          </a:solidFill>
                        </a:rPr>
                        <a:t>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4</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351528404"/>
              </p:ext>
            </p:extLst>
          </p:nvPr>
        </p:nvGraphicFramePr>
        <p:xfrm>
          <a:off x="1919463" y="1737827"/>
          <a:ext cx="3251200" cy="370840"/>
        </p:xfrm>
        <a:graphic>
          <a:graphicData uri="http://schemas.openxmlformats.org/drawingml/2006/table">
            <a:tbl>
              <a:tblPr firstRow="1" bandRow="1">
                <a:tableStyleId>{5C22544A-7EE6-4342-B048-85BDC9FD1C3A}</a:tableStyleId>
              </a:tblPr>
              <a:tblGrid>
                <a:gridCol w="812800"/>
                <a:gridCol w="812800"/>
                <a:gridCol w="812800"/>
                <a:gridCol w="812800"/>
              </a:tblGrid>
              <a:tr h="370840">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9</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303536465"/>
              </p:ext>
            </p:extLst>
          </p:nvPr>
        </p:nvGraphicFramePr>
        <p:xfrm>
          <a:off x="1119635" y="2444703"/>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563516808"/>
              </p:ext>
            </p:extLst>
          </p:nvPr>
        </p:nvGraphicFramePr>
        <p:xfrm>
          <a:off x="4208705" y="2412278"/>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9</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482441639"/>
              </p:ext>
            </p:extLst>
          </p:nvPr>
        </p:nvGraphicFramePr>
        <p:xfrm>
          <a:off x="2331268" y="3151762"/>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8100321"/>
              </p:ext>
            </p:extLst>
          </p:nvPr>
        </p:nvGraphicFramePr>
        <p:xfrm>
          <a:off x="479771" y="3134659"/>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628297878"/>
              </p:ext>
            </p:extLst>
          </p:nvPr>
        </p:nvGraphicFramePr>
        <p:xfrm>
          <a:off x="5486407" y="3148336"/>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9</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774657107"/>
              </p:ext>
            </p:extLst>
          </p:nvPr>
        </p:nvGraphicFramePr>
        <p:xfrm>
          <a:off x="3618561" y="3145093"/>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4143319643"/>
              </p:ext>
            </p:extLst>
          </p:nvPr>
        </p:nvGraphicFramePr>
        <p:xfrm>
          <a:off x="10192496" y="2389579"/>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4</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100519002"/>
              </p:ext>
            </p:extLst>
          </p:nvPr>
        </p:nvGraphicFramePr>
        <p:xfrm>
          <a:off x="6985000" y="2396066"/>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962487958"/>
              </p:ext>
            </p:extLst>
          </p:nvPr>
        </p:nvGraphicFramePr>
        <p:xfrm>
          <a:off x="6770450" y="3171037"/>
          <a:ext cx="683639" cy="370840"/>
        </p:xfrm>
        <a:graphic>
          <a:graphicData uri="http://schemas.openxmlformats.org/drawingml/2006/table">
            <a:tbl>
              <a:tblPr firstRow="1" bandRow="1">
                <a:tableStyleId>{5C22544A-7EE6-4342-B048-85BDC9FD1C3A}</a:tableStyleId>
              </a:tblPr>
              <a:tblGrid>
                <a:gridCol w="683639"/>
              </a:tblGrid>
              <a:tr h="370840">
                <a:tc>
                  <a:txBody>
                    <a:bodyPr/>
                    <a:lstStyle/>
                    <a:p>
                      <a:pPr algn="ctr"/>
                      <a:r>
                        <a:rPr lang="en-IN" b="1" dirty="0" smtClean="0">
                          <a:solidFill>
                            <a:srgbClr val="002060"/>
                          </a:solidFill>
                        </a:rPr>
                        <a:t>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4172233116"/>
              </p:ext>
            </p:extLst>
          </p:nvPr>
        </p:nvGraphicFramePr>
        <p:xfrm>
          <a:off x="8350115" y="3148338"/>
          <a:ext cx="696608" cy="370840"/>
        </p:xfrm>
        <a:graphic>
          <a:graphicData uri="http://schemas.openxmlformats.org/drawingml/2006/table">
            <a:tbl>
              <a:tblPr firstRow="1" bandRow="1">
                <a:tableStyleId>{5C22544A-7EE6-4342-B048-85BDC9FD1C3A}</a:tableStyleId>
              </a:tblPr>
              <a:tblGrid>
                <a:gridCol w="696608"/>
              </a:tblGrid>
              <a:tr h="370840">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3777883426"/>
              </p:ext>
            </p:extLst>
          </p:nvPr>
        </p:nvGraphicFramePr>
        <p:xfrm>
          <a:off x="9646498" y="3164551"/>
          <a:ext cx="671404" cy="370840"/>
        </p:xfrm>
        <a:graphic>
          <a:graphicData uri="http://schemas.openxmlformats.org/drawingml/2006/table">
            <a:tbl>
              <a:tblPr firstRow="1" bandRow="1">
                <a:tableStyleId>{5C22544A-7EE6-4342-B048-85BDC9FD1C3A}</a:tableStyleId>
              </a:tblPr>
              <a:tblGrid>
                <a:gridCol w="671404"/>
              </a:tblGrid>
              <a:tr h="370840">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3" name="Table 22"/>
          <p:cNvGraphicFramePr>
            <a:graphicFrameLocks noGrp="1"/>
          </p:cNvGraphicFramePr>
          <p:nvPr>
            <p:extLst>
              <p:ext uri="{D42A27DB-BD31-4B8C-83A1-F6EECF244321}">
                <p14:modId xmlns:p14="http://schemas.microsoft.com/office/powerpoint/2010/main" val="1262008116"/>
              </p:ext>
            </p:extLst>
          </p:nvPr>
        </p:nvGraphicFramePr>
        <p:xfrm>
          <a:off x="11470999" y="3171709"/>
          <a:ext cx="694193" cy="370840"/>
        </p:xfrm>
        <a:graphic>
          <a:graphicData uri="http://schemas.openxmlformats.org/drawingml/2006/table">
            <a:tbl>
              <a:tblPr firstRow="1" bandRow="1">
                <a:tableStyleId>{5C22544A-7EE6-4342-B048-85BDC9FD1C3A}</a:tableStyleId>
              </a:tblPr>
              <a:tblGrid>
                <a:gridCol w="694193"/>
              </a:tblGrid>
              <a:tr h="370840">
                <a:tc>
                  <a:txBody>
                    <a:bodyPr/>
                    <a:lstStyle/>
                    <a:p>
                      <a:pPr marL="0" algn="ctr" defTabSz="914400" rtl="0" eaLnBrk="1" latinLnBrk="0" hangingPunct="1"/>
                      <a:r>
                        <a:rPr lang="en-IN" sz="1800" b="1" kern="1200" dirty="0" smtClean="0">
                          <a:solidFill>
                            <a:srgbClr val="002060"/>
                          </a:solidFill>
                          <a:latin typeface="+mn-lt"/>
                          <a:ea typeface="+mn-ea"/>
                          <a:cs typeface="+mn-cs"/>
                        </a:rPr>
                        <a:t>4</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25" name="Straight Arrow Connector 24"/>
          <p:cNvCxnSpPr/>
          <p:nvPr/>
        </p:nvCxnSpPr>
        <p:spPr>
          <a:xfrm flipH="1">
            <a:off x="2412460" y="1044345"/>
            <a:ext cx="729574" cy="63229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9636867" y="1044345"/>
            <a:ext cx="964127" cy="652916"/>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12" idx="0"/>
          </p:cNvCxnSpPr>
          <p:nvPr/>
        </p:nvCxnSpPr>
        <p:spPr>
          <a:xfrm flipH="1">
            <a:off x="1932435" y="2099139"/>
            <a:ext cx="651879" cy="34556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endCxn id="15" idx="0"/>
          </p:cNvCxnSpPr>
          <p:nvPr/>
        </p:nvCxnSpPr>
        <p:spPr>
          <a:xfrm flipH="1">
            <a:off x="886171" y="2793034"/>
            <a:ext cx="547037" cy="3416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endCxn id="14" idx="0"/>
          </p:cNvCxnSpPr>
          <p:nvPr/>
        </p:nvCxnSpPr>
        <p:spPr>
          <a:xfrm>
            <a:off x="2412460" y="2793034"/>
            <a:ext cx="325208" cy="35872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098714" y="2126287"/>
            <a:ext cx="804026" cy="29803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3953690" y="2768353"/>
            <a:ext cx="547037" cy="3416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5672562" y="2790593"/>
            <a:ext cx="325208" cy="35872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8310980" y="2748809"/>
            <a:ext cx="325208" cy="35872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11572673" y="2793407"/>
            <a:ext cx="325208" cy="35872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7000579" y="2793034"/>
            <a:ext cx="547037" cy="3416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10210582" y="2802991"/>
            <a:ext cx="547037" cy="3416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394447" y="3696538"/>
            <a:ext cx="11658123" cy="106977"/>
          </a:xfrm>
          <a:prstGeom prst="line">
            <a:avLst/>
          </a:prstGeom>
          <a:ln w="25400">
            <a:solidFill>
              <a:srgbClr val="FF0000"/>
            </a:solidFill>
            <a:prstDash val="dashDot"/>
          </a:ln>
        </p:spPr>
        <p:style>
          <a:lnRef idx="1">
            <a:schemeClr val="accent1"/>
          </a:lnRef>
          <a:fillRef idx="0">
            <a:schemeClr val="accent1"/>
          </a:fillRef>
          <a:effectRef idx="0">
            <a:schemeClr val="accent1"/>
          </a:effectRef>
          <a:fontRef idx="minor">
            <a:schemeClr val="tx1"/>
          </a:fontRef>
        </p:style>
      </p:cxnSp>
      <p:graphicFrame>
        <p:nvGraphicFramePr>
          <p:cNvPr id="47" name="Table 46"/>
          <p:cNvGraphicFramePr>
            <a:graphicFrameLocks noGrp="1"/>
          </p:cNvGraphicFramePr>
          <p:nvPr>
            <p:extLst>
              <p:ext uri="{D42A27DB-BD31-4B8C-83A1-F6EECF244321}">
                <p14:modId xmlns:p14="http://schemas.microsoft.com/office/powerpoint/2010/main" val="4165326128"/>
              </p:ext>
            </p:extLst>
          </p:nvPr>
        </p:nvGraphicFramePr>
        <p:xfrm>
          <a:off x="1057534" y="4184177"/>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48" name="Table 47"/>
          <p:cNvGraphicFramePr>
            <a:graphicFrameLocks noGrp="1"/>
          </p:cNvGraphicFramePr>
          <p:nvPr>
            <p:extLst>
              <p:ext uri="{D42A27DB-BD31-4B8C-83A1-F6EECF244321}">
                <p14:modId xmlns:p14="http://schemas.microsoft.com/office/powerpoint/2010/main" val="3482872349"/>
              </p:ext>
            </p:extLst>
          </p:nvPr>
        </p:nvGraphicFramePr>
        <p:xfrm>
          <a:off x="3992888" y="4181736"/>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9</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49" name="Table 48"/>
          <p:cNvGraphicFramePr>
            <a:graphicFrameLocks noGrp="1"/>
          </p:cNvGraphicFramePr>
          <p:nvPr>
            <p:extLst>
              <p:ext uri="{D42A27DB-BD31-4B8C-83A1-F6EECF244321}">
                <p14:modId xmlns:p14="http://schemas.microsoft.com/office/powerpoint/2010/main" val="3348812132"/>
              </p:ext>
            </p:extLst>
          </p:nvPr>
        </p:nvGraphicFramePr>
        <p:xfrm>
          <a:off x="7116740" y="4139952"/>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0" name="Table 49"/>
          <p:cNvGraphicFramePr>
            <a:graphicFrameLocks noGrp="1"/>
          </p:cNvGraphicFramePr>
          <p:nvPr>
            <p:extLst>
              <p:ext uri="{D42A27DB-BD31-4B8C-83A1-F6EECF244321}">
                <p14:modId xmlns:p14="http://schemas.microsoft.com/office/powerpoint/2010/main" val="3005930807"/>
              </p:ext>
            </p:extLst>
          </p:nvPr>
        </p:nvGraphicFramePr>
        <p:xfrm>
          <a:off x="10272281" y="4031126"/>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4</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5</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1" name="Table 50"/>
          <p:cNvGraphicFramePr>
            <a:graphicFrameLocks noGrp="1"/>
          </p:cNvGraphicFramePr>
          <p:nvPr>
            <p:extLst>
              <p:ext uri="{D42A27DB-BD31-4B8C-83A1-F6EECF244321}">
                <p14:modId xmlns:p14="http://schemas.microsoft.com/office/powerpoint/2010/main" val="711018208"/>
              </p:ext>
            </p:extLst>
          </p:nvPr>
        </p:nvGraphicFramePr>
        <p:xfrm>
          <a:off x="1932435" y="4998589"/>
          <a:ext cx="3251200" cy="370840"/>
        </p:xfrm>
        <a:graphic>
          <a:graphicData uri="http://schemas.openxmlformats.org/drawingml/2006/table">
            <a:tbl>
              <a:tblPr firstRow="1" bandRow="1">
                <a:tableStyleId>{5C22544A-7EE6-4342-B048-85BDC9FD1C3A}</a:tableStyleId>
              </a:tblPr>
              <a:tblGrid>
                <a:gridCol w="812800"/>
                <a:gridCol w="812800"/>
                <a:gridCol w="812800"/>
                <a:gridCol w="812800"/>
              </a:tblGrid>
              <a:tr h="370840">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9</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2" name="Table 51"/>
          <p:cNvGraphicFramePr>
            <a:graphicFrameLocks noGrp="1"/>
          </p:cNvGraphicFramePr>
          <p:nvPr>
            <p:extLst>
              <p:ext uri="{D42A27DB-BD31-4B8C-83A1-F6EECF244321}">
                <p14:modId xmlns:p14="http://schemas.microsoft.com/office/powerpoint/2010/main" val="2423446522"/>
              </p:ext>
            </p:extLst>
          </p:nvPr>
        </p:nvGraphicFramePr>
        <p:xfrm>
          <a:off x="8011267" y="4958473"/>
          <a:ext cx="3251200" cy="370840"/>
        </p:xfrm>
        <a:graphic>
          <a:graphicData uri="http://schemas.openxmlformats.org/drawingml/2006/table">
            <a:tbl>
              <a:tblPr firstRow="1" bandRow="1">
                <a:tableStyleId>{5C22544A-7EE6-4342-B048-85BDC9FD1C3A}</a:tableStyleId>
              </a:tblPr>
              <a:tblGrid>
                <a:gridCol w="812800"/>
                <a:gridCol w="812800"/>
                <a:gridCol w="812800"/>
                <a:gridCol w="812800"/>
              </a:tblGrid>
              <a:tr h="370840">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4</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7</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3" name="Table 52"/>
          <p:cNvGraphicFramePr>
            <a:graphicFrameLocks noGrp="1"/>
          </p:cNvGraphicFramePr>
          <p:nvPr>
            <p:extLst>
              <p:ext uri="{D42A27DB-BD31-4B8C-83A1-F6EECF244321}">
                <p14:modId xmlns:p14="http://schemas.microsoft.com/office/powerpoint/2010/main" val="1605392496"/>
              </p:ext>
            </p:extLst>
          </p:nvPr>
        </p:nvGraphicFramePr>
        <p:xfrm>
          <a:off x="3616530" y="5694771"/>
          <a:ext cx="6502400" cy="73152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gridCol w="812800"/>
              </a:tblGrid>
              <a:tr h="316349">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16349">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4</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t>9</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54" name="Straight Arrow Connector 53"/>
          <p:cNvCxnSpPr/>
          <p:nvPr/>
        </p:nvCxnSpPr>
        <p:spPr>
          <a:xfrm>
            <a:off x="1759148" y="4577768"/>
            <a:ext cx="1129966"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H="1">
            <a:off x="3848849" y="4577768"/>
            <a:ext cx="830155"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7870519" y="4577768"/>
            <a:ext cx="1129966"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H="1">
            <a:off x="10330775" y="4443636"/>
            <a:ext cx="1023025" cy="51747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4679004" y="5328435"/>
            <a:ext cx="1129966"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H="1">
            <a:off x="7755252" y="5328435"/>
            <a:ext cx="830155"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941485" y="3525725"/>
            <a:ext cx="603058" cy="65716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a:off x="2091581" y="3529577"/>
            <a:ext cx="685666" cy="65331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7246087" y="3489695"/>
            <a:ext cx="603058" cy="65716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4075946" y="3509339"/>
            <a:ext cx="603058" cy="65716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22" idx="2"/>
          </p:cNvCxnSpPr>
          <p:nvPr/>
        </p:nvCxnSpPr>
        <p:spPr>
          <a:xfrm>
            <a:off x="9982200" y="3535391"/>
            <a:ext cx="655550" cy="54711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H="1">
            <a:off x="11444194" y="3535391"/>
            <a:ext cx="591320" cy="54711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H="1">
            <a:off x="8144550" y="3525725"/>
            <a:ext cx="685666" cy="65331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a:off x="5349004" y="3529577"/>
            <a:ext cx="685666" cy="65331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173779" y="1649449"/>
            <a:ext cx="14247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Dividing</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78" name="TextBox 77"/>
          <p:cNvSpPr txBox="1"/>
          <p:nvPr/>
        </p:nvSpPr>
        <p:spPr>
          <a:xfrm>
            <a:off x="143437" y="5011941"/>
            <a:ext cx="1862488"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Conquering</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79" name="Straight Arrow Connector 78"/>
          <p:cNvCxnSpPr/>
          <p:nvPr/>
        </p:nvCxnSpPr>
        <p:spPr>
          <a:xfrm flipH="1">
            <a:off x="7755252" y="2074863"/>
            <a:ext cx="651879" cy="34556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endCxn id="18" idx="0"/>
          </p:cNvCxnSpPr>
          <p:nvPr/>
        </p:nvCxnSpPr>
        <p:spPr>
          <a:xfrm>
            <a:off x="10399618" y="2133160"/>
            <a:ext cx="605678" cy="25641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1653070" y="5669067"/>
            <a:ext cx="1862488"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Sorted list</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83" name="TextBox 82"/>
          <p:cNvSpPr txBox="1"/>
          <p:nvPr/>
        </p:nvSpPr>
        <p:spPr>
          <a:xfrm>
            <a:off x="10281269" y="5640221"/>
            <a:ext cx="1862488" cy="861774"/>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This tree is called recursive tree call</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6" name="Date Placeholder 5"/>
          <p:cNvSpPr>
            <a:spLocks noGrp="1"/>
          </p:cNvSpPr>
          <p:nvPr>
            <p:ph type="dt" sz="half" idx="10"/>
          </p:nvPr>
        </p:nvSpPr>
        <p:spPr/>
        <p:txBody>
          <a:bodyPr/>
          <a:lstStyle/>
          <a:p>
            <a:fld id="{367F7996-D196-4003-9221-FBE254FA1C38}" type="datetime1">
              <a:rPr lang="en-IN" smtClean="0"/>
              <a:t>21-03-2026</a:t>
            </a:fld>
            <a:endParaRPr lang="en-IN"/>
          </a:p>
        </p:txBody>
      </p:sp>
    </p:spTree>
    <p:extLst>
      <p:ext uri="{BB962C8B-B14F-4D97-AF65-F5344CB8AC3E}">
        <p14:creationId xmlns:p14="http://schemas.microsoft.com/office/powerpoint/2010/main" val="692316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4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23"/>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4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7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64"/>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66"/>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47"/>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69"/>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7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4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68"/>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73"/>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49"/>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70"/>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72"/>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5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54"/>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55"/>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51"/>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58"/>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59"/>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52"/>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60"/>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61"/>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53"/>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82"/>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P spid="82" grpId="0"/>
      <p:bldP spid="8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Merge sort- Example</a:t>
            </a:r>
          </a:p>
          <a:p>
            <a:pPr algn="just"/>
            <a:r>
              <a:rPr lang="en-IN" sz="2000" b="1" dirty="0" smtClean="0">
                <a:solidFill>
                  <a:srgbClr val="002060"/>
                </a:solidFill>
                <a:latin typeface="Times New Roman" panose="02020603050405020304" pitchFamily="18" charset="0"/>
                <a:cs typeface="Times New Roman" panose="02020603050405020304" pitchFamily="18" charset="0"/>
              </a:rPr>
              <a:t>Trace the merge sort algorithm for a given list of elements  (Dec 2019/Jan 2020)</a:t>
            </a:r>
          </a:p>
          <a:p>
            <a:pPr algn="just"/>
            <a:r>
              <a:rPr lang="en-IN" sz="2000" b="1" dirty="0" smtClean="0">
                <a:solidFill>
                  <a:srgbClr val="C00000"/>
                </a:solidFill>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60, 50, 25, 10, 35, 25, 75, </a:t>
            </a:r>
            <a:r>
              <a:rPr lang="en-IN" sz="2000" b="1" dirty="0" smtClean="0">
                <a:solidFill>
                  <a:srgbClr val="C00000"/>
                </a:solidFill>
                <a:latin typeface="Times New Roman" panose="02020603050405020304" pitchFamily="18" charset="0"/>
                <a:cs typeface="Times New Roman" panose="02020603050405020304" pitchFamily="18" charset="0"/>
              </a:rPr>
              <a:t>30</a:t>
            </a:r>
          </a:p>
          <a:p>
            <a:pPr algn="just"/>
            <a:r>
              <a:rPr lang="en-IN" sz="2000" b="1" dirty="0" smtClean="0">
                <a:solidFill>
                  <a:srgbClr val="C00000"/>
                </a:solidFill>
                <a:latin typeface="Times New Roman" panose="02020603050405020304" pitchFamily="18" charset="0"/>
                <a:cs typeface="Times New Roman" panose="02020603050405020304" pitchFamily="18" charset="0"/>
              </a:rPr>
              <a:t>Solution:</a:t>
            </a: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smtClean="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r>
              <a:rPr lang="en-IN" sz="2000" b="1" dirty="0" smtClean="0">
                <a:solidFill>
                  <a:srgbClr val="C00000"/>
                </a:solidFill>
                <a:latin typeface="Times New Roman" panose="02020603050405020304" pitchFamily="18" charset="0"/>
                <a:cs typeface="Times New Roman" panose="02020603050405020304" pitchFamily="18" charset="0"/>
              </a:rPr>
              <a:t>Array size is n=8</a:t>
            </a:r>
          </a:p>
          <a:p>
            <a:pPr algn="just"/>
            <a:endParaRPr lang="en-IN" sz="20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50</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009971139"/>
              </p:ext>
            </p:extLst>
          </p:nvPr>
        </p:nvGraphicFramePr>
        <p:xfrm>
          <a:off x="2081591" y="2746262"/>
          <a:ext cx="6502400" cy="74168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gridCol w="812800"/>
              </a:tblGrid>
              <a:tr h="370840">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pPr algn="ctr"/>
                      <a:r>
                        <a:rPr lang="en-IN" b="1" dirty="0" smtClean="0">
                          <a:solidFill>
                            <a:srgbClr val="002060"/>
                          </a:solidFill>
                        </a:rPr>
                        <a:t>60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75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t>30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9" name="TextBox 8"/>
          <p:cNvSpPr txBox="1"/>
          <p:nvPr/>
        </p:nvSpPr>
        <p:spPr>
          <a:xfrm>
            <a:off x="1032036" y="2640048"/>
            <a:ext cx="943583" cy="646331"/>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Index</a:t>
            </a:r>
          </a:p>
          <a:p>
            <a:endParaRPr lang="en-IN" dirty="0"/>
          </a:p>
        </p:txBody>
      </p:sp>
      <p:cxnSp>
        <p:nvCxnSpPr>
          <p:cNvPr id="11" name="Straight Arrow Connector 10"/>
          <p:cNvCxnSpPr/>
          <p:nvPr/>
        </p:nvCxnSpPr>
        <p:spPr>
          <a:xfrm flipV="1">
            <a:off x="1077789" y="2963213"/>
            <a:ext cx="852075" cy="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680546" y="2354599"/>
            <a:ext cx="943583"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A</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0" name="Date Placeholder 9"/>
          <p:cNvSpPr>
            <a:spLocks noGrp="1"/>
          </p:cNvSpPr>
          <p:nvPr>
            <p:ph type="dt" sz="half" idx="10"/>
          </p:nvPr>
        </p:nvSpPr>
        <p:spPr/>
        <p:txBody>
          <a:bodyPr/>
          <a:lstStyle/>
          <a:p>
            <a:fld id="{62D43DA7-D51F-4D4D-9B37-32E046EBA11B}" type="datetime1">
              <a:rPr lang="en-IN" smtClean="0"/>
              <a:t>21-03-2026</a:t>
            </a:fld>
            <a:endParaRPr lang="en-IN"/>
          </a:p>
        </p:txBody>
      </p:sp>
    </p:spTree>
    <p:extLst>
      <p:ext uri="{BB962C8B-B14F-4D97-AF65-F5344CB8AC3E}">
        <p14:creationId xmlns:p14="http://schemas.microsoft.com/office/powerpoint/2010/main" val="283839549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4543" y="47518"/>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p:sp>
        <p:nvSpPr>
          <p:cNvPr id="3" name="Subtitle 2"/>
          <p:cNvSpPr>
            <a:spLocks noGrp="1"/>
          </p:cNvSpPr>
          <p:nvPr>
            <p:ph type="subTitle" idx="1"/>
          </p:nvPr>
        </p:nvSpPr>
        <p:spPr>
          <a:xfrm>
            <a:off x="143437" y="611479"/>
            <a:ext cx="12048563" cy="5627707"/>
          </a:xfrm>
        </p:spPr>
        <p:txBody>
          <a:bodyPr>
            <a:normAutofit/>
          </a:bodyPr>
          <a:lstStyle/>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51</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97629490"/>
              </p:ext>
            </p:extLst>
          </p:nvPr>
        </p:nvGraphicFramePr>
        <p:xfrm>
          <a:off x="3161362" y="719447"/>
          <a:ext cx="6502400" cy="73152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gridCol w="812800"/>
              </a:tblGrid>
              <a:tr h="316349">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16349">
                <a:tc>
                  <a:txBody>
                    <a:bodyPr/>
                    <a:lstStyle/>
                    <a:p>
                      <a:pPr algn="ctr"/>
                      <a:r>
                        <a:rPr lang="en-IN" b="1" dirty="0" smtClean="0">
                          <a:solidFill>
                            <a:srgbClr val="002060"/>
                          </a:solidFill>
                        </a:rPr>
                        <a:t>60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75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30</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259540239"/>
              </p:ext>
            </p:extLst>
          </p:nvPr>
        </p:nvGraphicFramePr>
        <p:xfrm>
          <a:off x="8021948" y="1741070"/>
          <a:ext cx="3251200" cy="370840"/>
        </p:xfrm>
        <a:graphic>
          <a:graphicData uri="http://schemas.openxmlformats.org/drawingml/2006/table">
            <a:tbl>
              <a:tblPr firstRow="1" bandRow="1">
                <a:tableStyleId>{5C22544A-7EE6-4342-B048-85BDC9FD1C3A}</a:tableStyleId>
              </a:tblPr>
              <a:tblGrid>
                <a:gridCol w="812800"/>
                <a:gridCol w="812800"/>
                <a:gridCol w="812800"/>
                <a:gridCol w="812800"/>
              </a:tblGrid>
              <a:tr h="370840">
                <a:tc>
                  <a:txBody>
                    <a:bodyPr/>
                    <a:lstStyle/>
                    <a:p>
                      <a:pPr algn="ctr"/>
                      <a:r>
                        <a:rPr lang="en-IN" b="1" dirty="0" smtClean="0">
                          <a:solidFill>
                            <a:srgbClr val="002060"/>
                          </a:solidFill>
                        </a:rPr>
                        <a:t>35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75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30</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435789322"/>
              </p:ext>
            </p:extLst>
          </p:nvPr>
        </p:nvGraphicFramePr>
        <p:xfrm>
          <a:off x="1919463" y="1737827"/>
          <a:ext cx="3251200" cy="370840"/>
        </p:xfrm>
        <a:graphic>
          <a:graphicData uri="http://schemas.openxmlformats.org/drawingml/2006/table">
            <a:tbl>
              <a:tblPr firstRow="1" bandRow="1">
                <a:tableStyleId>{5C22544A-7EE6-4342-B048-85BDC9FD1C3A}</a:tableStyleId>
              </a:tblPr>
              <a:tblGrid>
                <a:gridCol w="812800"/>
                <a:gridCol w="812800"/>
                <a:gridCol w="812800"/>
                <a:gridCol w="812800"/>
              </a:tblGrid>
              <a:tr h="370840">
                <a:tc>
                  <a:txBody>
                    <a:bodyPr/>
                    <a:lstStyle/>
                    <a:p>
                      <a:pPr algn="ctr"/>
                      <a:r>
                        <a:rPr lang="en-IN" b="1" dirty="0" smtClean="0">
                          <a:solidFill>
                            <a:srgbClr val="002060"/>
                          </a:solidFill>
                        </a:rPr>
                        <a:t>60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303536465"/>
              </p:ext>
            </p:extLst>
          </p:nvPr>
        </p:nvGraphicFramePr>
        <p:xfrm>
          <a:off x="1119635" y="2444703"/>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60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563516808"/>
              </p:ext>
            </p:extLst>
          </p:nvPr>
        </p:nvGraphicFramePr>
        <p:xfrm>
          <a:off x="4208705" y="2412278"/>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96310104"/>
              </p:ext>
            </p:extLst>
          </p:nvPr>
        </p:nvGraphicFramePr>
        <p:xfrm>
          <a:off x="2331268" y="3151762"/>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50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744986756"/>
              </p:ext>
            </p:extLst>
          </p:nvPr>
        </p:nvGraphicFramePr>
        <p:xfrm>
          <a:off x="479771" y="3134659"/>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60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253399757"/>
              </p:ext>
            </p:extLst>
          </p:nvPr>
        </p:nvGraphicFramePr>
        <p:xfrm>
          <a:off x="5486407" y="3148336"/>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10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71111424"/>
              </p:ext>
            </p:extLst>
          </p:nvPr>
        </p:nvGraphicFramePr>
        <p:xfrm>
          <a:off x="3618561" y="3145093"/>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4143319643"/>
              </p:ext>
            </p:extLst>
          </p:nvPr>
        </p:nvGraphicFramePr>
        <p:xfrm>
          <a:off x="10192496" y="2389579"/>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75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30</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100519002"/>
              </p:ext>
            </p:extLst>
          </p:nvPr>
        </p:nvGraphicFramePr>
        <p:xfrm>
          <a:off x="6985000" y="2396066"/>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35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2481889142"/>
              </p:ext>
            </p:extLst>
          </p:nvPr>
        </p:nvGraphicFramePr>
        <p:xfrm>
          <a:off x="6770450" y="3171037"/>
          <a:ext cx="683639" cy="370840"/>
        </p:xfrm>
        <a:graphic>
          <a:graphicData uri="http://schemas.openxmlformats.org/drawingml/2006/table">
            <a:tbl>
              <a:tblPr firstRow="1" bandRow="1">
                <a:tableStyleId>{5C22544A-7EE6-4342-B048-85BDC9FD1C3A}</a:tableStyleId>
              </a:tblPr>
              <a:tblGrid>
                <a:gridCol w="683639"/>
              </a:tblGrid>
              <a:tr h="370840">
                <a:tc>
                  <a:txBody>
                    <a:bodyPr/>
                    <a:lstStyle/>
                    <a:p>
                      <a:pPr algn="ctr"/>
                      <a:r>
                        <a:rPr lang="en-IN" b="1" dirty="0" smtClean="0">
                          <a:solidFill>
                            <a:srgbClr val="002060"/>
                          </a:solidFill>
                        </a:rPr>
                        <a:t>35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1326583758"/>
              </p:ext>
            </p:extLst>
          </p:nvPr>
        </p:nvGraphicFramePr>
        <p:xfrm>
          <a:off x="8350115" y="3148338"/>
          <a:ext cx="696608" cy="370840"/>
        </p:xfrm>
        <a:graphic>
          <a:graphicData uri="http://schemas.openxmlformats.org/drawingml/2006/table">
            <a:tbl>
              <a:tblPr firstRow="1" bandRow="1">
                <a:tableStyleId>{5C22544A-7EE6-4342-B048-85BDC9FD1C3A}</a:tableStyleId>
              </a:tblPr>
              <a:tblGrid>
                <a:gridCol w="696608"/>
              </a:tblGrid>
              <a:tr h="370840">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2162579561"/>
              </p:ext>
            </p:extLst>
          </p:nvPr>
        </p:nvGraphicFramePr>
        <p:xfrm>
          <a:off x="9646498" y="3164551"/>
          <a:ext cx="671404" cy="370840"/>
        </p:xfrm>
        <a:graphic>
          <a:graphicData uri="http://schemas.openxmlformats.org/drawingml/2006/table">
            <a:tbl>
              <a:tblPr firstRow="1" bandRow="1">
                <a:tableStyleId>{5C22544A-7EE6-4342-B048-85BDC9FD1C3A}</a:tableStyleId>
              </a:tblPr>
              <a:tblGrid>
                <a:gridCol w="671404"/>
              </a:tblGrid>
              <a:tr h="370840">
                <a:tc>
                  <a:txBody>
                    <a:bodyPr/>
                    <a:lstStyle/>
                    <a:p>
                      <a:pPr algn="ctr"/>
                      <a:r>
                        <a:rPr lang="en-IN" b="1" dirty="0" smtClean="0">
                          <a:solidFill>
                            <a:srgbClr val="002060"/>
                          </a:solidFill>
                        </a:rPr>
                        <a:t>75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3" name="Table 22"/>
          <p:cNvGraphicFramePr>
            <a:graphicFrameLocks noGrp="1"/>
          </p:cNvGraphicFramePr>
          <p:nvPr>
            <p:extLst>
              <p:ext uri="{D42A27DB-BD31-4B8C-83A1-F6EECF244321}">
                <p14:modId xmlns:p14="http://schemas.microsoft.com/office/powerpoint/2010/main" val="365436668"/>
              </p:ext>
            </p:extLst>
          </p:nvPr>
        </p:nvGraphicFramePr>
        <p:xfrm>
          <a:off x="11470999" y="3171709"/>
          <a:ext cx="694193" cy="370840"/>
        </p:xfrm>
        <a:graphic>
          <a:graphicData uri="http://schemas.openxmlformats.org/drawingml/2006/table">
            <a:tbl>
              <a:tblPr firstRow="1" bandRow="1">
                <a:tableStyleId>{5C22544A-7EE6-4342-B048-85BDC9FD1C3A}</a:tableStyleId>
              </a:tblPr>
              <a:tblGrid>
                <a:gridCol w="694193"/>
              </a:tblGrid>
              <a:tr h="370840">
                <a:tc>
                  <a:txBody>
                    <a:bodyPr/>
                    <a:lstStyle/>
                    <a:p>
                      <a:pPr marL="0" algn="ctr" defTabSz="914400" rtl="0" eaLnBrk="1" latinLnBrk="0" hangingPunct="1"/>
                      <a:r>
                        <a:rPr lang="en-IN" sz="1800" b="1" kern="1200" dirty="0" smtClean="0">
                          <a:solidFill>
                            <a:srgbClr val="002060"/>
                          </a:solidFill>
                          <a:latin typeface="+mn-lt"/>
                          <a:ea typeface="+mn-ea"/>
                          <a:cs typeface="+mn-cs"/>
                        </a:rPr>
                        <a:t>30</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25" name="Straight Arrow Connector 24"/>
          <p:cNvCxnSpPr/>
          <p:nvPr/>
        </p:nvCxnSpPr>
        <p:spPr>
          <a:xfrm flipH="1">
            <a:off x="2412460" y="1044345"/>
            <a:ext cx="729574" cy="63229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9636867" y="1044345"/>
            <a:ext cx="964127" cy="652916"/>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12" idx="0"/>
          </p:cNvCxnSpPr>
          <p:nvPr/>
        </p:nvCxnSpPr>
        <p:spPr>
          <a:xfrm flipH="1">
            <a:off x="1932435" y="2099139"/>
            <a:ext cx="651879" cy="34556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endCxn id="15" idx="0"/>
          </p:cNvCxnSpPr>
          <p:nvPr/>
        </p:nvCxnSpPr>
        <p:spPr>
          <a:xfrm flipH="1">
            <a:off x="886171" y="2793034"/>
            <a:ext cx="547037" cy="3416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endCxn id="14" idx="0"/>
          </p:cNvCxnSpPr>
          <p:nvPr/>
        </p:nvCxnSpPr>
        <p:spPr>
          <a:xfrm>
            <a:off x="2412460" y="2793034"/>
            <a:ext cx="325208" cy="35872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098714" y="2126287"/>
            <a:ext cx="804026" cy="29803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3953690" y="2768353"/>
            <a:ext cx="547037" cy="3416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5672562" y="2790593"/>
            <a:ext cx="325208" cy="35872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8310980" y="2748809"/>
            <a:ext cx="325208" cy="35872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11572673" y="2793407"/>
            <a:ext cx="325208" cy="35872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7000579" y="2793034"/>
            <a:ext cx="547037" cy="3416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10210582" y="2802991"/>
            <a:ext cx="547037" cy="3416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394447" y="3696538"/>
            <a:ext cx="11658123" cy="106977"/>
          </a:xfrm>
          <a:prstGeom prst="line">
            <a:avLst/>
          </a:prstGeom>
          <a:ln w="25400">
            <a:solidFill>
              <a:srgbClr val="FF0000"/>
            </a:solidFill>
            <a:prstDash val="dashDot"/>
          </a:ln>
        </p:spPr>
        <p:style>
          <a:lnRef idx="1">
            <a:schemeClr val="accent1"/>
          </a:lnRef>
          <a:fillRef idx="0">
            <a:schemeClr val="accent1"/>
          </a:fillRef>
          <a:effectRef idx="0">
            <a:schemeClr val="accent1"/>
          </a:effectRef>
          <a:fontRef idx="minor">
            <a:schemeClr val="tx1"/>
          </a:fontRef>
        </p:style>
      </p:cxnSp>
      <p:graphicFrame>
        <p:nvGraphicFramePr>
          <p:cNvPr id="47" name="Table 46"/>
          <p:cNvGraphicFramePr>
            <a:graphicFrameLocks noGrp="1"/>
          </p:cNvGraphicFramePr>
          <p:nvPr>
            <p:extLst>
              <p:ext uri="{D42A27DB-BD31-4B8C-83A1-F6EECF244321}">
                <p14:modId xmlns:p14="http://schemas.microsoft.com/office/powerpoint/2010/main" val="555468092"/>
              </p:ext>
            </p:extLst>
          </p:nvPr>
        </p:nvGraphicFramePr>
        <p:xfrm>
          <a:off x="1057534" y="4184177"/>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50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60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48" name="Table 47"/>
          <p:cNvGraphicFramePr>
            <a:graphicFrameLocks noGrp="1"/>
          </p:cNvGraphicFramePr>
          <p:nvPr>
            <p:extLst>
              <p:ext uri="{D42A27DB-BD31-4B8C-83A1-F6EECF244321}">
                <p14:modId xmlns:p14="http://schemas.microsoft.com/office/powerpoint/2010/main" val="1637091086"/>
              </p:ext>
            </p:extLst>
          </p:nvPr>
        </p:nvGraphicFramePr>
        <p:xfrm>
          <a:off x="3992888" y="4181736"/>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10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49" name="Table 48"/>
          <p:cNvGraphicFramePr>
            <a:graphicFrameLocks noGrp="1"/>
          </p:cNvGraphicFramePr>
          <p:nvPr>
            <p:extLst>
              <p:ext uri="{D42A27DB-BD31-4B8C-83A1-F6EECF244321}">
                <p14:modId xmlns:p14="http://schemas.microsoft.com/office/powerpoint/2010/main" val="3103242761"/>
              </p:ext>
            </p:extLst>
          </p:nvPr>
        </p:nvGraphicFramePr>
        <p:xfrm>
          <a:off x="7116740" y="4139952"/>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0" name="Table 49"/>
          <p:cNvGraphicFramePr>
            <a:graphicFrameLocks noGrp="1"/>
          </p:cNvGraphicFramePr>
          <p:nvPr>
            <p:extLst>
              <p:ext uri="{D42A27DB-BD31-4B8C-83A1-F6EECF244321}">
                <p14:modId xmlns:p14="http://schemas.microsoft.com/office/powerpoint/2010/main" val="1596388102"/>
              </p:ext>
            </p:extLst>
          </p:nvPr>
        </p:nvGraphicFramePr>
        <p:xfrm>
          <a:off x="10272281" y="4031126"/>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30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75</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1" name="Table 50"/>
          <p:cNvGraphicFramePr>
            <a:graphicFrameLocks noGrp="1"/>
          </p:cNvGraphicFramePr>
          <p:nvPr>
            <p:extLst>
              <p:ext uri="{D42A27DB-BD31-4B8C-83A1-F6EECF244321}">
                <p14:modId xmlns:p14="http://schemas.microsoft.com/office/powerpoint/2010/main" val="2673168285"/>
              </p:ext>
            </p:extLst>
          </p:nvPr>
        </p:nvGraphicFramePr>
        <p:xfrm>
          <a:off x="1932435" y="4998589"/>
          <a:ext cx="3251200" cy="370840"/>
        </p:xfrm>
        <a:graphic>
          <a:graphicData uri="http://schemas.openxmlformats.org/drawingml/2006/table">
            <a:tbl>
              <a:tblPr firstRow="1" bandRow="1">
                <a:tableStyleId>{5C22544A-7EE6-4342-B048-85BDC9FD1C3A}</a:tableStyleId>
              </a:tblPr>
              <a:tblGrid>
                <a:gridCol w="812800"/>
                <a:gridCol w="812800"/>
                <a:gridCol w="812800"/>
                <a:gridCol w="812800"/>
              </a:tblGrid>
              <a:tr h="370840">
                <a:tc>
                  <a:txBody>
                    <a:bodyPr/>
                    <a:lstStyle/>
                    <a:p>
                      <a:pPr algn="ctr"/>
                      <a:r>
                        <a:rPr lang="en-IN" b="1" dirty="0" smtClean="0">
                          <a:solidFill>
                            <a:srgbClr val="002060"/>
                          </a:solidFill>
                        </a:rPr>
                        <a:t>10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60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2" name="Table 51"/>
          <p:cNvGraphicFramePr>
            <a:graphicFrameLocks noGrp="1"/>
          </p:cNvGraphicFramePr>
          <p:nvPr>
            <p:extLst>
              <p:ext uri="{D42A27DB-BD31-4B8C-83A1-F6EECF244321}">
                <p14:modId xmlns:p14="http://schemas.microsoft.com/office/powerpoint/2010/main" val="1843526140"/>
              </p:ext>
            </p:extLst>
          </p:nvPr>
        </p:nvGraphicFramePr>
        <p:xfrm>
          <a:off x="8011267" y="4958473"/>
          <a:ext cx="3251200" cy="370840"/>
        </p:xfrm>
        <a:graphic>
          <a:graphicData uri="http://schemas.openxmlformats.org/drawingml/2006/table">
            <a:tbl>
              <a:tblPr firstRow="1" bandRow="1">
                <a:tableStyleId>{5C22544A-7EE6-4342-B048-85BDC9FD1C3A}</a:tableStyleId>
              </a:tblPr>
              <a:tblGrid>
                <a:gridCol w="812800"/>
                <a:gridCol w="812800"/>
                <a:gridCol w="812800"/>
                <a:gridCol w="812800"/>
              </a:tblGrid>
              <a:tr h="370840">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75</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3" name="Table 52"/>
          <p:cNvGraphicFramePr>
            <a:graphicFrameLocks noGrp="1"/>
          </p:cNvGraphicFramePr>
          <p:nvPr>
            <p:extLst>
              <p:ext uri="{D42A27DB-BD31-4B8C-83A1-F6EECF244321}">
                <p14:modId xmlns:p14="http://schemas.microsoft.com/office/powerpoint/2010/main" val="47347323"/>
              </p:ext>
            </p:extLst>
          </p:nvPr>
        </p:nvGraphicFramePr>
        <p:xfrm>
          <a:off x="3616530" y="5694771"/>
          <a:ext cx="6502400" cy="73152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gridCol w="812800"/>
              </a:tblGrid>
              <a:tr h="316349">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16349">
                <a:tc>
                  <a:txBody>
                    <a:bodyPr/>
                    <a:lstStyle/>
                    <a:p>
                      <a:pPr algn="ctr"/>
                      <a:r>
                        <a:rPr lang="en-IN" b="1" dirty="0" smtClean="0">
                          <a:solidFill>
                            <a:srgbClr val="002060"/>
                          </a:solidFill>
                        </a:rPr>
                        <a:t>10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60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75</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54" name="Straight Arrow Connector 53"/>
          <p:cNvCxnSpPr/>
          <p:nvPr/>
        </p:nvCxnSpPr>
        <p:spPr>
          <a:xfrm>
            <a:off x="1759148" y="4577768"/>
            <a:ext cx="1129966"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H="1">
            <a:off x="3848849" y="4577768"/>
            <a:ext cx="830155"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7870519" y="4577768"/>
            <a:ext cx="1129966"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H="1">
            <a:off x="10330775" y="4443636"/>
            <a:ext cx="1023025" cy="51747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4679004" y="5328435"/>
            <a:ext cx="1129966"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H="1">
            <a:off x="7755252" y="5328435"/>
            <a:ext cx="830155"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941485" y="3525725"/>
            <a:ext cx="603058" cy="65716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a:off x="2091581" y="3529577"/>
            <a:ext cx="685666" cy="65331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7246087" y="3489695"/>
            <a:ext cx="603058" cy="65716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4075946" y="3509339"/>
            <a:ext cx="603058" cy="65716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22" idx="2"/>
          </p:cNvCxnSpPr>
          <p:nvPr/>
        </p:nvCxnSpPr>
        <p:spPr>
          <a:xfrm>
            <a:off x="9982200" y="3535391"/>
            <a:ext cx="655550" cy="54711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H="1">
            <a:off x="11444194" y="3535391"/>
            <a:ext cx="591320" cy="54711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H="1">
            <a:off x="8144550" y="3525725"/>
            <a:ext cx="685666" cy="65331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a:off x="5349004" y="3529577"/>
            <a:ext cx="685666" cy="65331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173779" y="1649449"/>
            <a:ext cx="14247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Dividing</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78" name="TextBox 77"/>
          <p:cNvSpPr txBox="1"/>
          <p:nvPr/>
        </p:nvSpPr>
        <p:spPr>
          <a:xfrm>
            <a:off x="143437" y="5011941"/>
            <a:ext cx="1862488"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Conquering</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79" name="Straight Arrow Connector 78"/>
          <p:cNvCxnSpPr/>
          <p:nvPr/>
        </p:nvCxnSpPr>
        <p:spPr>
          <a:xfrm flipH="1">
            <a:off x="7755252" y="2074863"/>
            <a:ext cx="651879" cy="34556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endCxn id="18" idx="0"/>
          </p:cNvCxnSpPr>
          <p:nvPr/>
        </p:nvCxnSpPr>
        <p:spPr>
          <a:xfrm>
            <a:off x="10399618" y="2133160"/>
            <a:ext cx="605678" cy="25641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1653070" y="5669067"/>
            <a:ext cx="1862488"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Sorted list</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83" name="TextBox 82"/>
          <p:cNvSpPr txBox="1"/>
          <p:nvPr/>
        </p:nvSpPr>
        <p:spPr>
          <a:xfrm>
            <a:off x="10281269" y="5640221"/>
            <a:ext cx="1862488" cy="861774"/>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This tree is called recursive tree call</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6" name="Date Placeholder 5"/>
          <p:cNvSpPr>
            <a:spLocks noGrp="1"/>
          </p:cNvSpPr>
          <p:nvPr>
            <p:ph type="dt" sz="half" idx="10"/>
          </p:nvPr>
        </p:nvSpPr>
        <p:spPr/>
        <p:txBody>
          <a:bodyPr/>
          <a:lstStyle/>
          <a:p>
            <a:fld id="{3A508D25-F97D-4193-929F-618712979ED5}" type="datetime1">
              <a:rPr lang="en-IN" smtClean="0"/>
              <a:t>21-03-2026</a:t>
            </a:fld>
            <a:endParaRPr lang="en-IN"/>
          </a:p>
        </p:txBody>
      </p:sp>
    </p:spTree>
    <p:extLst>
      <p:ext uri="{BB962C8B-B14F-4D97-AF65-F5344CB8AC3E}">
        <p14:creationId xmlns:p14="http://schemas.microsoft.com/office/powerpoint/2010/main" val="2700463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4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23"/>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4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7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64"/>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66"/>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47"/>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69"/>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7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4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68"/>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73"/>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49"/>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70"/>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72"/>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5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54"/>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55"/>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51"/>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58"/>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59"/>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52"/>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60"/>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61"/>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53"/>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82"/>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P spid="82" grpId="0"/>
      <p:bldP spid="8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Merge sort- Example</a:t>
            </a:r>
          </a:p>
          <a:p>
            <a:pPr algn="just"/>
            <a:r>
              <a:rPr lang="en-IN" sz="2000" b="1" dirty="0" smtClean="0">
                <a:solidFill>
                  <a:srgbClr val="002060"/>
                </a:solidFill>
                <a:latin typeface="Times New Roman" panose="02020603050405020304" pitchFamily="18" charset="0"/>
                <a:cs typeface="Times New Roman" panose="02020603050405020304" pitchFamily="18" charset="0"/>
              </a:rPr>
              <a:t>Trace the merge sort algorithm for a given list of elements</a:t>
            </a:r>
          </a:p>
          <a:p>
            <a:pPr algn="just"/>
            <a:r>
              <a:rPr lang="en-IN" sz="2000" b="1" dirty="0" smtClean="0">
                <a:solidFill>
                  <a:srgbClr val="C00000"/>
                </a:solidFill>
                <a:latin typeface="Times New Roman" panose="02020603050405020304" pitchFamily="18" charset="0"/>
                <a:cs typeface="Times New Roman" panose="02020603050405020304" pitchFamily="18" charset="0"/>
              </a:rPr>
              <a:t>  5, 1, 3, 2, 100, 8, 17</a:t>
            </a:r>
          </a:p>
          <a:p>
            <a:pPr algn="just"/>
            <a:r>
              <a:rPr lang="en-IN" sz="2000" b="1" dirty="0" smtClean="0">
                <a:solidFill>
                  <a:srgbClr val="C00000"/>
                </a:solidFill>
                <a:latin typeface="Times New Roman" panose="02020603050405020304" pitchFamily="18" charset="0"/>
                <a:cs typeface="Times New Roman" panose="02020603050405020304" pitchFamily="18" charset="0"/>
              </a:rPr>
              <a:t>Solution:</a:t>
            </a: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smtClean="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r>
              <a:rPr lang="en-IN" sz="2000" b="1" dirty="0" smtClean="0">
                <a:solidFill>
                  <a:srgbClr val="C00000"/>
                </a:solidFill>
                <a:latin typeface="Times New Roman" panose="02020603050405020304" pitchFamily="18" charset="0"/>
                <a:cs typeface="Times New Roman" panose="02020603050405020304" pitchFamily="18" charset="0"/>
              </a:rPr>
              <a:t>Array size is n=7</a:t>
            </a:r>
          </a:p>
          <a:p>
            <a:pPr algn="just"/>
            <a:endParaRPr lang="en-IN" sz="20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52</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047790800"/>
              </p:ext>
            </p:extLst>
          </p:nvPr>
        </p:nvGraphicFramePr>
        <p:xfrm>
          <a:off x="2081591" y="2746262"/>
          <a:ext cx="5689600" cy="74168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tblGrid>
              <a:tr h="370840">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100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9" name="TextBox 8"/>
          <p:cNvSpPr txBox="1"/>
          <p:nvPr/>
        </p:nvSpPr>
        <p:spPr>
          <a:xfrm>
            <a:off x="1032036" y="2640048"/>
            <a:ext cx="943583" cy="646331"/>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Index</a:t>
            </a:r>
          </a:p>
          <a:p>
            <a:endParaRPr lang="en-IN" dirty="0"/>
          </a:p>
        </p:txBody>
      </p:sp>
      <p:cxnSp>
        <p:nvCxnSpPr>
          <p:cNvPr id="11" name="Straight Arrow Connector 10"/>
          <p:cNvCxnSpPr/>
          <p:nvPr/>
        </p:nvCxnSpPr>
        <p:spPr>
          <a:xfrm flipV="1">
            <a:off x="1077789" y="2963213"/>
            <a:ext cx="852075" cy="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680546" y="2354599"/>
            <a:ext cx="943583"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A</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0" name="Date Placeholder 9"/>
          <p:cNvSpPr>
            <a:spLocks noGrp="1"/>
          </p:cNvSpPr>
          <p:nvPr>
            <p:ph type="dt" sz="half" idx="10"/>
          </p:nvPr>
        </p:nvSpPr>
        <p:spPr/>
        <p:txBody>
          <a:bodyPr/>
          <a:lstStyle/>
          <a:p>
            <a:fld id="{71DBDEA6-C31F-4CDB-85DF-698AA28EDC17}" type="datetime1">
              <a:rPr lang="en-IN" smtClean="0"/>
              <a:t>21-03-2026</a:t>
            </a:fld>
            <a:endParaRPr lang="en-IN"/>
          </a:p>
        </p:txBody>
      </p:sp>
    </p:spTree>
    <p:extLst>
      <p:ext uri="{BB962C8B-B14F-4D97-AF65-F5344CB8AC3E}">
        <p14:creationId xmlns:p14="http://schemas.microsoft.com/office/powerpoint/2010/main" val="372656980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4543" y="47518"/>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p:sp>
        <p:nvSpPr>
          <p:cNvPr id="3" name="Subtitle 2"/>
          <p:cNvSpPr>
            <a:spLocks noGrp="1"/>
          </p:cNvSpPr>
          <p:nvPr>
            <p:ph type="subTitle" idx="1"/>
          </p:nvPr>
        </p:nvSpPr>
        <p:spPr>
          <a:xfrm>
            <a:off x="143437" y="611479"/>
            <a:ext cx="12048563" cy="5627707"/>
          </a:xfrm>
        </p:spPr>
        <p:txBody>
          <a:bodyPr>
            <a:normAutofit/>
          </a:bodyPr>
          <a:lstStyle/>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53</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378222423"/>
              </p:ext>
            </p:extLst>
          </p:nvPr>
        </p:nvGraphicFramePr>
        <p:xfrm>
          <a:off x="3161362" y="719447"/>
          <a:ext cx="5689600" cy="73152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tblGrid>
              <a:tr h="316349">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16349">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100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553818463"/>
              </p:ext>
            </p:extLst>
          </p:nvPr>
        </p:nvGraphicFramePr>
        <p:xfrm>
          <a:off x="8021948" y="1741070"/>
          <a:ext cx="2438400" cy="370840"/>
        </p:xfrm>
        <a:graphic>
          <a:graphicData uri="http://schemas.openxmlformats.org/drawingml/2006/table">
            <a:tbl>
              <a:tblPr firstRow="1" bandRow="1">
                <a:tableStyleId>{5C22544A-7EE6-4342-B048-85BDC9FD1C3A}</a:tableStyleId>
              </a:tblPr>
              <a:tblGrid>
                <a:gridCol w="812800"/>
                <a:gridCol w="812800"/>
                <a:gridCol w="812800"/>
              </a:tblGrid>
              <a:tr h="370840">
                <a:tc>
                  <a:txBody>
                    <a:bodyPr/>
                    <a:lstStyle/>
                    <a:p>
                      <a:pPr algn="ctr"/>
                      <a:r>
                        <a:rPr lang="en-IN" b="1" dirty="0" smtClean="0">
                          <a:solidFill>
                            <a:srgbClr val="002060"/>
                          </a:solidFill>
                        </a:rPr>
                        <a:t>100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435789322"/>
              </p:ext>
            </p:extLst>
          </p:nvPr>
        </p:nvGraphicFramePr>
        <p:xfrm>
          <a:off x="1919463" y="1737827"/>
          <a:ext cx="3251200" cy="370840"/>
        </p:xfrm>
        <a:graphic>
          <a:graphicData uri="http://schemas.openxmlformats.org/drawingml/2006/table">
            <a:tbl>
              <a:tblPr firstRow="1" bandRow="1">
                <a:tableStyleId>{5C22544A-7EE6-4342-B048-85BDC9FD1C3A}</a:tableStyleId>
              </a:tblPr>
              <a:tblGrid>
                <a:gridCol w="812800"/>
                <a:gridCol w="812800"/>
                <a:gridCol w="812800"/>
                <a:gridCol w="812800"/>
              </a:tblGrid>
              <a:tr h="370840">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303536465"/>
              </p:ext>
            </p:extLst>
          </p:nvPr>
        </p:nvGraphicFramePr>
        <p:xfrm>
          <a:off x="1119635" y="2444703"/>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563516808"/>
              </p:ext>
            </p:extLst>
          </p:nvPr>
        </p:nvGraphicFramePr>
        <p:xfrm>
          <a:off x="4208705" y="2412278"/>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3055857546"/>
              </p:ext>
            </p:extLst>
          </p:nvPr>
        </p:nvGraphicFramePr>
        <p:xfrm>
          <a:off x="2331268" y="3151762"/>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4217764241"/>
              </p:ext>
            </p:extLst>
          </p:nvPr>
        </p:nvGraphicFramePr>
        <p:xfrm>
          <a:off x="479771" y="3134659"/>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712021409"/>
              </p:ext>
            </p:extLst>
          </p:nvPr>
        </p:nvGraphicFramePr>
        <p:xfrm>
          <a:off x="5486407" y="3148336"/>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4010359274"/>
              </p:ext>
            </p:extLst>
          </p:nvPr>
        </p:nvGraphicFramePr>
        <p:xfrm>
          <a:off x="3618561" y="3145093"/>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307402477"/>
              </p:ext>
            </p:extLst>
          </p:nvPr>
        </p:nvGraphicFramePr>
        <p:xfrm>
          <a:off x="10192496" y="2389579"/>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17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100519002"/>
              </p:ext>
            </p:extLst>
          </p:nvPr>
        </p:nvGraphicFramePr>
        <p:xfrm>
          <a:off x="6985000" y="2396066"/>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100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90983864"/>
              </p:ext>
            </p:extLst>
          </p:nvPr>
        </p:nvGraphicFramePr>
        <p:xfrm>
          <a:off x="6770450" y="3171037"/>
          <a:ext cx="683639" cy="370840"/>
        </p:xfrm>
        <a:graphic>
          <a:graphicData uri="http://schemas.openxmlformats.org/drawingml/2006/table">
            <a:tbl>
              <a:tblPr firstRow="1" bandRow="1">
                <a:tableStyleId>{5C22544A-7EE6-4342-B048-85BDC9FD1C3A}</a:tableStyleId>
              </a:tblPr>
              <a:tblGrid>
                <a:gridCol w="683639"/>
              </a:tblGrid>
              <a:tr h="370840">
                <a:tc>
                  <a:txBody>
                    <a:bodyPr/>
                    <a:lstStyle/>
                    <a:p>
                      <a:pPr algn="ctr"/>
                      <a:r>
                        <a:rPr lang="en-IN" b="1" dirty="0" smtClean="0">
                          <a:solidFill>
                            <a:srgbClr val="002060"/>
                          </a:solidFill>
                        </a:rPr>
                        <a:t>100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2048770801"/>
              </p:ext>
            </p:extLst>
          </p:nvPr>
        </p:nvGraphicFramePr>
        <p:xfrm>
          <a:off x="8350115" y="3148338"/>
          <a:ext cx="696608" cy="370840"/>
        </p:xfrm>
        <a:graphic>
          <a:graphicData uri="http://schemas.openxmlformats.org/drawingml/2006/table">
            <a:tbl>
              <a:tblPr firstRow="1" bandRow="1">
                <a:tableStyleId>{5C22544A-7EE6-4342-B048-85BDC9FD1C3A}</a:tableStyleId>
              </a:tblPr>
              <a:tblGrid>
                <a:gridCol w="696608"/>
              </a:tblGrid>
              <a:tr h="370840">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25" name="Straight Arrow Connector 24"/>
          <p:cNvCxnSpPr/>
          <p:nvPr/>
        </p:nvCxnSpPr>
        <p:spPr>
          <a:xfrm flipH="1">
            <a:off x="2412460" y="1044345"/>
            <a:ext cx="729574" cy="63229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8880476" y="1174635"/>
            <a:ext cx="964127" cy="652916"/>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12" idx="0"/>
          </p:cNvCxnSpPr>
          <p:nvPr/>
        </p:nvCxnSpPr>
        <p:spPr>
          <a:xfrm flipH="1">
            <a:off x="1932435" y="2099139"/>
            <a:ext cx="651879" cy="34556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endCxn id="15" idx="0"/>
          </p:cNvCxnSpPr>
          <p:nvPr/>
        </p:nvCxnSpPr>
        <p:spPr>
          <a:xfrm flipH="1">
            <a:off x="886171" y="2793034"/>
            <a:ext cx="547037" cy="3416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endCxn id="14" idx="0"/>
          </p:cNvCxnSpPr>
          <p:nvPr/>
        </p:nvCxnSpPr>
        <p:spPr>
          <a:xfrm>
            <a:off x="2412460" y="2793034"/>
            <a:ext cx="325208" cy="35872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098714" y="2126287"/>
            <a:ext cx="804026" cy="29803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3953690" y="2768353"/>
            <a:ext cx="547037" cy="3416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5672562" y="2790593"/>
            <a:ext cx="325208" cy="35872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8310980" y="2748809"/>
            <a:ext cx="325208" cy="35872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7000579" y="2793034"/>
            <a:ext cx="547037" cy="3416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endCxn id="50" idx="0"/>
          </p:cNvCxnSpPr>
          <p:nvPr/>
        </p:nvCxnSpPr>
        <p:spPr>
          <a:xfrm flipH="1">
            <a:off x="10678681" y="2790593"/>
            <a:ext cx="9862" cy="1240533"/>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394447" y="3696538"/>
            <a:ext cx="11658123" cy="106977"/>
          </a:xfrm>
          <a:prstGeom prst="line">
            <a:avLst/>
          </a:prstGeom>
          <a:ln w="25400">
            <a:solidFill>
              <a:srgbClr val="FF0000"/>
            </a:solidFill>
            <a:prstDash val="dashDot"/>
          </a:ln>
        </p:spPr>
        <p:style>
          <a:lnRef idx="1">
            <a:schemeClr val="accent1"/>
          </a:lnRef>
          <a:fillRef idx="0">
            <a:schemeClr val="accent1"/>
          </a:fillRef>
          <a:effectRef idx="0">
            <a:schemeClr val="accent1"/>
          </a:effectRef>
          <a:fontRef idx="minor">
            <a:schemeClr val="tx1"/>
          </a:fontRef>
        </p:style>
      </p:cxnSp>
      <p:graphicFrame>
        <p:nvGraphicFramePr>
          <p:cNvPr id="47" name="Table 46"/>
          <p:cNvGraphicFramePr>
            <a:graphicFrameLocks noGrp="1"/>
          </p:cNvGraphicFramePr>
          <p:nvPr>
            <p:extLst>
              <p:ext uri="{D42A27DB-BD31-4B8C-83A1-F6EECF244321}">
                <p14:modId xmlns:p14="http://schemas.microsoft.com/office/powerpoint/2010/main" val="118765735"/>
              </p:ext>
            </p:extLst>
          </p:nvPr>
        </p:nvGraphicFramePr>
        <p:xfrm>
          <a:off x="1057534" y="4184177"/>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48" name="Table 47"/>
          <p:cNvGraphicFramePr>
            <a:graphicFrameLocks noGrp="1"/>
          </p:cNvGraphicFramePr>
          <p:nvPr>
            <p:extLst>
              <p:ext uri="{D42A27DB-BD31-4B8C-83A1-F6EECF244321}">
                <p14:modId xmlns:p14="http://schemas.microsoft.com/office/powerpoint/2010/main" val="2570340420"/>
              </p:ext>
            </p:extLst>
          </p:nvPr>
        </p:nvGraphicFramePr>
        <p:xfrm>
          <a:off x="3992888" y="4181736"/>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49" name="Table 48"/>
          <p:cNvGraphicFramePr>
            <a:graphicFrameLocks noGrp="1"/>
          </p:cNvGraphicFramePr>
          <p:nvPr>
            <p:extLst>
              <p:ext uri="{D42A27DB-BD31-4B8C-83A1-F6EECF244321}">
                <p14:modId xmlns:p14="http://schemas.microsoft.com/office/powerpoint/2010/main" val="3352466280"/>
              </p:ext>
            </p:extLst>
          </p:nvPr>
        </p:nvGraphicFramePr>
        <p:xfrm>
          <a:off x="7116740" y="4139952"/>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100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0" name="Table 49"/>
          <p:cNvGraphicFramePr>
            <a:graphicFrameLocks noGrp="1"/>
          </p:cNvGraphicFramePr>
          <p:nvPr>
            <p:extLst>
              <p:ext uri="{D42A27DB-BD31-4B8C-83A1-F6EECF244321}">
                <p14:modId xmlns:p14="http://schemas.microsoft.com/office/powerpoint/2010/main" val="1041119222"/>
              </p:ext>
            </p:extLst>
          </p:nvPr>
        </p:nvGraphicFramePr>
        <p:xfrm>
          <a:off x="10272281" y="4031126"/>
          <a:ext cx="812800" cy="370840"/>
        </p:xfrm>
        <a:graphic>
          <a:graphicData uri="http://schemas.openxmlformats.org/drawingml/2006/table">
            <a:tbl>
              <a:tblPr firstRow="1" bandRow="1">
                <a:tableStyleId>{5C22544A-7EE6-4342-B048-85BDC9FD1C3A}</a:tableStyleId>
              </a:tblPr>
              <a:tblGrid>
                <a:gridCol w="812800"/>
              </a:tblGrid>
              <a:tr h="370840">
                <a:tc>
                  <a:txBody>
                    <a:bodyPr/>
                    <a:lstStyle/>
                    <a:p>
                      <a:pPr algn="ctr"/>
                      <a:r>
                        <a:rPr lang="en-IN" b="1" dirty="0" smtClean="0">
                          <a:solidFill>
                            <a:srgbClr val="002060"/>
                          </a:solidFill>
                        </a:rPr>
                        <a:t>17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1" name="Table 50"/>
          <p:cNvGraphicFramePr>
            <a:graphicFrameLocks noGrp="1"/>
          </p:cNvGraphicFramePr>
          <p:nvPr>
            <p:extLst>
              <p:ext uri="{D42A27DB-BD31-4B8C-83A1-F6EECF244321}">
                <p14:modId xmlns:p14="http://schemas.microsoft.com/office/powerpoint/2010/main" val="20284213"/>
              </p:ext>
            </p:extLst>
          </p:nvPr>
        </p:nvGraphicFramePr>
        <p:xfrm>
          <a:off x="1932435" y="4998589"/>
          <a:ext cx="3251200" cy="370840"/>
        </p:xfrm>
        <a:graphic>
          <a:graphicData uri="http://schemas.openxmlformats.org/drawingml/2006/table">
            <a:tbl>
              <a:tblPr firstRow="1" bandRow="1">
                <a:tableStyleId>{5C22544A-7EE6-4342-B048-85BDC9FD1C3A}</a:tableStyleId>
              </a:tblPr>
              <a:tblGrid>
                <a:gridCol w="812800"/>
                <a:gridCol w="812800"/>
                <a:gridCol w="812800"/>
                <a:gridCol w="812800"/>
              </a:tblGrid>
              <a:tr h="370840">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2" name="Table 51"/>
          <p:cNvGraphicFramePr>
            <a:graphicFrameLocks noGrp="1"/>
          </p:cNvGraphicFramePr>
          <p:nvPr>
            <p:extLst>
              <p:ext uri="{D42A27DB-BD31-4B8C-83A1-F6EECF244321}">
                <p14:modId xmlns:p14="http://schemas.microsoft.com/office/powerpoint/2010/main" val="3368175211"/>
              </p:ext>
            </p:extLst>
          </p:nvPr>
        </p:nvGraphicFramePr>
        <p:xfrm>
          <a:off x="8011267" y="4958473"/>
          <a:ext cx="2438400" cy="370840"/>
        </p:xfrm>
        <a:graphic>
          <a:graphicData uri="http://schemas.openxmlformats.org/drawingml/2006/table">
            <a:tbl>
              <a:tblPr firstRow="1" bandRow="1">
                <a:tableStyleId>{5C22544A-7EE6-4342-B048-85BDC9FD1C3A}</a:tableStyleId>
              </a:tblPr>
              <a:tblGrid>
                <a:gridCol w="812800"/>
                <a:gridCol w="812800"/>
                <a:gridCol w="812800"/>
              </a:tblGrid>
              <a:tr h="370840">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100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3" name="Table 52"/>
          <p:cNvGraphicFramePr>
            <a:graphicFrameLocks noGrp="1"/>
          </p:cNvGraphicFramePr>
          <p:nvPr>
            <p:extLst>
              <p:ext uri="{D42A27DB-BD31-4B8C-83A1-F6EECF244321}">
                <p14:modId xmlns:p14="http://schemas.microsoft.com/office/powerpoint/2010/main" val="3979375507"/>
              </p:ext>
            </p:extLst>
          </p:nvPr>
        </p:nvGraphicFramePr>
        <p:xfrm>
          <a:off x="3616530" y="5694771"/>
          <a:ext cx="5689600" cy="73152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tblGrid>
              <a:tr h="316349">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16349">
                <a:tc>
                  <a:txBody>
                    <a:bodyPr/>
                    <a:lstStyle/>
                    <a:p>
                      <a:pPr algn="ctr"/>
                      <a:r>
                        <a:rPr lang="en-IN" b="1" dirty="0" smtClean="0">
                          <a:solidFill>
                            <a:srgbClr val="002060"/>
                          </a:solidFill>
                        </a:rPr>
                        <a:t>1</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100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54" name="Straight Arrow Connector 53"/>
          <p:cNvCxnSpPr/>
          <p:nvPr/>
        </p:nvCxnSpPr>
        <p:spPr>
          <a:xfrm>
            <a:off x="1759148" y="4577768"/>
            <a:ext cx="1129966"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H="1">
            <a:off x="3848849" y="4577768"/>
            <a:ext cx="830155"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7870519" y="4577768"/>
            <a:ext cx="1129966"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50" idx="2"/>
          </p:cNvCxnSpPr>
          <p:nvPr/>
        </p:nvCxnSpPr>
        <p:spPr>
          <a:xfrm flipH="1">
            <a:off x="10330776" y="4401966"/>
            <a:ext cx="347905" cy="55914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4679004" y="5328435"/>
            <a:ext cx="1129966"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H="1">
            <a:off x="7755252" y="5284318"/>
            <a:ext cx="830155" cy="38333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941485" y="3525725"/>
            <a:ext cx="603058" cy="65716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a:off x="2091581" y="3529577"/>
            <a:ext cx="685666" cy="65331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7246087" y="3489695"/>
            <a:ext cx="603058" cy="65716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4075946" y="3509339"/>
            <a:ext cx="603058" cy="65716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H="1">
            <a:off x="8144550" y="3525725"/>
            <a:ext cx="685666" cy="65331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a:off x="5349004" y="3529577"/>
            <a:ext cx="685666" cy="65331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173779" y="1649449"/>
            <a:ext cx="14247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Dividing</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78" name="TextBox 77"/>
          <p:cNvSpPr txBox="1"/>
          <p:nvPr/>
        </p:nvSpPr>
        <p:spPr>
          <a:xfrm>
            <a:off x="143437" y="5011941"/>
            <a:ext cx="1862488"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Conquering</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79" name="Straight Arrow Connector 78"/>
          <p:cNvCxnSpPr/>
          <p:nvPr/>
        </p:nvCxnSpPr>
        <p:spPr>
          <a:xfrm flipH="1">
            <a:off x="7755252" y="2074863"/>
            <a:ext cx="651879" cy="34556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endCxn id="18" idx="0"/>
          </p:cNvCxnSpPr>
          <p:nvPr/>
        </p:nvCxnSpPr>
        <p:spPr>
          <a:xfrm>
            <a:off x="10399618" y="2133160"/>
            <a:ext cx="199278" cy="25641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1653070" y="5669067"/>
            <a:ext cx="1862488"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Sorted list</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83" name="TextBox 82"/>
          <p:cNvSpPr txBox="1"/>
          <p:nvPr/>
        </p:nvSpPr>
        <p:spPr>
          <a:xfrm>
            <a:off x="10281269" y="5640221"/>
            <a:ext cx="1862488" cy="861774"/>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This tree is called recursive tree call</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6" name="Date Placeholder 5"/>
          <p:cNvSpPr>
            <a:spLocks noGrp="1"/>
          </p:cNvSpPr>
          <p:nvPr>
            <p:ph type="dt" sz="half" idx="10"/>
          </p:nvPr>
        </p:nvSpPr>
        <p:spPr/>
        <p:txBody>
          <a:bodyPr/>
          <a:lstStyle/>
          <a:p>
            <a:fld id="{301893BC-4DBC-4A98-ABA7-4DE45817C9B9}" type="datetime1">
              <a:rPr lang="en-IN" smtClean="0"/>
              <a:t>21-03-2026</a:t>
            </a:fld>
            <a:endParaRPr lang="en-IN"/>
          </a:p>
        </p:txBody>
      </p:sp>
    </p:spTree>
    <p:extLst>
      <p:ext uri="{BB962C8B-B14F-4D97-AF65-F5344CB8AC3E}">
        <p14:creationId xmlns:p14="http://schemas.microsoft.com/office/powerpoint/2010/main" val="3547950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78"/>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64"/>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6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4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6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7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4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68"/>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73"/>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49"/>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50"/>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54"/>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55"/>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51"/>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58"/>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59"/>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52"/>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60"/>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61"/>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53"/>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82"/>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P spid="82" grpId="0"/>
      <p:bldP spid="8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Time complexity Analysis of Merge sort</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Input size-</a:t>
            </a:r>
            <a:r>
              <a:rPr lang="en-IN" sz="2000" b="1" dirty="0" smtClean="0">
                <a:solidFill>
                  <a:srgbClr val="C00000"/>
                </a:solidFill>
                <a:latin typeface="Times New Roman" panose="02020603050405020304" pitchFamily="18" charset="0"/>
                <a:cs typeface="Times New Roman" panose="02020603050405020304" pitchFamily="18" charset="0"/>
              </a:rPr>
              <a:t> n</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Basic operation- </a:t>
            </a:r>
            <a:r>
              <a:rPr lang="en-IN" sz="2000" b="1" dirty="0">
                <a:solidFill>
                  <a:srgbClr val="C00000"/>
                </a:solidFill>
                <a:latin typeface="Times New Roman" panose="02020603050405020304" pitchFamily="18" charset="0"/>
                <a:cs typeface="Times New Roman" panose="02020603050405020304" pitchFamily="18" charset="0"/>
              </a:rPr>
              <a:t>Divide and merge of n elements</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As basic operation depends only on input size either worst, average or best case can be computed, let </a:t>
            </a:r>
            <a:r>
              <a:rPr lang="en-IN" sz="2000" b="1" dirty="0" err="1" smtClean="0">
                <a:solidFill>
                  <a:srgbClr val="002060"/>
                </a:solidFill>
                <a:latin typeface="Times New Roman" panose="02020603050405020304" pitchFamily="18" charset="0"/>
                <a:cs typeface="Times New Roman" panose="02020603050405020304" pitchFamily="18" charset="0"/>
              </a:rPr>
              <a:t>os</a:t>
            </a:r>
            <a:r>
              <a:rPr lang="en-IN" sz="2000" b="1" dirty="0" smtClean="0">
                <a:solidFill>
                  <a:srgbClr val="002060"/>
                </a:solidFill>
                <a:latin typeface="Times New Roman" panose="02020603050405020304" pitchFamily="18" charset="0"/>
                <a:cs typeface="Times New Roman" panose="02020603050405020304" pitchFamily="18" charset="0"/>
              </a:rPr>
              <a:t> consider worst case complexity</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Recurrence relation for merge sort is </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54</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p:cNvSpPr txBox="1"/>
              <p:nvPr/>
            </p:nvSpPr>
            <p:spPr>
              <a:xfrm>
                <a:off x="1417857" y="3428308"/>
                <a:ext cx="9661947" cy="1074910"/>
              </a:xfrm>
              <a:prstGeom prst="rect">
                <a:avLst/>
              </a:prstGeom>
              <a:noFill/>
              <a:ln>
                <a:solidFill>
                  <a:schemeClr val="accent1"/>
                </a:solidFill>
              </a:ln>
            </p:spPr>
            <p:txBody>
              <a:bodyPr wrap="square" rtlCol="0">
                <a:spAutoFit/>
              </a:bodyPr>
              <a:lstStyle/>
              <a:p>
                <a:r>
                  <a:rPr lang="en-IN" sz="2000" b="1" dirty="0" smtClean="0">
                    <a:solidFill>
                      <a:srgbClr val="FF0000"/>
                    </a:solidFill>
                    <a:cs typeface="Times New Roman" panose="02020603050405020304" pitchFamily="18" charset="0"/>
                  </a:rPr>
                  <a:t>T</a:t>
                </a:r>
                <a14:m>
                  <m:oMath xmlns:m="http://schemas.openxmlformats.org/officeDocument/2006/math">
                    <m:r>
                      <a:rPr lang="en-IN" sz="2000" b="1" i="1" smtClean="0">
                        <a:solidFill>
                          <a:srgbClr val="FF0000"/>
                        </a:solidFill>
                        <a:latin typeface="Cambria Math" panose="02040503050406030204" pitchFamily="18" charset="0"/>
                        <a:cs typeface="Times New Roman" panose="02020603050405020304" pitchFamily="18" charset="0"/>
                      </a:rPr>
                      <m:t>(</m:t>
                    </m:r>
                    <m:r>
                      <a:rPr lang="en-IN" sz="2000" b="1" i="1" smtClean="0">
                        <a:solidFill>
                          <a:srgbClr val="FF0000"/>
                        </a:solidFill>
                        <a:latin typeface="Cambria Math" panose="02040503050406030204" pitchFamily="18" charset="0"/>
                        <a:cs typeface="Times New Roman" panose="02020603050405020304" pitchFamily="18" charset="0"/>
                      </a:rPr>
                      <m:t>𝒏</m:t>
                    </m:r>
                    <m:r>
                      <a:rPr lang="en-IN" sz="2000" b="1" i="1" smtClean="0">
                        <a:solidFill>
                          <a:srgbClr val="FF0000"/>
                        </a:solidFill>
                        <a:latin typeface="Cambria Math" panose="02040503050406030204" pitchFamily="18" charset="0"/>
                        <a:cs typeface="Times New Roman" panose="02020603050405020304" pitchFamily="18" charset="0"/>
                      </a:rPr>
                      <m:t>)=</m:t>
                    </m:r>
                    <m:d>
                      <m:dPr>
                        <m:begChr m:val="{"/>
                        <m:endChr m:val="}"/>
                        <m:ctrlPr>
                          <a:rPr lang="pt-BR" sz="2000" b="1" i="1" smtClean="0">
                            <a:solidFill>
                              <a:srgbClr val="002060"/>
                            </a:solidFill>
                            <a:latin typeface="Cambria Math"/>
                            <a:cs typeface="Times New Roman" panose="02020603050405020304" pitchFamily="18" charset="0"/>
                          </a:rPr>
                        </m:ctrlPr>
                      </m:dPr>
                      <m:e>
                        <m:eqArr>
                          <m:eqArrPr>
                            <m:ctrlPr>
                              <a:rPr lang="en-IN" sz="2000" b="1" i="1" smtClean="0">
                                <a:solidFill>
                                  <a:srgbClr val="002060"/>
                                </a:solidFill>
                                <a:latin typeface="Cambria Math"/>
                                <a:cs typeface="Times New Roman" panose="02020603050405020304" pitchFamily="18" charset="0"/>
                              </a:rPr>
                            </m:ctrlPr>
                          </m:eqArrPr>
                          <m:e>
                            <m:r>
                              <a:rPr lang="en-IN" sz="2000" b="1" i="1" smtClean="0">
                                <a:solidFill>
                                  <a:srgbClr val="002060"/>
                                </a:solidFill>
                                <a:latin typeface="Cambria Math" panose="02040503050406030204" pitchFamily="18" charset="0"/>
                                <a:cs typeface="Times New Roman" panose="02020603050405020304" pitchFamily="18" charset="0"/>
                              </a:rPr>
                              <m:t>𝟎</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
                          <m:e>
                            <m:r>
                              <a:rPr lang="en-IN" sz="2000" b="1" i="1" smtClean="0">
                                <a:solidFill>
                                  <a:srgbClr val="002060"/>
                                </a:solidFill>
                                <a:latin typeface="Cambria Math" panose="02040503050406030204" pitchFamily="18" charset="0"/>
                                <a:cs typeface="Times New Roman" panose="02020603050405020304" pitchFamily="18" charset="0"/>
                              </a:rPr>
                              <m:t>𝑻</m:t>
                            </m:r>
                            <m:d>
                              <m:dPr>
                                <m:ctrlPr>
                                  <a:rPr lang="en-IN" sz="2000" b="1" i="1" smtClean="0">
                                    <a:solidFill>
                                      <a:srgbClr val="002060"/>
                                    </a:solidFill>
                                    <a:latin typeface="Cambria Math"/>
                                    <a:cs typeface="Times New Roman" panose="02020603050405020304" pitchFamily="18" charset="0"/>
                                  </a:rPr>
                                </m:ctrlPr>
                              </m:dPr>
                              <m:e>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𝟐</m:t>
                                </m:r>
                              </m:e>
                            </m:d>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𝟐</m:t>
                                </m:r>
                              </m:e>
                            </m:d>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&gt;</m:t>
                            </m:r>
                            <m:r>
                              <a:rPr lang="en-IN" sz="2000" b="1" i="1" smtClean="0">
                                <a:solidFill>
                                  <a:srgbClr val="002060"/>
                                </a:solidFill>
                                <a:latin typeface="Cambria Math" panose="02040503050406030204" pitchFamily="18" charset="0"/>
                                <a:cs typeface="Times New Roman" panose="02020603050405020304" pitchFamily="18" charset="0"/>
                              </a:rPr>
                              <m:t>𝟏</m:t>
                            </m:r>
                          </m:e>
                        </m:eqArr>
                      </m:e>
                    </m:d>
                  </m:oMath>
                </a14:m>
                <a:endParaRPr lang="en-IN" sz="28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417857" y="3428308"/>
                <a:ext cx="9661947" cy="1074910"/>
              </a:xfrm>
              <a:prstGeom prst="rect">
                <a:avLst/>
              </a:prstGeom>
              <a:blipFill rotWithShape="0">
                <a:blip r:embed="rId5"/>
                <a:stretch>
                  <a:fillRect l="-630"/>
                </a:stretch>
              </a:blipFill>
              <a:ln>
                <a:solidFill>
                  <a:schemeClr val="accent1"/>
                </a:solidFill>
              </a:ln>
            </p:spPr>
            <p:txBody>
              <a:bodyPr/>
              <a:lstStyle/>
              <a:p>
                <a:r>
                  <a:rPr lang="en-IN">
                    <a:noFill/>
                  </a:rPr>
                  <a:t> </a:t>
                </a:r>
              </a:p>
            </p:txBody>
          </p:sp>
        </mc:Fallback>
      </mc:AlternateContent>
      <p:sp>
        <p:nvSpPr>
          <p:cNvPr id="11" name="TextBox 10"/>
          <p:cNvSpPr txBox="1"/>
          <p:nvPr/>
        </p:nvSpPr>
        <p:spPr>
          <a:xfrm>
            <a:off x="143438" y="5291911"/>
            <a:ext cx="2414936" cy="923330"/>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Time required to sort left part of the array</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2" name="TextBox 11"/>
          <p:cNvSpPr txBox="1"/>
          <p:nvPr/>
        </p:nvSpPr>
        <p:spPr>
          <a:xfrm>
            <a:off x="3362312" y="5303712"/>
            <a:ext cx="2537011" cy="923330"/>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Time required to sort </a:t>
            </a:r>
            <a:r>
              <a:rPr lang="en-IN" b="1" dirty="0" smtClean="0">
                <a:solidFill>
                  <a:srgbClr val="FF0000"/>
                </a:solidFill>
                <a:latin typeface="Times New Roman" panose="02020603050405020304" pitchFamily="18" charset="0"/>
                <a:cs typeface="Times New Roman" panose="02020603050405020304" pitchFamily="18" charset="0"/>
              </a:rPr>
              <a:t>right </a:t>
            </a:r>
            <a:r>
              <a:rPr lang="en-IN" b="1" dirty="0">
                <a:solidFill>
                  <a:srgbClr val="FF0000"/>
                </a:solidFill>
                <a:latin typeface="Times New Roman" panose="02020603050405020304" pitchFamily="18" charset="0"/>
                <a:cs typeface="Times New Roman" panose="02020603050405020304" pitchFamily="18" charset="0"/>
              </a:rPr>
              <a:t>part of the array</a:t>
            </a:r>
          </a:p>
          <a:p>
            <a:endParaRPr lang="en-IN" dirty="0"/>
          </a:p>
        </p:txBody>
      </p:sp>
      <p:sp>
        <p:nvSpPr>
          <p:cNvPr id="13" name="TextBox 12"/>
          <p:cNvSpPr txBox="1"/>
          <p:nvPr/>
        </p:nvSpPr>
        <p:spPr>
          <a:xfrm>
            <a:off x="6486512" y="5243280"/>
            <a:ext cx="3445428" cy="923330"/>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Time required to </a:t>
            </a:r>
            <a:r>
              <a:rPr lang="en-IN" b="1" dirty="0" smtClean="0">
                <a:solidFill>
                  <a:srgbClr val="FF0000"/>
                </a:solidFill>
                <a:latin typeface="Times New Roman" panose="02020603050405020304" pitchFamily="18" charset="0"/>
                <a:cs typeface="Times New Roman" panose="02020603050405020304" pitchFamily="18" charset="0"/>
              </a:rPr>
              <a:t>divide and merge list with n elements </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14" name="Straight Arrow Connector 13"/>
          <p:cNvCxnSpPr/>
          <p:nvPr/>
        </p:nvCxnSpPr>
        <p:spPr>
          <a:xfrm flipH="1">
            <a:off x="1503828" y="4503218"/>
            <a:ext cx="1404742" cy="800494"/>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4041534" y="4431431"/>
            <a:ext cx="24628" cy="927798"/>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885361" y="4424202"/>
            <a:ext cx="2750852" cy="819078"/>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2847C3A1-7B1A-4AAE-9E75-2E710853531F}" type="datetime1">
              <a:rPr lang="en-IN" smtClean="0"/>
              <a:t>21-03-2026</a:t>
            </a:fld>
            <a:endParaRPr lang="en-IN"/>
          </a:p>
        </p:txBody>
      </p:sp>
    </p:spTree>
    <p:extLst>
      <p:ext uri="{BB962C8B-B14F-4D97-AF65-F5344CB8AC3E}">
        <p14:creationId xmlns:p14="http://schemas.microsoft.com/office/powerpoint/2010/main" val="4191717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Time complexity Analysis of Merge sort</a:t>
                </a:r>
              </a:p>
              <a:p>
                <a:pPr algn="just"/>
                <a:r>
                  <a:rPr lang="en-IN" sz="2000" b="1" dirty="0" smtClean="0">
                    <a:solidFill>
                      <a:srgbClr val="002060"/>
                    </a:solidFill>
                    <a:latin typeface="Times New Roman" panose="02020603050405020304" pitchFamily="18" charset="0"/>
                    <a:cs typeface="Times New Roman" panose="02020603050405020304" pitchFamily="18" charset="0"/>
                  </a:rPr>
                  <a:t>The above recurrence relation can be rewritten as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Time </a:t>
                </a:r>
                <a:r>
                  <a:rPr lang="en-IN" sz="2000" b="1" dirty="0">
                    <a:solidFill>
                      <a:srgbClr val="002060"/>
                    </a:solidFill>
                    <a:latin typeface="Times New Roman" panose="02020603050405020304" pitchFamily="18" charset="0"/>
                    <a:cs typeface="Times New Roman" panose="02020603050405020304" pitchFamily="18" charset="0"/>
                  </a:rPr>
                  <a:t>complexity Analysis of Merge </a:t>
                </a:r>
                <a:r>
                  <a:rPr lang="en-IN" sz="2000" b="1" dirty="0" smtClean="0">
                    <a:solidFill>
                      <a:srgbClr val="002060"/>
                    </a:solidFill>
                    <a:latin typeface="Times New Roman" panose="02020603050405020304" pitchFamily="18" charset="0"/>
                    <a:cs typeface="Times New Roman" panose="02020603050405020304" pitchFamily="18" charset="0"/>
                  </a:rPr>
                  <a:t>sort </a:t>
                </a:r>
                <a:r>
                  <a:rPr lang="en-IN" sz="2000" b="1" dirty="0" smtClean="0">
                    <a:solidFill>
                      <a:srgbClr val="C00000"/>
                    </a:solidFill>
                    <a:latin typeface="Times New Roman" panose="02020603050405020304" pitchFamily="18" charset="0"/>
                    <a:cs typeface="Times New Roman" panose="02020603050405020304" pitchFamily="18" charset="0"/>
                  </a:rPr>
                  <a:t>based on Masters theorem</a:t>
                </a:r>
              </a:p>
              <a:p>
                <a:pPr algn="just"/>
                <a:endParaRPr lang="en-IN" sz="2000" b="1" dirty="0" smtClean="0">
                  <a:solidFill>
                    <a:srgbClr val="C00000"/>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IN" sz="2000" b="1" i="1">
                          <a:solidFill>
                            <a:srgbClr val="002060"/>
                          </a:solidFill>
                          <a:latin typeface="Cambria Math" panose="02040503050406030204" pitchFamily="18" charset="0"/>
                          <a:cs typeface="Times New Roman" panose="02020603050405020304" pitchFamily="18" charset="0"/>
                        </a:rPr>
                        <m:t>𝒂𝑻</m:t>
                      </m:r>
                      <m:d>
                        <m:dPr>
                          <m:ctrlPr>
                            <a:rPr lang="en-IN" sz="2000" b="1" i="1">
                              <a:solidFill>
                                <a:srgbClr val="002060"/>
                              </a:solidFill>
                              <a:latin typeface="Cambria Math"/>
                              <a:cs typeface="Times New Roman" panose="02020603050405020304" pitchFamily="18" charset="0"/>
                            </a:rPr>
                          </m:ctrlPr>
                        </m:dPr>
                        <m:e>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𝒃</m:t>
                          </m:r>
                        </m:e>
                      </m:d>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𝒇</m:t>
                      </m:r>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oMath>
                  </m:oMathPara>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a= 2, b=2, f(n) = n</a:t>
                </a:r>
              </a:p>
              <a:p>
                <a:pPr algn="just"/>
                <a:r>
                  <a:rPr lang="en-IN" sz="2000" b="1" dirty="0">
                    <a:solidFill>
                      <a:srgbClr val="002060"/>
                    </a:solidFill>
                    <a:latin typeface="Times New Roman" panose="02020603050405020304" pitchFamily="18" charset="0"/>
                    <a:cs typeface="Times New Roman" panose="02020603050405020304" pitchFamily="18" charset="0"/>
                  </a:rPr>
                  <a:t>f(n) = </a:t>
                </a:r>
                <a:r>
                  <a:rPr lang="en-IN" sz="2000" b="1" dirty="0" err="1" smtClean="0">
                    <a:solidFill>
                      <a:srgbClr val="002060"/>
                    </a:solidFill>
                    <a:latin typeface="Times New Roman" panose="02020603050405020304" pitchFamily="18" charset="0"/>
                    <a:cs typeface="Times New Roman" panose="02020603050405020304" pitchFamily="18" charset="0"/>
                  </a:rPr>
                  <a:t>n</a:t>
                </a:r>
                <a:r>
                  <a:rPr lang="en-IN" sz="2000" b="1" baseline="30000" dirty="0" err="1" smtClean="0">
                    <a:solidFill>
                      <a:srgbClr val="002060"/>
                    </a:solidFill>
                    <a:latin typeface="Times New Roman" panose="02020603050405020304" pitchFamily="18" charset="0"/>
                    <a:cs typeface="Times New Roman" panose="02020603050405020304" pitchFamily="18" charset="0"/>
                  </a:rPr>
                  <a:t>d</a:t>
                </a:r>
                <a:r>
                  <a:rPr lang="en-IN" sz="2000" b="1" baseline="30000" dirty="0" smtClean="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f(n</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n</a:t>
                </a:r>
                <a:r>
                  <a:rPr lang="en-IN" sz="2000" b="1" baseline="30000"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thus </a:t>
                </a:r>
                <a:r>
                  <a:rPr lang="en-IN" sz="2000" b="1" dirty="0" smtClean="0">
                    <a:solidFill>
                      <a:srgbClr val="002060"/>
                    </a:solidFill>
                    <a:latin typeface="Times New Roman" panose="02020603050405020304" pitchFamily="18" charset="0"/>
                    <a:cs typeface="Times New Roman" panose="02020603050405020304" pitchFamily="18" charset="0"/>
                  </a:rPr>
                  <a:t>  d=1</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According to masters theorem second condition holds good, as 2=2</a:t>
                </a:r>
                <a:r>
                  <a:rPr lang="en-IN" sz="2000" b="1" baseline="30000" dirty="0" smtClean="0">
                    <a:solidFill>
                      <a:srgbClr val="002060"/>
                    </a:solidFill>
                    <a:latin typeface="Times New Roman" panose="02020603050405020304" pitchFamily="18" charset="0"/>
                    <a:cs typeface="Times New Roman" panose="02020603050405020304" pitchFamily="18" charset="0"/>
                  </a:rPr>
                  <a:t>1 </a:t>
                </a:r>
                <a:r>
                  <a:rPr lang="en-IN" sz="2000" b="1" dirty="0" smtClean="0">
                    <a:solidFill>
                      <a:srgbClr val="002060"/>
                    </a:solidFill>
                    <a:latin typeface="Times New Roman" panose="02020603050405020304" pitchFamily="18" charset="0"/>
                    <a:cs typeface="Times New Roman" panose="02020603050405020304" pitchFamily="18" charset="0"/>
                  </a:rPr>
                  <a:t>is </a:t>
                </a:r>
                <a14:m>
                  <m:oMath xmlns:m="http://schemas.openxmlformats.org/officeDocument/2006/math">
                    <m:r>
                      <a:rPr lang="en-IN" sz="2000" b="1" i="0" dirty="0" smtClean="0">
                        <a:solidFill>
                          <a:srgbClr val="002060"/>
                        </a:solidFill>
                        <a:latin typeface="Cambria Math" panose="02040503050406030204" pitchFamily="18" charset="0"/>
                        <a:cs typeface="Times New Roman" panose="02020603050405020304" pitchFamily="18" charset="0"/>
                      </a:rPr>
                      <m:t> </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baseline="30000" dirty="0">
                        <a:solidFill>
                          <a:srgbClr val="002060"/>
                        </a:solidFill>
                        <a:latin typeface="Times New Roman" panose="02020603050405020304" pitchFamily="18" charset="0"/>
                        <a:cs typeface="Times New Roman" panose="02020603050405020304" pitchFamily="18" charset="0"/>
                      </a:rPr>
                      <m:t>d</m:t>
                    </m:r>
                    <m:r>
                      <m:rPr>
                        <m:nor/>
                      </m:rPr>
                      <a:rPr lang="en-IN" sz="2000" b="1" baseline="30000" dirty="0">
                        <a:solidFill>
                          <a:srgbClr val="002060"/>
                        </a:solidFill>
                        <a:latin typeface="Times New Roman" panose="02020603050405020304" pitchFamily="18" charset="0"/>
                        <a:cs typeface="Times New Roman" panose="02020603050405020304" pitchFamily="18" charset="0"/>
                      </a:rPr>
                      <m:t> </m:t>
                    </m:r>
                    <m:r>
                      <m:rPr>
                        <m:nor/>
                      </m:rPr>
                      <a:rPr lang="en-IN" sz="2000" b="1" dirty="0">
                        <a:solidFill>
                          <a:srgbClr val="002060"/>
                        </a:solidFill>
                        <a:latin typeface="Times New Roman" panose="02020603050405020304" pitchFamily="18" charset="0"/>
                        <a:cs typeface="Times New Roman" panose="02020603050405020304" pitchFamily="18" charset="0"/>
                      </a:rPr>
                      <m:t>logn</m:t>
                    </m:r>
                    <m:r>
                      <m:rPr>
                        <m:nor/>
                      </m:rPr>
                      <a:rPr lang="en-IN" sz="2000" b="1" dirty="0">
                        <a:solidFill>
                          <a:srgbClr val="002060"/>
                        </a:solidFill>
                        <a:latin typeface="Times New Roman" panose="02020603050405020304" pitchFamily="18" charset="0"/>
                        <a:cs typeface="Times New Roman" panose="02020603050405020304" pitchFamily="18" charset="0"/>
                      </a:rPr>
                      <m:t> </m:t>
                    </m:r>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14:m>
                  <m:oMath xmlns:m="http://schemas.openxmlformats.org/officeDocument/2006/math">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i="0" baseline="30000" dirty="0" smtClean="0">
                        <a:solidFill>
                          <a:srgbClr val="002060"/>
                        </a:solidFill>
                        <a:latin typeface="Times New Roman" panose="02020603050405020304" pitchFamily="18" charset="0"/>
                        <a:cs typeface="Times New Roman" panose="02020603050405020304" pitchFamily="18" charset="0"/>
                      </a:rPr>
                      <m:t>1</m:t>
                    </m:r>
                    <m:r>
                      <m:rPr>
                        <m:nor/>
                      </m:rPr>
                      <a:rPr lang="en-IN" sz="2000" b="1" baseline="30000" dirty="0">
                        <a:solidFill>
                          <a:srgbClr val="002060"/>
                        </a:solidFill>
                        <a:latin typeface="Times New Roman" panose="02020603050405020304" pitchFamily="18" charset="0"/>
                        <a:cs typeface="Times New Roman" panose="02020603050405020304" pitchFamily="18" charset="0"/>
                      </a:rPr>
                      <m:t> </m:t>
                    </m:r>
                    <m:r>
                      <m:rPr>
                        <m:nor/>
                      </m:rPr>
                      <a:rPr lang="en-IN" sz="2000" b="1" dirty="0">
                        <a:solidFill>
                          <a:srgbClr val="002060"/>
                        </a:solidFill>
                        <a:latin typeface="Times New Roman" panose="02020603050405020304" pitchFamily="18" charset="0"/>
                        <a:cs typeface="Times New Roman" panose="02020603050405020304" pitchFamily="18" charset="0"/>
                      </a:rPr>
                      <m:t>logn</m:t>
                    </m:r>
                  </m:oMath>
                </a14:m>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err="1">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e</a:t>
                </a:r>
                <a:endParaRPr lang="en-IN" sz="20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7" y="862739"/>
                <a:ext cx="11797552" cy="5627707"/>
              </a:xfrm>
              <a:blipFill rotWithShape="0">
                <a:blip r:embed="rId3"/>
                <a:stretch>
                  <a:fillRect l="-827" t="-1517"/>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55</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p:cNvSpPr txBox="1"/>
              <p:nvPr/>
            </p:nvSpPr>
            <p:spPr>
              <a:xfrm>
                <a:off x="1244854" y="2008316"/>
                <a:ext cx="9661947" cy="1074910"/>
              </a:xfrm>
              <a:prstGeom prst="rect">
                <a:avLst/>
              </a:prstGeom>
              <a:noFill/>
              <a:ln>
                <a:solidFill>
                  <a:schemeClr val="accent1"/>
                </a:solidFill>
              </a:ln>
            </p:spPr>
            <p:txBody>
              <a:bodyPr wrap="square" rtlCol="0">
                <a:spAutoFit/>
              </a:bodyPr>
              <a:lstStyle/>
              <a:p>
                <a:r>
                  <a:rPr lang="en-IN" sz="2000" b="1" dirty="0" smtClean="0">
                    <a:solidFill>
                      <a:srgbClr val="FF0000"/>
                    </a:solidFill>
                    <a:cs typeface="Times New Roman" panose="02020603050405020304" pitchFamily="18" charset="0"/>
                  </a:rPr>
                  <a:t>T</a:t>
                </a:r>
                <a14:m>
                  <m:oMath xmlns:m="http://schemas.openxmlformats.org/officeDocument/2006/math">
                    <m:r>
                      <a:rPr lang="en-IN" sz="2000" b="1" i="1" smtClean="0">
                        <a:solidFill>
                          <a:srgbClr val="FF0000"/>
                        </a:solidFill>
                        <a:latin typeface="Cambria Math" panose="02040503050406030204" pitchFamily="18" charset="0"/>
                        <a:cs typeface="Times New Roman" panose="02020603050405020304" pitchFamily="18" charset="0"/>
                      </a:rPr>
                      <m:t>(</m:t>
                    </m:r>
                    <m:r>
                      <a:rPr lang="en-IN" sz="2000" b="1" i="1" smtClean="0">
                        <a:solidFill>
                          <a:srgbClr val="FF0000"/>
                        </a:solidFill>
                        <a:latin typeface="Cambria Math" panose="02040503050406030204" pitchFamily="18" charset="0"/>
                        <a:cs typeface="Times New Roman" panose="02020603050405020304" pitchFamily="18" charset="0"/>
                      </a:rPr>
                      <m:t>𝒏</m:t>
                    </m:r>
                    <m:r>
                      <a:rPr lang="en-IN" sz="2000" b="1" i="1" smtClean="0">
                        <a:solidFill>
                          <a:srgbClr val="FF0000"/>
                        </a:solidFill>
                        <a:latin typeface="Cambria Math" panose="02040503050406030204" pitchFamily="18" charset="0"/>
                        <a:cs typeface="Times New Roman" panose="02020603050405020304" pitchFamily="18" charset="0"/>
                      </a:rPr>
                      <m:t>)=</m:t>
                    </m:r>
                    <m:d>
                      <m:dPr>
                        <m:begChr m:val="{"/>
                        <m:endChr m:val="}"/>
                        <m:ctrlPr>
                          <a:rPr lang="pt-BR" sz="2000" b="1" i="1" smtClean="0">
                            <a:solidFill>
                              <a:srgbClr val="002060"/>
                            </a:solidFill>
                            <a:latin typeface="Cambria Math"/>
                            <a:cs typeface="Times New Roman" panose="02020603050405020304" pitchFamily="18" charset="0"/>
                          </a:rPr>
                        </m:ctrlPr>
                      </m:dPr>
                      <m:e>
                        <m:eqArr>
                          <m:eqArrPr>
                            <m:ctrlPr>
                              <a:rPr lang="en-IN" sz="2000" b="1" i="1" smtClean="0">
                                <a:solidFill>
                                  <a:srgbClr val="002060"/>
                                </a:solidFill>
                                <a:latin typeface="Cambria Math"/>
                                <a:cs typeface="Times New Roman" panose="02020603050405020304" pitchFamily="18" charset="0"/>
                              </a:rPr>
                            </m:ctrlPr>
                          </m:eqArrPr>
                          <m:e>
                            <m:r>
                              <a:rPr lang="en-IN" sz="2000" b="1" i="1" smtClean="0">
                                <a:solidFill>
                                  <a:srgbClr val="002060"/>
                                </a:solidFill>
                                <a:latin typeface="Cambria Math" panose="02040503050406030204" pitchFamily="18" charset="0"/>
                                <a:cs typeface="Times New Roman" panose="02020603050405020304" pitchFamily="18" charset="0"/>
                              </a:rPr>
                              <m:t>𝟎</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
                          <m:e>
                            <m:r>
                              <a:rPr lang="en-IN" sz="2000" b="1" i="1" smtClean="0">
                                <a:solidFill>
                                  <a:srgbClr val="002060"/>
                                </a:solidFill>
                                <a:latin typeface="Cambria Math" panose="02040503050406030204" pitchFamily="18" charset="0"/>
                                <a:cs typeface="Times New Roman" panose="02020603050405020304" pitchFamily="18" charset="0"/>
                              </a:rPr>
                              <m:t>𝟐</m:t>
                            </m:r>
                            <m:r>
                              <a:rPr lang="en-IN" sz="2000" b="1" i="1" smtClean="0">
                                <a:solidFill>
                                  <a:srgbClr val="002060"/>
                                </a:solidFill>
                                <a:latin typeface="Cambria Math" panose="02040503050406030204" pitchFamily="18" charset="0"/>
                                <a:cs typeface="Times New Roman" panose="02020603050405020304" pitchFamily="18" charset="0"/>
                              </a:rPr>
                              <m:t>𝑻</m:t>
                            </m:r>
                            <m:d>
                              <m:dPr>
                                <m:ctrlPr>
                                  <a:rPr lang="en-IN" sz="2000" b="1" i="1" smtClean="0">
                                    <a:solidFill>
                                      <a:srgbClr val="002060"/>
                                    </a:solidFill>
                                    <a:latin typeface="Cambria Math"/>
                                    <a:cs typeface="Times New Roman" panose="02020603050405020304" pitchFamily="18" charset="0"/>
                                  </a:rPr>
                                </m:ctrlPr>
                              </m:dPr>
                              <m:e>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𝟐</m:t>
                                </m:r>
                              </m:e>
                            </m:d>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&gt;</m:t>
                            </m:r>
                            <m:r>
                              <a:rPr lang="en-IN" sz="2000" b="1" i="1" smtClean="0">
                                <a:solidFill>
                                  <a:srgbClr val="002060"/>
                                </a:solidFill>
                                <a:latin typeface="Cambria Math" panose="02040503050406030204" pitchFamily="18" charset="0"/>
                                <a:cs typeface="Times New Roman" panose="02020603050405020304" pitchFamily="18" charset="0"/>
                              </a:rPr>
                              <m:t>𝟏</m:t>
                            </m:r>
                          </m:e>
                        </m:eqArr>
                      </m:e>
                    </m:d>
                  </m:oMath>
                </a14:m>
                <a:endParaRPr lang="en-IN" sz="28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244854" y="2008316"/>
                <a:ext cx="9661947" cy="1074910"/>
              </a:xfrm>
              <a:prstGeom prst="rect">
                <a:avLst/>
              </a:prstGeom>
              <a:blipFill rotWithShape="0">
                <a:blip r:embed="rId6"/>
                <a:stretch>
                  <a:fillRect l="-567"/>
                </a:stretch>
              </a:blipFill>
              <a:ln>
                <a:solidFill>
                  <a:schemeClr val="accent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721925" y="3183881"/>
                <a:ext cx="3834535" cy="1759521"/>
              </a:xfrm>
              <a:prstGeom prst="rect">
                <a:avLst/>
              </a:prstGeom>
            </p:spPr>
            <p:txBody>
              <a:bodyPr wrap="square">
                <a:spAutoFit/>
              </a:bodyPr>
              <a:lstStyle/>
              <a:p>
                <a:pPr algn="just"/>
                <a:endParaRPr lang="en-IN" b="1" dirty="0">
                  <a:solidFill>
                    <a:srgbClr val="00B0F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T(n)</a:t>
                </a:r>
                <a:r>
                  <a:rPr lang="az-Cyrl-AZ" b="1" dirty="0">
                    <a:solidFill>
                      <a:srgbClr val="002060"/>
                    </a:solidFill>
                    <a:latin typeface="Times New Roman" panose="02020603050405020304" pitchFamily="18" charset="0"/>
                    <a:cs typeface="Times New Roman" panose="02020603050405020304" pitchFamily="18" charset="0"/>
                  </a:rPr>
                  <a:t> Є </a:t>
                </a:r>
                <a14:m>
                  <m:oMath xmlns:m="http://schemas.openxmlformats.org/officeDocument/2006/math">
                    <m:d>
                      <m:dPr>
                        <m:begChr m:val="{"/>
                        <m:endChr m:val="}"/>
                        <m:ctrlPr>
                          <a:rPr lang="en-IN" b="1" i="1">
                            <a:solidFill>
                              <a:srgbClr val="002060"/>
                            </a:solidFill>
                            <a:latin typeface="Cambria Math"/>
                            <a:cs typeface="Times New Roman" panose="02020603050405020304" pitchFamily="18" charset="0"/>
                          </a:rPr>
                        </m:ctrlPr>
                      </m:dPr>
                      <m:e>
                        <m:eqArr>
                          <m:eqArrPr>
                            <m:ctrlPr>
                              <a:rPr lang="el-GR" b="1" i="1" dirty="0">
                                <a:solidFill>
                                  <a:srgbClr val="002060"/>
                                </a:solidFill>
                                <a:latin typeface="Cambria Math"/>
                                <a:cs typeface="Times New Roman" panose="02020603050405020304" pitchFamily="18" charset="0"/>
                              </a:rPr>
                            </m:ctrlPr>
                          </m:eqArrPr>
                          <m:e>
                            <m:r>
                              <m:rPr>
                                <m:nor/>
                              </m:rPr>
                              <a:rPr lang="el-GR" b="1" dirty="0">
                                <a:solidFill>
                                  <a:srgbClr val="002060"/>
                                </a:solidFill>
                                <a:latin typeface="Times New Roman" panose="02020603050405020304" pitchFamily="18" charset="0"/>
                                <a:cs typeface="Times New Roman" panose="02020603050405020304" pitchFamily="18" charset="0"/>
                              </a:rPr>
                              <m:t>Θ</m:t>
                            </m:r>
                            <m:r>
                              <m:rPr>
                                <m:nor/>
                              </m:rPr>
                              <a:rPr lang="en-IN" b="1" dirty="0">
                                <a:solidFill>
                                  <a:srgbClr val="002060"/>
                                </a:solidFill>
                                <a:latin typeface="Times New Roman" panose="02020603050405020304" pitchFamily="18" charset="0"/>
                                <a:cs typeface="Times New Roman" panose="02020603050405020304" pitchFamily="18" charset="0"/>
                              </a:rPr>
                              <m:t>(</m:t>
                            </m:r>
                            <m:r>
                              <m:rPr>
                                <m:nor/>
                              </m:rPr>
                              <a:rPr lang="en-IN" b="1" dirty="0">
                                <a:solidFill>
                                  <a:srgbClr val="002060"/>
                                </a:solidFill>
                                <a:latin typeface="Times New Roman" panose="02020603050405020304" pitchFamily="18" charset="0"/>
                                <a:cs typeface="Times New Roman" panose="02020603050405020304" pitchFamily="18" charset="0"/>
                              </a:rPr>
                              <m:t>nd</m:t>
                            </m:r>
                            <m:r>
                              <m:rPr>
                                <m:nor/>
                              </m:rPr>
                              <a:rPr lang="en-IN" b="1" dirty="0">
                                <a:solidFill>
                                  <a:srgbClr val="002060"/>
                                </a:solidFill>
                                <a:latin typeface="Times New Roman" panose="02020603050405020304" pitchFamily="18" charset="0"/>
                                <a:cs typeface="Times New Roman" panose="02020603050405020304" pitchFamily="18" charset="0"/>
                              </a:rPr>
                              <m:t>)                </m:t>
                            </m:r>
                            <m:r>
                              <m:rPr>
                                <m:nor/>
                              </m:rPr>
                              <a:rPr lang="en-IN" b="1" dirty="0">
                                <a:solidFill>
                                  <a:srgbClr val="002060"/>
                                </a:solidFill>
                                <a:latin typeface="Times New Roman" panose="02020603050405020304" pitchFamily="18" charset="0"/>
                                <a:cs typeface="Times New Roman" panose="02020603050405020304" pitchFamily="18" charset="0"/>
                              </a:rPr>
                              <m:t>if</m:t>
                            </m:r>
                            <m:r>
                              <m:rPr>
                                <m:nor/>
                              </m:rPr>
                              <a:rPr lang="en-IN" b="1" dirty="0">
                                <a:solidFill>
                                  <a:srgbClr val="002060"/>
                                </a:solidFill>
                                <a:latin typeface="Times New Roman" panose="02020603050405020304" pitchFamily="18" charset="0"/>
                                <a:cs typeface="Times New Roman" panose="02020603050405020304" pitchFamily="18" charset="0"/>
                              </a:rPr>
                              <m:t> </m:t>
                            </m:r>
                            <m:r>
                              <m:rPr>
                                <m:nor/>
                              </m:rPr>
                              <a:rPr lang="en-IN" b="1" dirty="0">
                                <a:solidFill>
                                  <a:srgbClr val="002060"/>
                                </a:solidFill>
                                <a:latin typeface="Times New Roman" panose="02020603050405020304" pitchFamily="18" charset="0"/>
                                <a:cs typeface="Times New Roman" panose="02020603050405020304" pitchFamily="18" charset="0"/>
                              </a:rPr>
                              <m:t>a</m:t>
                            </m:r>
                            <m:r>
                              <m:rPr>
                                <m:nor/>
                              </m:rPr>
                              <a:rPr lang="en-IN" b="1" dirty="0">
                                <a:solidFill>
                                  <a:srgbClr val="002060"/>
                                </a:solidFill>
                                <a:latin typeface="Times New Roman" panose="02020603050405020304" pitchFamily="18" charset="0"/>
                                <a:cs typeface="Times New Roman" panose="02020603050405020304" pitchFamily="18" charset="0"/>
                              </a:rPr>
                              <m:t> &lt; </m:t>
                            </m:r>
                            <m:r>
                              <m:rPr>
                                <m:nor/>
                              </m:rPr>
                              <a:rPr lang="en-IN" b="1" dirty="0">
                                <a:solidFill>
                                  <a:srgbClr val="002060"/>
                                </a:solidFill>
                                <a:latin typeface="Times New Roman" panose="02020603050405020304" pitchFamily="18" charset="0"/>
                                <a:cs typeface="Times New Roman" panose="02020603050405020304" pitchFamily="18" charset="0"/>
                              </a:rPr>
                              <m:t>bd</m:t>
                            </m:r>
                          </m:e>
                          <m:e/>
                          <m:e>
                            <m:r>
                              <m:rPr>
                                <m:nor/>
                              </m:rPr>
                              <a:rPr lang="el-GR" b="1" dirty="0">
                                <a:solidFill>
                                  <a:srgbClr val="002060"/>
                                </a:solidFill>
                                <a:latin typeface="Times New Roman" panose="02020603050405020304" pitchFamily="18" charset="0"/>
                                <a:cs typeface="Times New Roman" panose="02020603050405020304" pitchFamily="18" charset="0"/>
                              </a:rPr>
                              <m:t>Θ</m:t>
                            </m:r>
                            <m:r>
                              <m:rPr>
                                <m:nor/>
                              </m:rPr>
                              <a:rPr lang="en-IN" b="1" dirty="0">
                                <a:solidFill>
                                  <a:srgbClr val="002060"/>
                                </a:solidFill>
                                <a:latin typeface="Times New Roman" panose="02020603050405020304" pitchFamily="18" charset="0"/>
                                <a:cs typeface="Times New Roman" panose="02020603050405020304" pitchFamily="18" charset="0"/>
                              </a:rPr>
                              <m:t>(</m:t>
                            </m:r>
                            <m:r>
                              <m:rPr>
                                <m:nor/>
                              </m:rPr>
                              <a:rPr lang="en-IN" b="1" dirty="0">
                                <a:solidFill>
                                  <a:srgbClr val="002060"/>
                                </a:solidFill>
                                <a:latin typeface="Times New Roman" panose="02020603050405020304" pitchFamily="18" charset="0"/>
                                <a:cs typeface="Times New Roman" panose="02020603050405020304" pitchFamily="18" charset="0"/>
                              </a:rPr>
                              <m:t>nd</m:t>
                            </m:r>
                            <m:r>
                              <m:rPr>
                                <m:nor/>
                              </m:rPr>
                              <a:rPr lang="en-IN" b="1" baseline="30000" dirty="0">
                                <a:solidFill>
                                  <a:srgbClr val="002060"/>
                                </a:solidFill>
                                <a:latin typeface="Times New Roman" panose="02020603050405020304" pitchFamily="18" charset="0"/>
                                <a:cs typeface="Times New Roman" panose="02020603050405020304" pitchFamily="18" charset="0"/>
                              </a:rPr>
                              <m:t> </m:t>
                            </m:r>
                            <m:r>
                              <m:rPr>
                                <m:nor/>
                              </m:rPr>
                              <a:rPr lang="en-IN" b="1" dirty="0">
                                <a:solidFill>
                                  <a:srgbClr val="002060"/>
                                </a:solidFill>
                                <a:latin typeface="Times New Roman" panose="02020603050405020304" pitchFamily="18" charset="0"/>
                                <a:cs typeface="Times New Roman" panose="02020603050405020304" pitchFamily="18" charset="0"/>
                              </a:rPr>
                              <m:t>logn</m:t>
                            </m:r>
                            <m:r>
                              <m:rPr>
                                <m:nor/>
                              </m:rPr>
                              <a:rPr lang="en-IN" b="1" dirty="0">
                                <a:solidFill>
                                  <a:srgbClr val="002060"/>
                                </a:solidFill>
                                <a:latin typeface="Times New Roman" panose="02020603050405020304" pitchFamily="18" charset="0"/>
                                <a:cs typeface="Times New Roman" panose="02020603050405020304" pitchFamily="18" charset="0"/>
                              </a:rPr>
                              <m:t>)          </m:t>
                            </m:r>
                            <m:r>
                              <m:rPr>
                                <m:nor/>
                              </m:rPr>
                              <a:rPr lang="en-IN" b="1" dirty="0">
                                <a:solidFill>
                                  <a:srgbClr val="002060"/>
                                </a:solidFill>
                                <a:latin typeface="Times New Roman" panose="02020603050405020304" pitchFamily="18" charset="0"/>
                                <a:cs typeface="Times New Roman" panose="02020603050405020304" pitchFamily="18" charset="0"/>
                              </a:rPr>
                              <m:t>if</m:t>
                            </m:r>
                            <m:r>
                              <m:rPr>
                                <m:nor/>
                              </m:rPr>
                              <a:rPr lang="en-IN" b="1" dirty="0">
                                <a:solidFill>
                                  <a:srgbClr val="002060"/>
                                </a:solidFill>
                                <a:latin typeface="Times New Roman" panose="02020603050405020304" pitchFamily="18" charset="0"/>
                                <a:cs typeface="Times New Roman" panose="02020603050405020304" pitchFamily="18" charset="0"/>
                              </a:rPr>
                              <m:t> </m:t>
                            </m:r>
                            <m:r>
                              <m:rPr>
                                <m:nor/>
                              </m:rPr>
                              <a:rPr lang="en-IN" b="1" dirty="0">
                                <a:solidFill>
                                  <a:srgbClr val="002060"/>
                                </a:solidFill>
                                <a:latin typeface="Times New Roman" panose="02020603050405020304" pitchFamily="18" charset="0"/>
                                <a:cs typeface="Times New Roman" panose="02020603050405020304" pitchFamily="18" charset="0"/>
                              </a:rPr>
                              <m:t>a</m:t>
                            </m:r>
                            <m:r>
                              <m:rPr>
                                <m:nor/>
                              </m:rPr>
                              <a:rPr lang="en-IN" b="1" dirty="0">
                                <a:solidFill>
                                  <a:srgbClr val="002060"/>
                                </a:solidFill>
                                <a:latin typeface="Times New Roman" panose="02020603050405020304" pitchFamily="18" charset="0"/>
                                <a:cs typeface="Times New Roman" panose="02020603050405020304" pitchFamily="18" charset="0"/>
                              </a:rPr>
                              <m:t> = </m:t>
                            </m:r>
                            <m:r>
                              <m:rPr>
                                <m:nor/>
                              </m:rPr>
                              <a:rPr lang="en-IN" b="1" dirty="0">
                                <a:solidFill>
                                  <a:srgbClr val="002060"/>
                                </a:solidFill>
                                <a:latin typeface="Times New Roman" panose="02020603050405020304" pitchFamily="18" charset="0"/>
                                <a:cs typeface="Times New Roman" panose="02020603050405020304" pitchFamily="18" charset="0"/>
                              </a:rPr>
                              <m:t>bd</m:t>
                            </m:r>
                          </m:e>
                          <m:e/>
                          <m:e>
                            <m:r>
                              <m:rPr>
                                <m:nor/>
                              </m:rPr>
                              <a:rPr lang="el-GR" b="1" dirty="0">
                                <a:solidFill>
                                  <a:srgbClr val="002060"/>
                                </a:solidFill>
                                <a:latin typeface="Times New Roman" panose="02020603050405020304" pitchFamily="18" charset="0"/>
                                <a:cs typeface="Times New Roman" panose="02020603050405020304" pitchFamily="18" charset="0"/>
                              </a:rPr>
                              <m:t>Θ</m:t>
                            </m:r>
                            <m:sSup>
                              <m:sSupPr>
                                <m:ctrlPr>
                                  <a:rPr lang="el-GR" b="1" i="1" dirty="0">
                                    <a:solidFill>
                                      <a:srgbClr val="002060"/>
                                    </a:solidFill>
                                    <a:latin typeface="Cambria Math"/>
                                    <a:cs typeface="Times New Roman" panose="02020603050405020304" pitchFamily="18" charset="0"/>
                                  </a:rPr>
                                </m:ctrlPr>
                              </m:sSupPr>
                              <m:e>
                                <m:r>
                                  <a:rPr lang="en-IN" b="1" i="1" dirty="0">
                                    <a:solidFill>
                                      <a:srgbClr val="002060"/>
                                    </a:solidFill>
                                    <a:latin typeface="Cambria Math" panose="02040503050406030204" pitchFamily="18" charset="0"/>
                                    <a:cs typeface="Times New Roman" panose="02020603050405020304" pitchFamily="18" charset="0"/>
                                  </a:rPr>
                                  <m:t>(</m:t>
                                </m:r>
                                <m:r>
                                  <a:rPr lang="en-IN" b="1" i="1" dirty="0">
                                    <a:solidFill>
                                      <a:srgbClr val="002060"/>
                                    </a:solidFill>
                                    <a:latin typeface="Cambria Math" panose="02040503050406030204" pitchFamily="18" charset="0"/>
                                    <a:cs typeface="Times New Roman" panose="02020603050405020304" pitchFamily="18" charset="0"/>
                                  </a:rPr>
                                  <m:t>𝒏</m:t>
                                </m:r>
                              </m:e>
                              <m:sup>
                                <m:r>
                                  <a:rPr lang="en-IN" b="1" i="1" dirty="0">
                                    <a:solidFill>
                                      <a:srgbClr val="002060"/>
                                    </a:solidFill>
                                    <a:latin typeface="Cambria Math" panose="02040503050406030204" pitchFamily="18" charset="0"/>
                                    <a:cs typeface="Times New Roman" panose="02020603050405020304" pitchFamily="18" charset="0"/>
                                  </a:rPr>
                                  <m:t>𝒍𝒐𝒈</m:t>
                                </m:r>
                                <m:r>
                                  <a:rPr lang="en-IN" b="1" i="1" baseline="-25000" dirty="0">
                                    <a:solidFill>
                                      <a:srgbClr val="002060"/>
                                    </a:solidFill>
                                    <a:latin typeface="Cambria Math" panose="02040503050406030204" pitchFamily="18" charset="0"/>
                                    <a:cs typeface="Times New Roman" panose="02020603050405020304" pitchFamily="18" charset="0"/>
                                  </a:rPr>
                                  <m:t>𝒂</m:t>
                                </m:r>
                                <m:r>
                                  <a:rPr lang="en-IN" b="1" i="1" dirty="0">
                                    <a:solidFill>
                                      <a:srgbClr val="002060"/>
                                    </a:solidFill>
                                    <a:latin typeface="Cambria Math" panose="02040503050406030204" pitchFamily="18" charset="0"/>
                                    <a:cs typeface="Times New Roman" panose="02020603050405020304" pitchFamily="18" charset="0"/>
                                  </a:rPr>
                                  <m:t>𝒃</m:t>
                                </m:r>
                              </m:sup>
                            </m:sSup>
                            <m:r>
                              <a:rPr lang="en-IN" b="1" i="1" dirty="0">
                                <a:solidFill>
                                  <a:srgbClr val="002060"/>
                                </a:solidFill>
                                <a:latin typeface="Cambria Math" panose="02040503050406030204" pitchFamily="18" charset="0"/>
                                <a:cs typeface="Times New Roman" panose="02020603050405020304" pitchFamily="18" charset="0"/>
                              </a:rPr>
                              <m:t>)</m:t>
                            </m:r>
                            <m:r>
                              <m:rPr>
                                <m:nor/>
                              </m:rPr>
                              <a:rPr lang="en-IN" b="1" dirty="0">
                                <a:solidFill>
                                  <a:srgbClr val="002060"/>
                                </a:solidFill>
                                <a:latin typeface="Cambria Math" panose="02040503050406030204" pitchFamily="18" charset="0"/>
                                <a:cs typeface="Times New Roman" panose="02020603050405020304" pitchFamily="18" charset="0"/>
                              </a:rPr>
                              <m:t>        </m:t>
                            </m:r>
                            <m:r>
                              <m:rPr>
                                <m:nor/>
                              </m:rPr>
                              <a:rPr lang="en-IN" b="1" dirty="0">
                                <a:solidFill>
                                  <a:srgbClr val="002060"/>
                                </a:solidFill>
                                <a:latin typeface="Times New Roman" panose="02020603050405020304" pitchFamily="18" charset="0"/>
                                <a:cs typeface="Times New Roman" panose="02020603050405020304" pitchFamily="18" charset="0"/>
                              </a:rPr>
                              <m:t>if</m:t>
                            </m:r>
                            <m:r>
                              <m:rPr>
                                <m:nor/>
                              </m:rPr>
                              <a:rPr lang="en-IN" b="1" dirty="0">
                                <a:solidFill>
                                  <a:srgbClr val="002060"/>
                                </a:solidFill>
                                <a:latin typeface="Times New Roman" panose="02020603050405020304" pitchFamily="18" charset="0"/>
                                <a:cs typeface="Times New Roman" panose="02020603050405020304" pitchFamily="18" charset="0"/>
                              </a:rPr>
                              <m:t> </m:t>
                            </m:r>
                            <m:r>
                              <m:rPr>
                                <m:nor/>
                              </m:rPr>
                              <a:rPr lang="en-IN" b="1" dirty="0">
                                <a:solidFill>
                                  <a:srgbClr val="002060"/>
                                </a:solidFill>
                                <a:latin typeface="Times New Roman" panose="02020603050405020304" pitchFamily="18" charset="0"/>
                                <a:cs typeface="Times New Roman" panose="02020603050405020304" pitchFamily="18" charset="0"/>
                              </a:rPr>
                              <m:t>a</m:t>
                            </m:r>
                            <m:r>
                              <m:rPr>
                                <m:nor/>
                              </m:rPr>
                              <a:rPr lang="en-IN" b="1" dirty="0">
                                <a:solidFill>
                                  <a:srgbClr val="002060"/>
                                </a:solidFill>
                                <a:latin typeface="Times New Roman" panose="02020603050405020304" pitchFamily="18" charset="0"/>
                                <a:cs typeface="Times New Roman" panose="02020603050405020304" pitchFamily="18" charset="0"/>
                              </a:rPr>
                              <m:t> &gt; </m:t>
                            </m:r>
                            <m:r>
                              <m:rPr>
                                <m:nor/>
                              </m:rPr>
                              <a:rPr lang="en-IN" b="1" dirty="0">
                                <a:solidFill>
                                  <a:srgbClr val="002060"/>
                                </a:solidFill>
                                <a:latin typeface="Times New Roman" panose="02020603050405020304" pitchFamily="18" charset="0"/>
                                <a:cs typeface="Times New Roman" panose="02020603050405020304" pitchFamily="18" charset="0"/>
                              </a:rPr>
                              <m:t>bd</m:t>
                            </m:r>
                          </m:e>
                        </m:eqArr>
                      </m:e>
                    </m:d>
                  </m:oMath>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7721925" y="3183881"/>
                <a:ext cx="3834535" cy="1759521"/>
              </a:xfrm>
              <a:prstGeom prst="rect">
                <a:avLst/>
              </a:prstGeom>
              <a:blipFill rotWithShape="0">
                <a:blip r:embed="rId7"/>
                <a:stretch>
                  <a:fillRect l="-1431"/>
                </a:stretch>
              </a:blipFill>
            </p:spPr>
            <p:txBody>
              <a:bodyPr/>
              <a:lstStyle/>
              <a:p>
                <a:r>
                  <a:rPr lang="en-IN">
                    <a:noFill/>
                  </a:rPr>
                  <a:t> </a:t>
                </a:r>
              </a:p>
            </p:txBody>
          </p:sp>
        </mc:Fallback>
      </mc:AlternateContent>
      <p:sp>
        <p:nvSpPr>
          <p:cNvPr id="16" name="TextBox 15"/>
          <p:cNvSpPr txBox="1"/>
          <p:nvPr/>
        </p:nvSpPr>
        <p:spPr>
          <a:xfrm>
            <a:off x="2638966" y="5725211"/>
            <a:ext cx="4073120" cy="523220"/>
          </a:xfrm>
          <a:prstGeom prst="rect">
            <a:avLst/>
          </a:prstGeom>
          <a:noFill/>
          <a:ln>
            <a:solidFill>
              <a:schemeClr val="accent1"/>
            </a:solidFill>
          </a:ln>
        </p:spPr>
        <p:txBody>
          <a:bodyPr wrap="square" rtlCol="0">
            <a:spAutoFit/>
          </a:bodyPr>
          <a:lstStyle/>
          <a:p>
            <a:pPr algn="just"/>
            <a:r>
              <a:rPr lang="en-IN" sz="2800" b="1" dirty="0">
                <a:solidFill>
                  <a:srgbClr val="002060"/>
                </a:solidFill>
                <a:latin typeface="Times New Roman" panose="02020603050405020304" pitchFamily="18" charset="0"/>
                <a:cs typeface="Times New Roman" panose="02020603050405020304" pitchFamily="18" charset="0"/>
              </a:rPr>
              <a:t>T(n)</a:t>
            </a:r>
            <a:r>
              <a:rPr lang="en-IN" sz="2800" b="1" baseline="-25000" dirty="0">
                <a:solidFill>
                  <a:srgbClr val="002060"/>
                </a:solidFill>
                <a:latin typeface="Times New Roman" panose="02020603050405020304" pitchFamily="18" charset="0"/>
                <a:cs typeface="Times New Roman" panose="02020603050405020304" pitchFamily="18" charset="0"/>
              </a:rPr>
              <a:t>worst</a:t>
            </a:r>
            <a:r>
              <a:rPr lang="en-IN" sz="2800" b="1" dirty="0">
                <a:solidFill>
                  <a:srgbClr val="002060"/>
                </a:solidFill>
                <a:latin typeface="Times New Roman" panose="02020603050405020304" pitchFamily="18" charset="0"/>
                <a:cs typeface="Times New Roman" panose="02020603050405020304" pitchFamily="18" charset="0"/>
              </a:rPr>
              <a:t> = </a:t>
            </a:r>
            <a:r>
              <a:rPr lang="en-IN" sz="2800" b="1" dirty="0" smtClean="0">
                <a:solidFill>
                  <a:srgbClr val="C00000"/>
                </a:solidFill>
                <a:latin typeface="Times New Roman" panose="02020603050405020304" pitchFamily="18" charset="0"/>
                <a:cs typeface="Times New Roman" panose="02020603050405020304" pitchFamily="18" charset="0"/>
              </a:rPr>
              <a:t>(</a:t>
            </a:r>
            <a:r>
              <a:rPr lang="en-IN" sz="2800" b="1" dirty="0">
                <a:solidFill>
                  <a:srgbClr val="C00000"/>
                </a:solidFill>
                <a:latin typeface="Times New Roman" panose="02020603050405020304" pitchFamily="18" charset="0"/>
                <a:cs typeface="Times New Roman" panose="02020603050405020304" pitchFamily="18" charset="0"/>
              </a:rPr>
              <a:t>n </a:t>
            </a:r>
            <a:r>
              <a:rPr lang="en-IN" sz="2800" b="1" dirty="0" err="1">
                <a:solidFill>
                  <a:srgbClr val="C00000"/>
                </a:solidFill>
                <a:latin typeface="Times New Roman" panose="02020603050405020304" pitchFamily="18" charset="0"/>
                <a:cs typeface="Times New Roman" panose="02020603050405020304" pitchFamily="18" charset="0"/>
              </a:rPr>
              <a:t>logn</a:t>
            </a:r>
            <a:r>
              <a:rPr lang="en-IN" sz="2800" b="1" dirty="0">
                <a:solidFill>
                  <a:srgbClr val="C00000"/>
                </a:solidFill>
                <a:latin typeface="Times New Roman" panose="02020603050405020304" pitchFamily="18" charset="0"/>
                <a:cs typeface="Times New Roman" panose="02020603050405020304" pitchFamily="18" charset="0"/>
              </a:rPr>
              <a:t>)</a:t>
            </a:r>
          </a:p>
        </p:txBody>
      </p:sp>
      <p:sp>
        <p:nvSpPr>
          <p:cNvPr id="9" name="Date Placeholder 8"/>
          <p:cNvSpPr>
            <a:spLocks noGrp="1"/>
          </p:cNvSpPr>
          <p:nvPr>
            <p:ph type="dt" sz="half" idx="10"/>
          </p:nvPr>
        </p:nvSpPr>
        <p:spPr/>
        <p:txBody>
          <a:bodyPr/>
          <a:lstStyle/>
          <a:p>
            <a:fld id="{652B8628-DE46-49AB-8756-2369ECC0B820}" type="datetime1">
              <a:rPr lang="en-IN" smtClean="0"/>
              <a:t>21-03-2026</a:t>
            </a:fld>
            <a:endParaRPr lang="en-IN"/>
          </a:p>
        </p:txBody>
      </p:sp>
    </p:spTree>
    <p:extLst>
      <p:ext uri="{BB962C8B-B14F-4D97-AF65-F5344CB8AC3E}">
        <p14:creationId xmlns:p14="http://schemas.microsoft.com/office/powerpoint/2010/main" val="43629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p:bldP spid="1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Quick sort</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Quicksort </a:t>
            </a:r>
            <a:r>
              <a:rPr lang="en-US" sz="2000" b="1" dirty="0">
                <a:solidFill>
                  <a:srgbClr val="002060"/>
                </a:solidFill>
                <a:latin typeface="Times New Roman" panose="02020603050405020304" pitchFamily="18" charset="0"/>
                <a:cs typeface="Times New Roman" panose="02020603050405020304" pitchFamily="18" charset="0"/>
              </a:rPr>
              <a:t>is the other important sorting algorithm that is based on the </a:t>
            </a:r>
            <a:r>
              <a:rPr lang="en-US" sz="2000" b="1" dirty="0" smtClean="0">
                <a:solidFill>
                  <a:srgbClr val="002060"/>
                </a:solidFill>
                <a:latin typeface="Times New Roman" panose="02020603050405020304" pitchFamily="18" charset="0"/>
                <a:cs typeface="Times New Roman" panose="02020603050405020304" pitchFamily="18" charset="0"/>
              </a:rPr>
              <a:t>divide-and conquer </a:t>
            </a:r>
            <a:r>
              <a:rPr lang="en-IN" sz="2000" b="1" dirty="0" smtClean="0">
                <a:solidFill>
                  <a:srgbClr val="002060"/>
                </a:solidFill>
                <a:latin typeface="Times New Roman" panose="02020603050405020304" pitchFamily="18" charset="0"/>
                <a:cs typeface="Times New Roman" panose="02020603050405020304" pitchFamily="18" charset="0"/>
              </a:rPr>
              <a:t>approach.</a:t>
            </a:r>
          </a:p>
          <a:p>
            <a:pPr algn="just"/>
            <a:r>
              <a:rPr lang="en-US" sz="2000" b="1" dirty="0">
                <a:solidFill>
                  <a:srgbClr val="C00000"/>
                </a:solidFill>
                <a:latin typeface="Times New Roman" panose="02020603050405020304" pitchFamily="18" charset="0"/>
                <a:cs typeface="Times New Roman" panose="02020603050405020304" pitchFamily="18" charset="0"/>
              </a:rPr>
              <a:t>Q</a:t>
            </a:r>
            <a:r>
              <a:rPr lang="en-US" sz="2000" b="1" dirty="0" smtClean="0">
                <a:solidFill>
                  <a:srgbClr val="C00000"/>
                </a:solidFill>
                <a:latin typeface="Times New Roman" panose="02020603050405020304" pitchFamily="18" charset="0"/>
                <a:cs typeface="Times New Roman" panose="02020603050405020304" pitchFamily="18" charset="0"/>
              </a:rPr>
              <a:t>uicksort </a:t>
            </a:r>
            <a:r>
              <a:rPr lang="en-US" sz="2000" b="1" dirty="0">
                <a:solidFill>
                  <a:srgbClr val="C00000"/>
                </a:solidFill>
                <a:latin typeface="Times New Roman" panose="02020603050405020304" pitchFamily="18" charset="0"/>
                <a:cs typeface="Times New Roman" panose="02020603050405020304" pitchFamily="18" charset="0"/>
              </a:rPr>
              <a:t>divides input elements according to their </a:t>
            </a:r>
            <a:r>
              <a:rPr lang="en-US" sz="2000" b="1" dirty="0" smtClean="0">
                <a:solidFill>
                  <a:srgbClr val="C00000"/>
                </a:solidFill>
                <a:latin typeface="Times New Roman" panose="02020603050405020304" pitchFamily="18" charset="0"/>
                <a:cs typeface="Times New Roman" panose="02020603050405020304" pitchFamily="18" charset="0"/>
              </a:rPr>
              <a:t>value.</a:t>
            </a:r>
          </a:p>
          <a:p>
            <a:pPr algn="just"/>
            <a:r>
              <a:rPr lang="en-US" sz="2000" b="1" dirty="0">
                <a:solidFill>
                  <a:srgbClr val="002060"/>
                </a:solidFill>
                <a:latin typeface="Times New Roman" panose="02020603050405020304" pitchFamily="18" charset="0"/>
                <a:cs typeface="Times New Roman" panose="02020603050405020304" pitchFamily="18" charset="0"/>
              </a:rPr>
              <a:t>A partition is an arrangement of the </a:t>
            </a:r>
            <a:r>
              <a:rPr lang="en-US" sz="2000" b="1" dirty="0" smtClean="0">
                <a:solidFill>
                  <a:srgbClr val="002060"/>
                </a:solidFill>
                <a:latin typeface="Times New Roman" panose="02020603050405020304" pitchFamily="18" charset="0"/>
                <a:cs typeface="Times New Roman" panose="02020603050405020304" pitchFamily="18" charset="0"/>
              </a:rPr>
              <a:t>array’s elements </a:t>
            </a:r>
            <a:r>
              <a:rPr lang="en-US" sz="2000" b="1" dirty="0">
                <a:solidFill>
                  <a:srgbClr val="002060"/>
                </a:solidFill>
                <a:latin typeface="Times New Roman" panose="02020603050405020304" pitchFamily="18" charset="0"/>
                <a:cs typeface="Times New Roman" panose="02020603050405020304" pitchFamily="18" charset="0"/>
              </a:rPr>
              <a:t>so that </a:t>
            </a:r>
            <a:endParaRPr lang="en-US" sz="2000" b="1" dirty="0" smtClean="0">
              <a:solidFill>
                <a:srgbClr val="002060"/>
              </a:solidFill>
              <a:latin typeface="Times New Roman" panose="02020603050405020304" pitchFamily="18" charset="0"/>
              <a:cs typeface="Times New Roman" panose="02020603050405020304" pitchFamily="18" charset="0"/>
            </a:endParaRPr>
          </a:p>
          <a:p>
            <a:pPr marL="800100" lvl="1" indent="-342900" algn="just">
              <a:buFont typeface="Arial" panose="020B0604020202020204" pitchFamily="34" charset="0"/>
              <a:buChar char="•"/>
            </a:pPr>
            <a:r>
              <a:rPr lang="en-US" b="1" dirty="0">
                <a:solidFill>
                  <a:srgbClr val="002060"/>
                </a:solidFill>
                <a:latin typeface="Times New Roman" panose="02020603050405020304" pitchFamily="18" charset="0"/>
                <a:cs typeface="Times New Roman" panose="02020603050405020304" pitchFamily="18" charset="0"/>
              </a:rPr>
              <a:t>All the elements to the </a:t>
            </a:r>
            <a:r>
              <a:rPr lang="en-US" b="1" dirty="0">
                <a:solidFill>
                  <a:srgbClr val="C00000"/>
                </a:solidFill>
                <a:latin typeface="Times New Roman" panose="02020603050405020304" pitchFamily="18" charset="0"/>
                <a:cs typeface="Times New Roman" panose="02020603050405020304" pitchFamily="18" charset="0"/>
              </a:rPr>
              <a:t>left of some element </a:t>
            </a:r>
            <a:r>
              <a:rPr lang="en-US" b="1" dirty="0" smtClean="0">
                <a:solidFill>
                  <a:srgbClr val="C00000"/>
                </a:solidFill>
                <a:latin typeface="Times New Roman" panose="02020603050405020304" pitchFamily="18" charset="0"/>
                <a:cs typeface="Times New Roman" panose="02020603050405020304" pitchFamily="18" charset="0"/>
              </a:rPr>
              <a:t>A[S] </a:t>
            </a:r>
            <a:r>
              <a:rPr lang="en-US" b="1" dirty="0">
                <a:solidFill>
                  <a:srgbClr val="C00000"/>
                </a:solidFill>
                <a:latin typeface="Times New Roman" panose="02020603050405020304" pitchFamily="18" charset="0"/>
                <a:cs typeface="Times New Roman" panose="02020603050405020304" pitchFamily="18" charset="0"/>
              </a:rPr>
              <a:t>are less than </a:t>
            </a:r>
            <a:r>
              <a:rPr lang="en-US" b="1" dirty="0">
                <a:solidFill>
                  <a:srgbClr val="002060"/>
                </a:solidFill>
                <a:latin typeface="Times New Roman" panose="02020603050405020304" pitchFamily="18" charset="0"/>
                <a:cs typeface="Times New Roman" panose="02020603050405020304" pitchFamily="18" charset="0"/>
              </a:rPr>
              <a:t>or equal to </a:t>
            </a:r>
            <a:r>
              <a:rPr lang="en-US" b="1" dirty="0" smtClean="0">
                <a:solidFill>
                  <a:srgbClr val="002060"/>
                </a:solidFill>
                <a:latin typeface="Times New Roman" panose="02020603050405020304" pitchFamily="18" charset="0"/>
                <a:cs typeface="Times New Roman" panose="02020603050405020304" pitchFamily="18" charset="0"/>
              </a:rPr>
              <a:t>A[S], </a:t>
            </a:r>
            <a:endParaRPr lang="en-US" b="1" dirty="0">
              <a:solidFill>
                <a:srgbClr val="002060"/>
              </a:solidFill>
              <a:latin typeface="Times New Roman" panose="02020603050405020304" pitchFamily="18" charset="0"/>
              <a:cs typeface="Times New Roman" panose="02020603050405020304" pitchFamily="18" charset="0"/>
            </a:endParaRPr>
          </a:p>
          <a:p>
            <a:pPr marL="800100" lvl="1" indent="-342900" algn="just">
              <a:buFont typeface="Arial" panose="020B0604020202020204" pitchFamily="34" charset="0"/>
              <a:buChar char="•"/>
            </a:pPr>
            <a:r>
              <a:rPr lang="en-US" b="1" dirty="0">
                <a:solidFill>
                  <a:srgbClr val="002060"/>
                </a:solidFill>
                <a:latin typeface="Times New Roman" panose="02020603050405020304" pitchFamily="18" charset="0"/>
                <a:cs typeface="Times New Roman" panose="02020603050405020304" pitchFamily="18" charset="0"/>
              </a:rPr>
              <a:t>and all the elements to </a:t>
            </a:r>
            <a:r>
              <a:rPr lang="en-US" b="1" dirty="0">
                <a:solidFill>
                  <a:srgbClr val="C00000"/>
                </a:solidFill>
                <a:latin typeface="Times New Roman" panose="02020603050405020304" pitchFamily="18" charset="0"/>
                <a:cs typeface="Times New Roman" panose="02020603050405020304" pitchFamily="18" charset="0"/>
              </a:rPr>
              <a:t>the right of </a:t>
            </a:r>
            <a:r>
              <a:rPr lang="en-US" b="1" dirty="0" smtClean="0">
                <a:solidFill>
                  <a:srgbClr val="C00000"/>
                </a:solidFill>
                <a:latin typeface="Times New Roman" panose="02020603050405020304" pitchFamily="18" charset="0"/>
                <a:cs typeface="Times New Roman" panose="02020603050405020304" pitchFamily="18" charset="0"/>
              </a:rPr>
              <a:t>A[S] </a:t>
            </a:r>
            <a:r>
              <a:rPr lang="en-US" b="1" dirty="0">
                <a:solidFill>
                  <a:srgbClr val="C00000"/>
                </a:solidFill>
                <a:latin typeface="Times New Roman" panose="02020603050405020304" pitchFamily="18" charset="0"/>
                <a:cs typeface="Times New Roman" panose="02020603050405020304" pitchFamily="18" charset="0"/>
              </a:rPr>
              <a:t>are greater </a:t>
            </a:r>
            <a:r>
              <a:rPr lang="en-US" b="1" dirty="0">
                <a:solidFill>
                  <a:srgbClr val="002060"/>
                </a:solidFill>
                <a:latin typeface="Times New Roman" panose="02020603050405020304" pitchFamily="18" charset="0"/>
                <a:cs typeface="Times New Roman" panose="02020603050405020304" pitchFamily="18" charset="0"/>
              </a:rPr>
              <a:t>than or </a:t>
            </a:r>
            <a:r>
              <a:rPr lang="en-US" b="1" dirty="0" smtClean="0">
                <a:solidFill>
                  <a:srgbClr val="002060"/>
                </a:solidFill>
                <a:latin typeface="Times New Roman" panose="02020603050405020304" pitchFamily="18" charset="0"/>
                <a:cs typeface="Times New Roman" panose="02020603050405020304" pitchFamily="18" charset="0"/>
              </a:rPr>
              <a:t>equal to </a:t>
            </a:r>
            <a:r>
              <a:rPr lang="en-US" b="1" dirty="0">
                <a:solidFill>
                  <a:srgbClr val="002060"/>
                </a:solidFill>
                <a:latin typeface="Times New Roman" panose="02020603050405020304" pitchFamily="18" charset="0"/>
                <a:cs typeface="Times New Roman" panose="02020603050405020304" pitchFamily="18" charset="0"/>
              </a:rPr>
              <a:t>A[S], </a:t>
            </a:r>
          </a:p>
          <a:p>
            <a:pPr algn="just"/>
            <a:r>
              <a:rPr lang="en-US" sz="2000" b="1" dirty="0" smtClean="0">
                <a:solidFill>
                  <a:srgbClr val="002060"/>
                </a:solidFill>
                <a:latin typeface="Times New Roman" panose="02020603050405020304" pitchFamily="18" charset="0"/>
                <a:cs typeface="Times New Roman" panose="02020603050405020304" pitchFamily="18" charset="0"/>
              </a:rPr>
              <a:t>Specifically it rearranges the elements of a given array A[0……n-1] to achieve its partition, a situation where all the elements </a:t>
            </a:r>
            <a:r>
              <a:rPr lang="en-US" sz="2000" b="1" dirty="0" smtClean="0">
                <a:solidFill>
                  <a:srgbClr val="C00000"/>
                </a:solidFill>
                <a:latin typeface="Times New Roman" panose="02020603050405020304" pitchFamily="18" charset="0"/>
                <a:cs typeface="Times New Roman" panose="02020603050405020304" pitchFamily="18" charset="0"/>
              </a:rPr>
              <a:t>before some position S</a:t>
            </a:r>
            <a:r>
              <a:rPr lang="en-US" sz="2000" b="1" dirty="0" smtClean="0">
                <a:solidFill>
                  <a:srgbClr val="002060"/>
                </a:solidFill>
                <a:latin typeface="Times New Roman" panose="02020603050405020304" pitchFamily="18" charset="0"/>
                <a:cs typeface="Times New Roman" panose="02020603050405020304" pitchFamily="18" charset="0"/>
              </a:rPr>
              <a:t> </a:t>
            </a:r>
            <a:r>
              <a:rPr lang="en-US" sz="2000" b="1" dirty="0" smtClean="0">
                <a:solidFill>
                  <a:srgbClr val="C00000"/>
                </a:solidFill>
                <a:latin typeface="Times New Roman" panose="02020603050405020304" pitchFamily="18" charset="0"/>
                <a:cs typeface="Times New Roman" panose="02020603050405020304" pitchFamily="18" charset="0"/>
              </a:rPr>
              <a:t>are less than </a:t>
            </a:r>
            <a:r>
              <a:rPr lang="en-US" sz="2000" b="1" dirty="0" smtClean="0">
                <a:solidFill>
                  <a:srgbClr val="002060"/>
                </a:solidFill>
                <a:latin typeface="Times New Roman" panose="02020603050405020304" pitchFamily="18" charset="0"/>
                <a:cs typeface="Times New Roman" panose="02020603050405020304" pitchFamily="18" charset="0"/>
              </a:rPr>
              <a:t>or equal to A[S], and all the elements </a:t>
            </a:r>
            <a:r>
              <a:rPr lang="en-US" sz="2000" b="1" dirty="0" smtClean="0">
                <a:solidFill>
                  <a:srgbClr val="C00000"/>
                </a:solidFill>
                <a:latin typeface="Times New Roman" panose="02020603050405020304" pitchFamily="18" charset="0"/>
                <a:cs typeface="Times New Roman" panose="02020603050405020304" pitchFamily="18" charset="0"/>
              </a:rPr>
              <a:t>after position S  are greater than or equal to A[S]</a:t>
            </a:r>
          </a:p>
          <a:p>
            <a:pPr algn="just"/>
            <a:endParaRPr lang="en-US" sz="2000" b="1" dirty="0">
              <a:solidFill>
                <a:srgbClr val="C0000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After partition of A[0,1, 2,…….n-1]</a:t>
            </a:r>
          </a:p>
          <a:p>
            <a:pPr algn="just"/>
            <a:r>
              <a:rPr lang="en-US" sz="2000" b="1" dirty="0" smtClean="0">
                <a:solidFill>
                  <a:srgbClr val="002060"/>
                </a:solidFill>
                <a:latin typeface="Times New Roman" panose="02020603050405020304" pitchFamily="18" charset="0"/>
                <a:cs typeface="Times New Roman" panose="02020603050405020304" pitchFamily="18" charset="0"/>
              </a:rPr>
              <a:t>                  A[0,1</a:t>
            </a:r>
            <a:r>
              <a:rPr lang="en-US" sz="2000" b="1" dirty="0">
                <a:solidFill>
                  <a:srgbClr val="002060"/>
                </a:solidFill>
                <a:latin typeface="Times New Roman" panose="02020603050405020304" pitchFamily="18" charset="0"/>
                <a:cs typeface="Times New Roman" panose="02020603050405020304" pitchFamily="18" charset="0"/>
              </a:rPr>
              <a:t>, 2</a:t>
            </a:r>
            <a:r>
              <a:rPr lang="en-US" sz="2000" b="1" dirty="0" smtClean="0">
                <a:solidFill>
                  <a:srgbClr val="002060"/>
                </a:solidFill>
                <a:latin typeface="Times New Roman" panose="02020603050405020304" pitchFamily="18" charset="0"/>
                <a:cs typeface="Times New Roman" panose="02020603050405020304" pitchFamily="18" charset="0"/>
              </a:rPr>
              <a:t>,…….S-1]</a:t>
            </a:r>
            <a:r>
              <a:rPr lang="en-US" sz="2000" b="1" dirty="0">
                <a:solidFill>
                  <a:srgbClr val="002060"/>
                </a:solidFill>
                <a:latin typeface="Times New Roman" panose="02020603050405020304" pitchFamily="18" charset="0"/>
                <a:cs typeface="Times New Roman" panose="02020603050405020304" pitchFamily="18" charset="0"/>
              </a:rPr>
              <a:t> </a:t>
            </a:r>
            <a:r>
              <a:rPr lang="en-US" sz="2000" b="1" dirty="0" smtClean="0">
                <a:solidFill>
                  <a:srgbClr val="002060"/>
                </a:solidFill>
                <a:latin typeface="Times New Roman" panose="02020603050405020304" pitchFamily="18" charset="0"/>
                <a:cs typeface="Times New Roman" panose="02020603050405020304" pitchFamily="18" charset="0"/>
              </a:rPr>
              <a:t>     A[S]      A[S+1, S+2, ……..n-1]</a:t>
            </a:r>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56</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Left Brace 5"/>
          <p:cNvSpPr/>
          <p:nvPr/>
        </p:nvSpPr>
        <p:spPr>
          <a:xfrm rot="16200000">
            <a:off x="2182909" y="4585447"/>
            <a:ext cx="358588" cy="1855695"/>
          </a:xfrm>
          <a:prstGeom prst="leftBrace">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 name="Left Brace 8"/>
          <p:cNvSpPr/>
          <p:nvPr/>
        </p:nvSpPr>
        <p:spPr>
          <a:xfrm rot="16200000">
            <a:off x="5580534" y="4334438"/>
            <a:ext cx="358588" cy="2357715"/>
          </a:xfrm>
          <a:prstGeom prst="leftBrace">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 name="TextBox 9"/>
          <p:cNvSpPr txBox="1"/>
          <p:nvPr/>
        </p:nvSpPr>
        <p:spPr>
          <a:xfrm>
            <a:off x="1154735" y="5660406"/>
            <a:ext cx="2414936"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All are ≤ A[S]</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1" name="TextBox 10"/>
          <p:cNvSpPr txBox="1"/>
          <p:nvPr/>
        </p:nvSpPr>
        <p:spPr>
          <a:xfrm>
            <a:off x="4704759" y="5760272"/>
            <a:ext cx="2414936"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All are ≥ A[S]</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2" name="TextBox 11"/>
          <p:cNvSpPr txBox="1"/>
          <p:nvPr/>
        </p:nvSpPr>
        <p:spPr>
          <a:xfrm>
            <a:off x="7216588" y="4307990"/>
            <a:ext cx="4975412" cy="1785104"/>
          </a:xfrm>
          <a:prstGeom prst="rect">
            <a:avLst/>
          </a:prstGeom>
          <a:noFill/>
        </p:spPr>
        <p:txBody>
          <a:bodyPr wrap="square" rtlCol="0">
            <a:spAutoFit/>
          </a:bodyPr>
          <a:lstStyle/>
          <a:p>
            <a:pPr algn="just"/>
            <a:r>
              <a:rPr lang="en-IN" b="1" dirty="0" smtClean="0">
                <a:solidFill>
                  <a:srgbClr val="FF0000"/>
                </a:solidFill>
                <a:latin typeface="Times New Roman" panose="02020603050405020304" pitchFamily="18" charset="0"/>
                <a:cs typeface="Times New Roman" panose="02020603050405020304" pitchFamily="18" charset="0"/>
              </a:rPr>
              <a:t>After partition A[S] will be in its final position in the sorted array  and continue the sorting of the two sub arrays of elements preceding A[S] </a:t>
            </a:r>
            <a:r>
              <a:rPr lang="en-IN" b="1" dirty="0" err="1" smtClean="0">
                <a:solidFill>
                  <a:srgbClr val="FF0000"/>
                </a:solidFill>
                <a:latin typeface="Times New Roman" panose="02020603050405020304" pitchFamily="18" charset="0"/>
                <a:cs typeface="Times New Roman" panose="02020603050405020304" pitchFamily="18" charset="0"/>
              </a:rPr>
              <a:t>i</a:t>
            </a:r>
            <a:r>
              <a:rPr lang="en-IN" b="1" dirty="0" smtClean="0">
                <a:solidFill>
                  <a:srgbClr val="FF0000"/>
                </a:solidFill>
                <a:latin typeface="Times New Roman" panose="02020603050405020304" pitchFamily="18" charset="0"/>
                <a:cs typeface="Times New Roman" panose="02020603050405020304" pitchFamily="18" charset="0"/>
              </a:rPr>
              <a:t> e </a:t>
            </a:r>
            <a:r>
              <a:rPr lang="en-US" b="1" dirty="0">
                <a:solidFill>
                  <a:srgbClr val="002060"/>
                </a:solidFill>
                <a:latin typeface="Times New Roman" panose="02020603050405020304" pitchFamily="18" charset="0"/>
                <a:cs typeface="Times New Roman" panose="02020603050405020304" pitchFamily="18" charset="0"/>
              </a:rPr>
              <a:t>A[0,1, 2,…….S-1] </a:t>
            </a:r>
            <a:r>
              <a:rPr lang="en-US" b="1" dirty="0" smtClean="0">
                <a:solidFill>
                  <a:srgbClr val="002060"/>
                </a:solidFill>
                <a:latin typeface="Times New Roman" panose="02020603050405020304" pitchFamily="18" charset="0"/>
                <a:cs typeface="Times New Roman" panose="02020603050405020304" pitchFamily="18" charset="0"/>
              </a:rPr>
              <a:t> and following </a:t>
            </a:r>
            <a:r>
              <a:rPr lang="en-IN" b="1" dirty="0">
                <a:solidFill>
                  <a:srgbClr val="FF0000"/>
                </a:solidFill>
                <a:latin typeface="Times New Roman" panose="02020603050405020304" pitchFamily="18" charset="0"/>
                <a:cs typeface="Times New Roman" panose="02020603050405020304" pitchFamily="18" charset="0"/>
              </a:rPr>
              <a:t>A[S] </a:t>
            </a:r>
            <a:r>
              <a:rPr lang="en-IN" b="1" dirty="0" err="1">
                <a:solidFill>
                  <a:srgbClr val="FF0000"/>
                </a:solidFill>
                <a:latin typeface="Times New Roman" panose="02020603050405020304" pitchFamily="18" charset="0"/>
                <a:cs typeface="Times New Roman" panose="02020603050405020304" pitchFamily="18" charset="0"/>
              </a:rPr>
              <a:t>i</a:t>
            </a:r>
            <a:r>
              <a:rPr lang="en-IN" b="1" dirty="0">
                <a:solidFill>
                  <a:srgbClr val="FF0000"/>
                </a:solidFill>
                <a:latin typeface="Times New Roman" panose="02020603050405020304" pitchFamily="18" charset="0"/>
                <a:cs typeface="Times New Roman" panose="02020603050405020304" pitchFamily="18" charset="0"/>
              </a:rPr>
              <a:t> e </a:t>
            </a:r>
          </a:p>
          <a:p>
            <a:r>
              <a:rPr lang="en-US" b="1" dirty="0">
                <a:solidFill>
                  <a:srgbClr val="002060"/>
                </a:solidFill>
                <a:latin typeface="Times New Roman" panose="02020603050405020304" pitchFamily="18" charset="0"/>
                <a:cs typeface="Times New Roman" panose="02020603050405020304" pitchFamily="18" charset="0"/>
              </a:rPr>
              <a:t>A[S+1, S+2, ……..n-1]</a:t>
            </a:r>
          </a:p>
          <a:p>
            <a:endParaRPr lang="en-IN" dirty="0"/>
          </a:p>
        </p:txBody>
      </p:sp>
      <p:sp>
        <p:nvSpPr>
          <p:cNvPr id="13" name="Date Placeholder 12"/>
          <p:cNvSpPr>
            <a:spLocks noGrp="1"/>
          </p:cNvSpPr>
          <p:nvPr>
            <p:ph type="dt" sz="half" idx="10"/>
          </p:nvPr>
        </p:nvSpPr>
        <p:spPr/>
        <p:txBody>
          <a:bodyPr/>
          <a:lstStyle/>
          <a:p>
            <a:fld id="{349F2FF2-7F71-490F-AB02-759AD81BB023}" type="datetime1">
              <a:rPr lang="en-IN" smtClean="0"/>
              <a:t>21-03-2026</a:t>
            </a:fld>
            <a:endParaRPr lang="en-IN"/>
          </a:p>
        </p:txBody>
      </p:sp>
    </p:spTree>
    <p:extLst>
      <p:ext uri="{BB962C8B-B14F-4D97-AF65-F5344CB8AC3E}">
        <p14:creationId xmlns:p14="http://schemas.microsoft.com/office/powerpoint/2010/main" val="853683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Quick sort Algorithm</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b="1" dirty="0" smtClean="0">
                <a:solidFill>
                  <a:srgbClr val="002060"/>
                </a:solidFill>
                <a:latin typeface="Times New Roman" panose="02020603050405020304" pitchFamily="18" charset="0"/>
                <a:cs typeface="Times New Roman" panose="02020603050405020304" pitchFamily="18" charset="0"/>
              </a:rPr>
              <a:t>ALGORITHM Quicksort(A[l . . . . . r])</a:t>
            </a:r>
          </a:p>
          <a:p>
            <a:pPr algn="just"/>
            <a:r>
              <a:rPr lang="en-US" b="1" dirty="0" smtClean="0">
                <a:solidFill>
                  <a:srgbClr val="002060"/>
                </a:solidFill>
                <a:latin typeface="Times New Roman" panose="02020603050405020304" pitchFamily="18" charset="0"/>
                <a:cs typeface="Times New Roman" panose="02020603050405020304" pitchFamily="18" charset="0"/>
              </a:rPr>
              <a:t>//Sorts a </a:t>
            </a:r>
            <a:r>
              <a:rPr lang="en-US" b="1" dirty="0" err="1" smtClean="0">
                <a:solidFill>
                  <a:srgbClr val="002060"/>
                </a:solidFill>
                <a:latin typeface="Times New Roman" panose="02020603050405020304" pitchFamily="18" charset="0"/>
                <a:cs typeface="Times New Roman" panose="02020603050405020304" pitchFamily="18" charset="0"/>
              </a:rPr>
              <a:t>subarray</a:t>
            </a:r>
            <a:r>
              <a:rPr lang="en-US" b="1" dirty="0" smtClean="0">
                <a:solidFill>
                  <a:srgbClr val="002060"/>
                </a:solidFill>
                <a:latin typeface="Times New Roman" panose="02020603050405020304" pitchFamily="18" charset="0"/>
                <a:cs typeface="Times New Roman" panose="02020603050405020304" pitchFamily="18" charset="0"/>
              </a:rPr>
              <a:t> by quicksort</a:t>
            </a:r>
          </a:p>
          <a:p>
            <a:pPr algn="just"/>
            <a:r>
              <a:rPr lang="en-US" b="1" dirty="0" smtClean="0">
                <a:solidFill>
                  <a:srgbClr val="002060"/>
                </a:solidFill>
                <a:latin typeface="Times New Roman" panose="02020603050405020304" pitchFamily="18" charset="0"/>
                <a:cs typeface="Times New Roman" panose="02020603050405020304" pitchFamily="18" charset="0"/>
              </a:rPr>
              <a:t>//</a:t>
            </a:r>
            <a:r>
              <a:rPr lang="en-US" b="1" dirty="0">
                <a:solidFill>
                  <a:srgbClr val="002060"/>
                </a:solidFill>
                <a:latin typeface="Times New Roman" panose="02020603050405020304" pitchFamily="18" charset="0"/>
                <a:cs typeface="Times New Roman" panose="02020603050405020304" pitchFamily="18" charset="0"/>
              </a:rPr>
              <a:t>Input: </a:t>
            </a:r>
            <a:r>
              <a:rPr lang="en-US" b="1" dirty="0" err="1">
                <a:solidFill>
                  <a:srgbClr val="002060"/>
                </a:solidFill>
                <a:latin typeface="Times New Roman" panose="02020603050405020304" pitchFamily="18" charset="0"/>
                <a:cs typeface="Times New Roman" panose="02020603050405020304" pitchFamily="18" charset="0"/>
              </a:rPr>
              <a:t>Subarray</a:t>
            </a:r>
            <a:r>
              <a:rPr lang="en-US" b="1" dirty="0">
                <a:solidFill>
                  <a:srgbClr val="002060"/>
                </a:solidFill>
                <a:latin typeface="Times New Roman" panose="02020603050405020304" pitchFamily="18" charset="0"/>
                <a:cs typeface="Times New Roman" panose="02020603050405020304" pitchFamily="18" charset="0"/>
              </a:rPr>
              <a:t> of array A[0..n − 1], defined by its left </a:t>
            </a:r>
            <a:r>
              <a:rPr lang="en-IN" b="1" dirty="0">
                <a:solidFill>
                  <a:srgbClr val="002060"/>
                </a:solidFill>
                <a:latin typeface="Times New Roman" panose="02020603050405020304" pitchFamily="18" charset="0"/>
                <a:cs typeface="Times New Roman" panose="02020603050405020304" pitchFamily="18" charset="0"/>
              </a:rPr>
              <a:t>indices </a:t>
            </a:r>
            <a:r>
              <a:rPr lang="en-IN" b="1" dirty="0">
                <a:solidFill>
                  <a:srgbClr val="C00000"/>
                </a:solidFill>
                <a:latin typeface="Times New Roman" panose="02020603050405020304" pitchFamily="18" charset="0"/>
                <a:cs typeface="Times New Roman" panose="02020603050405020304" pitchFamily="18" charset="0"/>
              </a:rPr>
              <a:t>l </a:t>
            </a:r>
            <a:r>
              <a:rPr lang="en-US" b="1" dirty="0" smtClean="0">
                <a:solidFill>
                  <a:srgbClr val="002060"/>
                </a:solidFill>
                <a:latin typeface="Times New Roman" panose="02020603050405020304" pitchFamily="18" charset="0"/>
                <a:cs typeface="Times New Roman" panose="02020603050405020304" pitchFamily="18" charset="0"/>
              </a:rPr>
              <a:t>and right </a:t>
            </a:r>
            <a:r>
              <a:rPr lang="en-IN" b="1" dirty="0" smtClean="0">
                <a:solidFill>
                  <a:srgbClr val="002060"/>
                </a:solidFill>
                <a:latin typeface="Times New Roman" panose="02020603050405020304" pitchFamily="18" charset="0"/>
                <a:cs typeface="Times New Roman" panose="02020603050405020304" pitchFamily="18" charset="0"/>
              </a:rPr>
              <a:t>indices</a:t>
            </a:r>
            <a:r>
              <a:rPr lang="en-IN" b="1" dirty="0">
                <a:solidFill>
                  <a:srgbClr val="C00000"/>
                </a:solidFill>
                <a:latin typeface="Times New Roman" panose="02020603050405020304" pitchFamily="18" charset="0"/>
                <a:cs typeface="Times New Roman" panose="02020603050405020304" pitchFamily="18" charset="0"/>
              </a:rPr>
              <a:t> </a:t>
            </a:r>
            <a:r>
              <a:rPr lang="en-IN" b="1" dirty="0" smtClean="0">
                <a:solidFill>
                  <a:srgbClr val="C00000"/>
                </a:solidFill>
                <a:latin typeface="Times New Roman" panose="02020603050405020304" pitchFamily="18" charset="0"/>
                <a:cs typeface="Times New Roman" panose="02020603050405020304" pitchFamily="18" charset="0"/>
              </a:rPr>
              <a:t>r</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US" b="1" dirty="0">
                <a:solidFill>
                  <a:srgbClr val="002060"/>
                </a:solidFill>
                <a:latin typeface="Times New Roman" panose="02020603050405020304" pitchFamily="18" charset="0"/>
                <a:cs typeface="Times New Roman" panose="02020603050405020304" pitchFamily="18" charset="0"/>
              </a:rPr>
              <a:t>//Output: </a:t>
            </a:r>
            <a:r>
              <a:rPr lang="en-US" b="1" dirty="0" err="1">
                <a:solidFill>
                  <a:srgbClr val="002060"/>
                </a:solidFill>
                <a:latin typeface="Times New Roman" panose="02020603050405020304" pitchFamily="18" charset="0"/>
                <a:cs typeface="Times New Roman" panose="02020603050405020304" pitchFamily="18" charset="0"/>
              </a:rPr>
              <a:t>Subarray</a:t>
            </a:r>
            <a:r>
              <a:rPr lang="en-US"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A[l </a:t>
            </a:r>
            <a:r>
              <a:rPr lang="en-IN" b="1" dirty="0">
                <a:solidFill>
                  <a:srgbClr val="002060"/>
                </a:solidFill>
                <a:latin typeface="Times New Roman" panose="02020603050405020304" pitchFamily="18" charset="0"/>
                <a:cs typeface="Times New Roman" panose="02020603050405020304" pitchFamily="18" charset="0"/>
              </a:rPr>
              <a:t>. . . . . </a:t>
            </a:r>
            <a:r>
              <a:rPr lang="en-IN" b="1" dirty="0" smtClean="0">
                <a:solidFill>
                  <a:srgbClr val="002060"/>
                </a:solidFill>
                <a:latin typeface="Times New Roman" panose="02020603050405020304" pitchFamily="18" charset="0"/>
                <a:cs typeface="Times New Roman" panose="02020603050405020304" pitchFamily="18" charset="0"/>
              </a:rPr>
              <a:t>r]  </a:t>
            </a:r>
            <a:r>
              <a:rPr lang="en-US" b="1" dirty="0" smtClean="0">
                <a:solidFill>
                  <a:srgbClr val="002060"/>
                </a:solidFill>
                <a:latin typeface="Times New Roman" panose="02020603050405020304" pitchFamily="18" charset="0"/>
                <a:cs typeface="Times New Roman" panose="02020603050405020304" pitchFamily="18" charset="0"/>
              </a:rPr>
              <a:t>sorted </a:t>
            </a:r>
            <a:r>
              <a:rPr lang="en-US" b="1" dirty="0">
                <a:solidFill>
                  <a:srgbClr val="002060"/>
                </a:solidFill>
                <a:latin typeface="Times New Roman" panose="02020603050405020304" pitchFamily="18" charset="0"/>
                <a:cs typeface="Times New Roman" panose="02020603050405020304" pitchFamily="18" charset="0"/>
              </a:rPr>
              <a:t>in </a:t>
            </a:r>
            <a:r>
              <a:rPr lang="en-US" b="1" dirty="0" err="1">
                <a:solidFill>
                  <a:srgbClr val="002060"/>
                </a:solidFill>
                <a:latin typeface="Times New Roman" panose="02020603050405020304" pitchFamily="18" charset="0"/>
                <a:cs typeface="Times New Roman" panose="02020603050405020304" pitchFamily="18" charset="0"/>
              </a:rPr>
              <a:t>nondecreasing</a:t>
            </a:r>
            <a:r>
              <a:rPr lang="en-US" b="1" dirty="0">
                <a:solidFill>
                  <a:srgbClr val="002060"/>
                </a:solidFill>
                <a:latin typeface="Times New Roman" panose="02020603050405020304" pitchFamily="18" charset="0"/>
                <a:cs typeface="Times New Roman" panose="02020603050405020304" pitchFamily="18" charset="0"/>
              </a:rPr>
              <a:t> order</a:t>
            </a:r>
          </a:p>
          <a:p>
            <a:pPr algn="just"/>
            <a:r>
              <a:rPr lang="en-IN" b="1" dirty="0">
                <a:solidFill>
                  <a:srgbClr val="002060"/>
                </a:solidFill>
                <a:latin typeface="Times New Roman" panose="02020603050405020304" pitchFamily="18" charset="0"/>
                <a:cs typeface="Times New Roman" panose="02020603050405020304" pitchFamily="18" charset="0"/>
              </a:rPr>
              <a:t>if l &lt; r</a:t>
            </a:r>
          </a:p>
          <a:p>
            <a:pPr algn="just"/>
            <a:r>
              <a:rPr lang="en-US" b="1" dirty="0" smtClean="0">
                <a:solidFill>
                  <a:srgbClr val="002060"/>
                </a:solidFill>
                <a:latin typeface="Times New Roman" panose="02020603050405020304" pitchFamily="18" charset="0"/>
                <a:cs typeface="Times New Roman" panose="02020603050405020304" pitchFamily="18" charset="0"/>
              </a:rPr>
              <a:t>        s </a:t>
            </a:r>
            <a:r>
              <a:rPr lang="en-US" b="1" dirty="0">
                <a:solidFill>
                  <a:srgbClr val="002060"/>
                </a:solidFill>
                <a:latin typeface="Times New Roman" panose="02020603050405020304" pitchFamily="18" charset="0"/>
                <a:cs typeface="Times New Roman" panose="02020603050405020304" pitchFamily="18" charset="0"/>
              </a:rPr>
              <a:t>←Partition(A[l</a:t>
            </a:r>
            <a:r>
              <a:rPr lang="en-US" b="1" dirty="0" smtClean="0">
                <a:solidFill>
                  <a:srgbClr val="002060"/>
                </a:solidFill>
                <a:latin typeface="Times New Roman" panose="02020603050405020304" pitchFamily="18" charset="0"/>
                <a:cs typeface="Times New Roman" panose="02020603050405020304" pitchFamily="18" charset="0"/>
              </a:rPr>
              <a:t>. . . .</a:t>
            </a:r>
            <a:r>
              <a:rPr lang="en-US" b="1" dirty="0">
                <a:solidFill>
                  <a:srgbClr val="002060"/>
                </a:solidFill>
                <a:latin typeface="Times New Roman" panose="02020603050405020304" pitchFamily="18" charset="0"/>
                <a:cs typeface="Times New Roman" panose="02020603050405020304" pitchFamily="18" charset="0"/>
              </a:rPr>
              <a:t>r]) </a:t>
            </a:r>
            <a:r>
              <a:rPr lang="en-US" b="1" dirty="0">
                <a:solidFill>
                  <a:srgbClr val="C00000"/>
                </a:solidFill>
                <a:latin typeface="Times New Roman" panose="02020603050405020304" pitchFamily="18" charset="0"/>
                <a:cs typeface="Times New Roman" panose="02020603050405020304" pitchFamily="18" charset="0"/>
              </a:rPr>
              <a:t>//s is a split position</a:t>
            </a:r>
          </a:p>
          <a:p>
            <a:pPr algn="just"/>
            <a:r>
              <a:rPr lang="en-IN" b="1" dirty="0" smtClean="0">
                <a:solidFill>
                  <a:srgbClr val="002060"/>
                </a:solidFill>
                <a:latin typeface="Times New Roman" panose="02020603050405020304" pitchFamily="18" charset="0"/>
                <a:cs typeface="Times New Roman" panose="02020603050405020304" pitchFamily="18" charset="0"/>
              </a:rPr>
              <a:t>        Quicksort(A[l. . . s </a:t>
            </a:r>
            <a:r>
              <a:rPr lang="en-IN" b="1" dirty="0">
                <a:solidFill>
                  <a:srgbClr val="002060"/>
                </a:solidFill>
                <a:latin typeface="Times New Roman" panose="02020603050405020304" pitchFamily="18" charset="0"/>
                <a:cs typeface="Times New Roman" panose="02020603050405020304" pitchFamily="18" charset="0"/>
              </a:rPr>
              <a:t>− 1])</a:t>
            </a:r>
          </a:p>
          <a:p>
            <a:pPr algn="just"/>
            <a:r>
              <a:rPr lang="en-IN" b="1" dirty="0" smtClean="0">
                <a:solidFill>
                  <a:srgbClr val="002060"/>
                </a:solidFill>
                <a:latin typeface="Times New Roman" panose="02020603050405020304" pitchFamily="18" charset="0"/>
                <a:cs typeface="Times New Roman" panose="02020603050405020304" pitchFamily="18" charset="0"/>
              </a:rPr>
              <a:t>        Quicksort(A[s </a:t>
            </a:r>
            <a:r>
              <a:rPr lang="en-IN" b="1" dirty="0">
                <a:solidFill>
                  <a:srgbClr val="002060"/>
                </a:solidFill>
                <a:latin typeface="Times New Roman" panose="02020603050405020304" pitchFamily="18" charset="0"/>
                <a:cs typeface="Times New Roman" panose="02020603050405020304" pitchFamily="18" charset="0"/>
              </a:rPr>
              <a:t>+ 1</a:t>
            </a:r>
            <a:r>
              <a:rPr lang="en-IN" b="1" dirty="0" smtClean="0">
                <a:solidFill>
                  <a:srgbClr val="002060"/>
                </a:solidFill>
                <a:latin typeface="Times New Roman" panose="02020603050405020304" pitchFamily="18" charset="0"/>
                <a:cs typeface="Times New Roman" panose="02020603050405020304" pitchFamily="18" charset="0"/>
              </a:rPr>
              <a:t>. . . . r</a:t>
            </a:r>
            <a:r>
              <a:rPr lang="en-IN" b="1" dirty="0">
                <a:solidFill>
                  <a:srgbClr val="002060"/>
                </a:solidFill>
                <a:latin typeface="Times New Roman" panose="02020603050405020304" pitchFamily="18" charset="0"/>
                <a:cs typeface="Times New Roman" panose="02020603050405020304" pitchFamily="18" charset="0"/>
              </a:rPr>
              <a:t>])</a:t>
            </a:r>
            <a:endParaRPr lang="en-US"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57</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B391440A-1559-4704-BEEB-1F7CBA9A4D1F}" type="datetime1">
              <a:rPr lang="en-IN" smtClean="0"/>
              <a:t>21-03-2026</a:t>
            </a:fld>
            <a:endParaRPr lang="en-IN"/>
          </a:p>
        </p:txBody>
      </p:sp>
    </p:spTree>
    <p:extLst>
      <p:ext uri="{BB962C8B-B14F-4D97-AF65-F5344CB8AC3E}">
        <p14:creationId xmlns:p14="http://schemas.microsoft.com/office/powerpoint/2010/main" val="122529245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fontScale="85000" lnSpcReduction="20000"/>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Quick sort Algorithm</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b="1" dirty="0" smtClean="0">
                <a:solidFill>
                  <a:srgbClr val="002060"/>
                </a:solidFill>
                <a:latin typeface="Times New Roman" panose="02020603050405020304" pitchFamily="18" charset="0"/>
                <a:cs typeface="Times New Roman" panose="02020603050405020304" pitchFamily="18" charset="0"/>
              </a:rPr>
              <a:t>Quicksort(A[s </a:t>
            </a:r>
            <a:r>
              <a:rPr lang="en-IN" b="1" dirty="0">
                <a:solidFill>
                  <a:srgbClr val="002060"/>
                </a:solidFill>
                <a:latin typeface="Times New Roman" panose="02020603050405020304" pitchFamily="18" charset="0"/>
                <a:cs typeface="Times New Roman" panose="02020603050405020304" pitchFamily="18" charset="0"/>
              </a:rPr>
              <a:t>+ 1</a:t>
            </a:r>
            <a:r>
              <a:rPr lang="en-IN" b="1" dirty="0" smtClean="0">
                <a:solidFill>
                  <a:srgbClr val="002060"/>
                </a:solidFill>
                <a:latin typeface="Times New Roman" panose="02020603050405020304" pitchFamily="18" charset="0"/>
                <a:cs typeface="Times New Roman" panose="02020603050405020304" pitchFamily="18" charset="0"/>
              </a:rPr>
              <a:t>. . . . r</a:t>
            </a:r>
            <a:r>
              <a:rPr lang="en-IN" b="1" dirty="0">
                <a:solidFill>
                  <a:srgbClr val="002060"/>
                </a:solidFill>
                <a:latin typeface="Times New Roman" panose="02020603050405020304" pitchFamily="18" charset="0"/>
                <a:cs typeface="Times New Roman" panose="02020603050405020304" pitchFamily="18" charset="0"/>
              </a:rPr>
              <a:t>])</a:t>
            </a:r>
            <a:endParaRPr lang="en-US"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ALGORITHM </a:t>
            </a:r>
            <a:r>
              <a:rPr lang="en-IN" b="1" dirty="0" smtClean="0">
                <a:solidFill>
                  <a:srgbClr val="002060"/>
                </a:solidFill>
                <a:latin typeface="Times New Roman" panose="02020603050405020304" pitchFamily="18" charset="0"/>
                <a:cs typeface="Times New Roman" panose="02020603050405020304" pitchFamily="18" charset="0"/>
              </a:rPr>
              <a:t>Partition(A[</a:t>
            </a:r>
            <a:r>
              <a:rPr lang="en-IN" b="1" dirty="0" err="1" smtClean="0">
                <a:solidFill>
                  <a:srgbClr val="002060"/>
                </a:solidFill>
                <a:latin typeface="Times New Roman" panose="02020603050405020304" pitchFamily="18" charset="0"/>
                <a:cs typeface="Times New Roman" panose="02020603050405020304" pitchFamily="18" charset="0"/>
              </a:rPr>
              <a:t>l</a:t>
            </a:r>
            <a:r>
              <a:rPr lang="en-IN" b="1" dirty="0" err="1">
                <a:solidFill>
                  <a:srgbClr val="002060"/>
                </a:solidFill>
                <a:latin typeface="Times New Roman" panose="02020603050405020304" pitchFamily="18" charset="0"/>
                <a:cs typeface="Times New Roman" panose="02020603050405020304" pitchFamily="18" charset="0"/>
              </a:rPr>
              <a:t>..r</a:t>
            </a:r>
            <a:r>
              <a:rPr lang="en-IN" b="1" dirty="0">
                <a:solidFill>
                  <a:srgbClr val="002060"/>
                </a:solidFill>
                <a:latin typeface="Times New Roman" panose="02020603050405020304" pitchFamily="18" charset="0"/>
                <a:cs typeface="Times New Roman" panose="02020603050405020304" pitchFamily="18" charset="0"/>
              </a:rPr>
              <a:t>])</a:t>
            </a:r>
          </a:p>
          <a:p>
            <a:pPr algn="just"/>
            <a:r>
              <a:rPr lang="en-US" b="1" dirty="0">
                <a:solidFill>
                  <a:srgbClr val="002060"/>
                </a:solidFill>
                <a:latin typeface="Times New Roman" panose="02020603050405020304" pitchFamily="18" charset="0"/>
                <a:cs typeface="Times New Roman" panose="02020603050405020304" pitchFamily="18" charset="0"/>
              </a:rPr>
              <a:t>//Partitions a </a:t>
            </a:r>
            <a:r>
              <a:rPr lang="en-US" b="1" dirty="0" err="1">
                <a:solidFill>
                  <a:srgbClr val="002060"/>
                </a:solidFill>
                <a:latin typeface="Times New Roman" panose="02020603050405020304" pitchFamily="18" charset="0"/>
                <a:cs typeface="Times New Roman" panose="02020603050405020304" pitchFamily="18" charset="0"/>
              </a:rPr>
              <a:t>subarray</a:t>
            </a:r>
            <a:r>
              <a:rPr lang="en-US" b="1" dirty="0">
                <a:solidFill>
                  <a:srgbClr val="002060"/>
                </a:solidFill>
                <a:latin typeface="Times New Roman" panose="02020603050405020304" pitchFamily="18" charset="0"/>
                <a:cs typeface="Times New Roman" panose="02020603050405020304" pitchFamily="18" charset="0"/>
              </a:rPr>
              <a:t> by Hoare’s algorithm, using the </a:t>
            </a:r>
            <a:r>
              <a:rPr lang="en-US" sz="2800" b="1" dirty="0">
                <a:solidFill>
                  <a:srgbClr val="C00000"/>
                </a:solidFill>
                <a:latin typeface="Times New Roman" panose="02020603050405020304" pitchFamily="18" charset="0"/>
                <a:cs typeface="Times New Roman" panose="02020603050405020304" pitchFamily="18" charset="0"/>
              </a:rPr>
              <a:t>first </a:t>
            </a:r>
            <a:r>
              <a:rPr lang="en-US" sz="2800" b="1" dirty="0" smtClean="0">
                <a:solidFill>
                  <a:srgbClr val="C00000"/>
                </a:solidFill>
                <a:latin typeface="Times New Roman" panose="02020603050405020304" pitchFamily="18" charset="0"/>
                <a:cs typeface="Times New Roman" panose="02020603050405020304" pitchFamily="18" charset="0"/>
              </a:rPr>
              <a:t>element </a:t>
            </a:r>
            <a:r>
              <a:rPr lang="en-IN" sz="2800" b="1" dirty="0" smtClean="0">
                <a:solidFill>
                  <a:srgbClr val="C00000"/>
                </a:solidFill>
                <a:latin typeface="Times New Roman" panose="02020603050405020304" pitchFamily="18" charset="0"/>
                <a:cs typeface="Times New Roman" panose="02020603050405020304" pitchFamily="18" charset="0"/>
              </a:rPr>
              <a:t>as </a:t>
            </a:r>
            <a:r>
              <a:rPr lang="en-IN" sz="2800" b="1" dirty="0">
                <a:solidFill>
                  <a:srgbClr val="C00000"/>
                </a:solidFill>
                <a:latin typeface="Times New Roman" panose="02020603050405020304" pitchFamily="18" charset="0"/>
                <a:cs typeface="Times New Roman" panose="02020603050405020304" pitchFamily="18" charset="0"/>
              </a:rPr>
              <a:t>a pivot</a:t>
            </a:r>
          </a:p>
          <a:p>
            <a:pPr algn="just"/>
            <a:r>
              <a:rPr lang="en-US" b="1" dirty="0">
                <a:solidFill>
                  <a:srgbClr val="002060"/>
                </a:solidFill>
                <a:latin typeface="Times New Roman" panose="02020603050405020304" pitchFamily="18" charset="0"/>
                <a:cs typeface="Times New Roman" panose="02020603050405020304" pitchFamily="18" charset="0"/>
              </a:rPr>
              <a:t>//Input: </a:t>
            </a:r>
            <a:r>
              <a:rPr lang="en-US" b="1" dirty="0" err="1">
                <a:solidFill>
                  <a:srgbClr val="002060"/>
                </a:solidFill>
                <a:latin typeface="Times New Roman" panose="02020603050405020304" pitchFamily="18" charset="0"/>
                <a:cs typeface="Times New Roman" panose="02020603050405020304" pitchFamily="18" charset="0"/>
              </a:rPr>
              <a:t>Subarray</a:t>
            </a:r>
            <a:r>
              <a:rPr lang="en-US" b="1" dirty="0">
                <a:solidFill>
                  <a:srgbClr val="002060"/>
                </a:solidFill>
                <a:latin typeface="Times New Roman" panose="02020603050405020304" pitchFamily="18" charset="0"/>
                <a:cs typeface="Times New Roman" panose="02020603050405020304" pitchFamily="18" charset="0"/>
              </a:rPr>
              <a:t> of array A[0..n − 1], defined by its left and </a:t>
            </a:r>
            <a:r>
              <a:rPr lang="en-US" b="1" dirty="0" smtClean="0">
                <a:solidFill>
                  <a:srgbClr val="002060"/>
                </a:solidFill>
                <a:latin typeface="Times New Roman" panose="02020603050405020304" pitchFamily="18" charset="0"/>
                <a:cs typeface="Times New Roman" panose="02020603050405020304" pitchFamily="18" charset="0"/>
              </a:rPr>
              <a:t>right </a:t>
            </a:r>
            <a:r>
              <a:rPr lang="pt-BR" b="1" dirty="0" smtClean="0">
                <a:solidFill>
                  <a:srgbClr val="002060"/>
                </a:solidFill>
                <a:latin typeface="Times New Roman" panose="02020603050405020304" pitchFamily="18" charset="0"/>
                <a:cs typeface="Times New Roman" panose="02020603050405020304" pitchFamily="18" charset="0"/>
              </a:rPr>
              <a:t>indices </a:t>
            </a:r>
            <a:r>
              <a:rPr lang="pt-BR" b="1" dirty="0">
                <a:solidFill>
                  <a:srgbClr val="002060"/>
                </a:solidFill>
                <a:latin typeface="Times New Roman" panose="02020603050405020304" pitchFamily="18" charset="0"/>
                <a:cs typeface="Times New Roman" panose="02020603050405020304" pitchFamily="18" charset="0"/>
              </a:rPr>
              <a:t>l and r (l&lt;r)</a:t>
            </a:r>
          </a:p>
          <a:p>
            <a:pPr algn="just"/>
            <a:r>
              <a:rPr lang="en-US" b="1" dirty="0">
                <a:solidFill>
                  <a:srgbClr val="002060"/>
                </a:solidFill>
                <a:latin typeface="Times New Roman" panose="02020603050405020304" pitchFamily="18" charset="0"/>
                <a:cs typeface="Times New Roman" panose="02020603050405020304" pitchFamily="18" charset="0"/>
              </a:rPr>
              <a:t>//Output: Partition of A[</a:t>
            </a:r>
            <a:r>
              <a:rPr lang="en-US" b="1" dirty="0" err="1">
                <a:solidFill>
                  <a:srgbClr val="002060"/>
                </a:solidFill>
                <a:latin typeface="Times New Roman" panose="02020603050405020304" pitchFamily="18" charset="0"/>
                <a:cs typeface="Times New Roman" panose="02020603050405020304" pitchFamily="18" charset="0"/>
              </a:rPr>
              <a:t>l..r</a:t>
            </a:r>
            <a:r>
              <a:rPr lang="en-US" b="1" dirty="0">
                <a:solidFill>
                  <a:srgbClr val="002060"/>
                </a:solidFill>
                <a:latin typeface="Times New Roman" panose="02020603050405020304" pitchFamily="18" charset="0"/>
                <a:cs typeface="Times New Roman" panose="02020603050405020304" pitchFamily="18" charset="0"/>
              </a:rPr>
              <a:t>], with the split position returned </a:t>
            </a:r>
            <a:r>
              <a:rPr lang="en-US" b="1" dirty="0" smtClean="0">
                <a:solidFill>
                  <a:srgbClr val="002060"/>
                </a:solidFill>
                <a:latin typeface="Times New Roman" panose="02020603050405020304" pitchFamily="18" charset="0"/>
                <a:cs typeface="Times New Roman" panose="02020603050405020304" pitchFamily="18" charset="0"/>
              </a:rPr>
              <a:t>as </a:t>
            </a:r>
            <a:r>
              <a:rPr lang="en-IN" b="1" dirty="0" smtClean="0">
                <a:solidFill>
                  <a:srgbClr val="002060"/>
                </a:solidFill>
                <a:latin typeface="Times New Roman" panose="02020603050405020304" pitchFamily="18" charset="0"/>
                <a:cs typeface="Times New Roman" panose="02020603050405020304" pitchFamily="18" charset="0"/>
              </a:rPr>
              <a:t>this </a:t>
            </a:r>
            <a:r>
              <a:rPr lang="en-IN" b="1" dirty="0">
                <a:solidFill>
                  <a:srgbClr val="002060"/>
                </a:solidFill>
                <a:latin typeface="Times New Roman" panose="02020603050405020304" pitchFamily="18" charset="0"/>
                <a:cs typeface="Times New Roman" panose="02020603050405020304" pitchFamily="18" charset="0"/>
              </a:rPr>
              <a:t>function’s value</a:t>
            </a:r>
          </a:p>
          <a:p>
            <a:pPr algn="just"/>
            <a:r>
              <a:rPr lang="en-IN" b="1" dirty="0" smtClean="0">
                <a:solidFill>
                  <a:srgbClr val="002060"/>
                </a:solidFill>
                <a:latin typeface="Times New Roman" panose="02020603050405020304" pitchFamily="18" charset="0"/>
                <a:cs typeface="Times New Roman" panose="02020603050405020304" pitchFamily="18" charset="0"/>
              </a:rPr>
              <a:t>   </a:t>
            </a:r>
            <a:r>
              <a:rPr lang="en-IN" b="1" dirty="0" err="1" smtClean="0">
                <a:solidFill>
                  <a:srgbClr val="002060"/>
                </a:solidFill>
                <a:latin typeface="Times New Roman" panose="02020603050405020304" pitchFamily="18" charset="0"/>
                <a:cs typeface="Times New Roman" panose="02020603050405020304" pitchFamily="18" charset="0"/>
              </a:rPr>
              <a:t>p</a:t>
            </a:r>
            <a:r>
              <a:rPr lang="en-IN" b="1" dirty="0" err="1">
                <a:solidFill>
                  <a:srgbClr val="002060"/>
                </a:solidFill>
                <a:latin typeface="Times New Roman" panose="02020603050405020304" pitchFamily="18" charset="0"/>
                <a:cs typeface="Times New Roman" panose="02020603050405020304" pitchFamily="18" charset="0"/>
              </a:rPr>
              <a:t>←A</a:t>
            </a:r>
            <a:r>
              <a:rPr lang="en-IN" b="1" dirty="0">
                <a:solidFill>
                  <a:srgbClr val="002060"/>
                </a:solidFill>
                <a:latin typeface="Times New Roman" panose="02020603050405020304" pitchFamily="18" charset="0"/>
                <a:cs typeface="Times New Roman" panose="02020603050405020304" pitchFamily="18" charset="0"/>
              </a:rPr>
              <a:t>[l]</a:t>
            </a:r>
          </a:p>
          <a:p>
            <a:pPr algn="just"/>
            <a:r>
              <a:rPr lang="en-IN" b="1" dirty="0" smtClean="0">
                <a:solidFill>
                  <a:srgbClr val="002060"/>
                </a:solidFill>
                <a:latin typeface="Times New Roman" panose="02020603050405020304" pitchFamily="18" charset="0"/>
                <a:cs typeface="Times New Roman" panose="02020603050405020304" pitchFamily="18" charset="0"/>
              </a:rPr>
              <a:t>   </a:t>
            </a:r>
            <a:r>
              <a:rPr lang="en-IN" b="1" dirty="0" err="1" smtClean="0">
                <a:solidFill>
                  <a:srgbClr val="002060"/>
                </a:solidFill>
                <a:latin typeface="Times New Roman" panose="02020603050405020304" pitchFamily="18" charset="0"/>
                <a:cs typeface="Times New Roman" panose="02020603050405020304" pitchFamily="18" charset="0"/>
              </a:rPr>
              <a:t>i</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a:solidFill>
                  <a:srgbClr val="002060"/>
                </a:solidFill>
                <a:latin typeface="Times New Roman" panose="02020603050405020304" pitchFamily="18" charset="0"/>
                <a:cs typeface="Times New Roman" panose="02020603050405020304" pitchFamily="18" charset="0"/>
              </a:rPr>
              <a:t>←l; </a:t>
            </a:r>
            <a:r>
              <a:rPr lang="en-IN" b="1" dirty="0" smtClean="0">
                <a:solidFill>
                  <a:srgbClr val="002060"/>
                </a:solidFill>
                <a:latin typeface="Times New Roman" panose="02020603050405020304" pitchFamily="18" charset="0"/>
                <a:cs typeface="Times New Roman" panose="02020603050405020304" pitchFamily="18" charset="0"/>
              </a:rPr>
              <a:t>    j </a:t>
            </a:r>
            <a:r>
              <a:rPr lang="en-IN" b="1" dirty="0">
                <a:solidFill>
                  <a:srgbClr val="002060"/>
                </a:solidFill>
                <a:latin typeface="Times New Roman" panose="02020603050405020304" pitchFamily="18" charset="0"/>
                <a:cs typeface="Times New Roman" panose="02020603050405020304" pitchFamily="18" charset="0"/>
              </a:rPr>
              <a:t>←r + 1</a:t>
            </a:r>
          </a:p>
          <a:p>
            <a:pPr algn="just"/>
            <a:r>
              <a:rPr lang="en-IN" b="1" dirty="0" smtClean="0">
                <a:solidFill>
                  <a:srgbClr val="C00000"/>
                </a:solidFill>
                <a:latin typeface="Times New Roman" panose="02020603050405020304" pitchFamily="18" charset="0"/>
                <a:cs typeface="Times New Roman" panose="02020603050405020304" pitchFamily="18" charset="0"/>
              </a:rPr>
              <a:t>  repeat</a:t>
            </a:r>
            <a:endParaRPr lang="en-IN" b="1" dirty="0">
              <a:solidFill>
                <a:srgbClr val="C00000"/>
              </a:solidFill>
              <a:latin typeface="Times New Roman" panose="02020603050405020304" pitchFamily="18" charset="0"/>
              <a:cs typeface="Times New Roman" panose="02020603050405020304" pitchFamily="18" charset="0"/>
            </a:endParaRPr>
          </a:p>
          <a:p>
            <a:pPr algn="just"/>
            <a:r>
              <a:rPr lang="en-US" b="1" dirty="0" smtClean="0">
                <a:solidFill>
                  <a:srgbClr val="002060"/>
                </a:solidFill>
                <a:latin typeface="Times New Roman" panose="02020603050405020304" pitchFamily="18" charset="0"/>
                <a:cs typeface="Times New Roman" panose="02020603050405020304" pitchFamily="18" charset="0"/>
              </a:rPr>
              <a:t>            repeat </a:t>
            </a:r>
            <a:r>
              <a:rPr lang="en-US" b="1" dirty="0" err="1">
                <a:solidFill>
                  <a:srgbClr val="002060"/>
                </a:solidFill>
                <a:latin typeface="Times New Roman" panose="02020603050405020304" pitchFamily="18" charset="0"/>
                <a:cs typeface="Times New Roman" panose="02020603050405020304" pitchFamily="18" charset="0"/>
              </a:rPr>
              <a:t>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i</a:t>
            </a:r>
            <a:r>
              <a:rPr lang="en-US" b="1" dirty="0">
                <a:solidFill>
                  <a:srgbClr val="002060"/>
                </a:solidFill>
                <a:latin typeface="Times New Roman" panose="02020603050405020304" pitchFamily="18" charset="0"/>
                <a:cs typeface="Times New Roman" panose="02020603050405020304" pitchFamily="18" charset="0"/>
              </a:rPr>
              <a:t> + 1 until A[</a:t>
            </a:r>
            <a:r>
              <a:rPr lang="en-US" b="1" dirty="0" err="1">
                <a:solidFill>
                  <a:srgbClr val="002060"/>
                </a:solidFill>
                <a:latin typeface="Times New Roman" panose="02020603050405020304" pitchFamily="18" charset="0"/>
                <a:cs typeface="Times New Roman" panose="02020603050405020304" pitchFamily="18" charset="0"/>
              </a:rPr>
              <a:t>i</a:t>
            </a:r>
            <a:r>
              <a:rPr lang="en-US" b="1" dirty="0">
                <a:solidFill>
                  <a:srgbClr val="002060"/>
                </a:solidFill>
                <a:latin typeface="Times New Roman" panose="02020603050405020304" pitchFamily="18" charset="0"/>
                <a:cs typeface="Times New Roman" panose="02020603050405020304" pitchFamily="18" charset="0"/>
              </a:rPr>
              <a:t>]≥ p</a:t>
            </a:r>
          </a:p>
          <a:p>
            <a:pPr algn="just"/>
            <a:r>
              <a:rPr lang="en-US" b="1" dirty="0" smtClean="0">
                <a:solidFill>
                  <a:srgbClr val="002060"/>
                </a:solidFill>
                <a:latin typeface="Times New Roman" panose="02020603050405020304" pitchFamily="18" charset="0"/>
                <a:cs typeface="Times New Roman" panose="02020603050405020304" pitchFamily="18" charset="0"/>
              </a:rPr>
              <a:t>            repeat </a:t>
            </a:r>
            <a:r>
              <a:rPr lang="en-US" b="1" dirty="0">
                <a:solidFill>
                  <a:srgbClr val="002060"/>
                </a:solidFill>
                <a:latin typeface="Times New Roman" panose="02020603050405020304" pitchFamily="18" charset="0"/>
                <a:cs typeface="Times New Roman" panose="02020603050405020304" pitchFamily="18" charset="0"/>
              </a:rPr>
              <a:t>j ←j − 1 until A[j ]≤ p</a:t>
            </a:r>
          </a:p>
          <a:p>
            <a:pPr algn="just"/>
            <a:r>
              <a:rPr lang="en-IN" b="1" dirty="0" smtClean="0">
                <a:solidFill>
                  <a:srgbClr val="002060"/>
                </a:solidFill>
                <a:latin typeface="Times New Roman" panose="02020603050405020304" pitchFamily="18" charset="0"/>
                <a:cs typeface="Times New Roman" panose="02020603050405020304" pitchFamily="18" charset="0"/>
              </a:rPr>
              <a:t>            swap(A[</a:t>
            </a:r>
            <a:r>
              <a:rPr lang="en-IN" b="1" dirty="0" err="1" smtClean="0">
                <a:solidFill>
                  <a:srgbClr val="002060"/>
                </a:solidFill>
                <a:latin typeface="Times New Roman" panose="02020603050405020304" pitchFamily="18" charset="0"/>
                <a:cs typeface="Times New Roman" panose="02020603050405020304" pitchFamily="18" charset="0"/>
              </a:rPr>
              <a:t>i</a:t>
            </a:r>
            <a:r>
              <a:rPr lang="en-IN" b="1" dirty="0">
                <a:solidFill>
                  <a:srgbClr val="002060"/>
                </a:solidFill>
                <a:latin typeface="Times New Roman" panose="02020603050405020304" pitchFamily="18" charset="0"/>
                <a:cs typeface="Times New Roman" panose="02020603050405020304" pitchFamily="18" charset="0"/>
              </a:rPr>
              <a:t>], A[j ])</a:t>
            </a:r>
          </a:p>
          <a:p>
            <a:pPr algn="just"/>
            <a:r>
              <a:rPr lang="en-IN" b="1" dirty="0">
                <a:solidFill>
                  <a:srgbClr val="C00000"/>
                </a:solidFill>
                <a:latin typeface="Times New Roman" panose="02020603050405020304" pitchFamily="18" charset="0"/>
                <a:cs typeface="Times New Roman" panose="02020603050405020304" pitchFamily="18" charset="0"/>
              </a:rPr>
              <a:t>until </a:t>
            </a:r>
            <a:r>
              <a:rPr lang="en-IN" b="1" dirty="0" err="1">
                <a:solidFill>
                  <a:srgbClr val="C00000"/>
                </a:solidFill>
                <a:latin typeface="Times New Roman" panose="02020603050405020304" pitchFamily="18" charset="0"/>
                <a:cs typeface="Times New Roman" panose="02020603050405020304" pitchFamily="18" charset="0"/>
              </a:rPr>
              <a:t>i</a:t>
            </a:r>
            <a:r>
              <a:rPr lang="en-IN" b="1" dirty="0">
                <a:solidFill>
                  <a:srgbClr val="C00000"/>
                </a:solidFill>
                <a:latin typeface="Times New Roman" panose="02020603050405020304" pitchFamily="18" charset="0"/>
                <a:cs typeface="Times New Roman" panose="02020603050405020304" pitchFamily="18" charset="0"/>
              </a:rPr>
              <a:t> ≥ j</a:t>
            </a:r>
          </a:p>
          <a:p>
            <a:pPr algn="just"/>
            <a:r>
              <a:rPr lang="en-US" b="1" dirty="0">
                <a:solidFill>
                  <a:srgbClr val="002060"/>
                </a:solidFill>
                <a:latin typeface="Times New Roman" panose="02020603050405020304" pitchFamily="18" charset="0"/>
                <a:cs typeface="Times New Roman" panose="02020603050405020304" pitchFamily="18" charset="0"/>
              </a:rPr>
              <a:t>swap(A[</a:t>
            </a:r>
            <a:r>
              <a:rPr lang="en-US" b="1" dirty="0" err="1">
                <a:solidFill>
                  <a:srgbClr val="002060"/>
                </a:solidFill>
                <a:latin typeface="Times New Roman" panose="02020603050405020304" pitchFamily="18" charset="0"/>
                <a:cs typeface="Times New Roman" panose="02020603050405020304" pitchFamily="18" charset="0"/>
              </a:rPr>
              <a:t>i</a:t>
            </a:r>
            <a:r>
              <a:rPr lang="en-US" b="1" dirty="0">
                <a:solidFill>
                  <a:srgbClr val="002060"/>
                </a:solidFill>
                <a:latin typeface="Times New Roman" panose="02020603050405020304" pitchFamily="18" charset="0"/>
                <a:cs typeface="Times New Roman" panose="02020603050405020304" pitchFamily="18" charset="0"/>
              </a:rPr>
              <a:t>], A[j ]) //undo last swap when </a:t>
            </a:r>
            <a:r>
              <a:rPr lang="en-US" b="1" dirty="0" err="1">
                <a:solidFill>
                  <a:srgbClr val="002060"/>
                </a:solidFill>
                <a:latin typeface="Times New Roman" panose="02020603050405020304" pitchFamily="18" charset="0"/>
                <a:cs typeface="Times New Roman" panose="02020603050405020304" pitchFamily="18" charset="0"/>
              </a:rPr>
              <a:t>i</a:t>
            </a:r>
            <a:r>
              <a:rPr lang="en-US" b="1" dirty="0">
                <a:solidFill>
                  <a:srgbClr val="002060"/>
                </a:solidFill>
                <a:latin typeface="Times New Roman" panose="02020603050405020304" pitchFamily="18" charset="0"/>
                <a:cs typeface="Times New Roman" panose="02020603050405020304" pitchFamily="18" charset="0"/>
              </a:rPr>
              <a:t> ≥ j</a:t>
            </a:r>
          </a:p>
          <a:p>
            <a:pPr algn="just"/>
            <a:r>
              <a:rPr lang="en-IN" b="1" dirty="0">
                <a:solidFill>
                  <a:srgbClr val="002060"/>
                </a:solidFill>
                <a:latin typeface="Times New Roman" panose="02020603050405020304" pitchFamily="18" charset="0"/>
                <a:cs typeface="Times New Roman" panose="02020603050405020304" pitchFamily="18" charset="0"/>
              </a:rPr>
              <a:t>swap(A[l], A[j </a:t>
            </a:r>
            <a:r>
              <a:rPr lang="en-IN" b="1" dirty="0" smtClean="0">
                <a:solidFill>
                  <a:srgbClr val="002060"/>
                </a:solidFill>
                <a:latin typeface="Times New Roman" panose="02020603050405020304" pitchFamily="18" charset="0"/>
                <a:cs typeface="Times New Roman" panose="02020603050405020304" pitchFamily="18" charset="0"/>
              </a:rPr>
              <a:t>])  // swap pivot p with A[j]</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return j</a:t>
            </a:r>
            <a:endParaRPr lang="en-US"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58</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AEE0C96F-3876-4A03-8DAC-31560D510311}" type="datetime1">
              <a:rPr lang="en-IN" smtClean="0"/>
              <a:t>21-03-2026</a:t>
            </a:fld>
            <a:endParaRPr lang="en-IN"/>
          </a:p>
        </p:txBody>
      </p:sp>
    </p:spTree>
    <p:extLst>
      <p:ext uri="{BB962C8B-B14F-4D97-AF65-F5344CB8AC3E}">
        <p14:creationId xmlns:p14="http://schemas.microsoft.com/office/powerpoint/2010/main" val="49780203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Quick sort Example</a:t>
            </a:r>
          </a:p>
          <a:p>
            <a:pPr algn="just"/>
            <a:r>
              <a:rPr lang="en-IN" sz="2000" b="1" dirty="0" smtClean="0">
                <a:solidFill>
                  <a:srgbClr val="002060"/>
                </a:solidFill>
                <a:latin typeface="Times New Roman" panose="02020603050405020304" pitchFamily="18" charset="0"/>
                <a:cs typeface="Times New Roman" panose="02020603050405020304" pitchFamily="18" charset="0"/>
              </a:rPr>
              <a:t>Trace the quick sort  algorithm for the following data set  and also construct tree for a recursive call </a:t>
            </a:r>
          </a:p>
          <a:p>
            <a:pPr algn="just"/>
            <a:r>
              <a:rPr lang="en-IN" sz="2000" b="1" dirty="0" smtClean="0">
                <a:solidFill>
                  <a:srgbClr val="002060"/>
                </a:solidFill>
                <a:latin typeface="Times New Roman" panose="02020603050405020304" pitchFamily="18" charset="0"/>
                <a:cs typeface="Times New Roman" panose="02020603050405020304" pitchFamily="18" charset="0"/>
              </a:rPr>
              <a:t>5,  3,  1,  9,  8,  2,  4,  7</a:t>
            </a:r>
          </a:p>
          <a:p>
            <a:pPr algn="just"/>
            <a:r>
              <a:rPr lang="en-IN" sz="2000" b="1" dirty="0" smtClean="0">
                <a:solidFill>
                  <a:srgbClr val="C00000"/>
                </a:solidFill>
                <a:latin typeface="Times New Roman" panose="02020603050405020304" pitchFamily="18" charset="0"/>
                <a:cs typeface="Times New Roman" panose="02020603050405020304" pitchFamily="18" charset="0"/>
              </a:rPr>
              <a:t>Solution:</a:t>
            </a:r>
          </a:p>
          <a:p>
            <a:pPr algn="just"/>
            <a:r>
              <a:rPr lang="en-IN" sz="2000" b="1" dirty="0">
                <a:solidFill>
                  <a:srgbClr val="002060"/>
                </a:solidFill>
                <a:latin typeface="Times New Roman" panose="02020603050405020304" pitchFamily="18" charset="0"/>
                <a:cs typeface="Times New Roman" panose="02020603050405020304" pitchFamily="18" charset="0"/>
              </a:rPr>
              <a:t>n=8</a:t>
            </a: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59</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048571370"/>
              </p:ext>
            </p:extLst>
          </p:nvPr>
        </p:nvGraphicFramePr>
        <p:xfrm>
          <a:off x="1903953" y="3038035"/>
          <a:ext cx="7224888" cy="741680"/>
        </p:xfrm>
        <a:graphic>
          <a:graphicData uri="http://schemas.openxmlformats.org/drawingml/2006/table">
            <a:tbl>
              <a:tblPr firstRow="1" bandRow="1">
                <a:tableStyleId>{5C22544A-7EE6-4342-B048-85BDC9FD1C3A}</a:tableStyleId>
              </a:tblPr>
              <a:tblGrid>
                <a:gridCol w="903111"/>
                <a:gridCol w="903111"/>
                <a:gridCol w="903111"/>
                <a:gridCol w="903111"/>
                <a:gridCol w="903111"/>
                <a:gridCol w="903111"/>
                <a:gridCol w="903111"/>
                <a:gridCol w="903111"/>
              </a:tblGrid>
              <a:tr h="370840">
                <a:tc>
                  <a:txBody>
                    <a:bodyPr/>
                    <a:lstStyle/>
                    <a:p>
                      <a:r>
                        <a:rPr lang="en-IN" dirty="0" smtClean="0">
                          <a:solidFill>
                            <a:srgbClr val="C00000"/>
                          </a:solidFill>
                        </a:rPr>
                        <a:t>0</a:t>
                      </a:r>
                      <a:endParaRPr lang="en-IN" dirty="0">
                        <a:solidFill>
                          <a:srgbClr val="C00000"/>
                        </a:solidFill>
                      </a:endParaRPr>
                    </a:p>
                  </a:txBody>
                  <a:tcPr>
                    <a:solidFill>
                      <a:schemeClr val="bg1"/>
                    </a:solidFill>
                  </a:tcPr>
                </a:tc>
                <a:tc>
                  <a:txBody>
                    <a:bodyPr/>
                    <a:lstStyle/>
                    <a:p>
                      <a:r>
                        <a:rPr lang="en-IN" dirty="0" smtClean="0">
                          <a:solidFill>
                            <a:srgbClr val="C00000"/>
                          </a:solidFill>
                        </a:rPr>
                        <a:t>1</a:t>
                      </a:r>
                      <a:endParaRPr lang="en-IN" dirty="0">
                        <a:solidFill>
                          <a:srgbClr val="C00000"/>
                        </a:solidFill>
                      </a:endParaRPr>
                    </a:p>
                  </a:txBody>
                  <a:tcPr>
                    <a:solidFill>
                      <a:schemeClr val="bg1"/>
                    </a:solidFill>
                  </a:tcPr>
                </a:tc>
                <a:tc>
                  <a:txBody>
                    <a:bodyPr/>
                    <a:lstStyle/>
                    <a:p>
                      <a:r>
                        <a:rPr lang="en-IN" dirty="0" smtClean="0">
                          <a:solidFill>
                            <a:srgbClr val="C00000"/>
                          </a:solidFill>
                        </a:rPr>
                        <a:t>2</a:t>
                      </a:r>
                      <a:endParaRPr lang="en-IN" dirty="0">
                        <a:solidFill>
                          <a:srgbClr val="C00000"/>
                        </a:solidFill>
                      </a:endParaRPr>
                    </a:p>
                  </a:txBody>
                  <a:tcPr>
                    <a:solidFill>
                      <a:schemeClr val="bg1"/>
                    </a:solidFill>
                  </a:tcPr>
                </a:tc>
                <a:tc>
                  <a:txBody>
                    <a:bodyPr/>
                    <a:lstStyle/>
                    <a:p>
                      <a:r>
                        <a:rPr lang="en-IN" dirty="0" smtClean="0">
                          <a:solidFill>
                            <a:srgbClr val="C00000"/>
                          </a:solidFill>
                        </a:rPr>
                        <a:t>3</a:t>
                      </a:r>
                      <a:endParaRPr lang="en-IN" dirty="0">
                        <a:solidFill>
                          <a:srgbClr val="C00000"/>
                        </a:solidFill>
                      </a:endParaRPr>
                    </a:p>
                  </a:txBody>
                  <a:tcPr>
                    <a:solidFill>
                      <a:schemeClr val="bg1"/>
                    </a:solidFill>
                  </a:tcPr>
                </a:tc>
                <a:tc>
                  <a:txBody>
                    <a:bodyPr/>
                    <a:lstStyle/>
                    <a:p>
                      <a:r>
                        <a:rPr lang="en-IN" dirty="0" smtClean="0">
                          <a:solidFill>
                            <a:srgbClr val="C00000"/>
                          </a:solidFill>
                        </a:rPr>
                        <a:t>4</a:t>
                      </a:r>
                      <a:endParaRPr lang="en-IN" dirty="0">
                        <a:solidFill>
                          <a:srgbClr val="C00000"/>
                        </a:solidFill>
                      </a:endParaRPr>
                    </a:p>
                  </a:txBody>
                  <a:tcPr>
                    <a:solidFill>
                      <a:schemeClr val="bg1"/>
                    </a:solidFill>
                  </a:tcPr>
                </a:tc>
                <a:tc>
                  <a:txBody>
                    <a:bodyPr/>
                    <a:lstStyle/>
                    <a:p>
                      <a:r>
                        <a:rPr lang="en-IN" dirty="0" smtClean="0">
                          <a:solidFill>
                            <a:srgbClr val="C00000"/>
                          </a:solidFill>
                        </a:rPr>
                        <a:t>5</a:t>
                      </a:r>
                      <a:endParaRPr lang="en-IN" dirty="0">
                        <a:solidFill>
                          <a:srgbClr val="C00000"/>
                        </a:solidFill>
                      </a:endParaRPr>
                    </a:p>
                  </a:txBody>
                  <a:tcPr>
                    <a:solidFill>
                      <a:schemeClr val="bg1"/>
                    </a:solidFill>
                  </a:tcPr>
                </a:tc>
                <a:tc>
                  <a:txBody>
                    <a:bodyPr/>
                    <a:lstStyle/>
                    <a:p>
                      <a:r>
                        <a:rPr lang="en-IN" dirty="0" smtClean="0">
                          <a:solidFill>
                            <a:srgbClr val="C00000"/>
                          </a:solidFill>
                        </a:rPr>
                        <a:t>6</a:t>
                      </a:r>
                      <a:endParaRPr lang="en-IN" dirty="0">
                        <a:solidFill>
                          <a:srgbClr val="C00000"/>
                        </a:solidFill>
                      </a:endParaRPr>
                    </a:p>
                  </a:txBody>
                  <a:tcPr>
                    <a:solidFill>
                      <a:schemeClr val="bg1"/>
                    </a:solidFill>
                  </a:tcPr>
                </a:tc>
                <a:tc>
                  <a:txBody>
                    <a:bodyPr/>
                    <a:lstStyle/>
                    <a:p>
                      <a:r>
                        <a:rPr lang="en-IN" dirty="0" smtClean="0">
                          <a:solidFill>
                            <a:srgbClr val="C00000"/>
                          </a:solidFill>
                        </a:rPr>
                        <a:t>7</a:t>
                      </a:r>
                      <a:endParaRPr lang="en-IN" dirty="0">
                        <a:solidFill>
                          <a:srgbClr val="C00000"/>
                        </a:solidFill>
                      </a:endParaRPr>
                    </a:p>
                  </a:txBody>
                  <a:tcPr>
                    <a:solidFill>
                      <a:schemeClr val="bg1"/>
                    </a:solidFill>
                  </a:tcPr>
                </a:tc>
              </a:tr>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3</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1</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9</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2</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4</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9" name="TextBox 8"/>
          <p:cNvSpPr txBox="1"/>
          <p:nvPr/>
        </p:nvSpPr>
        <p:spPr>
          <a:xfrm>
            <a:off x="1015820" y="2945431"/>
            <a:ext cx="943583" cy="646331"/>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Index</a:t>
            </a:r>
          </a:p>
          <a:p>
            <a:endParaRPr lang="en-IN" dirty="0"/>
          </a:p>
        </p:txBody>
      </p:sp>
      <p:cxnSp>
        <p:nvCxnSpPr>
          <p:cNvPr id="10" name="Straight Arrow Connector 9"/>
          <p:cNvCxnSpPr/>
          <p:nvPr/>
        </p:nvCxnSpPr>
        <p:spPr>
          <a:xfrm flipV="1">
            <a:off x="1077790" y="3273903"/>
            <a:ext cx="852075" cy="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72597" y="3444931"/>
            <a:ext cx="1659615" cy="923330"/>
          </a:xfrm>
          <a:prstGeom prst="rect">
            <a:avLst/>
          </a:prstGeom>
          <a:noFill/>
        </p:spPr>
        <p:txBody>
          <a:bodyPr wrap="square" rtlCol="0">
            <a:spAutoFit/>
          </a:bodyPr>
          <a:lstStyle/>
          <a:p>
            <a:pPr algn="ctr"/>
            <a:r>
              <a:rPr lang="en-IN" b="1" dirty="0" smtClean="0">
                <a:solidFill>
                  <a:srgbClr val="002060"/>
                </a:solidFill>
                <a:latin typeface="Times New Roman" panose="02020603050405020304" pitchFamily="18" charset="0"/>
                <a:cs typeface="Times New Roman" panose="02020603050405020304" pitchFamily="18" charset="0"/>
              </a:rPr>
              <a:t>Array elements</a:t>
            </a:r>
            <a:endParaRPr lang="en-IN" b="1" dirty="0">
              <a:solidFill>
                <a:srgbClr val="002060"/>
              </a:solidFill>
              <a:latin typeface="Times New Roman" panose="02020603050405020304" pitchFamily="18" charset="0"/>
              <a:cs typeface="Times New Roman" panose="02020603050405020304" pitchFamily="18" charset="0"/>
            </a:endParaRPr>
          </a:p>
          <a:p>
            <a:endParaRPr lang="en-IN" dirty="0"/>
          </a:p>
        </p:txBody>
      </p:sp>
      <p:sp>
        <p:nvSpPr>
          <p:cNvPr id="12" name="TextBox 11"/>
          <p:cNvSpPr txBox="1"/>
          <p:nvPr/>
        </p:nvSpPr>
        <p:spPr>
          <a:xfrm>
            <a:off x="1487611" y="2662208"/>
            <a:ext cx="943583" cy="646331"/>
          </a:xfrm>
          <a:prstGeom prst="rect">
            <a:avLst/>
          </a:prstGeom>
          <a:noFill/>
        </p:spPr>
        <p:txBody>
          <a:bodyPr wrap="square" rtlCol="0">
            <a:spAutoFit/>
          </a:bodyPr>
          <a:lstStyle/>
          <a:p>
            <a:pPr algn="ctr"/>
            <a:r>
              <a:rPr lang="en-IN" b="1" dirty="0" smtClean="0">
                <a:solidFill>
                  <a:srgbClr val="002060"/>
                </a:solidFill>
                <a:latin typeface="Times New Roman" panose="02020603050405020304" pitchFamily="18" charset="0"/>
                <a:cs typeface="Times New Roman" panose="02020603050405020304" pitchFamily="18" charset="0"/>
              </a:rPr>
              <a:t>A</a:t>
            </a:r>
            <a:endParaRPr lang="en-IN" b="1" dirty="0">
              <a:solidFill>
                <a:srgbClr val="002060"/>
              </a:solidFill>
              <a:latin typeface="Times New Roman" panose="02020603050405020304" pitchFamily="18" charset="0"/>
              <a:cs typeface="Times New Roman" panose="02020603050405020304" pitchFamily="18" charset="0"/>
            </a:endParaRPr>
          </a:p>
          <a:p>
            <a:endParaRPr lang="en-IN" dirty="0"/>
          </a:p>
        </p:txBody>
      </p:sp>
      <p:sp>
        <p:nvSpPr>
          <p:cNvPr id="13" name="Date Placeholder 12"/>
          <p:cNvSpPr>
            <a:spLocks noGrp="1"/>
          </p:cNvSpPr>
          <p:nvPr>
            <p:ph type="dt" sz="half" idx="10"/>
          </p:nvPr>
        </p:nvSpPr>
        <p:spPr/>
        <p:txBody>
          <a:bodyPr/>
          <a:lstStyle/>
          <a:p>
            <a:fld id="{D1B70D73-49ED-42B0-8315-EA26DD22A269}" type="datetime1">
              <a:rPr lang="en-IN" smtClean="0"/>
              <a:t>21-03-2026</a:t>
            </a:fld>
            <a:endParaRPr lang="en-IN"/>
          </a:p>
        </p:txBody>
      </p:sp>
      <p:sp>
        <p:nvSpPr>
          <p:cNvPr id="14" name="TextBox 13"/>
          <p:cNvSpPr txBox="1"/>
          <p:nvPr/>
        </p:nvSpPr>
        <p:spPr>
          <a:xfrm>
            <a:off x="3274039" y="2108210"/>
            <a:ext cx="1832799" cy="923330"/>
          </a:xfrm>
          <a:prstGeom prst="rect">
            <a:avLst/>
          </a:prstGeom>
          <a:noFill/>
          <a:ln>
            <a:solidFill>
              <a:schemeClr val="accent1"/>
            </a:solidFill>
          </a:ln>
        </p:spPr>
        <p:txBody>
          <a:bodyPr wrap="square" rtlCol="0">
            <a:spAutoFit/>
          </a:bodyPr>
          <a:lstStyle/>
          <a:p>
            <a:r>
              <a:rPr lang="en-IN" dirty="0" smtClean="0"/>
              <a:t>l=0, r=7</a:t>
            </a:r>
          </a:p>
          <a:p>
            <a:r>
              <a:rPr lang="en-IN" dirty="0" err="1" smtClean="0"/>
              <a:t>i</a:t>
            </a:r>
            <a:r>
              <a:rPr lang="en-IN" dirty="0" smtClean="0"/>
              <a:t>=l </a:t>
            </a:r>
            <a:r>
              <a:rPr lang="en-IN" dirty="0" err="1" smtClean="0"/>
              <a:t>i.e</a:t>
            </a:r>
            <a:r>
              <a:rPr lang="en-IN" dirty="0" smtClean="0"/>
              <a:t> </a:t>
            </a:r>
            <a:r>
              <a:rPr lang="en-IN" dirty="0" err="1" smtClean="0"/>
              <a:t>i</a:t>
            </a:r>
            <a:r>
              <a:rPr lang="en-IN" dirty="0" smtClean="0"/>
              <a:t>=0</a:t>
            </a:r>
          </a:p>
          <a:p>
            <a:r>
              <a:rPr lang="en-IN" dirty="0" smtClean="0"/>
              <a:t>j=r+1</a:t>
            </a:r>
            <a:endParaRPr lang="en-IN" dirty="0"/>
          </a:p>
        </p:txBody>
      </p:sp>
    </p:spTree>
    <p:extLst>
      <p:ext uri="{BB962C8B-B14F-4D97-AF65-F5344CB8AC3E}">
        <p14:creationId xmlns:p14="http://schemas.microsoft.com/office/powerpoint/2010/main" val="354498914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8093" y="176244"/>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77052" y="575591"/>
            <a:ext cx="11797552" cy="6046339"/>
          </a:xfrm>
        </p:spPr>
        <p:txBody>
          <a:bodyPr>
            <a:normAutofit/>
          </a:bodyPr>
          <a:lstStyle/>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177052" y="6564391"/>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60</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747789502"/>
              </p:ext>
            </p:extLst>
          </p:nvPr>
        </p:nvGraphicFramePr>
        <p:xfrm>
          <a:off x="456142" y="1485960"/>
          <a:ext cx="9086536" cy="457200"/>
        </p:xfrm>
        <a:graphic>
          <a:graphicData uri="http://schemas.openxmlformats.org/drawingml/2006/table">
            <a:tbl>
              <a:tblPr firstRow="1" bandRow="1">
                <a:tableStyleId>{5C22544A-7EE6-4342-B048-85BDC9FD1C3A}</a:tableStyleId>
              </a:tblPr>
              <a:tblGrid>
                <a:gridCol w="1135817"/>
                <a:gridCol w="1135817"/>
                <a:gridCol w="1135817"/>
                <a:gridCol w="1135817"/>
                <a:gridCol w="1135817"/>
                <a:gridCol w="1135817"/>
                <a:gridCol w="1135817"/>
                <a:gridCol w="1135817"/>
              </a:tblGrid>
              <a:tr h="370840">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9</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8</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2</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2400" b="1" kern="1200" dirty="0" smtClean="0">
                          <a:solidFill>
                            <a:srgbClr val="002060"/>
                          </a:solidFill>
                          <a:latin typeface="Times New Roman" panose="02020603050405020304" pitchFamily="18" charset="0"/>
                          <a:ea typeface="+mn-ea"/>
                          <a:cs typeface="Times New Roman" panose="02020603050405020304" pitchFamily="18" charset="0"/>
                        </a:rPr>
                        <a:t>7</a:t>
                      </a:r>
                      <a:endParaRPr lang="en-IN" sz="24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13" name="Rectangle 12"/>
          <p:cNvSpPr/>
          <p:nvPr/>
        </p:nvSpPr>
        <p:spPr>
          <a:xfrm>
            <a:off x="552665" y="1457090"/>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5</a:t>
            </a:r>
          </a:p>
        </p:txBody>
      </p:sp>
      <p:sp>
        <p:nvSpPr>
          <p:cNvPr id="14" name="TextBox 13"/>
          <p:cNvSpPr txBox="1"/>
          <p:nvPr/>
        </p:nvSpPr>
        <p:spPr>
          <a:xfrm>
            <a:off x="1249381" y="952266"/>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5" name="TextBox 14"/>
          <p:cNvSpPr txBox="1"/>
          <p:nvPr/>
        </p:nvSpPr>
        <p:spPr>
          <a:xfrm>
            <a:off x="8138808" y="916316"/>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graphicFrame>
        <p:nvGraphicFramePr>
          <p:cNvPr id="16" name="Table 15"/>
          <p:cNvGraphicFramePr>
            <a:graphicFrameLocks noGrp="1"/>
          </p:cNvGraphicFramePr>
          <p:nvPr>
            <p:extLst>
              <p:ext uri="{D42A27DB-BD31-4B8C-83A1-F6EECF244321}">
                <p14:modId xmlns:p14="http://schemas.microsoft.com/office/powerpoint/2010/main" val="365285533"/>
              </p:ext>
            </p:extLst>
          </p:nvPr>
        </p:nvGraphicFramePr>
        <p:xfrm>
          <a:off x="394447" y="2636851"/>
          <a:ext cx="9359152" cy="457200"/>
        </p:xfrm>
        <a:graphic>
          <a:graphicData uri="http://schemas.openxmlformats.org/drawingml/2006/table">
            <a:tbl>
              <a:tblPr firstRow="1" bandRow="1">
                <a:tableStyleId>{5C22544A-7EE6-4342-B048-85BDC9FD1C3A}</a:tableStyleId>
              </a:tblPr>
              <a:tblGrid>
                <a:gridCol w="1169894"/>
                <a:gridCol w="1169894"/>
                <a:gridCol w="1169894"/>
                <a:gridCol w="1169894"/>
                <a:gridCol w="1169894"/>
                <a:gridCol w="1169894"/>
                <a:gridCol w="1169894"/>
                <a:gridCol w="1169894"/>
              </a:tblGrid>
              <a:tr h="370840">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9</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8</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2</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2400" b="1" kern="1200" dirty="0" smtClean="0">
                          <a:solidFill>
                            <a:srgbClr val="002060"/>
                          </a:solidFill>
                          <a:latin typeface="Times New Roman" panose="02020603050405020304" pitchFamily="18" charset="0"/>
                          <a:ea typeface="+mn-ea"/>
                          <a:cs typeface="Times New Roman" panose="02020603050405020304" pitchFamily="18" charset="0"/>
                        </a:rPr>
                        <a:t>7</a:t>
                      </a:r>
                      <a:endParaRPr lang="en-IN" sz="24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17" name="Rectangle 16"/>
          <p:cNvSpPr/>
          <p:nvPr/>
        </p:nvSpPr>
        <p:spPr>
          <a:xfrm>
            <a:off x="552665" y="2598973"/>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5</a:t>
            </a:r>
          </a:p>
        </p:txBody>
      </p:sp>
      <p:sp>
        <p:nvSpPr>
          <p:cNvPr id="18" name="TextBox 17"/>
          <p:cNvSpPr txBox="1"/>
          <p:nvPr/>
        </p:nvSpPr>
        <p:spPr>
          <a:xfrm>
            <a:off x="1400736" y="3111993"/>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3 &lt; 5</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9" name="TextBox 18"/>
          <p:cNvSpPr txBox="1"/>
          <p:nvPr/>
        </p:nvSpPr>
        <p:spPr>
          <a:xfrm>
            <a:off x="2491180" y="2267251"/>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0" name="TextBox 19"/>
          <p:cNvSpPr txBox="1"/>
          <p:nvPr/>
        </p:nvSpPr>
        <p:spPr>
          <a:xfrm>
            <a:off x="8643792" y="3075570"/>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7 &gt; 5</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1" name="TextBox 20"/>
          <p:cNvSpPr txBox="1"/>
          <p:nvPr/>
        </p:nvSpPr>
        <p:spPr>
          <a:xfrm>
            <a:off x="7400411" y="2217161"/>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graphicFrame>
        <p:nvGraphicFramePr>
          <p:cNvPr id="22" name="Table 21"/>
          <p:cNvGraphicFramePr>
            <a:graphicFrameLocks noGrp="1"/>
          </p:cNvGraphicFramePr>
          <p:nvPr>
            <p:extLst>
              <p:ext uri="{D42A27DB-BD31-4B8C-83A1-F6EECF244321}">
                <p14:modId xmlns:p14="http://schemas.microsoft.com/office/powerpoint/2010/main" val="3045372440"/>
              </p:ext>
            </p:extLst>
          </p:nvPr>
        </p:nvGraphicFramePr>
        <p:xfrm>
          <a:off x="272376" y="4049834"/>
          <a:ext cx="9709824" cy="457200"/>
        </p:xfrm>
        <a:graphic>
          <a:graphicData uri="http://schemas.openxmlformats.org/drawingml/2006/table">
            <a:tbl>
              <a:tblPr firstRow="1" bandRow="1">
                <a:tableStyleId>{5C22544A-7EE6-4342-B048-85BDC9FD1C3A}</a:tableStyleId>
              </a:tblPr>
              <a:tblGrid>
                <a:gridCol w="1213728"/>
                <a:gridCol w="1213728"/>
                <a:gridCol w="1213728"/>
                <a:gridCol w="1213728"/>
                <a:gridCol w="1213728"/>
                <a:gridCol w="1213728"/>
                <a:gridCol w="1213728"/>
                <a:gridCol w="1213728"/>
              </a:tblGrid>
              <a:tr h="370840">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9</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8</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2</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2400" b="1" kern="1200" dirty="0" smtClean="0">
                          <a:solidFill>
                            <a:srgbClr val="002060"/>
                          </a:solidFill>
                          <a:latin typeface="Times New Roman" panose="02020603050405020304" pitchFamily="18" charset="0"/>
                          <a:ea typeface="+mn-ea"/>
                          <a:cs typeface="Times New Roman" panose="02020603050405020304" pitchFamily="18" charset="0"/>
                        </a:rPr>
                        <a:t>7</a:t>
                      </a:r>
                      <a:endParaRPr lang="en-IN" sz="24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23" name="Rectangle 22"/>
          <p:cNvSpPr/>
          <p:nvPr/>
        </p:nvSpPr>
        <p:spPr>
          <a:xfrm>
            <a:off x="552665" y="4008398"/>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5</a:t>
            </a:r>
          </a:p>
        </p:txBody>
      </p:sp>
      <p:sp>
        <p:nvSpPr>
          <p:cNvPr id="24" name="TextBox 23"/>
          <p:cNvSpPr txBox="1"/>
          <p:nvPr/>
        </p:nvSpPr>
        <p:spPr>
          <a:xfrm>
            <a:off x="2344319" y="4445024"/>
            <a:ext cx="943583" cy="738664"/>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1</a:t>
            </a:r>
            <a:r>
              <a:rPr lang="en-IN" sz="2400" b="1" dirty="0" smtClean="0">
                <a:solidFill>
                  <a:srgbClr val="FF0000"/>
                </a:solidFill>
                <a:latin typeface="Times New Roman" panose="02020603050405020304" pitchFamily="18" charset="0"/>
                <a:cs typeface="Times New Roman" panose="02020603050405020304" pitchFamily="18" charset="0"/>
              </a:rPr>
              <a:t> &lt; 5</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5" name="TextBox 24"/>
          <p:cNvSpPr txBox="1"/>
          <p:nvPr/>
        </p:nvSpPr>
        <p:spPr>
          <a:xfrm>
            <a:off x="3568003" y="3599903"/>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6" name="TextBox 25"/>
          <p:cNvSpPr txBox="1"/>
          <p:nvPr/>
        </p:nvSpPr>
        <p:spPr>
          <a:xfrm>
            <a:off x="7324593" y="4374550"/>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4 &gt; 5</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28" name="Straight Connector 27"/>
          <p:cNvCxnSpPr/>
          <p:nvPr/>
        </p:nvCxnSpPr>
        <p:spPr>
          <a:xfrm flipH="1">
            <a:off x="7712936" y="4494875"/>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7299511" y="3561087"/>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graphicFrame>
        <p:nvGraphicFramePr>
          <p:cNvPr id="30" name="Table 29"/>
          <p:cNvGraphicFramePr>
            <a:graphicFrameLocks noGrp="1"/>
          </p:cNvGraphicFramePr>
          <p:nvPr>
            <p:extLst>
              <p:ext uri="{D42A27DB-BD31-4B8C-83A1-F6EECF244321}">
                <p14:modId xmlns:p14="http://schemas.microsoft.com/office/powerpoint/2010/main" val="179526207"/>
              </p:ext>
            </p:extLst>
          </p:nvPr>
        </p:nvGraphicFramePr>
        <p:xfrm>
          <a:off x="276235" y="5273103"/>
          <a:ext cx="9709824" cy="457200"/>
        </p:xfrm>
        <a:graphic>
          <a:graphicData uri="http://schemas.openxmlformats.org/drawingml/2006/table">
            <a:tbl>
              <a:tblPr firstRow="1" bandRow="1">
                <a:tableStyleId>{5C22544A-7EE6-4342-B048-85BDC9FD1C3A}</a:tableStyleId>
              </a:tblPr>
              <a:tblGrid>
                <a:gridCol w="1213728"/>
                <a:gridCol w="1213728"/>
                <a:gridCol w="1213728"/>
                <a:gridCol w="1213728"/>
                <a:gridCol w="1213728"/>
                <a:gridCol w="1213728"/>
                <a:gridCol w="1213728"/>
                <a:gridCol w="1213728"/>
              </a:tblGrid>
              <a:tr h="370840">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9</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8</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2</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2400" b="1" kern="1200" dirty="0" smtClean="0">
                          <a:solidFill>
                            <a:srgbClr val="002060"/>
                          </a:solidFill>
                          <a:latin typeface="Times New Roman" panose="02020603050405020304" pitchFamily="18" charset="0"/>
                          <a:ea typeface="+mn-ea"/>
                          <a:cs typeface="Times New Roman" panose="02020603050405020304" pitchFamily="18" charset="0"/>
                        </a:rPr>
                        <a:t>7</a:t>
                      </a:r>
                      <a:endParaRPr lang="en-IN" sz="24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31" name="TextBox 30"/>
          <p:cNvSpPr txBox="1"/>
          <p:nvPr/>
        </p:nvSpPr>
        <p:spPr>
          <a:xfrm>
            <a:off x="3646654" y="5509843"/>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9 &lt; 5</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32" name="Straight Connector 31"/>
          <p:cNvCxnSpPr/>
          <p:nvPr/>
        </p:nvCxnSpPr>
        <p:spPr>
          <a:xfrm flipH="1">
            <a:off x="4084487" y="5626714"/>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618166" y="4918028"/>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34" name="TextBox 33"/>
          <p:cNvSpPr txBox="1"/>
          <p:nvPr/>
        </p:nvSpPr>
        <p:spPr>
          <a:xfrm>
            <a:off x="7267262" y="4965433"/>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35" name="Rectangle 34"/>
          <p:cNvSpPr/>
          <p:nvPr/>
        </p:nvSpPr>
        <p:spPr>
          <a:xfrm>
            <a:off x="552665" y="5181829"/>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5</a:t>
            </a:r>
          </a:p>
        </p:txBody>
      </p:sp>
      <p:graphicFrame>
        <p:nvGraphicFramePr>
          <p:cNvPr id="36" name="Table 35"/>
          <p:cNvGraphicFramePr>
            <a:graphicFrameLocks noGrp="1"/>
          </p:cNvGraphicFramePr>
          <p:nvPr>
            <p:extLst>
              <p:ext uri="{D42A27DB-BD31-4B8C-83A1-F6EECF244321}">
                <p14:modId xmlns:p14="http://schemas.microsoft.com/office/powerpoint/2010/main" val="282875619"/>
              </p:ext>
            </p:extLst>
          </p:nvPr>
        </p:nvGraphicFramePr>
        <p:xfrm>
          <a:off x="260739" y="6199578"/>
          <a:ext cx="9709824" cy="457200"/>
        </p:xfrm>
        <a:graphic>
          <a:graphicData uri="http://schemas.openxmlformats.org/drawingml/2006/table">
            <a:tbl>
              <a:tblPr firstRow="1" bandRow="1">
                <a:tableStyleId>{5C22544A-7EE6-4342-B048-85BDC9FD1C3A}</a:tableStyleId>
              </a:tblPr>
              <a:tblGrid>
                <a:gridCol w="1213728"/>
                <a:gridCol w="1213728"/>
                <a:gridCol w="1213728"/>
                <a:gridCol w="1213728"/>
                <a:gridCol w="1213728"/>
                <a:gridCol w="1213728"/>
                <a:gridCol w="1213728"/>
                <a:gridCol w="1213728"/>
              </a:tblGrid>
              <a:tr h="370840">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8</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2</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9</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2400" b="1" kern="1200" dirty="0" smtClean="0">
                          <a:solidFill>
                            <a:srgbClr val="002060"/>
                          </a:solidFill>
                          <a:latin typeface="Times New Roman" panose="02020603050405020304" pitchFamily="18" charset="0"/>
                          <a:ea typeface="+mn-ea"/>
                          <a:cs typeface="Times New Roman" panose="02020603050405020304" pitchFamily="18" charset="0"/>
                        </a:rPr>
                        <a:t>7</a:t>
                      </a:r>
                      <a:endParaRPr lang="en-IN" sz="24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37" name="Rectangle 36"/>
          <p:cNvSpPr/>
          <p:nvPr/>
        </p:nvSpPr>
        <p:spPr>
          <a:xfrm>
            <a:off x="552665" y="6138769"/>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5</a:t>
            </a:r>
          </a:p>
        </p:txBody>
      </p:sp>
      <p:sp>
        <p:nvSpPr>
          <p:cNvPr id="38" name="TextBox 37"/>
          <p:cNvSpPr txBox="1"/>
          <p:nvPr/>
        </p:nvSpPr>
        <p:spPr>
          <a:xfrm>
            <a:off x="3646653" y="5890528"/>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39" name="TextBox 38"/>
          <p:cNvSpPr txBox="1"/>
          <p:nvPr/>
        </p:nvSpPr>
        <p:spPr>
          <a:xfrm>
            <a:off x="7217275" y="5825151"/>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40" name="TextBox 39"/>
          <p:cNvSpPr txBox="1"/>
          <p:nvPr/>
        </p:nvSpPr>
        <p:spPr>
          <a:xfrm>
            <a:off x="7164492" y="587359"/>
            <a:ext cx="4341707" cy="1477328"/>
          </a:xfrm>
          <a:prstGeom prst="rect">
            <a:avLst/>
          </a:prstGeom>
          <a:noFill/>
        </p:spPr>
        <p:txBody>
          <a:bodyPr wrap="square" rtlCol="0">
            <a:spAutoFit/>
          </a:bodyPr>
          <a:lstStyle/>
          <a:p>
            <a:pPr algn="just"/>
            <a:r>
              <a:rPr lang="en-IN" b="1" dirty="0" smtClean="0">
                <a:solidFill>
                  <a:srgbClr val="FF0000"/>
                </a:solidFill>
                <a:latin typeface="Times New Roman" panose="02020603050405020304" pitchFamily="18" charset="0"/>
                <a:cs typeface="Times New Roman" panose="02020603050405020304" pitchFamily="18" charset="0"/>
              </a:rPr>
              <a:t>First element is pivot </a:t>
            </a:r>
          </a:p>
          <a:p>
            <a:pPr algn="just"/>
            <a:r>
              <a:rPr lang="en-IN" b="1" dirty="0" smtClean="0">
                <a:solidFill>
                  <a:srgbClr val="FF0000"/>
                </a:solidFill>
                <a:latin typeface="Times New Roman" panose="02020603050405020304" pitchFamily="18" charset="0"/>
                <a:cs typeface="Times New Roman" panose="02020603050405020304" pitchFamily="18" charset="0"/>
              </a:rPr>
              <a:t>Initially i=0  and j=8 , increment i and decrement j </a:t>
            </a:r>
          </a:p>
          <a:p>
            <a:pPr algn="just"/>
            <a:r>
              <a:rPr lang="en-IN" b="1" dirty="0" smtClean="0">
                <a:solidFill>
                  <a:srgbClr val="FF0000"/>
                </a:solidFill>
                <a:latin typeface="Times New Roman" panose="02020603050405020304" pitchFamily="18" charset="0"/>
                <a:cs typeface="Times New Roman" panose="02020603050405020304" pitchFamily="18" charset="0"/>
              </a:rPr>
              <a:t>Now i points second element and j points to last element  </a:t>
            </a:r>
            <a:endParaRPr lang="en-IN" sz="2400" dirty="0"/>
          </a:p>
        </p:txBody>
      </p:sp>
      <p:sp>
        <p:nvSpPr>
          <p:cNvPr id="41" name="TextBox 40"/>
          <p:cNvSpPr txBox="1"/>
          <p:nvPr/>
        </p:nvSpPr>
        <p:spPr>
          <a:xfrm>
            <a:off x="9059885" y="2561859"/>
            <a:ext cx="3231683" cy="800219"/>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3 is less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5 (pivot), so i++</a:t>
            </a:r>
          </a:p>
          <a:p>
            <a:pPr algn="just"/>
            <a:r>
              <a:rPr lang="en-IN" sz="1400" b="1" dirty="0" smtClean="0">
                <a:solidFill>
                  <a:srgbClr val="FF0000"/>
                </a:solidFill>
                <a:latin typeface="Times New Roman" panose="02020603050405020304" pitchFamily="18" charset="0"/>
                <a:cs typeface="Times New Roman" panose="02020603050405020304" pitchFamily="18" charset="0"/>
              </a:rPr>
              <a:t>7 is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5 (pivot), so j--</a:t>
            </a:r>
          </a:p>
          <a:p>
            <a:endParaRPr lang="en-IN" dirty="0"/>
          </a:p>
        </p:txBody>
      </p:sp>
      <p:sp>
        <p:nvSpPr>
          <p:cNvPr id="43" name="TextBox 42"/>
          <p:cNvSpPr txBox="1"/>
          <p:nvPr/>
        </p:nvSpPr>
        <p:spPr>
          <a:xfrm>
            <a:off x="9145458" y="3960387"/>
            <a:ext cx="2723814" cy="738664"/>
          </a:xfrm>
          <a:prstGeom prst="rect">
            <a:avLst/>
          </a:prstGeom>
          <a:noFill/>
        </p:spPr>
        <p:txBody>
          <a:bodyPr wrap="square" rtlCol="0">
            <a:spAutoFit/>
          </a:bodyPr>
          <a:lstStyle/>
          <a:p>
            <a:pPr algn="just"/>
            <a:r>
              <a:rPr lang="en-IN" sz="1400" b="1" dirty="0">
                <a:solidFill>
                  <a:srgbClr val="FF0000"/>
                </a:solidFill>
                <a:latin typeface="Times New Roman" panose="02020603050405020304" pitchFamily="18" charset="0"/>
                <a:cs typeface="Times New Roman" panose="02020603050405020304" pitchFamily="18" charset="0"/>
              </a:rPr>
              <a:t>1</a:t>
            </a:r>
            <a:r>
              <a:rPr lang="en-IN" sz="1400" b="1" dirty="0" smtClean="0">
                <a:solidFill>
                  <a:srgbClr val="FF0000"/>
                </a:solidFill>
                <a:latin typeface="Times New Roman" panose="02020603050405020304" pitchFamily="18" charset="0"/>
                <a:cs typeface="Times New Roman" panose="02020603050405020304" pitchFamily="18" charset="0"/>
              </a:rPr>
              <a:t> is less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5( pivot), so i++</a:t>
            </a:r>
          </a:p>
          <a:p>
            <a:pPr algn="just"/>
            <a:r>
              <a:rPr lang="en-IN" sz="1400" b="1" dirty="0">
                <a:solidFill>
                  <a:srgbClr val="FF0000"/>
                </a:solidFill>
                <a:latin typeface="Times New Roman" panose="02020603050405020304" pitchFamily="18" charset="0"/>
                <a:cs typeface="Times New Roman" panose="02020603050405020304" pitchFamily="18" charset="0"/>
              </a:rPr>
              <a:t>4</a:t>
            </a:r>
            <a:r>
              <a:rPr lang="en-IN" sz="1400" b="1" dirty="0" smtClean="0">
                <a:solidFill>
                  <a:srgbClr val="FF0000"/>
                </a:solidFill>
                <a:latin typeface="Times New Roman" panose="02020603050405020304" pitchFamily="18" charset="0"/>
                <a:cs typeface="Times New Roman" panose="02020603050405020304" pitchFamily="18" charset="0"/>
              </a:rPr>
              <a:t> is not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5 (pivot), so no change in j</a:t>
            </a:r>
            <a:endParaRPr lang="en-IN" dirty="0"/>
          </a:p>
        </p:txBody>
      </p:sp>
      <p:sp>
        <p:nvSpPr>
          <p:cNvPr id="44" name="TextBox 43"/>
          <p:cNvSpPr txBox="1"/>
          <p:nvPr/>
        </p:nvSpPr>
        <p:spPr>
          <a:xfrm>
            <a:off x="9082391" y="4994479"/>
            <a:ext cx="2826828" cy="954107"/>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9 is not less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5, </a:t>
            </a:r>
            <a:r>
              <a:rPr lang="en-IN" sz="1400" b="1" dirty="0">
                <a:solidFill>
                  <a:srgbClr val="FF0000"/>
                </a:solidFill>
                <a:latin typeface="Times New Roman" panose="02020603050405020304" pitchFamily="18" charset="0"/>
                <a:cs typeface="Times New Roman" panose="02020603050405020304" pitchFamily="18" charset="0"/>
              </a:rPr>
              <a:t>so </a:t>
            </a:r>
            <a:r>
              <a:rPr lang="en-IN" sz="1400" b="1" dirty="0" smtClean="0">
                <a:solidFill>
                  <a:srgbClr val="FF0000"/>
                </a:solidFill>
                <a:latin typeface="Times New Roman" panose="02020603050405020304" pitchFamily="18" charset="0"/>
                <a:cs typeface="Times New Roman" panose="02020603050405020304" pitchFamily="18" charset="0"/>
              </a:rPr>
              <a:t>no </a:t>
            </a:r>
            <a:r>
              <a:rPr lang="en-IN" sz="1400" b="1" dirty="0">
                <a:solidFill>
                  <a:srgbClr val="FF0000"/>
                </a:solidFill>
                <a:latin typeface="Times New Roman" panose="02020603050405020304" pitchFamily="18" charset="0"/>
                <a:cs typeface="Times New Roman" panose="02020603050405020304" pitchFamily="18" charset="0"/>
              </a:rPr>
              <a:t>change in </a:t>
            </a:r>
            <a:r>
              <a:rPr lang="en-IN" sz="1400" b="1" dirty="0" smtClean="0">
                <a:solidFill>
                  <a:srgbClr val="FF0000"/>
                </a:solidFill>
                <a:latin typeface="Times New Roman" panose="02020603050405020304" pitchFamily="18" charset="0"/>
                <a:cs typeface="Times New Roman" panose="02020603050405020304" pitchFamily="18" charset="0"/>
              </a:rPr>
              <a:t>i ,  Increment of i and decrement of j stopped</a:t>
            </a:r>
          </a:p>
          <a:p>
            <a:pPr algn="just"/>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&lt;j   swap A[</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and A[j]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e 9 and 4</a:t>
            </a:r>
            <a:endParaRPr lang="en-IN" dirty="0"/>
          </a:p>
        </p:txBody>
      </p:sp>
      <p:sp>
        <p:nvSpPr>
          <p:cNvPr id="45" name="TextBox 44"/>
          <p:cNvSpPr txBox="1"/>
          <p:nvPr/>
        </p:nvSpPr>
        <p:spPr>
          <a:xfrm>
            <a:off x="9145458" y="6006126"/>
            <a:ext cx="2723814" cy="307777"/>
          </a:xfrm>
          <a:prstGeom prst="rect">
            <a:avLst/>
          </a:prstGeom>
          <a:noFill/>
        </p:spPr>
        <p:txBody>
          <a:bodyPr wrap="square" rtlCol="0">
            <a:spAutoFit/>
          </a:bodyPr>
          <a:lstStyle/>
          <a:p>
            <a:pPr algn="just"/>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and  j--</a:t>
            </a:r>
            <a:endParaRPr lang="en-IN" dirty="0"/>
          </a:p>
        </p:txBody>
      </p:sp>
      <p:sp>
        <p:nvSpPr>
          <p:cNvPr id="42" name="TextBox 41"/>
          <p:cNvSpPr txBox="1"/>
          <p:nvPr/>
        </p:nvSpPr>
        <p:spPr>
          <a:xfrm>
            <a:off x="177052" y="2028317"/>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pivot</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9" name="Date Placeholder 8"/>
          <p:cNvSpPr>
            <a:spLocks noGrp="1"/>
          </p:cNvSpPr>
          <p:nvPr>
            <p:ph type="dt" sz="half" idx="10"/>
          </p:nvPr>
        </p:nvSpPr>
        <p:spPr/>
        <p:txBody>
          <a:bodyPr/>
          <a:lstStyle/>
          <a:p>
            <a:fld id="{898FC9F9-267F-486B-9011-9E5EFD4FDB6D}" type="datetime1">
              <a:rPr lang="en-IN" smtClean="0"/>
              <a:t>21-03-2026</a:t>
            </a:fld>
            <a:endParaRPr lang="en-IN"/>
          </a:p>
        </p:txBody>
      </p:sp>
    </p:spTree>
    <p:extLst>
      <p:ext uri="{BB962C8B-B14F-4D97-AF65-F5344CB8AC3E}">
        <p14:creationId xmlns:p14="http://schemas.microsoft.com/office/powerpoint/2010/main" val="355273176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177052" y="6564391"/>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61</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619715928"/>
              </p:ext>
            </p:extLst>
          </p:nvPr>
        </p:nvGraphicFramePr>
        <p:xfrm>
          <a:off x="456142" y="1485960"/>
          <a:ext cx="9086536" cy="457200"/>
        </p:xfrm>
        <a:graphic>
          <a:graphicData uri="http://schemas.openxmlformats.org/drawingml/2006/table">
            <a:tbl>
              <a:tblPr firstRow="1" bandRow="1">
                <a:tableStyleId>{5C22544A-7EE6-4342-B048-85BDC9FD1C3A}</a:tableStyleId>
              </a:tblPr>
              <a:tblGrid>
                <a:gridCol w="1135817"/>
                <a:gridCol w="1135817"/>
                <a:gridCol w="1135817"/>
                <a:gridCol w="1135817"/>
                <a:gridCol w="1135817"/>
                <a:gridCol w="1135817"/>
                <a:gridCol w="1135817"/>
                <a:gridCol w="1135817"/>
              </a:tblGrid>
              <a:tr h="370840">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8</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2</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9</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2400" b="1" kern="1200" dirty="0" smtClean="0">
                          <a:solidFill>
                            <a:srgbClr val="002060"/>
                          </a:solidFill>
                          <a:latin typeface="Times New Roman" panose="02020603050405020304" pitchFamily="18" charset="0"/>
                          <a:ea typeface="+mn-ea"/>
                          <a:cs typeface="Times New Roman" panose="02020603050405020304" pitchFamily="18" charset="0"/>
                        </a:rPr>
                        <a:t>7</a:t>
                      </a:r>
                      <a:endParaRPr lang="en-IN" sz="24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13" name="Rectangle 12"/>
          <p:cNvSpPr/>
          <p:nvPr/>
        </p:nvSpPr>
        <p:spPr>
          <a:xfrm>
            <a:off x="552665" y="1457090"/>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5</a:t>
            </a:r>
          </a:p>
        </p:txBody>
      </p:sp>
      <p:sp>
        <p:nvSpPr>
          <p:cNvPr id="15" name="TextBox 14"/>
          <p:cNvSpPr txBox="1"/>
          <p:nvPr/>
        </p:nvSpPr>
        <p:spPr>
          <a:xfrm>
            <a:off x="5861935" y="1068682"/>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graphicFrame>
        <p:nvGraphicFramePr>
          <p:cNvPr id="16" name="Table 15"/>
          <p:cNvGraphicFramePr>
            <a:graphicFrameLocks noGrp="1"/>
          </p:cNvGraphicFramePr>
          <p:nvPr>
            <p:extLst>
              <p:ext uri="{D42A27DB-BD31-4B8C-83A1-F6EECF244321}">
                <p14:modId xmlns:p14="http://schemas.microsoft.com/office/powerpoint/2010/main" val="798912911"/>
              </p:ext>
            </p:extLst>
          </p:nvPr>
        </p:nvGraphicFramePr>
        <p:xfrm>
          <a:off x="369339" y="2636583"/>
          <a:ext cx="9218040" cy="457200"/>
        </p:xfrm>
        <a:graphic>
          <a:graphicData uri="http://schemas.openxmlformats.org/drawingml/2006/table">
            <a:tbl>
              <a:tblPr firstRow="1" bandRow="1">
                <a:tableStyleId>{5C22544A-7EE6-4342-B048-85BDC9FD1C3A}</a:tableStyleId>
              </a:tblPr>
              <a:tblGrid>
                <a:gridCol w="1152255"/>
                <a:gridCol w="1152255"/>
                <a:gridCol w="1152255"/>
                <a:gridCol w="1152255"/>
                <a:gridCol w="1152255"/>
                <a:gridCol w="1152255"/>
                <a:gridCol w="1152255"/>
                <a:gridCol w="1152255"/>
              </a:tblGrid>
              <a:tr h="370840">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2</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8</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9</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2400" b="1" kern="1200" dirty="0" smtClean="0">
                          <a:solidFill>
                            <a:srgbClr val="002060"/>
                          </a:solidFill>
                          <a:latin typeface="Times New Roman" panose="02020603050405020304" pitchFamily="18" charset="0"/>
                          <a:ea typeface="+mn-ea"/>
                          <a:cs typeface="Times New Roman" panose="02020603050405020304" pitchFamily="18" charset="0"/>
                        </a:rPr>
                        <a:t>7</a:t>
                      </a:r>
                      <a:endParaRPr lang="en-IN" sz="24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17" name="Rectangle 16"/>
          <p:cNvSpPr/>
          <p:nvPr/>
        </p:nvSpPr>
        <p:spPr>
          <a:xfrm>
            <a:off x="552665" y="2598973"/>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5</a:t>
            </a:r>
          </a:p>
        </p:txBody>
      </p:sp>
      <p:sp>
        <p:nvSpPr>
          <p:cNvPr id="19" name="TextBox 18"/>
          <p:cNvSpPr txBox="1"/>
          <p:nvPr/>
        </p:nvSpPr>
        <p:spPr>
          <a:xfrm>
            <a:off x="5814729" y="2304053"/>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1" name="TextBox 20"/>
          <p:cNvSpPr txBox="1"/>
          <p:nvPr/>
        </p:nvSpPr>
        <p:spPr>
          <a:xfrm>
            <a:off x="4694093" y="2236568"/>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6" name="TextBox 25"/>
          <p:cNvSpPr txBox="1"/>
          <p:nvPr/>
        </p:nvSpPr>
        <p:spPr>
          <a:xfrm>
            <a:off x="5861935" y="1825580"/>
            <a:ext cx="943583" cy="738664"/>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2</a:t>
            </a:r>
            <a:r>
              <a:rPr lang="en-IN" sz="2400" b="1" dirty="0" smtClean="0">
                <a:solidFill>
                  <a:srgbClr val="FF0000"/>
                </a:solidFill>
                <a:latin typeface="Times New Roman" panose="02020603050405020304" pitchFamily="18" charset="0"/>
                <a:cs typeface="Times New Roman" panose="02020603050405020304" pitchFamily="18" charset="0"/>
              </a:rPr>
              <a:t> &gt; 5</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28" name="Straight Connector 27"/>
          <p:cNvCxnSpPr/>
          <p:nvPr/>
        </p:nvCxnSpPr>
        <p:spPr>
          <a:xfrm flipH="1">
            <a:off x="6275360" y="1936034"/>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1400736" y="5148389"/>
            <a:ext cx="943583" cy="738664"/>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3</a:t>
            </a:r>
            <a:r>
              <a:rPr lang="en-IN" sz="2400" b="1" dirty="0" smtClean="0">
                <a:solidFill>
                  <a:srgbClr val="FF0000"/>
                </a:solidFill>
                <a:latin typeface="Times New Roman" panose="02020603050405020304" pitchFamily="18" charset="0"/>
                <a:cs typeface="Times New Roman" panose="02020603050405020304" pitchFamily="18" charset="0"/>
              </a:rPr>
              <a:t> &lt; 2</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32" name="Straight Connector 31"/>
          <p:cNvCxnSpPr/>
          <p:nvPr/>
        </p:nvCxnSpPr>
        <p:spPr>
          <a:xfrm flipH="1">
            <a:off x="1814161" y="5269547"/>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00736" y="4180116"/>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34" name="TextBox 33"/>
          <p:cNvSpPr txBox="1"/>
          <p:nvPr/>
        </p:nvSpPr>
        <p:spPr>
          <a:xfrm>
            <a:off x="3651605" y="4180116"/>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35" name="Rectangle 34"/>
          <p:cNvSpPr/>
          <p:nvPr/>
        </p:nvSpPr>
        <p:spPr>
          <a:xfrm>
            <a:off x="552665" y="4549448"/>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2</a:t>
            </a:r>
          </a:p>
        </p:txBody>
      </p:sp>
      <p:sp>
        <p:nvSpPr>
          <p:cNvPr id="37" name="Rectangle 36"/>
          <p:cNvSpPr/>
          <p:nvPr/>
        </p:nvSpPr>
        <p:spPr>
          <a:xfrm>
            <a:off x="543703" y="5887053"/>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2</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8" name="TextBox 37"/>
          <p:cNvSpPr txBox="1"/>
          <p:nvPr/>
        </p:nvSpPr>
        <p:spPr>
          <a:xfrm>
            <a:off x="4694094" y="1086916"/>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39" name="TextBox 38"/>
          <p:cNvSpPr txBox="1"/>
          <p:nvPr/>
        </p:nvSpPr>
        <p:spPr>
          <a:xfrm>
            <a:off x="4694094" y="1847829"/>
            <a:ext cx="943583" cy="738664"/>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8</a:t>
            </a:r>
            <a:r>
              <a:rPr lang="en-IN" sz="2400" b="1" dirty="0" smtClean="0">
                <a:solidFill>
                  <a:srgbClr val="FF0000"/>
                </a:solidFill>
                <a:latin typeface="Times New Roman" panose="02020603050405020304" pitchFamily="18" charset="0"/>
                <a:cs typeface="Times New Roman" panose="02020603050405020304" pitchFamily="18" charset="0"/>
              </a:rPr>
              <a:t> &lt; 5</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40" name="Straight Connector 39"/>
          <p:cNvCxnSpPr/>
          <p:nvPr/>
        </p:nvCxnSpPr>
        <p:spPr>
          <a:xfrm flipH="1">
            <a:off x="5107519" y="1964577"/>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41" name="Table 40"/>
          <p:cNvGraphicFramePr>
            <a:graphicFrameLocks noGrp="1"/>
          </p:cNvGraphicFramePr>
          <p:nvPr>
            <p:extLst>
              <p:ext uri="{D42A27DB-BD31-4B8C-83A1-F6EECF244321}">
                <p14:modId xmlns:p14="http://schemas.microsoft.com/office/powerpoint/2010/main" val="1212676169"/>
              </p:ext>
            </p:extLst>
          </p:nvPr>
        </p:nvGraphicFramePr>
        <p:xfrm>
          <a:off x="552665" y="3545888"/>
          <a:ext cx="9009376" cy="457200"/>
        </p:xfrm>
        <a:graphic>
          <a:graphicData uri="http://schemas.openxmlformats.org/drawingml/2006/table">
            <a:tbl>
              <a:tblPr firstRow="1" bandRow="1">
                <a:tableStyleId>{5C22544A-7EE6-4342-B048-85BDC9FD1C3A}</a:tableStyleId>
              </a:tblPr>
              <a:tblGrid>
                <a:gridCol w="1126172"/>
                <a:gridCol w="1126172"/>
                <a:gridCol w="1126172"/>
                <a:gridCol w="1126172"/>
                <a:gridCol w="1126172"/>
                <a:gridCol w="1126172"/>
                <a:gridCol w="1126172"/>
                <a:gridCol w="1126172"/>
              </a:tblGrid>
              <a:tr h="370840">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2</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endParaRPr lang="en-IN" sz="2400" b="1" dirty="0">
                        <a:solidFill>
                          <a:srgbClr val="00B05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8</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9</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2400" b="1" kern="1200" dirty="0" smtClean="0">
                          <a:solidFill>
                            <a:srgbClr val="002060"/>
                          </a:solidFill>
                          <a:latin typeface="Times New Roman" panose="02020603050405020304" pitchFamily="18" charset="0"/>
                          <a:ea typeface="+mn-ea"/>
                          <a:cs typeface="Times New Roman" panose="02020603050405020304" pitchFamily="18" charset="0"/>
                        </a:rPr>
                        <a:t>7</a:t>
                      </a:r>
                      <a:endParaRPr lang="en-IN" sz="24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graphicFrame>
        <p:nvGraphicFramePr>
          <p:cNvPr id="42" name="Table 41"/>
          <p:cNvGraphicFramePr>
            <a:graphicFrameLocks noGrp="1"/>
          </p:cNvGraphicFramePr>
          <p:nvPr>
            <p:extLst>
              <p:ext uri="{D42A27DB-BD31-4B8C-83A1-F6EECF244321}">
                <p14:modId xmlns:p14="http://schemas.microsoft.com/office/powerpoint/2010/main" val="2113513896"/>
              </p:ext>
            </p:extLst>
          </p:nvPr>
        </p:nvGraphicFramePr>
        <p:xfrm>
          <a:off x="1173080" y="4589830"/>
          <a:ext cx="3826512" cy="457200"/>
        </p:xfrm>
        <a:graphic>
          <a:graphicData uri="http://schemas.openxmlformats.org/drawingml/2006/table">
            <a:tbl>
              <a:tblPr firstRow="1" bandRow="1">
                <a:tableStyleId>{5C22544A-7EE6-4342-B048-85BDC9FD1C3A}</a:tableStyleId>
              </a:tblPr>
              <a:tblGrid>
                <a:gridCol w="1275504"/>
                <a:gridCol w="1275504"/>
                <a:gridCol w="1275504"/>
              </a:tblGrid>
              <a:tr h="370840">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43" name="TextBox 42"/>
          <p:cNvSpPr txBox="1"/>
          <p:nvPr/>
        </p:nvSpPr>
        <p:spPr>
          <a:xfrm>
            <a:off x="3750510" y="5003977"/>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4 &gt; 2</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graphicFrame>
        <p:nvGraphicFramePr>
          <p:cNvPr id="44" name="Table 43"/>
          <p:cNvGraphicFramePr>
            <a:graphicFrameLocks noGrp="1"/>
          </p:cNvGraphicFramePr>
          <p:nvPr>
            <p:extLst>
              <p:ext uri="{D42A27DB-BD31-4B8C-83A1-F6EECF244321}">
                <p14:modId xmlns:p14="http://schemas.microsoft.com/office/powerpoint/2010/main" val="2125373439"/>
              </p:ext>
            </p:extLst>
          </p:nvPr>
        </p:nvGraphicFramePr>
        <p:xfrm>
          <a:off x="1193213" y="5925029"/>
          <a:ext cx="3826512" cy="457200"/>
        </p:xfrm>
        <a:graphic>
          <a:graphicData uri="http://schemas.openxmlformats.org/drawingml/2006/table">
            <a:tbl>
              <a:tblPr firstRow="1" bandRow="1">
                <a:tableStyleId>{5C22544A-7EE6-4342-B048-85BDC9FD1C3A}</a:tableStyleId>
              </a:tblPr>
              <a:tblGrid>
                <a:gridCol w="1142191"/>
                <a:gridCol w="1408817"/>
                <a:gridCol w="1275504"/>
              </a:tblGrid>
              <a:tr h="370840">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45" name="TextBox 44"/>
          <p:cNvSpPr txBox="1"/>
          <p:nvPr/>
        </p:nvSpPr>
        <p:spPr>
          <a:xfrm>
            <a:off x="1400735" y="5617686"/>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46" name="TextBox 45"/>
          <p:cNvSpPr txBox="1"/>
          <p:nvPr/>
        </p:nvSpPr>
        <p:spPr>
          <a:xfrm>
            <a:off x="2428590" y="5617686"/>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47" name="Rectangle 46"/>
          <p:cNvSpPr/>
          <p:nvPr/>
        </p:nvSpPr>
        <p:spPr>
          <a:xfrm>
            <a:off x="4871290" y="3486557"/>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5</a:t>
            </a:r>
          </a:p>
        </p:txBody>
      </p:sp>
      <p:cxnSp>
        <p:nvCxnSpPr>
          <p:cNvPr id="10" name="Straight Arrow Connector 9"/>
          <p:cNvCxnSpPr/>
          <p:nvPr/>
        </p:nvCxnSpPr>
        <p:spPr>
          <a:xfrm flipV="1">
            <a:off x="651753" y="4154524"/>
            <a:ext cx="3570548" cy="25592"/>
          </a:xfrm>
          <a:prstGeom prst="straightConnector1">
            <a:avLst/>
          </a:prstGeom>
          <a:ln w="2857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V="1">
            <a:off x="6275360" y="4069263"/>
            <a:ext cx="2411440" cy="39251"/>
          </a:xfrm>
          <a:prstGeom prst="straightConnector1">
            <a:avLst/>
          </a:prstGeom>
          <a:ln w="2857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8912062" y="1417987"/>
            <a:ext cx="2826828" cy="954107"/>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8 is not less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5, </a:t>
            </a:r>
            <a:r>
              <a:rPr lang="en-IN" sz="1400" b="1" dirty="0">
                <a:solidFill>
                  <a:srgbClr val="FF0000"/>
                </a:solidFill>
                <a:latin typeface="Times New Roman" panose="02020603050405020304" pitchFamily="18" charset="0"/>
                <a:cs typeface="Times New Roman" panose="02020603050405020304" pitchFamily="18" charset="0"/>
              </a:rPr>
              <a:t>so </a:t>
            </a:r>
            <a:r>
              <a:rPr lang="en-IN" sz="1400" b="1" dirty="0" smtClean="0">
                <a:solidFill>
                  <a:srgbClr val="FF0000"/>
                </a:solidFill>
                <a:latin typeface="Times New Roman" panose="02020603050405020304" pitchFamily="18" charset="0"/>
                <a:cs typeface="Times New Roman" panose="02020603050405020304" pitchFamily="18" charset="0"/>
              </a:rPr>
              <a:t>no </a:t>
            </a:r>
            <a:r>
              <a:rPr lang="en-IN" sz="1400" b="1" dirty="0">
                <a:solidFill>
                  <a:srgbClr val="FF0000"/>
                </a:solidFill>
                <a:latin typeface="Times New Roman" panose="02020603050405020304" pitchFamily="18" charset="0"/>
                <a:cs typeface="Times New Roman" panose="02020603050405020304" pitchFamily="18" charset="0"/>
              </a:rPr>
              <a:t>change in </a:t>
            </a:r>
            <a:r>
              <a:rPr lang="en-IN" sz="1400" b="1" dirty="0" smtClean="0">
                <a:solidFill>
                  <a:srgbClr val="FF0000"/>
                </a:solidFill>
                <a:latin typeface="Times New Roman" panose="02020603050405020304" pitchFamily="18" charset="0"/>
                <a:cs typeface="Times New Roman" panose="02020603050405020304" pitchFamily="18" charset="0"/>
              </a:rPr>
              <a:t>i , 2 is not greater than 5 so no change in j</a:t>
            </a:r>
          </a:p>
          <a:p>
            <a:pPr algn="just"/>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&lt;j   swap A[</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and A[j]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e 8 and 2</a:t>
            </a:r>
            <a:endParaRPr lang="en-IN" dirty="0"/>
          </a:p>
        </p:txBody>
      </p:sp>
      <p:sp>
        <p:nvSpPr>
          <p:cNvPr id="49" name="TextBox 48"/>
          <p:cNvSpPr txBox="1"/>
          <p:nvPr/>
        </p:nvSpPr>
        <p:spPr>
          <a:xfrm>
            <a:off x="8912062" y="2532450"/>
            <a:ext cx="3062542" cy="523220"/>
          </a:xfrm>
          <a:prstGeom prst="rect">
            <a:avLst/>
          </a:prstGeom>
          <a:noFill/>
        </p:spPr>
        <p:txBody>
          <a:bodyPr wrap="square" rtlCol="0">
            <a:spAutoFit/>
          </a:bodyPr>
          <a:lstStyle/>
          <a:p>
            <a:pPr algn="just"/>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and j-- </a:t>
            </a:r>
          </a:p>
          <a:p>
            <a:pPr algn="just"/>
            <a:r>
              <a:rPr lang="en-IN" sz="1400" b="1" dirty="0" smtClean="0">
                <a:solidFill>
                  <a:srgbClr val="FF0000"/>
                </a:solidFill>
                <a:latin typeface="Times New Roman" panose="02020603050405020304" pitchFamily="18" charset="0"/>
                <a:cs typeface="Times New Roman" panose="02020603050405020304" pitchFamily="18" charset="0"/>
              </a:rPr>
              <a:t> j  &gt;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swap A[</a:t>
            </a:r>
            <a:r>
              <a:rPr lang="en-IN" sz="1400" b="1" dirty="0">
                <a:solidFill>
                  <a:srgbClr val="FF0000"/>
                </a:solidFill>
                <a:latin typeface="Times New Roman" panose="02020603050405020304" pitchFamily="18" charset="0"/>
                <a:cs typeface="Times New Roman" panose="02020603050405020304" pitchFamily="18" charset="0"/>
              </a:rPr>
              <a:t>j</a:t>
            </a:r>
            <a:r>
              <a:rPr lang="en-IN" sz="1400" b="1" dirty="0" smtClean="0">
                <a:solidFill>
                  <a:srgbClr val="FF0000"/>
                </a:solidFill>
                <a:latin typeface="Times New Roman" panose="02020603050405020304" pitchFamily="18" charset="0"/>
                <a:cs typeface="Times New Roman" panose="02020603050405020304" pitchFamily="18" charset="0"/>
              </a:rPr>
              <a:t>] and pivot. </a:t>
            </a:r>
            <a:endParaRPr lang="en-IN" dirty="0"/>
          </a:p>
        </p:txBody>
      </p:sp>
      <p:sp>
        <p:nvSpPr>
          <p:cNvPr id="50" name="TextBox 49"/>
          <p:cNvSpPr txBox="1"/>
          <p:nvPr/>
        </p:nvSpPr>
        <p:spPr>
          <a:xfrm>
            <a:off x="8863852" y="3315638"/>
            <a:ext cx="3062542" cy="1384995"/>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After swap A[j] and pivot, pivot is in its final position, all the elements before pivot are lesser than it and all the elements after pivot are greater than it, thus array is partitioned into two parts </a:t>
            </a:r>
            <a:endParaRPr lang="en-IN" dirty="0"/>
          </a:p>
        </p:txBody>
      </p:sp>
      <p:sp>
        <p:nvSpPr>
          <p:cNvPr id="51" name="TextBox 50"/>
          <p:cNvSpPr txBox="1"/>
          <p:nvPr/>
        </p:nvSpPr>
        <p:spPr>
          <a:xfrm>
            <a:off x="5344898" y="5517721"/>
            <a:ext cx="2826828" cy="954107"/>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Consider first part in that 2 is pivot, 3 is not less </a:t>
            </a:r>
            <a:r>
              <a:rPr lang="en-IN" sz="1400" b="1" dirty="0">
                <a:solidFill>
                  <a:srgbClr val="FF0000"/>
                </a:solidFill>
                <a:latin typeface="Times New Roman" panose="02020603050405020304" pitchFamily="18" charset="0"/>
                <a:cs typeface="Times New Roman" panose="02020603050405020304" pitchFamily="18" charset="0"/>
              </a:rPr>
              <a:t>than  pivot, so </a:t>
            </a:r>
            <a:r>
              <a:rPr lang="en-IN" sz="1400" b="1" dirty="0" smtClean="0">
                <a:solidFill>
                  <a:srgbClr val="FF0000"/>
                </a:solidFill>
                <a:latin typeface="Times New Roman" panose="02020603050405020304" pitchFamily="18" charset="0"/>
                <a:cs typeface="Times New Roman" panose="02020603050405020304" pitchFamily="18" charset="0"/>
              </a:rPr>
              <a:t>no </a:t>
            </a:r>
            <a:r>
              <a:rPr lang="en-IN" sz="1400" b="1" dirty="0">
                <a:solidFill>
                  <a:srgbClr val="FF0000"/>
                </a:solidFill>
                <a:latin typeface="Times New Roman" panose="02020603050405020304" pitchFamily="18" charset="0"/>
                <a:cs typeface="Times New Roman" panose="02020603050405020304" pitchFamily="18" charset="0"/>
              </a:rPr>
              <a:t>change in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 4 is greater than pivot so j--</a:t>
            </a:r>
          </a:p>
        </p:txBody>
      </p:sp>
      <p:sp>
        <p:nvSpPr>
          <p:cNvPr id="52" name="TextBox 51"/>
          <p:cNvSpPr txBox="1"/>
          <p:nvPr/>
        </p:nvSpPr>
        <p:spPr>
          <a:xfrm>
            <a:off x="5343748" y="6365183"/>
            <a:ext cx="2826828" cy="523220"/>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1 is not greater than pivot so no change in j</a:t>
            </a:r>
          </a:p>
        </p:txBody>
      </p:sp>
      <p:sp>
        <p:nvSpPr>
          <p:cNvPr id="9" name="Date Placeholder 8"/>
          <p:cNvSpPr>
            <a:spLocks noGrp="1"/>
          </p:cNvSpPr>
          <p:nvPr>
            <p:ph type="dt" sz="half" idx="10"/>
          </p:nvPr>
        </p:nvSpPr>
        <p:spPr/>
        <p:txBody>
          <a:bodyPr/>
          <a:lstStyle/>
          <a:p>
            <a:fld id="{EDEB9528-6BCA-4483-9865-0ED2B0E2BBCC}" type="datetime1">
              <a:rPr lang="en-IN" smtClean="0"/>
              <a:t>21-03-2026</a:t>
            </a:fld>
            <a:endParaRPr lang="en-IN"/>
          </a:p>
        </p:txBody>
      </p:sp>
      <p:sp>
        <p:nvSpPr>
          <p:cNvPr id="53" name="Subtitle 52"/>
          <p:cNvSpPr>
            <a:spLocks noGrp="1"/>
          </p:cNvSpPr>
          <p:nvPr>
            <p:ph type="subTitle" idx="1"/>
          </p:nvPr>
        </p:nvSpPr>
        <p:spPr>
          <a:xfrm flipH="1">
            <a:off x="4772240" y="4266877"/>
            <a:ext cx="656813" cy="73866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s</a:t>
            </a:r>
            <a:r>
              <a:rPr lang="en-IN" sz="2400" b="1" dirty="0" smtClean="0">
                <a:solidFill>
                  <a:srgbClr val="FF0000"/>
                </a:solidFill>
                <a:latin typeface="Times New Roman" panose="02020603050405020304" pitchFamily="18" charset="0"/>
                <a:cs typeface="Times New Roman" panose="02020603050405020304" pitchFamily="18" charset="0"/>
              </a:rPr>
              <a:t>=4</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732242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77052" y="575591"/>
            <a:ext cx="11797552" cy="5924333"/>
          </a:xfrm>
        </p:spPr>
        <p:txBody>
          <a:bodyPr>
            <a:normAutofit/>
          </a:bodyPr>
          <a:lstStyle/>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62</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3683441" y="5449267"/>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1" name="TextBox 20"/>
          <p:cNvSpPr txBox="1"/>
          <p:nvPr/>
        </p:nvSpPr>
        <p:spPr>
          <a:xfrm>
            <a:off x="2552295" y="5449267"/>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6" name="TextBox 25"/>
          <p:cNvSpPr txBox="1"/>
          <p:nvPr/>
        </p:nvSpPr>
        <p:spPr>
          <a:xfrm>
            <a:off x="9122126" y="1978072"/>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7 &gt; 8</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28" name="Straight Connector 27"/>
          <p:cNvCxnSpPr/>
          <p:nvPr/>
        </p:nvCxnSpPr>
        <p:spPr>
          <a:xfrm flipH="1">
            <a:off x="9519013" y="2103542"/>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1198803" y="2068510"/>
            <a:ext cx="943583" cy="738664"/>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3</a:t>
            </a:r>
            <a:r>
              <a:rPr lang="en-IN" sz="2400" b="1" dirty="0" smtClean="0">
                <a:solidFill>
                  <a:srgbClr val="FF0000"/>
                </a:solidFill>
                <a:latin typeface="Times New Roman" panose="02020603050405020304" pitchFamily="18" charset="0"/>
                <a:cs typeface="Times New Roman" panose="02020603050405020304" pitchFamily="18" charset="0"/>
              </a:rPr>
              <a:t> &lt; 2</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32" name="Straight Connector 31"/>
          <p:cNvCxnSpPr/>
          <p:nvPr/>
        </p:nvCxnSpPr>
        <p:spPr>
          <a:xfrm flipH="1">
            <a:off x="1610005" y="2214442"/>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263236" y="3189327"/>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34" name="TextBox 33"/>
          <p:cNvSpPr txBox="1"/>
          <p:nvPr/>
        </p:nvSpPr>
        <p:spPr>
          <a:xfrm>
            <a:off x="1135117" y="3163251"/>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35" name="Rectangle 34"/>
          <p:cNvSpPr/>
          <p:nvPr/>
        </p:nvSpPr>
        <p:spPr>
          <a:xfrm>
            <a:off x="215470" y="2769041"/>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2</a:t>
            </a:r>
          </a:p>
        </p:txBody>
      </p:sp>
      <p:sp>
        <p:nvSpPr>
          <p:cNvPr id="37" name="Rectangle 36"/>
          <p:cNvSpPr/>
          <p:nvPr/>
        </p:nvSpPr>
        <p:spPr>
          <a:xfrm>
            <a:off x="316436" y="1572458"/>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2</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9" name="TextBox 38"/>
          <p:cNvSpPr txBox="1"/>
          <p:nvPr/>
        </p:nvSpPr>
        <p:spPr>
          <a:xfrm>
            <a:off x="9635745" y="3596922"/>
            <a:ext cx="943583" cy="738664"/>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8</a:t>
            </a:r>
            <a:r>
              <a:rPr lang="en-IN" sz="2400" b="1" dirty="0" smtClean="0">
                <a:solidFill>
                  <a:srgbClr val="FF0000"/>
                </a:solidFill>
                <a:latin typeface="Times New Roman" panose="02020603050405020304" pitchFamily="18" charset="0"/>
                <a:cs typeface="Times New Roman" panose="02020603050405020304" pitchFamily="18" charset="0"/>
              </a:rPr>
              <a:t> &lt; 5</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40" name="Straight Connector 39"/>
          <p:cNvCxnSpPr/>
          <p:nvPr/>
        </p:nvCxnSpPr>
        <p:spPr>
          <a:xfrm flipH="1">
            <a:off x="2483204" y="2172543"/>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42" name="Table 41"/>
          <p:cNvGraphicFramePr>
            <a:graphicFrameLocks noGrp="1"/>
          </p:cNvGraphicFramePr>
          <p:nvPr>
            <p:extLst>
              <p:ext uri="{D42A27DB-BD31-4B8C-83A1-F6EECF244321}">
                <p14:modId xmlns:p14="http://schemas.microsoft.com/office/powerpoint/2010/main" val="310917581"/>
              </p:ext>
            </p:extLst>
          </p:nvPr>
        </p:nvGraphicFramePr>
        <p:xfrm>
          <a:off x="920200" y="2825207"/>
          <a:ext cx="3826512" cy="457200"/>
        </p:xfrm>
        <a:graphic>
          <a:graphicData uri="http://schemas.openxmlformats.org/drawingml/2006/table">
            <a:tbl>
              <a:tblPr firstRow="1" bandRow="1">
                <a:tableStyleId>{5C22544A-7EE6-4342-B048-85BDC9FD1C3A}</a:tableStyleId>
              </a:tblPr>
              <a:tblGrid>
                <a:gridCol w="1275504"/>
                <a:gridCol w="1275504"/>
                <a:gridCol w="1275504"/>
              </a:tblGrid>
              <a:tr h="370840">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43" name="TextBox 42"/>
          <p:cNvSpPr txBox="1"/>
          <p:nvPr/>
        </p:nvSpPr>
        <p:spPr>
          <a:xfrm>
            <a:off x="2114304" y="2038483"/>
            <a:ext cx="943583" cy="738664"/>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1</a:t>
            </a:r>
            <a:r>
              <a:rPr lang="en-IN" sz="2400" b="1" dirty="0" smtClean="0">
                <a:solidFill>
                  <a:srgbClr val="FF0000"/>
                </a:solidFill>
                <a:latin typeface="Times New Roman" panose="02020603050405020304" pitchFamily="18" charset="0"/>
                <a:cs typeface="Times New Roman" panose="02020603050405020304" pitchFamily="18" charset="0"/>
              </a:rPr>
              <a:t> &gt; 2</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graphicFrame>
        <p:nvGraphicFramePr>
          <p:cNvPr id="44" name="Table 43"/>
          <p:cNvGraphicFramePr>
            <a:graphicFrameLocks noGrp="1"/>
          </p:cNvGraphicFramePr>
          <p:nvPr>
            <p:extLst>
              <p:ext uri="{D42A27DB-BD31-4B8C-83A1-F6EECF244321}">
                <p14:modId xmlns:p14="http://schemas.microsoft.com/office/powerpoint/2010/main" val="2146954440"/>
              </p:ext>
            </p:extLst>
          </p:nvPr>
        </p:nvGraphicFramePr>
        <p:xfrm>
          <a:off x="901978" y="1634942"/>
          <a:ext cx="3826512" cy="457200"/>
        </p:xfrm>
        <a:graphic>
          <a:graphicData uri="http://schemas.openxmlformats.org/drawingml/2006/table">
            <a:tbl>
              <a:tblPr firstRow="1" bandRow="1">
                <a:tableStyleId>{5C22544A-7EE6-4342-B048-85BDC9FD1C3A}</a:tableStyleId>
              </a:tblPr>
              <a:tblGrid>
                <a:gridCol w="1142191"/>
                <a:gridCol w="1408817"/>
                <a:gridCol w="1275504"/>
              </a:tblGrid>
              <a:tr h="370840">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45" name="TextBox 44"/>
          <p:cNvSpPr txBox="1"/>
          <p:nvPr/>
        </p:nvSpPr>
        <p:spPr>
          <a:xfrm>
            <a:off x="1108001" y="1260303"/>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46" name="TextBox 45"/>
          <p:cNvSpPr txBox="1"/>
          <p:nvPr/>
        </p:nvSpPr>
        <p:spPr>
          <a:xfrm>
            <a:off x="2139082" y="1238980"/>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graphicFrame>
        <p:nvGraphicFramePr>
          <p:cNvPr id="36" name="Table 35"/>
          <p:cNvGraphicFramePr>
            <a:graphicFrameLocks noGrp="1"/>
          </p:cNvGraphicFramePr>
          <p:nvPr>
            <p:extLst>
              <p:ext uri="{D42A27DB-BD31-4B8C-83A1-F6EECF244321}">
                <p14:modId xmlns:p14="http://schemas.microsoft.com/office/powerpoint/2010/main" val="3488009312"/>
              </p:ext>
            </p:extLst>
          </p:nvPr>
        </p:nvGraphicFramePr>
        <p:xfrm>
          <a:off x="-269898" y="3712731"/>
          <a:ext cx="5291847" cy="457200"/>
        </p:xfrm>
        <a:graphic>
          <a:graphicData uri="http://schemas.openxmlformats.org/drawingml/2006/table">
            <a:tbl>
              <a:tblPr firstRow="1" bandRow="1">
                <a:tableStyleId>{5C22544A-7EE6-4342-B048-85BDC9FD1C3A}</a:tableStyleId>
              </a:tblPr>
              <a:tblGrid>
                <a:gridCol w="1763949"/>
                <a:gridCol w="1763949"/>
                <a:gridCol w="1763949"/>
              </a:tblGrid>
              <a:tr h="435208">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1</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3</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47" name="Rectangle 46"/>
          <p:cNvSpPr/>
          <p:nvPr/>
        </p:nvSpPr>
        <p:spPr>
          <a:xfrm>
            <a:off x="1319653" y="3691825"/>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2</a:t>
            </a:r>
          </a:p>
        </p:txBody>
      </p:sp>
      <p:cxnSp>
        <p:nvCxnSpPr>
          <p:cNvPr id="48" name="Straight Arrow Connector 47"/>
          <p:cNvCxnSpPr/>
          <p:nvPr/>
        </p:nvCxnSpPr>
        <p:spPr>
          <a:xfrm flipV="1">
            <a:off x="177052" y="4339337"/>
            <a:ext cx="809357" cy="22898"/>
          </a:xfrm>
          <a:prstGeom prst="straightConnector1">
            <a:avLst/>
          </a:prstGeom>
          <a:ln w="2857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2383720" y="4345255"/>
            <a:ext cx="1646197" cy="11061"/>
          </a:xfrm>
          <a:prstGeom prst="straightConnector1">
            <a:avLst/>
          </a:prstGeom>
          <a:ln w="2857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graphicFrame>
        <p:nvGraphicFramePr>
          <p:cNvPr id="50" name="Table 49"/>
          <p:cNvGraphicFramePr>
            <a:graphicFrameLocks noGrp="1"/>
          </p:cNvGraphicFramePr>
          <p:nvPr>
            <p:extLst>
              <p:ext uri="{D42A27DB-BD31-4B8C-83A1-F6EECF244321}">
                <p14:modId xmlns:p14="http://schemas.microsoft.com/office/powerpoint/2010/main" val="1713781528"/>
              </p:ext>
            </p:extLst>
          </p:nvPr>
        </p:nvGraphicFramePr>
        <p:xfrm>
          <a:off x="1731929" y="4859274"/>
          <a:ext cx="3527898" cy="457200"/>
        </p:xfrm>
        <a:graphic>
          <a:graphicData uri="http://schemas.openxmlformats.org/drawingml/2006/table">
            <a:tbl>
              <a:tblPr firstRow="1" bandRow="1">
                <a:tableStyleId>{5C22544A-7EE6-4342-B048-85BDC9FD1C3A}</a:tableStyleId>
              </a:tblPr>
              <a:tblGrid>
                <a:gridCol w="1763949"/>
                <a:gridCol w="1763949"/>
              </a:tblGrid>
              <a:tr h="370840">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51" name="Rectangle 50"/>
          <p:cNvSpPr/>
          <p:nvPr/>
        </p:nvSpPr>
        <p:spPr>
          <a:xfrm>
            <a:off x="2787858" y="4755677"/>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3</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52" name="TextBox 51"/>
          <p:cNvSpPr txBox="1"/>
          <p:nvPr/>
        </p:nvSpPr>
        <p:spPr>
          <a:xfrm>
            <a:off x="3683441" y="4523994"/>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r>
              <a:rPr lang="en-IN" sz="2400" b="1" dirty="0" smtClean="0">
                <a:solidFill>
                  <a:srgbClr val="FF0000"/>
                </a:solidFill>
                <a:latin typeface="Times New Roman" panose="02020603050405020304" pitchFamily="18" charset="0"/>
                <a:cs typeface="Times New Roman" panose="02020603050405020304" pitchFamily="18" charset="0"/>
              </a:rPr>
              <a:t>  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graphicFrame>
        <p:nvGraphicFramePr>
          <p:cNvPr id="53" name="Table 52"/>
          <p:cNvGraphicFramePr>
            <a:graphicFrameLocks noGrp="1"/>
          </p:cNvGraphicFramePr>
          <p:nvPr>
            <p:extLst>
              <p:ext uri="{D42A27DB-BD31-4B8C-83A1-F6EECF244321}">
                <p14:modId xmlns:p14="http://schemas.microsoft.com/office/powerpoint/2010/main" val="3605246656"/>
              </p:ext>
            </p:extLst>
          </p:nvPr>
        </p:nvGraphicFramePr>
        <p:xfrm>
          <a:off x="1793703" y="5982532"/>
          <a:ext cx="3527898" cy="457200"/>
        </p:xfrm>
        <a:graphic>
          <a:graphicData uri="http://schemas.openxmlformats.org/drawingml/2006/table">
            <a:tbl>
              <a:tblPr firstRow="1" bandRow="1">
                <a:tableStyleId>{5C22544A-7EE6-4342-B048-85BDC9FD1C3A}</a:tableStyleId>
              </a:tblPr>
              <a:tblGrid>
                <a:gridCol w="1763949"/>
                <a:gridCol w="1763949"/>
              </a:tblGrid>
              <a:tr h="427078">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54" name="Rectangle 53"/>
          <p:cNvSpPr/>
          <p:nvPr/>
        </p:nvSpPr>
        <p:spPr>
          <a:xfrm>
            <a:off x="2766076" y="6008169"/>
            <a:ext cx="472458" cy="44535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3</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5" name="Table 54"/>
          <p:cNvGraphicFramePr>
            <a:graphicFrameLocks noGrp="1"/>
          </p:cNvGraphicFramePr>
          <p:nvPr>
            <p:extLst>
              <p:ext uri="{D42A27DB-BD31-4B8C-83A1-F6EECF244321}">
                <p14:modId xmlns:p14="http://schemas.microsoft.com/office/powerpoint/2010/main" val="912385248"/>
              </p:ext>
            </p:extLst>
          </p:nvPr>
        </p:nvGraphicFramePr>
        <p:xfrm>
          <a:off x="1793703" y="6434399"/>
          <a:ext cx="3527898" cy="457200"/>
        </p:xfrm>
        <a:graphic>
          <a:graphicData uri="http://schemas.openxmlformats.org/drawingml/2006/table">
            <a:tbl>
              <a:tblPr firstRow="1" bandRow="1">
                <a:tableStyleId>{5C22544A-7EE6-4342-B048-85BDC9FD1C3A}</a:tableStyleId>
              </a:tblPr>
              <a:tblGrid>
                <a:gridCol w="1763949"/>
                <a:gridCol w="1763949"/>
              </a:tblGrid>
              <a:tr h="415690">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      4</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3955974955"/>
              </p:ext>
            </p:extLst>
          </p:nvPr>
        </p:nvGraphicFramePr>
        <p:xfrm>
          <a:off x="7319784" y="1532751"/>
          <a:ext cx="3378516" cy="457200"/>
        </p:xfrm>
        <a:graphic>
          <a:graphicData uri="http://schemas.openxmlformats.org/drawingml/2006/table">
            <a:tbl>
              <a:tblPr firstRow="1" bandRow="1">
                <a:tableStyleId>{5C22544A-7EE6-4342-B048-85BDC9FD1C3A}</a:tableStyleId>
              </a:tblPr>
              <a:tblGrid>
                <a:gridCol w="1126172"/>
                <a:gridCol w="1126172"/>
                <a:gridCol w="1126172"/>
              </a:tblGrid>
              <a:tr h="370840">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9</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2400" b="1" kern="1200" dirty="0" smtClean="0">
                          <a:solidFill>
                            <a:srgbClr val="002060"/>
                          </a:solidFill>
                          <a:latin typeface="Times New Roman" panose="02020603050405020304" pitchFamily="18" charset="0"/>
                          <a:ea typeface="+mn-ea"/>
                          <a:cs typeface="Times New Roman" panose="02020603050405020304" pitchFamily="18" charset="0"/>
                        </a:rPr>
                        <a:t>7</a:t>
                      </a:r>
                      <a:endParaRPr lang="en-IN" sz="24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57" name="Rectangle 56"/>
          <p:cNvSpPr/>
          <p:nvPr/>
        </p:nvSpPr>
        <p:spPr>
          <a:xfrm>
            <a:off x="7391658" y="1444364"/>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8</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58" name="TextBox 57"/>
          <p:cNvSpPr txBox="1"/>
          <p:nvPr/>
        </p:nvSpPr>
        <p:spPr>
          <a:xfrm>
            <a:off x="8102749" y="1133882"/>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59" name="TextBox 58"/>
          <p:cNvSpPr txBox="1"/>
          <p:nvPr/>
        </p:nvSpPr>
        <p:spPr>
          <a:xfrm>
            <a:off x="9280483" y="1124107"/>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60" name="TextBox 59"/>
          <p:cNvSpPr txBox="1"/>
          <p:nvPr/>
        </p:nvSpPr>
        <p:spPr>
          <a:xfrm>
            <a:off x="7888407" y="2002122"/>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 9 &lt; 8</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graphicFrame>
        <p:nvGraphicFramePr>
          <p:cNvPr id="61" name="Table 60"/>
          <p:cNvGraphicFramePr>
            <a:graphicFrameLocks noGrp="1"/>
          </p:cNvGraphicFramePr>
          <p:nvPr>
            <p:extLst>
              <p:ext uri="{D42A27DB-BD31-4B8C-83A1-F6EECF244321}">
                <p14:modId xmlns:p14="http://schemas.microsoft.com/office/powerpoint/2010/main" val="2106223643"/>
              </p:ext>
            </p:extLst>
          </p:nvPr>
        </p:nvGraphicFramePr>
        <p:xfrm>
          <a:off x="7361656" y="2770284"/>
          <a:ext cx="3378516" cy="457200"/>
        </p:xfrm>
        <a:graphic>
          <a:graphicData uri="http://schemas.openxmlformats.org/drawingml/2006/table">
            <a:tbl>
              <a:tblPr firstRow="1" bandRow="1">
                <a:tableStyleId>{5C22544A-7EE6-4342-B048-85BDC9FD1C3A}</a:tableStyleId>
              </a:tblPr>
              <a:tblGrid>
                <a:gridCol w="1126172"/>
                <a:gridCol w="1126172"/>
                <a:gridCol w="1126172"/>
              </a:tblGrid>
              <a:tr h="370840">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7</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2400" b="1" kern="1200" dirty="0" smtClean="0">
                          <a:solidFill>
                            <a:srgbClr val="002060"/>
                          </a:solidFill>
                          <a:latin typeface="Times New Roman" panose="02020603050405020304" pitchFamily="18" charset="0"/>
                          <a:ea typeface="+mn-ea"/>
                          <a:cs typeface="Times New Roman" panose="02020603050405020304" pitchFamily="18" charset="0"/>
                        </a:rPr>
                        <a:t>9</a:t>
                      </a:r>
                      <a:endParaRPr lang="en-IN" sz="24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62" name="TextBox 61"/>
          <p:cNvSpPr txBox="1"/>
          <p:nvPr/>
        </p:nvSpPr>
        <p:spPr>
          <a:xfrm>
            <a:off x="9289085" y="2436655"/>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63" name="TextBox 62"/>
          <p:cNvSpPr txBox="1"/>
          <p:nvPr/>
        </p:nvSpPr>
        <p:spPr>
          <a:xfrm>
            <a:off x="8186848" y="2429861"/>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64" name="Straight Connector 63"/>
          <p:cNvCxnSpPr/>
          <p:nvPr/>
        </p:nvCxnSpPr>
        <p:spPr>
          <a:xfrm flipH="1">
            <a:off x="8333816" y="2155164"/>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7375304" y="2671248"/>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8</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66" name="Table 65"/>
          <p:cNvGraphicFramePr>
            <a:graphicFrameLocks noGrp="1"/>
          </p:cNvGraphicFramePr>
          <p:nvPr>
            <p:extLst>
              <p:ext uri="{D42A27DB-BD31-4B8C-83A1-F6EECF244321}">
                <p14:modId xmlns:p14="http://schemas.microsoft.com/office/powerpoint/2010/main" val="1845867017"/>
              </p:ext>
            </p:extLst>
          </p:nvPr>
        </p:nvGraphicFramePr>
        <p:xfrm>
          <a:off x="7399811" y="3555698"/>
          <a:ext cx="3378516" cy="457200"/>
        </p:xfrm>
        <a:graphic>
          <a:graphicData uri="http://schemas.openxmlformats.org/drawingml/2006/table">
            <a:tbl>
              <a:tblPr firstRow="1" bandRow="1">
                <a:tableStyleId>{5C22544A-7EE6-4342-B048-85BDC9FD1C3A}</a:tableStyleId>
              </a:tblPr>
              <a:tblGrid>
                <a:gridCol w="1126172"/>
                <a:gridCol w="1126172"/>
                <a:gridCol w="1126172"/>
              </a:tblGrid>
              <a:tr h="370840">
                <a:tc>
                  <a:txBody>
                    <a:bodyPr/>
                    <a:lstStyle/>
                    <a:p>
                      <a:r>
                        <a:rPr lang="en-IN" sz="2400" b="1" dirty="0" smtClean="0">
                          <a:solidFill>
                            <a:srgbClr val="002060"/>
                          </a:solidFill>
                          <a:latin typeface="Times New Roman" panose="02020603050405020304" pitchFamily="18" charset="0"/>
                          <a:cs typeface="Times New Roman" panose="02020603050405020304" pitchFamily="18" charset="0"/>
                        </a:rPr>
                        <a:t>7</a:t>
                      </a:r>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endParaRPr lang="en-IN" sz="2400"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2400" b="1" kern="1200" dirty="0" smtClean="0">
                          <a:solidFill>
                            <a:srgbClr val="002060"/>
                          </a:solidFill>
                          <a:latin typeface="Times New Roman" panose="02020603050405020304" pitchFamily="18" charset="0"/>
                          <a:ea typeface="+mn-ea"/>
                          <a:cs typeface="Times New Roman" panose="02020603050405020304" pitchFamily="18" charset="0"/>
                        </a:rPr>
                        <a:t>9</a:t>
                      </a:r>
                      <a:endParaRPr lang="en-IN" sz="24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67" name="Rectangle 66"/>
          <p:cNvSpPr/>
          <p:nvPr/>
        </p:nvSpPr>
        <p:spPr>
          <a:xfrm>
            <a:off x="8435628" y="3492897"/>
            <a:ext cx="472458" cy="58270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8</a:t>
            </a:r>
            <a:endParaRPr lang="en-IN" sz="2400" b="1" dirty="0">
              <a:solidFill>
                <a:srgbClr val="FF0000"/>
              </a:solidFill>
              <a:latin typeface="Times New Roman" panose="02020603050405020304" pitchFamily="18" charset="0"/>
              <a:cs typeface="Times New Roman" panose="02020603050405020304" pitchFamily="18" charset="0"/>
            </a:endParaRPr>
          </a:p>
        </p:txBody>
      </p:sp>
      <p:cxnSp>
        <p:nvCxnSpPr>
          <p:cNvPr id="68" name="Straight Arrow Connector 67"/>
          <p:cNvCxnSpPr/>
          <p:nvPr/>
        </p:nvCxnSpPr>
        <p:spPr>
          <a:xfrm flipV="1">
            <a:off x="9593917" y="4025391"/>
            <a:ext cx="451345" cy="1"/>
          </a:xfrm>
          <a:prstGeom prst="straightConnector1">
            <a:avLst/>
          </a:prstGeom>
          <a:ln w="2857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7391658" y="4075603"/>
            <a:ext cx="547057" cy="0"/>
          </a:xfrm>
          <a:prstGeom prst="straightConnector1">
            <a:avLst/>
          </a:prstGeom>
          <a:ln w="2857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6518761" y="4708660"/>
            <a:ext cx="6867728" cy="1107996"/>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Final sorted array is</a:t>
            </a:r>
          </a:p>
          <a:p>
            <a:pPr algn="ctr"/>
            <a:r>
              <a:rPr lang="en-IN" sz="2400" b="1" dirty="0" smtClean="0">
                <a:solidFill>
                  <a:srgbClr val="FF0000"/>
                </a:solidFill>
                <a:latin typeface="Times New Roman" panose="02020603050405020304" pitchFamily="18" charset="0"/>
                <a:cs typeface="Times New Roman" panose="02020603050405020304" pitchFamily="18" charset="0"/>
              </a:rPr>
              <a:t> 1     2     3    4    5    7    8      9</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71" name="TextBox 70"/>
          <p:cNvSpPr txBox="1"/>
          <p:nvPr/>
        </p:nvSpPr>
        <p:spPr>
          <a:xfrm>
            <a:off x="4117571" y="1691190"/>
            <a:ext cx="2826828" cy="307777"/>
          </a:xfrm>
          <a:prstGeom prst="rect">
            <a:avLst/>
          </a:prstGeom>
          <a:noFill/>
        </p:spPr>
        <p:txBody>
          <a:bodyPr wrap="square" rtlCol="0">
            <a:spAutoFit/>
          </a:bodyPr>
          <a:lstStyle/>
          <a:p>
            <a:pPr algn="just"/>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&lt;j, swap A[</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and A[j]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e 3 and 1</a:t>
            </a:r>
          </a:p>
        </p:txBody>
      </p:sp>
      <p:sp>
        <p:nvSpPr>
          <p:cNvPr id="72" name="TextBox 71"/>
          <p:cNvSpPr txBox="1"/>
          <p:nvPr/>
        </p:nvSpPr>
        <p:spPr>
          <a:xfrm>
            <a:off x="4206097" y="2875251"/>
            <a:ext cx="2826828" cy="523220"/>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1&lt; 2, so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j&gt;2, j++</a:t>
            </a:r>
          </a:p>
          <a:p>
            <a:pPr algn="just"/>
            <a:r>
              <a:rPr lang="en-IN" sz="1400" b="1" dirty="0">
                <a:solidFill>
                  <a:srgbClr val="FF0000"/>
                </a:solidFill>
                <a:latin typeface="Times New Roman" panose="02020603050405020304" pitchFamily="18" charset="0"/>
                <a:cs typeface="Times New Roman" panose="02020603050405020304" pitchFamily="18" charset="0"/>
              </a:rPr>
              <a:t>j</a:t>
            </a:r>
            <a:r>
              <a:rPr lang="en-IN" sz="1400" b="1" dirty="0" smtClean="0">
                <a:solidFill>
                  <a:srgbClr val="FF0000"/>
                </a:solidFill>
                <a:latin typeface="Times New Roman" panose="02020603050405020304" pitchFamily="18" charset="0"/>
                <a:cs typeface="Times New Roman" panose="02020603050405020304" pitchFamily="18" charset="0"/>
              </a:rPr>
              <a:t> &gt;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swap A[j] and pivot. </a:t>
            </a:r>
          </a:p>
        </p:txBody>
      </p:sp>
      <p:sp>
        <p:nvSpPr>
          <p:cNvPr id="73" name="TextBox 72"/>
          <p:cNvSpPr txBox="1"/>
          <p:nvPr/>
        </p:nvSpPr>
        <p:spPr>
          <a:xfrm>
            <a:off x="4133106" y="3574839"/>
            <a:ext cx="2826828" cy="738664"/>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After swapping pivot is in its final position array is divided into two parts</a:t>
            </a:r>
          </a:p>
        </p:txBody>
      </p:sp>
      <p:sp>
        <p:nvSpPr>
          <p:cNvPr id="74" name="TextBox 73"/>
          <p:cNvSpPr txBox="1"/>
          <p:nvPr/>
        </p:nvSpPr>
        <p:spPr>
          <a:xfrm>
            <a:off x="4397609" y="4549319"/>
            <a:ext cx="2826828" cy="738664"/>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3 is pivot,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and j points to 4, 4 &gt;3, j++, j&gt;I pivot is less than A[</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no swap </a:t>
            </a:r>
          </a:p>
        </p:txBody>
      </p:sp>
      <p:sp>
        <p:nvSpPr>
          <p:cNvPr id="75" name="TextBox 74"/>
          <p:cNvSpPr txBox="1"/>
          <p:nvPr/>
        </p:nvSpPr>
        <p:spPr>
          <a:xfrm>
            <a:off x="6634505" y="650881"/>
            <a:ext cx="2826828" cy="307777"/>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Second part of array</a:t>
            </a:r>
          </a:p>
        </p:txBody>
      </p:sp>
      <p:sp>
        <p:nvSpPr>
          <p:cNvPr id="76" name="TextBox 75"/>
          <p:cNvSpPr txBox="1"/>
          <p:nvPr/>
        </p:nvSpPr>
        <p:spPr>
          <a:xfrm>
            <a:off x="9952625" y="1438378"/>
            <a:ext cx="2826828" cy="1169551"/>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8 is pivot, 9 is not less </a:t>
            </a:r>
          </a:p>
          <a:p>
            <a:pPr algn="just"/>
            <a:r>
              <a:rPr lang="en-IN" sz="1400" b="1" dirty="0" smtClean="0">
                <a:solidFill>
                  <a:srgbClr val="FF0000"/>
                </a:solidFill>
                <a:latin typeface="Times New Roman" panose="02020603050405020304" pitchFamily="18" charset="0"/>
                <a:cs typeface="Times New Roman" panose="02020603050405020304" pitchFamily="18" charset="0"/>
              </a:rPr>
              <a:t>than 8 so change in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and </a:t>
            </a:r>
          </a:p>
          <a:p>
            <a:pPr algn="just"/>
            <a:r>
              <a:rPr lang="en-IN" sz="1400" b="1" dirty="0" smtClean="0">
                <a:solidFill>
                  <a:srgbClr val="FF0000"/>
                </a:solidFill>
                <a:latin typeface="Times New Roman" panose="02020603050405020304" pitchFamily="18" charset="0"/>
                <a:cs typeface="Times New Roman" panose="02020603050405020304" pitchFamily="18" charset="0"/>
              </a:rPr>
              <a:t>7 is not greater than </a:t>
            </a:r>
          </a:p>
          <a:p>
            <a:pPr algn="just"/>
            <a:r>
              <a:rPr lang="en-IN" sz="1400" b="1" dirty="0" smtClean="0">
                <a:solidFill>
                  <a:srgbClr val="FF0000"/>
                </a:solidFill>
                <a:latin typeface="Times New Roman" panose="02020603050405020304" pitchFamily="18" charset="0"/>
                <a:cs typeface="Times New Roman" panose="02020603050405020304" pitchFamily="18" charset="0"/>
              </a:rPr>
              <a:t>8 so no change in j, </a:t>
            </a:r>
          </a:p>
          <a:p>
            <a:pPr algn="just"/>
            <a:r>
              <a:rPr lang="en-IN" sz="1400" b="1" dirty="0" smtClean="0">
                <a:solidFill>
                  <a:srgbClr val="FF0000"/>
                </a:solidFill>
                <a:latin typeface="Times New Roman" panose="02020603050405020304" pitchFamily="18" charset="0"/>
                <a:cs typeface="Times New Roman" panose="02020603050405020304" pitchFamily="18" charset="0"/>
              </a:rPr>
              <a:t>swap A[</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and A[j]</a:t>
            </a:r>
          </a:p>
        </p:txBody>
      </p:sp>
      <p:sp>
        <p:nvSpPr>
          <p:cNvPr id="77" name="TextBox 76"/>
          <p:cNvSpPr txBox="1"/>
          <p:nvPr/>
        </p:nvSpPr>
        <p:spPr>
          <a:xfrm>
            <a:off x="9977573" y="2847692"/>
            <a:ext cx="2826828" cy="523220"/>
          </a:xfrm>
          <a:prstGeom prst="rect">
            <a:avLst/>
          </a:prstGeom>
          <a:noFill/>
        </p:spPr>
        <p:txBody>
          <a:bodyPr wrap="square" rtlCol="0">
            <a:spAutoFit/>
          </a:bodyPr>
          <a:lstStyle/>
          <a:p>
            <a:pPr algn="just"/>
            <a:r>
              <a:rPr lang="en-IN" sz="1400" b="1" dirty="0">
                <a:solidFill>
                  <a:srgbClr val="FF0000"/>
                </a:solidFill>
                <a:latin typeface="Times New Roman" panose="02020603050405020304" pitchFamily="18" charset="0"/>
                <a:cs typeface="Times New Roman" panose="02020603050405020304" pitchFamily="18" charset="0"/>
              </a:rPr>
              <a:t>j</a:t>
            </a:r>
            <a:r>
              <a:rPr lang="en-IN" sz="1400" b="1" dirty="0" smtClean="0">
                <a:solidFill>
                  <a:srgbClr val="FF0000"/>
                </a:solidFill>
                <a:latin typeface="Times New Roman" panose="02020603050405020304" pitchFamily="18" charset="0"/>
                <a:cs typeface="Times New Roman" panose="02020603050405020304" pitchFamily="18" charset="0"/>
              </a:rPr>
              <a:t> &gt;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t>
            </a:r>
          </a:p>
          <a:p>
            <a:pPr algn="just"/>
            <a:r>
              <a:rPr lang="en-IN" sz="1400" b="1" dirty="0" smtClean="0">
                <a:solidFill>
                  <a:srgbClr val="FF0000"/>
                </a:solidFill>
                <a:latin typeface="Times New Roman" panose="02020603050405020304" pitchFamily="18" charset="0"/>
                <a:cs typeface="Times New Roman" panose="02020603050405020304" pitchFamily="18" charset="0"/>
              </a:rPr>
              <a:t>swap A[</a:t>
            </a:r>
            <a:r>
              <a:rPr lang="en-IN" sz="1400" b="1" dirty="0">
                <a:solidFill>
                  <a:srgbClr val="FF0000"/>
                </a:solidFill>
                <a:latin typeface="Times New Roman" panose="02020603050405020304" pitchFamily="18" charset="0"/>
                <a:cs typeface="Times New Roman" panose="02020603050405020304" pitchFamily="18" charset="0"/>
              </a:rPr>
              <a:t>j</a:t>
            </a:r>
            <a:r>
              <a:rPr lang="en-IN" sz="1400" b="1" dirty="0" smtClean="0">
                <a:solidFill>
                  <a:srgbClr val="FF0000"/>
                </a:solidFill>
                <a:latin typeface="Times New Roman" panose="02020603050405020304" pitchFamily="18" charset="0"/>
                <a:cs typeface="Times New Roman" panose="02020603050405020304" pitchFamily="18" charset="0"/>
              </a:rPr>
              <a:t>] and pivot</a:t>
            </a:r>
          </a:p>
        </p:txBody>
      </p:sp>
      <p:sp>
        <p:nvSpPr>
          <p:cNvPr id="6" name="Date Placeholder 5"/>
          <p:cNvSpPr>
            <a:spLocks noGrp="1"/>
          </p:cNvSpPr>
          <p:nvPr>
            <p:ph type="dt" sz="half" idx="10"/>
          </p:nvPr>
        </p:nvSpPr>
        <p:spPr/>
        <p:txBody>
          <a:bodyPr/>
          <a:lstStyle/>
          <a:p>
            <a:fld id="{C4B72AAC-F5B8-4CAA-9D8B-2E109014CAE4}" type="datetime1">
              <a:rPr lang="en-IN" smtClean="0"/>
              <a:t>21-03-2026</a:t>
            </a:fld>
            <a:endParaRPr lang="en-IN"/>
          </a:p>
        </p:txBody>
      </p:sp>
      <p:sp>
        <p:nvSpPr>
          <p:cNvPr id="7" name="Footer Placeholder 6"/>
          <p:cNvSpPr>
            <a:spLocks noGrp="1"/>
          </p:cNvSpPr>
          <p:nvPr>
            <p:ph type="ftr" sz="quarter" idx="11"/>
          </p:nvPr>
        </p:nvSpPr>
        <p:spPr/>
        <p:txBody>
          <a:bodyPr/>
          <a:lstStyle/>
          <a:p>
            <a:r>
              <a:rPr lang="en-IN" smtClean="0"/>
              <a:t>Dr. Vijayalaxmi Mekali, Professor, Dept of CSE, KSIT</a:t>
            </a:r>
            <a:endParaRPr lang="en-IN"/>
          </a:p>
        </p:txBody>
      </p:sp>
      <p:sp>
        <p:nvSpPr>
          <p:cNvPr id="9" name="TextBox 8"/>
          <p:cNvSpPr txBox="1"/>
          <p:nvPr/>
        </p:nvSpPr>
        <p:spPr>
          <a:xfrm>
            <a:off x="1297887" y="4507069"/>
            <a:ext cx="632359" cy="369332"/>
          </a:xfrm>
          <a:prstGeom prst="rect">
            <a:avLst/>
          </a:prstGeom>
          <a:noFill/>
        </p:spPr>
        <p:txBody>
          <a:bodyPr wrap="square" rtlCol="0">
            <a:spAutoFit/>
          </a:bodyPr>
          <a:lstStyle/>
          <a:p>
            <a:r>
              <a:rPr lang="en-IN" dirty="0"/>
              <a:t>s</a:t>
            </a:r>
            <a:r>
              <a:rPr lang="en-IN" dirty="0" smtClean="0"/>
              <a:t>=1</a:t>
            </a:r>
            <a:endParaRPr lang="en-IN" dirty="0"/>
          </a:p>
        </p:txBody>
      </p:sp>
      <p:sp>
        <p:nvSpPr>
          <p:cNvPr id="10" name="TextBox 9"/>
          <p:cNvSpPr txBox="1"/>
          <p:nvPr/>
        </p:nvSpPr>
        <p:spPr>
          <a:xfrm>
            <a:off x="2051583" y="6096000"/>
            <a:ext cx="575131" cy="369332"/>
          </a:xfrm>
          <a:prstGeom prst="rect">
            <a:avLst/>
          </a:prstGeom>
          <a:noFill/>
        </p:spPr>
        <p:txBody>
          <a:bodyPr wrap="square" rtlCol="0">
            <a:spAutoFit/>
          </a:bodyPr>
          <a:lstStyle/>
          <a:p>
            <a:r>
              <a:rPr lang="en-IN" dirty="0" smtClean="0"/>
              <a:t>s=2</a:t>
            </a:r>
            <a:endParaRPr lang="en-IN" dirty="0"/>
          </a:p>
        </p:txBody>
      </p:sp>
      <p:sp>
        <p:nvSpPr>
          <p:cNvPr id="11" name="TextBox 10"/>
          <p:cNvSpPr txBox="1"/>
          <p:nvPr/>
        </p:nvSpPr>
        <p:spPr>
          <a:xfrm>
            <a:off x="8485735" y="4259658"/>
            <a:ext cx="794748" cy="369332"/>
          </a:xfrm>
          <a:prstGeom prst="rect">
            <a:avLst/>
          </a:prstGeom>
          <a:noFill/>
        </p:spPr>
        <p:txBody>
          <a:bodyPr wrap="square" rtlCol="0">
            <a:spAutoFit/>
          </a:bodyPr>
          <a:lstStyle/>
          <a:p>
            <a:r>
              <a:rPr lang="en-IN" dirty="0"/>
              <a:t>s</a:t>
            </a:r>
            <a:r>
              <a:rPr lang="en-IN" dirty="0" smtClean="0"/>
              <a:t>=6</a:t>
            </a:r>
            <a:endParaRPr lang="en-IN" dirty="0"/>
          </a:p>
        </p:txBody>
      </p:sp>
    </p:spTree>
    <p:extLst>
      <p:ext uri="{BB962C8B-B14F-4D97-AF65-F5344CB8AC3E}">
        <p14:creationId xmlns:p14="http://schemas.microsoft.com/office/powerpoint/2010/main" val="225379220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43437" y="667863"/>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Recursive tree call for the example considered in previous slide is </a:t>
            </a:r>
          </a:p>
          <a:p>
            <a:pPr algn="just"/>
            <a:endParaRPr lang="en-IN"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575028" cy="549967"/>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63</a:t>
            </a:fld>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10" name="Straight Arrow Connector 9"/>
          <p:cNvCxnSpPr>
            <a:stCxn id="14" idx="1"/>
          </p:cNvCxnSpPr>
          <p:nvPr/>
        </p:nvCxnSpPr>
        <p:spPr>
          <a:xfrm flipH="1">
            <a:off x="3693459" y="2125858"/>
            <a:ext cx="1025712" cy="819573"/>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0" y="1066662"/>
            <a:ext cx="12073467" cy="923330"/>
          </a:xfrm>
          <a:prstGeom prst="rect">
            <a:avLst/>
          </a:prstGeom>
          <a:noFill/>
        </p:spPr>
        <p:txBody>
          <a:bodyPr wrap="square" rtlCol="0">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Initially entire array is considered thus l=0 and r=7 (l is index for first element and r is index for last element of array) and s is partition index that pivot occupies and it is it’s sorted  final index.</a:t>
            </a:r>
            <a:endParaRPr lang="en-IN" b="1" dirty="0">
              <a:solidFill>
                <a:srgbClr val="002060"/>
              </a:solidFill>
              <a:latin typeface="Times New Roman" panose="02020603050405020304" pitchFamily="18" charset="0"/>
              <a:cs typeface="Times New Roman" panose="02020603050405020304" pitchFamily="18" charset="0"/>
            </a:endParaRPr>
          </a:p>
          <a:p>
            <a:pPr algn="just"/>
            <a:endParaRPr lang="en-IN" dirty="0"/>
          </a:p>
        </p:txBody>
      </p:sp>
      <p:graphicFrame>
        <p:nvGraphicFramePr>
          <p:cNvPr id="14" name="Table 13"/>
          <p:cNvGraphicFramePr>
            <a:graphicFrameLocks noGrp="1"/>
          </p:cNvGraphicFramePr>
          <p:nvPr>
            <p:extLst>
              <p:ext uri="{D42A27DB-BD31-4B8C-83A1-F6EECF244321}">
                <p14:modId xmlns:p14="http://schemas.microsoft.com/office/powerpoint/2010/main" val="2763624504"/>
              </p:ext>
            </p:extLst>
          </p:nvPr>
        </p:nvGraphicFramePr>
        <p:xfrm>
          <a:off x="4719171" y="1757558"/>
          <a:ext cx="1098924" cy="736600"/>
        </p:xfrm>
        <a:graphic>
          <a:graphicData uri="http://schemas.openxmlformats.org/drawingml/2006/table">
            <a:tbl>
              <a:tblPr firstRow="1" bandRow="1">
                <a:tableStyleId>{5C22544A-7EE6-4342-B048-85BDC9FD1C3A}</a:tableStyleId>
              </a:tblPr>
              <a:tblGrid>
                <a:gridCol w="1098924"/>
              </a:tblGrid>
              <a:tr h="0">
                <a:tc>
                  <a:txBody>
                    <a:bodyPr/>
                    <a:lstStyle/>
                    <a:p>
                      <a:r>
                        <a:rPr lang="en-IN" dirty="0" smtClean="0">
                          <a:solidFill>
                            <a:srgbClr val="002060"/>
                          </a:solidFill>
                        </a:rPr>
                        <a:t>l=0, r=7</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s=4</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131764293"/>
              </p:ext>
            </p:extLst>
          </p:nvPr>
        </p:nvGraphicFramePr>
        <p:xfrm>
          <a:off x="2745122" y="2971879"/>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l=0, r=3</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s=1</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4083493292"/>
              </p:ext>
            </p:extLst>
          </p:nvPr>
        </p:nvGraphicFramePr>
        <p:xfrm>
          <a:off x="4169709" y="4317271"/>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l=2, r=3</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s=2</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012284499"/>
              </p:ext>
            </p:extLst>
          </p:nvPr>
        </p:nvGraphicFramePr>
        <p:xfrm>
          <a:off x="1002988" y="4277516"/>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l=0, r=0</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495795547"/>
              </p:ext>
            </p:extLst>
          </p:nvPr>
        </p:nvGraphicFramePr>
        <p:xfrm>
          <a:off x="7112681" y="3011240"/>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l=5, r=7</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s=6</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3420196514"/>
              </p:ext>
            </p:extLst>
          </p:nvPr>
        </p:nvGraphicFramePr>
        <p:xfrm>
          <a:off x="8529171" y="4237456"/>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l=7, r=7</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899858944"/>
              </p:ext>
            </p:extLst>
          </p:nvPr>
        </p:nvGraphicFramePr>
        <p:xfrm>
          <a:off x="5916707" y="4327462"/>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l=5, r=5</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618712151"/>
              </p:ext>
            </p:extLst>
          </p:nvPr>
        </p:nvGraphicFramePr>
        <p:xfrm>
          <a:off x="2890371" y="5619750"/>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l=2, r=1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1006483007"/>
              </p:ext>
            </p:extLst>
          </p:nvPr>
        </p:nvGraphicFramePr>
        <p:xfrm>
          <a:off x="5212230" y="5619750"/>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l=3, r=3</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25" name="Straight Arrow Connector 24"/>
          <p:cNvCxnSpPr/>
          <p:nvPr/>
        </p:nvCxnSpPr>
        <p:spPr>
          <a:xfrm flipH="1">
            <a:off x="1683497" y="3416456"/>
            <a:ext cx="1025712" cy="819573"/>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18" idx="0"/>
          </p:cNvCxnSpPr>
          <p:nvPr/>
        </p:nvCxnSpPr>
        <p:spPr>
          <a:xfrm>
            <a:off x="5862918" y="2017059"/>
            <a:ext cx="1799225" cy="99418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8227732" y="3263522"/>
            <a:ext cx="1261409" cy="957708"/>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6239435" y="3368453"/>
            <a:ext cx="885638" cy="943704"/>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3832158" y="3340179"/>
            <a:ext cx="1261409" cy="957708"/>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3320677" y="4616957"/>
            <a:ext cx="885638" cy="943704"/>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251450" y="4616957"/>
            <a:ext cx="790763" cy="943704"/>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89A3F7CA-A89E-462B-ADE7-B9178F711B54}" type="datetime1">
              <a:rPr lang="en-IN" smtClean="0"/>
              <a:t>21-03-2026</a:t>
            </a:fld>
            <a:endParaRPr lang="en-IN"/>
          </a:p>
        </p:txBody>
      </p:sp>
    </p:spTree>
    <p:extLst>
      <p:ext uri="{BB962C8B-B14F-4D97-AF65-F5344CB8AC3E}">
        <p14:creationId xmlns:p14="http://schemas.microsoft.com/office/powerpoint/2010/main" val="344627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Quick sort Example</a:t>
            </a:r>
          </a:p>
          <a:p>
            <a:pPr algn="just"/>
            <a:r>
              <a:rPr lang="en-IN" sz="2000" b="1" dirty="0" smtClean="0">
                <a:solidFill>
                  <a:srgbClr val="002060"/>
                </a:solidFill>
                <a:latin typeface="Times New Roman" panose="02020603050405020304" pitchFamily="18" charset="0"/>
                <a:cs typeface="Times New Roman" panose="02020603050405020304" pitchFamily="18" charset="0"/>
              </a:rPr>
              <a:t>Trace the quick sort  algorithm for the following data set  and also construct tree for a recursive call </a:t>
            </a:r>
          </a:p>
          <a:p>
            <a:pPr algn="just"/>
            <a:r>
              <a:rPr lang="en-IN" sz="2000" b="1" dirty="0" smtClean="0">
                <a:solidFill>
                  <a:srgbClr val="002060"/>
                </a:solidFill>
                <a:latin typeface="Times New Roman" panose="02020603050405020304" pitchFamily="18" charset="0"/>
                <a:cs typeface="Times New Roman" panose="02020603050405020304" pitchFamily="18" charset="0"/>
              </a:rPr>
              <a:t>65,  70,  75,  80,  85,  60,  55,  50, 45</a:t>
            </a:r>
          </a:p>
          <a:p>
            <a:pPr algn="just"/>
            <a:r>
              <a:rPr lang="en-IN" sz="2000" b="1" dirty="0" smtClean="0">
                <a:solidFill>
                  <a:srgbClr val="C00000"/>
                </a:solidFill>
                <a:latin typeface="Times New Roman" panose="02020603050405020304" pitchFamily="18" charset="0"/>
                <a:cs typeface="Times New Roman" panose="02020603050405020304" pitchFamily="18" charset="0"/>
              </a:rPr>
              <a:t>Solution:</a:t>
            </a:r>
          </a:p>
          <a:p>
            <a:pPr algn="just"/>
            <a:r>
              <a:rPr lang="en-IN" sz="2000" b="1" dirty="0" smtClean="0">
                <a:solidFill>
                  <a:srgbClr val="002060"/>
                </a:solidFill>
                <a:latin typeface="Times New Roman" panose="02020603050405020304" pitchFamily="18" charset="0"/>
                <a:cs typeface="Times New Roman" panose="02020603050405020304" pitchFamily="18" charset="0"/>
              </a:rPr>
              <a:t>n=9</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64</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586022505"/>
              </p:ext>
            </p:extLst>
          </p:nvPr>
        </p:nvGraphicFramePr>
        <p:xfrm>
          <a:off x="2083944" y="3028626"/>
          <a:ext cx="7224885" cy="741680"/>
        </p:xfrm>
        <a:graphic>
          <a:graphicData uri="http://schemas.openxmlformats.org/drawingml/2006/table">
            <a:tbl>
              <a:tblPr firstRow="1" bandRow="1">
                <a:tableStyleId>{5C22544A-7EE6-4342-B048-85BDC9FD1C3A}</a:tableStyleId>
              </a:tblPr>
              <a:tblGrid>
                <a:gridCol w="802765"/>
                <a:gridCol w="802765"/>
                <a:gridCol w="802765"/>
                <a:gridCol w="802765"/>
                <a:gridCol w="802765"/>
                <a:gridCol w="802765"/>
                <a:gridCol w="802765"/>
                <a:gridCol w="802765"/>
                <a:gridCol w="802765"/>
              </a:tblGrid>
              <a:tr h="370840">
                <a:tc>
                  <a:txBody>
                    <a:bodyPr/>
                    <a:lstStyle/>
                    <a:p>
                      <a:r>
                        <a:rPr lang="en-IN" dirty="0" smtClean="0">
                          <a:solidFill>
                            <a:srgbClr val="C00000"/>
                          </a:solidFill>
                        </a:rPr>
                        <a:t>0</a:t>
                      </a:r>
                      <a:endParaRPr lang="en-IN" dirty="0">
                        <a:solidFill>
                          <a:srgbClr val="C00000"/>
                        </a:solidFill>
                      </a:endParaRPr>
                    </a:p>
                  </a:txBody>
                  <a:tcPr>
                    <a:solidFill>
                      <a:schemeClr val="bg1"/>
                    </a:solidFill>
                  </a:tcPr>
                </a:tc>
                <a:tc>
                  <a:txBody>
                    <a:bodyPr/>
                    <a:lstStyle/>
                    <a:p>
                      <a:r>
                        <a:rPr lang="en-IN" dirty="0" smtClean="0">
                          <a:solidFill>
                            <a:srgbClr val="C00000"/>
                          </a:solidFill>
                        </a:rPr>
                        <a:t>1</a:t>
                      </a:r>
                      <a:endParaRPr lang="en-IN" dirty="0">
                        <a:solidFill>
                          <a:srgbClr val="C00000"/>
                        </a:solidFill>
                      </a:endParaRPr>
                    </a:p>
                  </a:txBody>
                  <a:tcPr>
                    <a:solidFill>
                      <a:schemeClr val="bg1"/>
                    </a:solidFill>
                  </a:tcPr>
                </a:tc>
                <a:tc>
                  <a:txBody>
                    <a:bodyPr/>
                    <a:lstStyle/>
                    <a:p>
                      <a:r>
                        <a:rPr lang="en-IN" dirty="0" smtClean="0">
                          <a:solidFill>
                            <a:srgbClr val="C00000"/>
                          </a:solidFill>
                        </a:rPr>
                        <a:t>2</a:t>
                      </a:r>
                      <a:endParaRPr lang="en-IN" dirty="0">
                        <a:solidFill>
                          <a:srgbClr val="C00000"/>
                        </a:solidFill>
                      </a:endParaRPr>
                    </a:p>
                  </a:txBody>
                  <a:tcPr>
                    <a:solidFill>
                      <a:schemeClr val="bg1"/>
                    </a:solidFill>
                  </a:tcPr>
                </a:tc>
                <a:tc>
                  <a:txBody>
                    <a:bodyPr/>
                    <a:lstStyle/>
                    <a:p>
                      <a:r>
                        <a:rPr lang="en-IN" dirty="0" smtClean="0">
                          <a:solidFill>
                            <a:srgbClr val="C00000"/>
                          </a:solidFill>
                        </a:rPr>
                        <a:t>3</a:t>
                      </a:r>
                      <a:endParaRPr lang="en-IN" dirty="0">
                        <a:solidFill>
                          <a:srgbClr val="C00000"/>
                        </a:solidFill>
                      </a:endParaRPr>
                    </a:p>
                  </a:txBody>
                  <a:tcPr>
                    <a:solidFill>
                      <a:schemeClr val="bg1"/>
                    </a:solidFill>
                  </a:tcPr>
                </a:tc>
                <a:tc>
                  <a:txBody>
                    <a:bodyPr/>
                    <a:lstStyle/>
                    <a:p>
                      <a:r>
                        <a:rPr lang="en-IN" dirty="0" smtClean="0">
                          <a:solidFill>
                            <a:srgbClr val="C00000"/>
                          </a:solidFill>
                        </a:rPr>
                        <a:t>4</a:t>
                      </a:r>
                      <a:endParaRPr lang="en-IN" dirty="0">
                        <a:solidFill>
                          <a:srgbClr val="C00000"/>
                        </a:solidFill>
                      </a:endParaRPr>
                    </a:p>
                  </a:txBody>
                  <a:tcPr>
                    <a:solidFill>
                      <a:schemeClr val="bg1"/>
                    </a:solidFill>
                  </a:tcPr>
                </a:tc>
                <a:tc>
                  <a:txBody>
                    <a:bodyPr/>
                    <a:lstStyle/>
                    <a:p>
                      <a:r>
                        <a:rPr lang="en-IN" dirty="0" smtClean="0">
                          <a:solidFill>
                            <a:srgbClr val="C00000"/>
                          </a:solidFill>
                        </a:rPr>
                        <a:t>5</a:t>
                      </a:r>
                      <a:endParaRPr lang="en-IN" dirty="0">
                        <a:solidFill>
                          <a:srgbClr val="C00000"/>
                        </a:solidFill>
                      </a:endParaRPr>
                    </a:p>
                  </a:txBody>
                  <a:tcPr>
                    <a:solidFill>
                      <a:schemeClr val="bg1"/>
                    </a:solidFill>
                  </a:tcPr>
                </a:tc>
                <a:tc>
                  <a:txBody>
                    <a:bodyPr/>
                    <a:lstStyle/>
                    <a:p>
                      <a:r>
                        <a:rPr lang="en-IN" dirty="0" smtClean="0">
                          <a:solidFill>
                            <a:srgbClr val="C00000"/>
                          </a:solidFill>
                        </a:rPr>
                        <a:t>6</a:t>
                      </a:r>
                      <a:endParaRPr lang="en-IN" dirty="0">
                        <a:solidFill>
                          <a:srgbClr val="C00000"/>
                        </a:solidFill>
                      </a:endParaRPr>
                    </a:p>
                  </a:txBody>
                  <a:tcPr>
                    <a:solidFill>
                      <a:schemeClr val="bg1"/>
                    </a:solidFill>
                  </a:tcPr>
                </a:tc>
                <a:tc>
                  <a:txBody>
                    <a:bodyPr/>
                    <a:lstStyle/>
                    <a:p>
                      <a:r>
                        <a:rPr lang="en-IN" dirty="0" smtClean="0">
                          <a:solidFill>
                            <a:srgbClr val="C00000"/>
                          </a:solidFill>
                        </a:rPr>
                        <a:t>7</a:t>
                      </a:r>
                      <a:endParaRPr lang="en-IN" dirty="0">
                        <a:solidFill>
                          <a:srgbClr val="C00000"/>
                        </a:solidFill>
                      </a:endParaRPr>
                    </a:p>
                  </a:txBody>
                  <a:tcPr>
                    <a:solidFill>
                      <a:schemeClr val="bg1"/>
                    </a:solidFill>
                  </a:tcPr>
                </a:tc>
                <a:tc>
                  <a:txBody>
                    <a:bodyPr/>
                    <a:lstStyle/>
                    <a:p>
                      <a:r>
                        <a:rPr lang="en-IN" dirty="0" smtClean="0">
                          <a:solidFill>
                            <a:srgbClr val="C00000"/>
                          </a:solidFill>
                        </a:rPr>
                        <a:t>8</a:t>
                      </a:r>
                      <a:endParaRPr lang="en-IN" dirty="0">
                        <a:solidFill>
                          <a:srgbClr val="C00000"/>
                        </a:solidFill>
                      </a:endParaRPr>
                    </a:p>
                  </a:txBody>
                  <a:tcPr>
                    <a:solidFill>
                      <a:schemeClr val="bg1"/>
                    </a:solidFill>
                  </a:tcPr>
                </a:tc>
              </a:tr>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65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70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75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60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55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50</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45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9" name="TextBox 8"/>
          <p:cNvSpPr txBox="1"/>
          <p:nvPr/>
        </p:nvSpPr>
        <p:spPr>
          <a:xfrm>
            <a:off x="1015820" y="2945431"/>
            <a:ext cx="943583" cy="646331"/>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Index</a:t>
            </a:r>
          </a:p>
          <a:p>
            <a:endParaRPr lang="en-IN" dirty="0"/>
          </a:p>
        </p:txBody>
      </p:sp>
      <p:cxnSp>
        <p:nvCxnSpPr>
          <p:cNvPr id="10" name="Straight Arrow Connector 9"/>
          <p:cNvCxnSpPr/>
          <p:nvPr/>
        </p:nvCxnSpPr>
        <p:spPr>
          <a:xfrm flipV="1">
            <a:off x="1077790" y="3273903"/>
            <a:ext cx="852075" cy="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42682" y="3340179"/>
            <a:ext cx="1659615" cy="923330"/>
          </a:xfrm>
          <a:prstGeom prst="rect">
            <a:avLst/>
          </a:prstGeom>
          <a:noFill/>
        </p:spPr>
        <p:txBody>
          <a:bodyPr wrap="square" rtlCol="0">
            <a:spAutoFit/>
          </a:bodyPr>
          <a:lstStyle/>
          <a:p>
            <a:pPr algn="ctr"/>
            <a:r>
              <a:rPr lang="en-IN" b="1" dirty="0" smtClean="0">
                <a:solidFill>
                  <a:srgbClr val="002060"/>
                </a:solidFill>
                <a:latin typeface="Times New Roman" panose="02020603050405020304" pitchFamily="18" charset="0"/>
                <a:cs typeface="Times New Roman" panose="02020603050405020304" pitchFamily="18" charset="0"/>
              </a:rPr>
              <a:t>Array elements</a:t>
            </a:r>
            <a:endParaRPr lang="en-IN" b="1" dirty="0">
              <a:solidFill>
                <a:srgbClr val="002060"/>
              </a:solidFill>
              <a:latin typeface="Times New Roman" panose="02020603050405020304" pitchFamily="18" charset="0"/>
              <a:cs typeface="Times New Roman" panose="02020603050405020304" pitchFamily="18" charset="0"/>
            </a:endParaRPr>
          </a:p>
          <a:p>
            <a:endParaRPr lang="en-IN" dirty="0"/>
          </a:p>
        </p:txBody>
      </p:sp>
      <p:sp>
        <p:nvSpPr>
          <p:cNvPr id="12" name="TextBox 11"/>
          <p:cNvSpPr txBox="1"/>
          <p:nvPr/>
        </p:nvSpPr>
        <p:spPr>
          <a:xfrm>
            <a:off x="1487611" y="2662208"/>
            <a:ext cx="943583" cy="646331"/>
          </a:xfrm>
          <a:prstGeom prst="rect">
            <a:avLst/>
          </a:prstGeom>
          <a:noFill/>
        </p:spPr>
        <p:txBody>
          <a:bodyPr wrap="square" rtlCol="0">
            <a:spAutoFit/>
          </a:bodyPr>
          <a:lstStyle/>
          <a:p>
            <a:pPr algn="ctr"/>
            <a:r>
              <a:rPr lang="en-IN" b="1" dirty="0" smtClean="0">
                <a:solidFill>
                  <a:srgbClr val="002060"/>
                </a:solidFill>
                <a:latin typeface="Times New Roman" panose="02020603050405020304" pitchFamily="18" charset="0"/>
                <a:cs typeface="Times New Roman" panose="02020603050405020304" pitchFamily="18" charset="0"/>
              </a:rPr>
              <a:t>A</a:t>
            </a:r>
            <a:endParaRPr lang="en-IN" b="1" dirty="0">
              <a:solidFill>
                <a:srgbClr val="002060"/>
              </a:solidFill>
              <a:latin typeface="Times New Roman" panose="02020603050405020304" pitchFamily="18" charset="0"/>
              <a:cs typeface="Times New Roman" panose="02020603050405020304" pitchFamily="18" charset="0"/>
            </a:endParaRPr>
          </a:p>
          <a:p>
            <a:endParaRPr lang="en-IN" dirty="0"/>
          </a:p>
        </p:txBody>
      </p:sp>
      <p:sp>
        <p:nvSpPr>
          <p:cNvPr id="13" name="Date Placeholder 12"/>
          <p:cNvSpPr>
            <a:spLocks noGrp="1"/>
          </p:cNvSpPr>
          <p:nvPr>
            <p:ph type="dt" sz="half" idx="10"/>
          </p:nvPr>
        </p:nvSpPr>
        <p:spPr/>
        <p:txBody>
          <a:bodyPr/>
          <a:lstStyle/>
          <a:p>
            <a:fld id="{D6E1C25D-62F7-42BF-A600-8DCBF06409BD}" type="datetime1">
              <a:rPr lang="en-IN" smtClean="0"/>
              <a:t>21-03-2026</a:t>
            </a:fld>
            <a:endParaRPr lang="en-IN"/>
          </a:p>
        </p:txBody>
      </p:sp>
      <p:sp>
        <p:nvSpPr>
          <p:cNvPr id="14" name="TextBox 13"/>
          <p:cNvSpPr txBox="1"/>
          <p:nvPr/>
        </p:nvSpPr>
        <p:spPr>
          <a:xfrm>
            <a:off x="3274039" y="2108210"/>
            <a:ext cx="1832799" cy="923330"/>
          </a:xfrm>
          <a:prstGeom prst="rect">
            <a:avLst/>
          </a:prstGeom>
          <a:noFill/>
          <a:ln>
            <a:solidFill>
              <a:schemeClr val="accent1"/>
            </a:solidFill>
          </a:ln>
        </p:spPr>
        <p:txBody>
          <a:bodyPr wrap="square" rtlCol="0">
            <a:spAutoFit/>
          </a:bodyPr>
          <a:lstStyle/>
          <a:p>
            <a:r>
              <a:rPr lang="en-IN" dirty="0" smtClean="0"/>
              <a:t>l=0, r=7</a:t>
            </a:r>
          </a:p>
          <a:p>
            <a:r>
              <a:rPr lang="en-IN" dirty="0" err="1" smtClean="0"/>
              <a:t>i</a:t>
            </a:r>
            <a:r>
              <a:rPr lang="en-IN" dirty="0" smtClean="0"/>
              <a:t>=l </a:t>
            </a:r>
            <a:r>
              <a:rPr lang="en-IN" dirty="0" err="1" smtClean="0"/>
              <a:t>i.e</a:t>
            </a:r>
            <a:r>
              <a:rPr lang="en-IN" dirty="0" smtClean="0"/>
              <a:t> </a:t>
            </a:r>
            <a:r>
              <a:rPr lang="en-IN" dirty="0" err="1" smtClean="0"/>
              <a:t>i</a:t>
            </a:r>
            <a:r>
              <a:rPr lang="en-IN" dirty="0" smtClean="0"/>
              <a:t>=0</a:t>
            </a:r>
          </a:p>
          <a:p>
            <a:r>
              <a:rPr lang="en-IN" dirty="0" smtClean="0"/>
              <a:t>j=r+1</a:t>
            </a:r>
            <a:endParaRPr lang="en-IN" dirty="0"/>
          </a:p>
        </p:txBody>
      </p:sp>
    </p:spTree>
    <p:extLst>
      <p:ext uri="{BB962C8B-B14F-4D97-AF65-F5344CB8AC3E}">
        <p14:creationId xmlns:p14="http://schemas.microsoft.com/office/powerpoint/2010/main" val="65825793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77052" y="575591"/>
            <a:ext cx="11797552" cy="6046339"/>
          </a:xfrm>
        </p:spPr>
        <p:txBody>
          <a:bodyPr>
            <a:normAutofit/>
          </a:bodyPr>
          <a:lstStyle/>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177052" y="6564391"/>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65</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552665" y="1598530"/>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65</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1249381" y="952266"/>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5" name="TextBox 14"/>
          <p:cNvSpPr txBox="1"/>
          <p:nvPr/>
        </p:nvSpPr>
        <p:spPr>
          <a:xfrm>
            <a:off x="7045114" y="1057649"/>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8" name="TextBox 17"/>
          <p:cNvSpPr txBox="1"/>
          <p:nvPr/>
        </p:nvSpPr>
        <p:spPr>
          <a:xfrm>
            <a:off x="1258911" y="3407838"/>
            <a:ext cx="120482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70 &lt; 65</a:t>
            </a:r>
            <a:endParaRPr lang="en-IN" sz="1400" dirty="0"/>
          </a:p>
        </p:txBody>
      </p:sp>
      <p:sp>
        <p:nvSpPr>
          <p:cNvPr id="19" name="TextBox 18"/>
          <p:cNvSpPr txBox="1"/>
          <p:nvPr/>
        </p:nvSpPr>
        <p:spPr>
          <a:xfrm>
            <a:off x="1215267" y="2572381"/>
            <a:ext cx="715628"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21" name="TextBox 20"/>
          <p:cNvSpPr txBox="1"/>
          <p:nvPr/>
        </p:nvSpPr>
        <p:spPr>
          <a:xfrm>
            <a:off x="7173716" y="2433096"/>
            <a:ext cx="583136"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24" name="TextBox 23"/>
          <p:cNvSpPr txBox="1"/>
          <p:nvPr/>
        </p:nvSpPr>
        <p:spPr>
          <a:xfrm>
            <a:off x="1971329" y="4719114"/>
            <a:ext cx="943583" cy="584775"/>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75 &lt; 65</a:t>
            </a:r>
            <a:endParaRPr lang="en-IN"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sp>
        <p:nvSpPr>
          <p:cNvPr id="25" name="TextBox 24"/>
          <p:cNvSpPr txBox="1"/>
          <p:nvPr/>
        </p:nvSpPr>
        <p:spPr>
          <a:xfrm>
            <a:off x="2080919" y="4088709"/>
            <a:ext cx="66945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26" name="TextBox 25"/>
          <p:cNvSpPr txBox="1"/>
          <p:nvPr/>
        </p:nvSpPr>
        <p:spPr>
          <a:xfrm>
            <a:off x="6165846" y="4426727"/>
            <a:ext cx="943583" cy="584775"/>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50 &gt; 65</a:t>
            </a:r>
            <a:endParaRPr lang="en-IN"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cxnSp>
        <p:nvCxnSpPr>
          <p:cNvPr id="28" name="Straight Connector 27"/>
          <p:cNvCxnSpPr/>
          <p:nvPr/>
        </p:nvCxnSpPr>
        <p:spPr>
          <a:xfrm flipH="1">
            <a:off x="6576952" y="4538380"/>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286700" y="4032341"/>
            <a:ext cx="580504"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40" name="TextBox 39"/>
          <p:cNvSpPr txBox="1"/>
          <p:nvPr/>
        </p:nvSpPr>
        <p:spPr>
          <a:xfrm>
            <a:off x="8742921" y="1296681"/>
            <a:ext cx="3231683" cy="1015663"/>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65 First element is pivot </a:t>
            </a:r>
          </a:p>
          <a:p>
            <a:pPr algn="just"/>
            <a:r>
              <a:rPr lang="en-IN" sz="1400" b="1" dirty="0" smtClean="0">
                <a:solidFill>
                  <a:srgbClr val="FF0000"/>
                </a:solidFill>
                <a:latin typeface="Times New Roman" panose="02020603050405020304" pitchFamily="18" charset="0"/>
                <a:cs typeface="Times New Roman" panose="02020603050405020304" pitchFamily="18" charset="0"/>
              </a:rPr>
              <a:t>Increment I and decrement j.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points to second element and j to last element</a:t>
            </a:r>
          </a:p>
          <a:p>
            <a:endParaRPr lang="en-IN" dirty="0"/>
          </a:p>
        </p:txBody>
      </p:sp>
      <p:sp>
        <p:nvSpPr>
          <p:cNvPr id="41" name="TextBox 40"/>
          <p:cNvSpPr txBox="1"/>
          <p:nvPr/>
        </p:nvSpPr>
        <p:spPr>
          <a:xfrm>
            <a:off x="8220108" y="2579393"/>
            <a:ext cx="3647819" cy="1015663"/>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70 is not less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65, so no change in i</a:t>
            </a:r>
          </a:p>
          <a:p>
            <a:pPr algn="just"/>
            <a:r>
              <a:rPr lang="en-IN" sz="1400" b="1" dirty="0" smtClean="0">
                <a:solidFill>
                  <a:srgbClr val="FF0000"/>
                </a:solidFill>
                <a:latin typeface="Times New Roman" panose="02020603050405020304" pitchFamily="18" charset="0"/>
                <a:cs typeface="Times New Roman" panose="02020603050405020304" pitchFamily="18" charset="0"/>
              </a:rPr>
              <a:t>45 is not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65, so no </a:t>
            </a:r>
            <a:r>
              <a:rPr lang="en-IN" sz="1400" b="1" dirty="0">
                <a:solidFill>
                  <a:srgbClr val="FF0000"/>
                </a:solidFill>
                <a:latin typeface="Times New Roman" panose="02020603050405020304" pitchFamily="18" charset="0"/>
                <a:cs typeface="Times New Roman" panose="02020603050405020304" pitchFamily="18" charset="0"/>
              </a:rPr>
              <a:t>change in </a:t>
            </a:r>
            <a:r>
              <a:rPr lang="en-IN" sz="1400" b="1" dirty="0" smtClean="0">
                <a:solidFill>
                  <a:srgbClr val="FF0000"/>
                </a:solidFill>
                <a:latin typeface="Times New Roman" panose="02020603050405020304" pitchFamily="18" charset="0"/>
                <a:cs typeface="Times New Roman" panose="02020603050405020304" pitchFamily="18" charset="0"/>
              </a:rPr>
              <a:t>j, </a:t>
            </a:r>
          </a:p>
          <a:p>
            <a:pPr algn="just"/>
            <a:r>
              <a:rPr lang="en-IN" sz="1400" b="1" dirty="0" err="1" smtClean="0">
                <a:solidFill>
                  <a:srgbClr val="002060"/>
                </a:solidFill>
                <a:latin typeface="Times New Roman" panose="02020603050405020304" pitchFamily="18" charset="0"/>
                <a:cs typeface="Times New Roman" panose="02020603050405020304" pitchFamily="18" charset="0"/>
              </a:rPr>
              <a:t>i</a:t>
            </a:r>
            <a:r>
              <a:rPr lang="en-IN" sz="1400" b="1" dirty="0" smtClean="0">
                <a:solidFill>
                  <a:srgbClr val="002060"/>
                </a:solidFill>
                <a:latin typeface="Times New Roman" panose="02020603050405020304" pitchFamily="18" charset="0"/>
                <a:cs typeface="Times New Roman" panose="02020603050405020304" pitchFamily="18" charset="0"/>
              </a:rPr>
              <a:t>&lt;j, </a:t>
            </a:r>
            <a:r>
              <a:rPr lang="en-IN" sz="1400" b="1" dirty="0" smtClean="0">
                <a:solidFill>
                  <a:srgbClr val="FF0000"/>
                </a:solidFill>
                <a:latin typeface="Times New Roman" panose="02020603050405020304" pitchFamily="18" charset="0"/>
                <a:cs typeface="Times New Roman" panose="02020603050405020304" pitchFamily="18" charset="0"/>
              </a:rPr>
              <a:t>swap </a:t>
            </a:r>
            <a:r>
              <a:rPr lang="en-IN" sz="1400" b="1" dirty="0" smtClean="0">
                <a:solidFill>
                  <a:srgbClr val="002060"/>
                </a:solidFill>
                <a:latin typeface="Times New Roman" panose="02020603050405020304" pitchFamily="18" charset="0"/>
                <a:cs typeface="Times New Roman" panose="02020603050405020304" pitchFamily="18" charset="0"/>
              </a:rPr>
              <a:t>A[</a:t>
            </a:r>
            <a:r>
              <a:rPr lang="en-IN" sz="1400" b="1" dirty="0" err="1" smtClean="0">
                <a:solidFill>
                  <a:srgbClr val="002060"/>
                </a:solidFill>
                <a:latin typeface="Times New Roman" panose="02020603050405020304" pitchFamily="18" charset="0"/>
                <a:cs typeface="Times New Roman" panose="02020603050405020304" pitchFamily="18" charset="0"/>
              </a:rPr>
              <a:t>i</a:t>
            </a:r>
            <a:r>
              <a:rPr lang="en-IN" sz="1400" b="1" dirty="0" smtClean="0">
                <a:solidFill>
                  <a:srgbClr val="002060"/>
                </a:solidFill>
                <a:latin typeface="Times New Roman" panose="02020603050405020304" pitchFamily="18" charset="0"/>
                <a:cs typeface="Times New Roman" panose="02020603050405020304" pitchFamily="18" charset="0"/>
              </a:rPr>
              <a:t>] and A[j],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and  j--</a:t>
            </a:r>
          </a:p>
          <a:p>
            <a:endParaRPr lang="en-IN" dirty="0"/>
          </a:p>
        </p:txBody>
      </p:sp>
      <p:graphicFrame>
        <p:nvGraphicFramePr>
          <p:cNvPr id="42" name="Table 41"/>
          <p:cNvGraphicFramePr>
            <a:graphicFrameLocks noGrp="1"/>
          </p:cNvGraphicFramePr>
          <p:nvPr>
            <p:extLst>
              <p:ext uri="{D42A27DB-BD31-4B8C-83A1-F6EECF244321}">
                <p14:modId xmlns:p14="http://schemas.microsoft.com/office/powerpoint/2010/main" val="2707926231"/>
              </p:ext>
            </p:extLst>
          </p:nvPr>
        </p:nvGraphicFramePr>
        <p:xfrm>
          <a:off x="1407546" y="1580062"/>
          <a:ext cx="6660688" cy="370840"/>
        </p:xfrm>
        <a:graphic>
          <a:graphicData uri="http://schemas.openxmlformats.org/drawingml/2006/table">
            <a:tbl>
              <a:tblPr firstRow="1" bandRow="1">
                <a:tableStyleId>{5C22544A-7EE6-4342-B048-85BDC9FD1C3A}</a:tableStyleId>
              </a:tblPr>
              <a:tblGrid>
                <a:gridCol w="832586"/>
                <a:gridCol w="832586"/>
                <a:gridCol w="832586"/>
                <a:gridCol w="832586"/>
                <a:gridCol w="832586"/>
                <a:gridCol w="832586"/>
                <a:gridCol w="832586"/>
                <a:gridCol w="832586"/>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70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75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60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55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50</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45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cxnSp>
        <p:nvCxnSpPr>
          <p:cNvPr id="46" name="Straight Arrow Connector 45"/>
          <p:cNvCxnSpPr/>
          <p:nvPr/>
        </p:nvCxnSpPr>
        <p:spPr>
          <a:xfrm flipV="1">
            <a:off x="854556" y="2039796"/>
            <a:ext cx="0" cy="24442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42777" y="2203600"/>
            <a:ext cx="943583"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pivot</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48" name="Straight Connector 47"/>
          <p:cNvCxnSpPr/>
          <p:nvPr/>
        </p:nvCxnSpPr>
        <p:spPr>
          <a:xfrm flipH="1">
            <a:off x="1814162" y="3469515"/>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82229" y="2955825"/>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65</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0" name="Table 49"/>
          <p:cNvGraphicFramePr>
            <a:graphicFrameLocks noGrp="1"/>
          </p:cNvGraphicFramePr>
          <p:nvPr>
            <p:extLst>
              <p:ext uri="{D42A27DB-BD31-4B8C-83A1-F6EECF244321}">
                <p14:modId xmlns:p14="http://schemas.microsoft.com/office/powerpoint/2010/main" val="2680255960"/>
              </p:ext>
            </p:extLst>
          </p:nvPr>
        </p:nvGraphicFramePr>
        <p:xfrm>
          <a:off x="1445007" y="2967522"/>
          <a:ext cx="6660688" cy="370840"/>
        </p:xfrm>
        <a:graphic>
          <a:graphicData uri="http://schemas.openxmlformats.org/drawingml/2006/table">
            <a:tbl>
              <a:tblPr firstRow="1" bandRow="1">
                <a:tableStyleId>{5C22544A-7EE6-4342-B048-85BDC9FD1C3A}</a:tableStyleId>
              </a:tblPr>
              <a:tblGrid>
                <a:gridCol w="832586"/>
                <a:gridCol w="832586"/>
                <a:gridCol w="832586"/>
                <a:gridCol w="832586"/>
                <a:gridCol w="832586"/>
                <a:gridCol w="832586"/>
                <a:gridCol w="832586"/>
                <a:gridCol w="832586"/>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70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75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60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55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50</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45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51" name="TextBox 50"/>
          <p:cNvSpPr txBox="1"/>
          <p:nvPr/>
        </p:nvSpPr>
        <p:spPr>
          <a:xfrm>
            <a:off x="7045114" y="3191111"/>
            <a:ext cx="1108999" cy="461665"/>
          </a:xfrm>
          <a:prstGeom prst="rect">
            <a:avLst/>
          </a:prstGeom>
          <a:noFill/>
        </p:spPr>
        <p:txBody>
          <a:bodyPr wrap="square" rtlCol="0">
            <a:spAutoFit/>
          </a:bodyPr>
          <a:lstStyle/>
          <a:p>
            <a:pPr algn="ctr"/>
            <a:r>
              <a:rPr lang="en-IN" sz="2000" b="1" dirty="0" smtClean="0">
                <a:solidFill>
                  <a:srgbClr val="FF0000"/>
                </a:solidFill>
                <a:latin typeface="Times New Roman" panose="02020603050405020304" pitchFamily="18" charset="0"/>
                <a:cs typeface="Times New Roman" panose="02020603050405020304" pitchFamily="18" charset="0"/>
              </a:rPr>
              <a:t>45</a:t>
            </a:r>
            <a:r>
              <a:rPr lang="en-IN" sz="2400" b="1" dirty="0" smtClean="0">
                <a:solidFill>
                  <a:srgbClr val="FF0000"/>
                </a:solidFill>
                <a:latin typeface="Times New Roman" panose="02020603050405020304" pitchFamily="18" charset="0"/>
                <a:cs typeface="Times New Roman" panose="02020603050405020304" pitchFamily="18" charset="0"/>
              </a:rPr>
              <a:t> &gt; </a:t>
            </a:r>
            <a:r>
              <a:rPr lang="en-IN" sz="2000" b="1" dirty="0" smtClean="0">
                <a:solidFill>
                  <a:srgbClr val="FF0000"/>
                </a:solidFill>
                <a:latin typeface="Times New Roman" panose="02020603050405020304" pitchFamily="18" charset="0"/>
                <a:cs typeface="Times New Roman" panose="02020603050405020304" pitchFamily="18" charset="0"/>
              </a:rPr>
              <a:t>65</a:t>
            </a:r>
            <a:endParaRPr lang="en-IN" dirty="0"/>
          </a:p>
        </p:txBody>
      </p:sp>
      <p:cxnSp>
        <p:nvCxnSpPr>
          <p:cNvPr id="52" name="Straight Connector 51"/>
          <p:cNvCxnSpPr/>
          <p:nvPr/>
        </p:nvCxnSpPr>
        <p:spPr>
          <a:xfrm flipH="1">
            <a:off x="7458539" y="3355678"/>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53" name="Table 52"/>
          <p:cNvGraphicFramePr>
            <a:graphicFrameLocks noGrp="1"/>
          </p:cNvGraphicFramePr>
          <p:nvPr>
            <p:extLst>
              <p:ext uri="{D42A27DB-BD31-4B8C-83A1-F6EECF244321}">
                <p14:modId xmlns:p14="http://schemas.microsoft.com/office/powerpoint/2010/main" val="231038770"/>
              </p:ext>
            </p:extLst>
          </p:nvPr>
        </p:nvGraphicFramePr>
        <p:xfrm>
          <a:off x="1391188" y="4417358"/>
          <a:ext cx="6660688" cy="370840"/>
        </p:xfrm>
        <a:graphic>
          <a:graphicData uri="http://schemas.openxmlformats.org/drawingml/2006/table">
            <a:tbl>
              <a:tblPr firstRow="1" bandRow="1">
                <a:tableStyleId>{5C22544A-7EE6-4342-B048-85BDC9FD1C3A}</a:tableStyleId>
              </a:tblPr>
              <a:tblGrid>
                <a:gridCol w="832586"/>
                <a:gridCol w="832586"/>
                <a:gridCol w="832586"/>
                <a:gridCol w="832586"/>
                <a:gridCol w="832586"/>
                <a:gridCol w="832586"/>
                <a:gridCol w="832586"/>
                <a:gridCol w="832586"/>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45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75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60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55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50</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70</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54" name="Rectangle 53"/>
          <p:cNvSpPr/>
          <p:nvPr/>
        </p:nvSpPr>
        <p:spPr>
          <a:xfrm>
            <a:off x="482229" y="4494006"/>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65</a:t>
            </a:r>
            <a:endParaRPr lang="en-IN" sz="2400" b="1" dirty="0">
              <a:solidFill>
                <a:srgbClr val="FF0000"/>
              </a:solidFill>
              <a:latin typeface="Times New Roman" panose="02020603050405020304" pitchFamily="18" charset="0"/>
              <a:cs typeface="Times New Roman" panose="02020603050405020304" pitchFamily="18" charset="0"/>
            </a:endParaRPr>
          </a:p>
        </p:txBody>
      </p:sp>
      <p:cxnSp>
        <p:nvCxnSpPr>
          <p:cNvPr id="55" name="Straight Connector 54"/>
          <p:cNvCxnSpPr/>
          <p:nvPr/>
        </p:nvCxnSpPr>
        <p:spPr>
          <a:xfrm flipH="1">
            <a:off x="2405365" y="4800957"/>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6197935" y="4706721"/>
            <a:ext cx="1108999" cy="461665"/>
          </a:xfrm>
          <a:prstGeom prst="rect">
            <a:avLst/>
          </a:prstGeom>
          <a:noFill/>
        </p:spPr>
        <p:txBody>
          <a:bodyPr wrap="square" rtlCol="0">
            <a:spAutoFit/>
          </a:bodyPr>
          <a:lstStyle/>
          <a:p>
            <a:pPr algn="ctr"/>
            <a:r>
              <a:rPr lang="en-IN" sz="2000" b="1" dirty="0" smtClean="0">
                <a:solidFill>
                  <a:srgbClr val="FF0000"/>
                </a:solidFill>
                <a:latin typeface="Times New Roman" panose="02020603050405020304" pitchFamily="18" charset="0"/>
                <a:cs typeface="Times New Roman" panose="02020603050405020304" pitchFamily="18" charset="0"/>
              </a:rPr>
              <a:t>50</a:t>
            </a:r>
            <a:r>
              <a:rPr lang="en-IN" sz="2400" b="1" dirty="0" smtClean="0">
                <a:solidFill>
                  <a:srgbClr val="FF0000"/>
                </a:solidFill>
                <a:latin typeface="Times New Roman" panose="02020603050405020304" pitchFamily="18" charset="0"/>
                <a:cs typeface="Times New Roman" panose="02020603050405020304" pitchFamily="18" charset="0"/>
              </a:rPr>
              <a:t> &gt; </a:t>
            </a:r>
            <a:r>
              <a:rPr lang="en-IN" sz="2000" b="1" dirty="0" smtClean="0">
                <a:solidFill>
                  <a:srgbClr val="FF0000"/>
                </a:solidFill>
                <a:latin typeface="Times New Roman" panose="02020603050405020304" pitchFamily="18" charset="0"/>
                <a:cs typeface="Times New Roman" panose="02020603050405020304" pitchFamily="18" charset="0"/>
              </a:rPr>
              <a:t>65</a:t>
            </a:r>
            <a:endParaRPr lang="en-IN" dirty="0"/>
          </a:p>
        </p:txBody>
      </p:sp>
      <p:cxnSp>
        <p:nvCxnSpPr>
          <p:cNvPr id="57" name="Straight Connector 56"/>
          <p:cNvCxnSpPr/>
          <p:nvPr/>
        </p:nvCxnSpPr>
        <p:spPr>
          <a:xfrm flipH="1">
            <a:off x="6693684" y="4838919"/>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8302304" y="4076219"/>
            <a:ext cx="3539787" cy="1015663"/>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75 is not less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65, so no change in i</a:t>
            </a:r>
          </a:p>
          <a:p>
            <a:pPr algn="just"/>
            <a:r>
              <a:rPr lang="en-IN" sz="1400" b="1" dirty="0" smtClean="0">
                <a:solidFill>
                  <a:srgbClr val="FF0000"/>
                </a:solidFill>
                <a:latin typeface="Times New Roman" panose="02020603050405020304" pitchFamily="18" charset="0"/>
                <a:cs typeface="Times New Roman" panose="02020603050405020304" pitchFamily="18" charset="0"/>
              </a:rPr>
              <a:t>50 is not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65, so </a:t>
            </a:r>
            <a:r>
              <a:rPr lang="en-IN" sz="1400" b="1" dirty="0">
                <a:solidFill>
                  <a:srgbClr val="FF0000"/>
                </a:solidFill>
                <a:latin typeface="Times New Roman" panose="02020603050405020304" pitchFamily="18" charset="0"/>
                <a:cs typeface="Times New Roman" panose="02020603050405020304" pitchFamily="18" charset="0"/>
              </a:rPr>
              <a:t>no change in </a:t>
            </a:r>
            <a:r>
              <a:rPr lang="en-IN" sz="1400" b="1" dirty="0" smtClean="0">
                <a:solidFill>
                  <a:srgbClr val="FF0000"/>
                </a:solidFill>
                <a:latin typeface="Times New Roman" panose="02020603050405020304" pitchFamily="18" charset="0"/>
                <a:cs typeface="Times New Roman" panose="02020603050405020304" pitchFamily="18" charset="0"/>
              </a:rPr>
              <a:t>j, </a:t>
            </a:r>
          </a:p>
          <a:p>
            <a:pPr algn="just"/>
            <a:r>
              <a:rPr lang="en-IN" sz="1400" b="1" dirty="0" err="1" smtClean="0">
                <a:solidFill>
                  <a:srgbClr val="002060"/>
                </a:solidFill>
                <a:latin typeface="Times New Roman" panose="02020603050405020304" pitchFamily="18" charset="0"/>
                <a:cs typeface="Times New Roman" panose="02020603050405020304" pitchFamily="18" charset="0"/>
              </a:rPr>
              <a:t>i</a:t>
            </a:r>
            <a:r>
              <a:rPr lang="en-IN" sz="1400" b="1" dirty="0" smtClean="0">
                <a:solidFill>
                  <a:srgbClr val="002060"/>
                </a:solidFill>
                <a:latin typeface="Times New Roman" panose="02020603050405020304" pitchFamily="18" charset="0"/>
                <a:cs typeface="Times New Roman" panose="02020603050405020304" pitchFamily="18" charset="0"/>
              </a:rPr>
              <a:t>&lt;j, </a:t>
            </a:r>
            <a:r>
              <a:rPr lang="en-IN" sz="1400" b="1" dirty="0" smtClean="0">
                <a:solidFill>
                  <a:srgbClr val="FF0000"/>
                </a:solidFill>
                <a:latin typeface="Times New Roman" panose="02020603050405020304" pitchFamily="18" charset="0"/>
                <a:cs typeface="Times New Roman" panose="02020603050405020304" pitchFamily="18" charset="0"/>
              </a:rPr>
              <a:t>swap </a:t>
            </a:r>
            <a:r>
              <a:rPr lang="en-IN" sz="1400" b="1" dirty="0" smtClean="0">
                <a:solidFill>
                  <a:srgbClr val="002060"/>
                </a:solidFill>
                <a:latin typeface="Times New Roman" panose="02020603050405020304" pitchFamily="18" charset="0"/>
                <a:cs typeface="Times New Roman" panose="02020603050405020304" pitchFamily="18" charset="0"/>
              </a:rPr>
              <a:t>A[</a:t>
            </a:r>
            <a:r>
              <a:rPr lang="en-IN" sz="1400" b="1" dirty="0" err="1" smtClean="0">
                <a:solidFill>
                  <a:srgbClr val="002060"/>
                </a:solidFill>
                <a:latin typeface="Times New Roman" panose="02020603050405020304" pitchFamily="18" charset="0"/>
                <a:cs typeface="Times New Roman" panose="02020603050405020304" pitchFamily="18" charset="0"/>
              </a:rPr>
              <a:t>i</a:t>
            </a:r>
            <a:r>
              <a:rPr lang="en-IN" sz="1400" b="1" dirty="0" smtClean="0">
                <a:solidFill>
                  <a:srgbClr val="002060"/>
                </a:solidFill>
                <a:latin typeface="Times New Roman" panose="02020603050405020304" pitchFamily="18" charset="0"/>
                <a:cs typeface="Times New Roman" panose="02020603050405020304" pitchFamily="18" charset="0"/>
              </a:rPr>
              <a:t>] and A[j],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and  j--</a:t>
            </a:r>
          </a:p>
          <a:p>
            <a:endParaRPr lang="en-IN" dirty="0"/>
          </a:p>
        </p:txBody>
      </p:sp>
      <p:sp>
        <p:nvSpPr>
          <p:cNvPr id="60" name="Rectangle 59"/>
          <p:cNvSpPr/>
          <p:nvPr/>
        </p:nvSpPr>
        <p:spPr>
          <a:xfrm>
            <a:off x="472410" y="5904156"/>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65</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61" name="Table 60"/>
          <p:cNvGraphicFramePr>
            <a:graphicFrameLocks noGrp="1"/>
          </p:cNvGraphicFramePr>
          <p:nvPr>
            <p:extLst>
              <p:ext uri="{D42A27DB-BD31-4B8C-83A1-F6EECF244321}">
                <p14:modId xmlns:p14="http://schemas.microsoft.com/office/powerpoint/2010/main" val="1637010084"/>
              </p:ext>
            </p:extLst>
          </p:nvPr>
        </p:nvGraphicFramePr>
        <p:xfrm>
          <a:off x="1418082" y="5831014"/>
          <a:ext cx="6660688" cy="370840"/>
        </p:xfrm>
        <a:graphic>
          <a:graphicData uri="http://schemas.openxmlformats.org/drawingml/2006/table">
            <a:tbl>
              <a:tblPr firstRow="1" bandRow="1">
                <a:tableStyleId>{5C22544A-7EE6-4342-B048-85BDC9FD1C3A}</a:tableStyleId>
              </a:tblPr>
              <a:tblGrid>
                <a:gridCol w="832586"/>
                <a:gridCol w="832586"/>
                <a:gridCol w="832586"/>
                <a:gridCol w="832586"/>
                <a:gridCol w="832586"/>
                <a:gridCol w="832586"/>
                <a:gridCol w="832586"/>
                <a:gridCol w="832586"/>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45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50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60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55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70</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62" name="TextBox 61"/>
          <p:cNvSpPr txBox="1"/>
          <p:nvPr/>
        </p:nvSpPr>
        <p:spPr>
          <a:xfrm>
            <a:off x="2919792" y="5472629"/>
            <a:ext cx="66945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63" name="TextBox 62"/>
          <p:cNvSpPr txBox="1"/>
          <p:nvPr/>
        </p:nvSpPr>
        <p:spPr>
          <a:xfrm>
            <a:off x="5536265" y="5404723"/>
            <a:ext cx="580504"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64" name="TextBox 63"/>
          <p:cNvSpPr txBox="1"/>
          <p:nvPr/>
        </p:nvSpPr>
        <p:spPr>
          <a:xfrm>
            <a:off x="2782726" y="6190812"/>
            <a:ext cx="943583" cy="584775"/>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80 &lt; 65</a:t>
            </a:r>
            <a:endParaRPr lang="en-IN"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sp>
        <p:nvSpPr>
          <p:cNvPr id="65" name="TextBox 64"/>
          <p:cNvSpPr txBox="1"/>
          <p:nvPr/>
        </p:nvSpPr>
        <p:spPr>
          <a:xfrm>
            <a:off x="5467953" y="6041935"/>
            <a:ext cx="1108999" cy="461665"/>
          </a:xfrm>
          <a:prstGeom prst="rect">
            <a:avLst/>
          </a:prstGeom>
          <a:noFill/>
        </p:spPr>
        <p:txBody>
          <a:bodyPr wrap="square" rtlCol="0">
            <a:spAutoFit/>
          </a:bodyPr>
          <a:lstStyle/>
          <a:p>
            <a:pPr algn="ctr"/>
            <a:r>
              <a:rPr lang="en-IN" sz="2000" b="1" dirty="0" smtClean="0">
                <a:solidFill>
                  <a:srgbClr val="FF0000"/>
                </a:solidFill>
                <a:latin typeface="Times New Roman" panose="02020603050405020304" pitchFamily="18" charset="0"/>
                <a:cs typeface="Times New Roman" panose="02020603050405020304" pitchFamily="18" charset="0"/>
              </a:rPr>
              <a:t>55</a:t>
            </a:r>
            <a:r>
              <a:rPr lang="en-IN" sz="2400" b="1" dirty="0" smtClean="0">
                <a:solidFill>
                  <a:srgbClr val="FF0000"/>
                </a:solidFill>
                <a:latin typeface="Times New Roman" panose="02020603050405020304" pitchFamily="18" charset="0"/>
                <a:cs typeface="Times New Roman" panose="02020603050405020304" pitchFamily="18" charset="0"/>
              </a:rPr>
              <a:t> &gt; </a:t>
            </a:r>
            <a:r>
              <a:rPr lang="en-IN" sz="2000" b="1" dirty="0" smtClean="0">
                <a:solidFill>
                  <a:srgbClr val="FF0000"/>
                </a:solidFill>
                <a:latin typeface="Times New Roman" panose="02020603050405020304" pitchFamily="18" charset="0"/>
                <a:cs typeface="Times New Roman" panose="02020603050405020304" pitchFamily="18" charset="0"/>
              </a:rPr>
              <a:t>65</a:t>
            </a:r>
            <a:endParaRPr lang="en-IN" dirty="0"/>
          </a:p>
        </p:txBody>
      </p:sp>
      <p:cxnSp>
        <p:nvCxnSpPr>
          <p:cNvPr id="66" name="Straight Connector 65"/>
          <p:cNvCxnSpPr/>
          <p:nvPr/>
        </p:nvCxnSpPr>
        <p:spPr>
          <a:xfrm flipH="1">
            <a:off x="3196151" y="6256805"/>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H="1">
            <a:off x="5959096" y="6190812"/>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8243042" y="5339845"/>
            <a:ext cx="3539787" cy="1015663"/>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80 is not less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65, so no change in i</a:t>
            </a:r>
          </a:p>
          <a:p>
            <a:pPr algn="just"/>
            <a:r>
              <a:rPr lang="en-IN" sz="1400" b="1" dirty="0" smtClean="0">
                <a:solidFill>
                  <a:srgbClr val="FF0000"/>
                </a:solidFill>
                <a:latin typeface="Times New Roman" panose="02020603050405020304" pitchFamily="18" charset="0"/>
                <a:cs typeface="Times New Roman" panose="02020603050405020304" pitchFamily="18" charset="0"/>
              </a:rPr>
              <a:t>55 is not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65, so </a:t>
            </a:r>
            <a:r>
              <a:rPr lang="en-IN" sz="1400" b="1" dirty="0">
                <a:solidFill>
                  <a:srgbClr val="FF0000"/>
                </a:solidFill>
                <a:latin typeface="Times New Roman" panose="02020603050405020304" pitchFamily="18" charset="0"/>
                <a:cs typeface="Times New Roman" panose="02020603050405020304" pitchFamily="18" charset="0"/>
              </a:rPr>
              <a:t>no change in </a:t>
            </a:r>
            <a:r>
              <a:rPr lang="en-IN" sz="1400" b="1" dirty="0" smtClean="0">
                <a:solidFill>
                  <a:srgbClr val="FF0000"/>
                </a:solidFill>
                <a:latin typeface="Times New Roman" panose="02020603050405020304" pitchFamily="18" charset="0"/>
                <a:cs typeface="Times New Roman" panose="02020603050405020304" pitchFamily="18" charset="0"/>
              </a:rPr>
              <a:t>j, </a:t>
            </a:r>
          </a:p>
          <a:p>
            <a:pPr algn="just"/>
            <a:r>
              <a:rPr lang="en-IN" sz="1400" b="1" dirty="0" err="1" smtClean="0">
                <a:solidFill>
                  <a:srgbClr val="002060"/>
                </a:solidFill>
                <a:latin typeface="Times New Roman" panose="02020603050405020304" pitchFamily="18" charset="0"/>
                <a:cs typeface="Times New Roman" panose="02020603050405020304" pitchFamily="18" charset="0"/>
              </a:rPr>
              <a:t>i</a:t>
            </a:r>
            <a:r>
              <a:rPr lang="en-IN" sz="1400" b="1" dirty="0" smtClean="0">
                <a:solidFill>
                  <a:srgbClr val="002060"/>
                </a:solidFill>
                <a:latin typeface="Times New Roman" panose="02020603050405020304" pitchFamily="18" charset="0"/>
                <a:cs typeface="Times New Roman" panose="02020603050405020304" pitchFamily="18" charset="0"/>
              </a:rPr>
              <a:t>&lt;j, </a:t>
            </a:r>
            <a:r>
              <a:rPr lang="en-IN" sz="1400" b="1" dirty="0" smtClean="0">
                <a:solidFill>
                  <a:srgbClr val="FF0000"/>
                </a:solidFill>
                <a:latin typeface="Times New Roman" panose="02020603050405020304" pitchFamily="18" charset="0"/>
                <a:cs typeface="Times New Roman" panose="02020603050405020304" pitchFamily="18" charset="0"/>
              </a:rPr>
              <a:t>swap </a:t>
            </a:r>
            <a:r>
              <a:rPr lang="en-IN" sz="1400" b="1" dirty="0" smtClean="0">
                <a:solidFill>
                  <a:srgbClr val="002060"/>
                </a:solidFill>
                <a:latin typeface="Times New Roman" panose="02020603050405020304" pitchFamily="18" charset="0"/>
                <a:cs typeface="Times New Roman" panose="02020603050405020304" pitchFamily="18" charset="0"/>
              </a:rPr>
              <a:t>A[</a:t>
            </a:r>
            <a:r>
              <a:rPr lang="en-IN" sz="1400" b="1" dirty="0" err="1" smtClean="0">
                <a:solidFill>
                  <a:srgbClr val="002060"/>
                </a:solidFill>
                <a:latin typeface="Times New Roman" panose="02020603050405020304" pitchFamily="18" charset="0"/>
                <a:cs typeface="Times New Roman" panose="02020603050405020304" pitchFamily="18" charset="0"/>
              </a:rPr>
              <a:t>i</a:t>
            </a:r>
            <a:r>
              <a:rPr lang="en-IN" sz="1400" b="1" dirty="0" smtClean="0">
                <a:solidFill>
                  <a:srgbClr val="002060"/>
                </a:solidFill>
                <a:latin typeface="Times New Roman" panose="02020603050405020304" pitchFamily="18" charset="0"/>
                <a:cs typeface="Times New Roman" panose="02020603050405020304" pitchFamily="18" charset="0"/>
              </a:rPr>
              <a:t>] and A[j],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and j--</a:t>
            </a:r>
          </a:p>
          <a:p>
            <a:endParaRPr lang="en-IN" dirty="0"/>
          </a:p>
        </p:txBody>
      </p:sp>
      <p:sp>
        <p:nvSpPr>
          <p:cNvPr id="6" name="Date Placeholder 5"/>
          <p:cNvSpPr>
            <a:spLocks noGrp="1"/>
          </p:cNvSpPr>
          <p:nvPr>
            <p:ph type="dt" sz="half" idx="10"/>
          </p:nvPr>
        </p:nvSpPr>
        <p:spPr/>
        <p:txBody>
          <a:bodyPr/>
          <a:lstStyle/>
          <a:p>
            <a:fld id="{BF078A34-99FE-4F56-887A-797657B844B9}" type="datetime1">
              <a:rPr lang="en-IN" smtClean="0"/>
              <a:t>21-03-2026</a:t>
            </a:fld>
            <a:endParaRPr lang="en-IN"/>
          </a:p>
        </p:txBody>
      </p:sp>
    </p:spTree>
    <p:extLst>
      <p:ext uri="{BB962C8B-B14F-4D97-AF65-F5344CB8AC3E}">
        <p14:creationId xmlns:p14="http://schemas.microsoft.com/office/powerpoint/2010/main" val="389660185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77052" y="575591"/>
            <a:ext cx="11797552" cy="6046339"/>
          </a:xfrm>
        </p:spPr>
        <p:txBody>
          <a:bodyPr>
            <a:normAutofit/>
          </a:bodyPr>
          <a:lstStyle/>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177052" y="6564391"/>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66</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552665" y="1598530"/>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65</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3726309" y="1190853"/>
            <a:ext cx="68151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15" name="TextBox 14"/>
          <p:cNvSpPr txBox="1"/>
          <p:nvPr/>
        </p:nvSpPr>
        <p:spPr>
          <a:xfrm>
            <a:off x="4705704" y="1190853"/>
            <a:ext cx="530157"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18" name="TextBox 17"/>
          <p:cNvSpPr txBox="1"/>
          <p:nvPr/>
        </p:nvSpPr>
        <p:spPr>
          <a:xfrm>
            <a:off x="3458687" y="1971596"/>
            <a:ext cx="120482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85 &lt; 65</a:t>
            </a:r>
            <a:endParaRPr lang="en-IN" sz="1400" dirty="0"/>
          </a:p>
        </p:txBody>
      </p:sp>
      <p:sp>
        <p:nvSpPr>
          <p:cNvPr id="19" name="TextBox 18"/>
          <p:cNvSpPr txBox="1"/>
          <p:nvPr/>
        </p:nvSpPr>
        <p:spPr>
          <a:xfrm>
            <a:off x="4663507" y="2646231"/>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21" name="TextBox 20"/>
          <p:cNvSpPr txBox="1"/>
          <p:nvPr/>
        </p:nvSpPr>
        <p:spPr>
          <a:xfrm>
            <a:off x="3731902" y="2597446"/>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41" name="TextBox 40"/>
          <p:cNvSpPr txBox="1"/>
          <p:nvPr/>
        </p:nvSpPr>
        <p:spPr>
          <a:xfrm>
            <a:off x="8248287" y="1415000"/>
            <a:ext cx="3647819" cy="1015663"/>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85 is not less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65, so no change in i</a:t>
            </a:r>
          </a:p>
          <a:p>
            <a:pPr algn="just"/>
            <a:r>
              <a:rPr lang="en-IN" sz="1400" b="1" dirty="0" smtClean="0">
                <a:solidFill>
                  <a:srgbClr val="FF0000"/>
                </a:solidFill>
                <a:latin typeface="Times New Roman" panose="02020603050405020304" pitchFamily="18" charset="0"/>
                <a:cs typeface="Times New Roman" panose="02020603050405020304" pitchFamily="18" charset="0"/>
              </a:rPr>
              <a:t>60 is not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65, so no </a:t>
            </a:r>
            <a:r>
              <a:rPr lang="en-IN" sz="1400" b="1" dirty="0">
                <a:solidFill>
                  <a:srgbClr val="FF0000"/>
                </a:solidFill>
                <a:latin typeface="Times New Roman" panose="02020603050405020304" pitchFamily="18" charset="0"/>
                <a:cs typeface="Times New Roman" panose="02020603050405020304" pitchFamily="18" charset="0"/>
              </a:rPr>
              <a:t>change in </a:t>
            </a:r>
            <a:r>
              <a:rPr lang="en-IN" sz="1400" b="1" dirty="0" smtClean="0">
                <a:solidFill>
                  <a:srgbClr val="FF0000"/>
                </a:solidFill>
                <a:latin typeface="Times New Roman" panose="02020603050405020304" pitchFamily="18" charset="0"/>
                <a:cs typeface="Times New Roman" panose="02020603050405020304" pitchFamily="18" charset="0"/>
              </a:rPr>
              <a:t>j, </a:t>
            </a:r>
          </a:p>
          <a:p>
            <a:pPr algn="just"/>
            <a:r>
              <a:rPr lang="en-IN" sz="1400" b="1" dirty="0" err="1" smtClean="0">
                <a:solidFill>
                  <a:srgbClr val="002060"/>
                </a:solidFill>
                <a:latin typeface="Times New Roman" panose="02020603050405020304" pitchFamily="18" charset="0"/>
                <a:cs typeface="Times New Roman" panose="02020603050405020304" pitchFamily="18" charset="0"/>
              </a:rPr>
              <a:t>i</a:t>
            </a:r>
            <a:r>
              <a:rPr lang="en-IN" sz="1400" b="1" dirty="0" smtClean="0">
                <a:solidFill>
                  <a:srgbClr val="002060"/>
                </a:solidFill>
                <a:latin typeface="Times New Roman" panose="02020603050405020304" pitchFamily="18" charset="0"/>
                <a:cs typeface="Times New Roman" panose="02020603050405020304" pitchFamily="18" charset="0"/>
              </a:rPr>
              <a:t>&lt;j, </a:t>
            </a:r>
            <a:r>
              <a:rPr lang="en-IN" sz="1400" b="1" dirty="0" smtClean="0">
                <a:solidFill>
                  <a:srgbClr val="FF0000"/>
                </a:solidFill>
                <a:latin typeface="Times New Roman" panose="02020603050405020304" pitchFamily="18" charset="0"/>
                <a:cs typeface="Times New Roman" panose="02020603050405020304" pitchFamily="18" charset="0"/>
              </a:rPr>
              <a:t>swap </a:t>
            </a:r>
            <a:r>
              <a:rPr lang="en-IN" sz="1400" b="1" dirty="0" smtClean="0">
                <a:solidFill>
                  <a:srgbClr val="002060"/>
                </a:solidFill>
                <a:latin typeface="Times New Roman" panose="02020603050405020304" pitchFamily="18" charset="0"/>
                <a:cs typeface="Times New Roman" panose="02020603050405020304" pitchFamily="18" charset="0"/>
              </a:rPr>
              <a:t>A[</a:t>
            </a:r>
            <a:r>
              <a:rPr lang="en-IN" sz="1400" b="1" dirty="0" err="1" smtClean="0">
                <a:solidFill>
                  <a:srgbClr val="002060"/>
                </a:solidFill>
                <a:latin typeface="Times New Roman" panose="02020603050405020304" pitchFamily="18" charset="0"/>
                <a:cs typeface="Times New Roman" panose="02020603050405020304" pitchFamily="18" charset="0"/>
              </a:rPr>
              <a:t>i</a:t>
            </a:r>
            <a:r>
              <a:rPr lang="en-IN" sz="1400" b="1" dirty="0" smtClean="0">
                <a:solidFill>
                  <a:srgbClr val="002060"/>
                </a:solidFill>
                <a:latin typeface="Times New Roman" panose="02020603050405020304" pitchFamily="18" charset="0"/>
                <a:cs typeface="Times New Roman" panose="02020603050405020304" pitchFamily="18" charset="0"/>
              </a:rPr>
              <a:t>] and A[j], </a:t>
            </a:r>
            <a:r>
              <a:rPr lang="en-IN" sz="1400" b="1" dirty="0" smtClean="0">
                <a:solidFill>
                  <a:srgbClr val="FF0000"/>
                </a:solidFill>
                <a:latin typeface="Times New Roman" panose="02020603050405020304" pitchFamily="18" charset="0"/>
                <a:cs typeface="Times New Roman" panose="02020603050405020304" pitchFamily="18" charset="0"/>
              </a:rPr>
              <a:t>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and  j--</a:t>
            </a:r>
          </a:p>
          <a:p>
            <a:endParaRPr lang="en-IN" dirty="0"/>
          </a:p>
        </p:txBody>
      </p:sp>
      <p:cxnSp>
        <p:nvCxnSpPr>
          <p:cNvPr id="46" name="Straight Arrow Connector 45"/>
          <p:cNvCxnSpPr/>
          <p:nvPr/>
        </p:nvCxnSpPr>
        <p:spPr>
          <a:xfrm flipV="1">
            <a:off x="854556" y="2039796"/>
            <a:ext cx="0" cy="24442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42777" y="2203600"/>
            <a:ext cx="943583"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pivot</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48" name="Straight Connector 47"/>
          <p:cNvCxnSpPr/>
          <p:nvPr/>
        </p:nvCxnSpPr>
        <p:spPr>
          <a:xfrm flipH="1">
            <a:off x="4019460" y="2055166"/>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82229" y="2955825"/>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65</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51" name="TextBox 50"/>
          <p:cNvSpPr txBox="1"/>
          <p:nvPr/>
        </p:nvSpPr>
        <p:spPr>
          <a:xfrm>
            <a:off x="4512460" y="1927249"/>
            <a:ext cx="1108999" cy="400110"/>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60</a:t>
            </a:r>
            <a:r>
              <a:rPr lang="en-IN" sz="2000" b="1" dirty="0" smtClean="0">
                <a:solidFill>
                  <a:srgbClr val="FF0000"/>
                </a:solidFill>
                <a:latin typeface="Times New Roman" panose="02020603050405020304" pitchFamily="18" charset="0"/>
                <a:cs typeface="Times New Roman" panose="02020603050405020304" pitchFamily="18" charset="0"/>
              </a:rPr>
              <a:t> &gt; </a:t>
            </a:r>
            <a:r>
              <a:rPr lang="en-IN" b="1" dirty="0" smtClean="0">
                <a:solidFill>
                  <a:srgbClr val="FF0000"/>
                </a:solidFill>
                <a:latin typeface="Times New Roman" panose="02020603050405020304" pitchFamily="18" charset="0"/>
                <a:cs typeface="Times New Roman" panose="02020603050405020304" pitchFamily="18" charset="0"/>
              </a:rPr>
              <a:t>65</a:t>
            </a:r>
            <a:endParaRPr lang="en-IN" sz="1600" dirty="0"/>
          </a:p>
        </p:txBody>
      </p:sp>
      <p:cxnSp>
        <p:nvCxnSpPr>
          <p:cNvPr id="52" name="Straight Connector 51"/>
          <p:cNvCxnSpPr/>
          <p:nvPr/>
        </p:nvCxnSpPr>
        <p:spPr>
          <a:xfrm flipH="1">
            <a:off x="4967385" y="2049227"/>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8175372" y="2802375"/>
            <a:ext cx="3539787" cy="1508105"/>
          </a:xfrm>
          <a:prstGeom prst="rect">
            <a:avLst/>
          </a:prstGeom>
          <a:noFill/>
        </p:spPr>
        <p:txBody>
          <a:bodyPr wrap="square" rtlCol="0">
            <a:spAutoFit/>
          </a:bodyPr>
          <a:lstStyle/>
          <a:p>
            <a:pPr algn="just"/>
            <a:r>
              <a:rPr lang="en-IN" b="1" dirty="0" err="1">
                <a:solidFill>
                  <a:srgbClr val="002060"/>
                </a:solidFill>
                <a:latin typeface="Times New Roman" panose="02020603050405020304" pitchFamily="18" charset="0"/>
                <a:cs typeface="Times New Roman" panose="02020603050405020304" pitchFamily="18" charset="0"/>
              </a:rPr>
              <a:t>i</a:t>
            </a:r>
            <a:r>
              <a:rPr lang="en-IN" b="1" dirty="0" smtClean="0">
                <a:solidFill>
                  <a:srgbClr val="002060"/>
                </a:solidFill>
                <a:latin typeface="Times New Roman" panose="02020603050405020304" pitchFamily="18" charset="0"/>
                <a:cs typeface="Times New Roman" panose="02020603050405020304" pitchFamily="18" charset="0"/>
              </a:rPr>
              <a:t> ≥ j</a:t>
            </a:r>
          </a:p>
          <a:p>
            <a:pPr algn="just"/>
            <a:r>
              <a:rPr lang="en-IN" sz="1400" b="1" dirty="0" smtClean="0">
                <a:solidFill>
                  <a:srgbClr val="FF0000"/>
                </a:solidFill>
                <a:latin typeface="Times New Roman" panose="02020603050405020304" pitchFamily="18" charset="0"/>
                <a:cs typeface="Times New Roman" panose="02020603050405020304" pitchFamily="18" charset="0"/>
              </a:rPr>
              <a:t>Swap 65 (</a:t>
            </a:r>
            <a:r>
              <a:rPr lang="en-IN" sz="1400" b="1" dirty="0" smtClean="0">
                <a:solidFill>
                  <a:srgbClr val="002060"/>
                </a:solidFill>
                <a:latin typeface="Times New Roman" panose="02020603050405020304" pitchFamily="18" charset="0"/>
                <a:cs typeface="Times New Roman" panose="02020603050405020304" pitchFamily="18" charset="0"/>
              </a:rPr>
              <a:t>Pivot) and A[j]. </a:t>
            </a:r>
            <a:r>
              <a:rPr lang="en-IN" sz="1400" b="1" dirty="0">
                <a:solidFill>
                  <a:srgbClr val="FF0000"/>
                </a:solidFill>
                <a:latin typeface="Times New Roman" panose="02020603050405020304" pitchFamily="18" charset="0"/>
                <a:cs typeface="Times New Roman" panose="02020603050405020304" pitchFamily="18" charset="0"/>
              </a:rPr>
              <a:t>all the elements before pivot are lesser than it and all the elements after pivot are greater than it, thus array is partitioned into two parts </a:t>
            </a:r>
          </a:p>
          <a:p>
            <a:pPr algn="just"/>
            <a:endParaRPr lang="en-IN" dirty="0">
              <a:solidFill>
                <a:srgbClr val="FF0000"/>
              </a:solidFill>
            </a:endParaRPr>
          </a:p>
        </p:txBody>
      </p:sp>
      <p:graphicFrame>
        <p:nvGraphicFramePr>
          <p:cNvPr id="44" name="Table 43"/>
          <p:cNvGraphicFramePr>
            <a:graphicFrameLocks noGrp="1"/>
          </p:cNvGraphicFramePr>
          <p:nvPr>
            <p:extLst>
              <p:ext uri="{D42A27DB-BD31-4B8C-83A1-F6EECF244321}">
                <p14:modId xmlns:p14="http://schemas.microsoft.com/office/powerpoint/2010/main" val="4148142214"/>
              </p:ext>
            </p:extLst>
          </p:nvPr>
        </p:nvGraphicFramePr>
        <p:xfrm>
          <a:off x="1333163" y="1643077"/>
          <a:ext cx="6660688" cy="370840"/>
        </p:xfrm>
        <a:graphic>
          <a:graphicData uri="http://schemas.openxmlformats.org/drawingml/2006/table">
            <a:tbl>
              <a:tblPr firstRow="1" bandRow="1">
                <a:tableStyleId>{5C22544A-7EE6-4342-B048-85BDC9FD1C3A}</a:tableStyleId>
              </a:tblPr>
              <a:tblGrid>
                <a:gridCol w="832586"/>
                <a:gridCol w="832586"/>
                <a:gridCol w="832586"/>
                <a:gridCol w="832586"/>
                <a:gridCol w="832586"/>
                <a:gridCol w="832586"/>
                <a:gridCol w="832586"/>
                <a:gridCol w="832586"/>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45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50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55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60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70</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graphicFrame>
        <p:nvGraphicFramePr>
          <p:cNvPr id="45" name="Table 44"/>
          <p:cNvGraphicFramePr>
            <a:graphicFrameLocks noGrp="1"/>
          </p:cNvGraphicFramePr>
          <p:nvPr>
            <p:extLst>
              <p:ext uri="{D42A27DB-BD31-4B8C-83A1-F6EECF244321}">
                <p14:modId xmlns:p14="http://schemas.microsoft.com/office/powerpoint/2010/main" val="3637627736"/>
              </p:ext>
            </p:extLst>
          </p:nvPr>
        </p:nvGraphicFramePr>
        <p:xfrm>
          <a:off x="1375360" y="3034046"/>
          <a:ext cx="6660688" cy="370840"/>
        </p:xfrm>
        <a:graphic>
          <a:graphicData uri="http://schemas.openxmlformats.org/drawingml/2006/table">
            <a:tbl>
              <a:tblPr firstRow="1" bandRow="1">
                <a:tableStyleId>{5C22544A-7EE6-4342-B048-85BDC9FD1C3A}</a:tableStyleId>
              </a:tblPr>
              <a:tblGrid>
                <a:gridCol w="832586"/>
                <a:gridCol w="832586"/>
                <a:gridCol w="832586"/>
                <a:gridCol w="832586"/>
                <a:gridCol w="832586"/>
                <a:gridCol w="832586"/>
                <a:gridCol w="832586"/>
                <a:gridCol w="832586"/>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45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50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55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60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80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70</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3040529265"/>
              </p:ext>
            </p:extLst>
          </p:nvPr>
        </p:nvGraphicFramePr>
        <p:xfrm>
          <a:off x="446802" y="4548743"/>
          <a:ext cx="7796240" cy="365760"/>
        </p:xfrm>
        <a:graphic>
          <a:graphicData uri="http://schemas.openxmlformats.org/drawingml/2006/table">
            <a:tbl>
              <a:tblPr firstRow="1" bandRow="1">
                <a:tableStyleId>{5C22544A-7EE6-4342-B048-85BDC9FD1C3A}</a:tableStyleId>
              </a:tblPr>
              <a:tblGrid>
                <a:gridCol w="974530"/>
                <a:gridCol w="974530"/>
                <a:gridCol w="974530"/>
                <a:gridCol w="974530"/>
                <a:gridCol w="974530"/>
                <a:gridCol w="974530"/>
                <a:gridCol w="974530"/>
                <a:gridCol w="974530"/>
              </a:tblGrid>
              <a:tr h="345987">
                <a:tc>
                  <a:txBody>
                    <a:bodyPr/>
                    <a:lstStyle/>
                    <a:p>
                      <a:r>
                        <a:rPr lang="en-IN" b="1" dirty="0" smtClean="0">
                          <a:solidFill>
                            <a:srgbClr val="002060"/>
                          </a:solidFill>
                          <a:latin typeface="Times New Roman" panose="02020603050405020304" pitchFamily="18" charset="0"/>
                          <a:cs typeface="Times New Roman" panose="02020603050405020304" pitchFamily="18" charset="0"/>
                        </a:rPr>
                        <a:t>60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45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50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55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         85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       80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   75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70</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6" name="Rectangle 5"/>
          <p:cNvSpPr/>
          <p:nvPr/>
        </p:nvSpPr>
        <p:spPr>
          <a:xfrm>
            <a:off x="4088369" y="4577216"/>
            <a:ext cx="532186" cy="51911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p>
            <a:pPr algn="ctr"/>
            <a:endParaRPr lang="en-IN" dirty="0"/>
          </a:p>
        </p:txBody>
      </p:sp>
      <p:cxnSp>
        <p:nvCxnSpPr>
          <p:cNvPr id="69" name="Straight Arrow Connector 68"/>
          <p:cNvCxnSpPr/>
          <p:nvPr/>
        </p:nvCxnSpPr>
        <p:spPr>
          <a:xfrm flipV="1">
            <a:off x="382303" y="5158700"/>
            <a:ext cx="3570548" cy="25592"/>
          </a:xfrm>
          <a:prstGeom prst="straightConnector1">
            <a:avLst/>
          </a:prstGeom>
          <a:ln w="2857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V="1">
            <a:off x="4820443" y="5125725"/>
            <a:ext cx="2835416" cy="3489"/>
          </a:xfrm>
          <a:prstGeom prst="straightConnector1">
            <a:avLst/>
          </a:prstGeom>
          <a:ln w="2857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8080043" y="4645165"/>
            <a:ext cx="3539787" cy="307777"/>
          </a:xfrm>
          <a:prstGeom prst="rect">
            <a:avLst/>
          </a:prstGeom>
          <a:noFill/>
        </p:spPr>
        <p:txBody>
          <a:bodyPr wrap="square" rtlCol="0">
            <a:spAutoFit/>
          </a:bodyPr>
          <a:lstStyle/>
          <a:p>
            <a:pPr algn="just"/>
            <a:r>
              <a:rPr lang="en-IN" sz="1400" b="1" dirty="0" smtClean="0">
                <a:solidFill>
                  <a:srgbClr val="002060"/>
                </a:solidFill>
                <a:latin typeface="Times New Roman" panose="02020603050405020304" pitchFamily="18" charset="0"/>
                <a:cs typeface="Times New Roman" panose="02020603050405020304" pitchFamily="18" charset="0"/>
              </a:rPr>
              <a:t>65-Pivot is in final position. </a:t>
            </a:r>
            <a:endParaRPr lang="en-IN" dirty="0">
              <a:solidFill>
                <a:srgbClr val="FF0000"/>
              </a:solidFill>
            </a:endParaRPr>
          </a:p>
        </p:txBody>
      </p:sp>
      <p:sp>
        <p:nvSpPr>
          <p:cNvPr id="9" name="Date Placeholder 8"/>
          <p:cNvSpPr>
            <a:spLocks noGrp="1"/>
          </p:cNvSpPr>
          <p:nvPr>
            <p:ph type="dt" sz="half" idx="10"/>
          </p:nvPr>
        </p:nvSpPr>
        <p:spPr/>
        <p:txBody>
          <a:bodyPr/>
          <a:lstStyle/>
          <a:p>
            <a:fld id="{F75901CD-C585-4C08-A8C3-412C0660F64C}" type="datetime1">
              <a:rPr lang="en-IN" smtClean="0"/>
              <a:t>21-03-2026</a:t>
            </a:fld>
            <a:endParaRPr lang="en-IN"/>
          </a:p>
        </p:txBody>
      </p:sp>
      <p:sp>
        <p:nvSpPr>
          <p:cNvPr id="10" name="TextBox 9"/>
          <p:cNvSpPr txBox="1"/>
          <p:nvPr/>
        </p:nvSpPr>
        <p:spPr>
          <a:xfrm>
            <a:off x="4354462" y="5467350"/>
            <a:ext cx="729655" cy="369332"/>
          </a:xfrm>
          <a:prstGeom prst="rect">
            <a:avLst/>
          </a:prstGeom>
          <a:noFill/>
        </p:spPr>
        <p:txBody>
          <a:bodyPr wrap="square" rtlCol="0">
            <a:spAutoFit/>
          </a:bodyPr>
          <a:lstStyle/>
          <a:p>
            <a:r>
              <a:rPr lang="en-IN" dirty="0" smtClean="0"/>
              <a:t>S=4</a:t>
            </a:r>
            <a:endParaRPr lang="en-IN" dirty="0"/>
          </a:p>
        </p:txBody>
      </p:sp>
    </p:spTree>
    <p:extLst>
      <p:ext uri="{BB962C8B-B14F-4D97-AF65-F5344CB8AC3E}">
        <p14:creationId xmlns:p14="http://schemas.microsoft.com/office/powerpoint/2010/main" val="113293388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77052" y="575591"/>
            <a:ext cx="11797552" cy="6046339"/>
          </a:xfrm>
        </p:spPr>
        <p:txBody>
          <a:bodyPr>
            <a:normAutofit/>
          </a:bodyPr>
          <a:lstStyle/>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177052" y="6564391"/>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67</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9194780" y="4605938"/>
            <a:ext cx="68151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15" name="TextBox 14"/>
          <p:cNvSpPr txBox="1"/>
          <p:nvPr/>
        </p:nvSpPr>
        <p:spPr>
          <a:xfrm>
            <a:off x="10356085" y="4568221"/>
            <a:ext cx="530157"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18" name="TextBox 17"/>
          <p:cNvSpPr txBox="1"/>
          <p:nvPr/>
        </p:nvSpPr>
        <p:spPr>
          <a:xfrm>
            <a:off x="1366336" y="1840372"/>
            <a:ext cx="120482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45 &lt; 60</a:t>
            </a:r>
            <a:endParaRPr lang="en-IN" sz="1400" dirty="0"/>
          </a:p>
        </p:txBody>
      </p:sp>
      <p:sp>
        <p:nvSpPr>
          <p:cNvPr id="19" name="TextBox 18"/>
          <p:cNvSpPr txBox="1"/>
          <p:nvPr/>
        </p:nvSpPr>
        <p:spPr>
          <a:xfrm>
            <a:off x="1696189" y="1073240"/>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21" name="TextBox 20"/>
          <p:cNvSpPr txBox="1"/>
          <p:nvPr/>
        </p:nvSpPr>
        <p:spPr>
          <a:xfrm>
            <a:off x="3565900" y="1063723"/>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41" name="TextBox 40"/>
          <p:cNvSpPr txBox="1"/>
          <p:nvPr/>
        </p:nvSpPr>
        <p:spPr>
          <a:xfrm>
            <a:off x="1233439" y="850208"/>
            <a:ext cx="2915772" cy="307777"/>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Consider first part apply quick sort</a:t>
            </a:r>
            <a:endParaRPr lang="en-IN" dirty="0"/>
          </a:p>
        </p:txBody>
      </p:sp>
      <p:cxnSp>
        <p:nvCxnSpPr>
          <p:cNvPr id="46" name="Straight Arrow Connector 45"/>
          <p:cNvCxnSpPr/>
          <p:nvPr/>
        </p:nvCxnSpPr>
        <p:spPr>
          <a:xfrm flipV="1">
            <a:off x="854556" y="2039796"/>
            <a:ext cx="0" cy="24442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42777" y="2203600"/>
            <a:ext cx="943583"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pivot</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51" name="TextBox 50"/>
          <p:cNvSpPr txBox="1"/>
          <p:nvPr/>
        </p:nvSpPr>
        <p:spPr>
          <a:xfrm>
            <a:off x="3435696" y="1843571"/>
            <a:ext cx="1108999" cy="400110"/>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55</a:t>
            </a:r>
            <a:r>
              <a:rPr lang="en-IN" sz="2000" b="1" dirty="0" smtClean="0">
                <a:solidFill>
                  <a:srgbClr val="FF0000"/>
                </a:solidFill>
                <a:latin typeface="Times New Roman" panose="02020603050405020304" pitchFamily="18" charset="0"/>
                <a:cs typeface="Times New Roman" panose="02020603050405020304" pitchFamily="18" charset="0"/>
              </a:rPr>
              <a:t> &gt; 60</a:t>
            </a:r>
            <a:endParaRPr lang="en-IN" sz="1600" dirty="0"/>
          </a:p>
        </p:txBody>
      </p:sp>
      <p:sp>
        <p:nvSpPr>
          <p:cNvPr id="59" name="TextBox 58"/>
          <p:cNvSpPr txBox="1"/>
          <p:nvPr/>
        </p:nvSpPr>
        <p:spPr>
          <a:xfrm>
            <a:off x="5355479" y="3932197"/>
            <a:ext cx="3539787" cy="1292662"/>
          </a:xfrm>
          <a:prstGeom prst="rect">
            <a:avLst/>
          </a:prstGeom>
          <a:noFill/>
        </p:spPr>
        <p:txBody>
          <a:bodyPr wrap="square" rtlCol="0">
            <a:spAutoFit/>
          </a:bodyPr>
          <a:lstStyle/>
          <a:p>
            <a:pPr algn="just"/>
            <a:r>
              <a:rPr lang="en-IN" b="1" dirty="0" err="1">
                <a:solidFill>
                  <a:srgbClr val="002060"/>
                </a:solidFill>
                <a:latin typeface="Times New Roman" panose="02020603050405020304" pitchFamily="18" charset="0"/>
                <a:cs typeface="Times New Roman" panose="02020603050405020304" pitchFamily="18" charset="0"/>
              </a:rPr>
              <a:t>i</a:t>
            </a:r>
            <a:r>
              <a:rPr lang="en-IN" b="1" dirty="0" smtClean="0">
                <a:solidFill>
                  <a:srgbClr val="002060"/>
                </a:solidFill>
                <a:latin typeface="Times New Roman" panose="02020603050405020304" pitchFamily="18" charset="0"/>
                <a:cs typeface="Times New Roman" panose="02020603050405020304" pitchFamily="18" charset="0"/>
              </a:rPr>
              <a:t> ≥ j</a:t>
            </a:r>
          </a:p>
          <a:p>
            <a:pPr algn="just"/>
            <a:r>
              <a:rPr lang="en-IN" sz="1400" b="1" dirty="0" smtClean="0">
                <a:solidFill>
                  <a:srgbClr val="FF0000"/>
                </a:solidFill>
                <a:latin typeface="Times New Roman" panose="02020603050405020304" pitchFamily="18" charset="0"/>
                <a:cs typeface="Times New Roman" panose="02020603050405020304" pitchFamily="18" charset="0"/>
              </a:rPr>
              <a:t>Swap </a:t>
            </a:r>
            <a:r>
              <a:rPr lang="en-IN" sz="1400" b="1" dirty="0" smtClean="0">
                <a:solidFill>
                  <a:srgbClr val="002060"/>
                </a:solidFill>
                <a:latin typeface="Times New Roman" panose="02020603050405020304" pitchFamily="18" charset="0"/>
                <a:cs typeface="Times New Roman" panose="02020603050405020304" pitchFamily="18" charset="0"/>
              </a:rPr>
              <a:t>60 and A[j]. </a:t>
            </a:r>
            <a:r>
              <a:rPr lang="en-IN" sz="1400" b="1" dirty="0">
                <a:solidFill>
                  <a:srgbClr val="FF0000"/>
                </a:solidFill>
                <a:latin typeface="Times New Roman" panose="02020603050405020304" pitchFamily="18" charset="0"/>
                <a:cs typeface="Times New Roman" panose="02020603050405020304" pitchFamily="18" charset="0"/>
              </a:rPr>
              <a:t>all the elements before </a:t>
            </a:r>
            <a:r>
              <a:rPr lang="en-IN" sz="1400" b="1" dirty="0" smtClean="0">
                <a:solidFill>
                  <a:srgbClr val="FF0000"/>
                </a:solidFill>
                <a:latin typeface="Times New Roman" panose="02020603050405020304" pitchFamily="18" charset="0"/>
                <a:cs typeface="Times New Roman" panose="02020603050405020304" pitchFamily="18" charset="0"/>
              </a:rPr>
              <a:t>60 </a:t>
            </a:r>
            <a:r>
              <a:rPr lang="en-IN" sz="1400" b="1" dirty="0">
                <a:solidFill>
                  <a:srgbClr val="FF0000"/>
                </a:solidFill>
                <a:latin typeface="Times New Roman" panose="02020603050405020304" pitchFamily="18" charset="0"/>
                <a:cs typeface="Times New Roman" panose="02020603050405020304" pitchFamily="18" charset="0"/>
              </a:rPr>
              <a:t>are lesser than it and </a:t>
            </a:r>
            <a:r>
              <a:rPr lang="en-IN" sz="1400" b="1" dirty="0" smtClean="0">
                <a:solidFill>
                  <a:srgbClr val="FF0000"/>
                </a:solidFill>
                <a:latin typeface="Times New Roman" panose="02020603050405020304" pitchFamily="18" charset="0"/>
                <a:cs typeface="Times New Roman" panose="02020603050405020304" pitchFamily="18" charset="0"/>
              </a:rPr>
              <a:t>no elements towards right of 60</a:t>
            </a:r>
            <a:endParaRPr lang="en-IN" sz="1400" b="1" dirty="0">
              <a:solidFill>
                <a:srgbClr val="FF0000"/>
              </a:solidFill>
              <a:latin typeface="Times New Roman" panose="02020603050405020304" pitchFamily="18" charset="0"/>
              <a:cs typeface="Times New Roman" panose="02020603050405020304" pitchFamily="18" charset="0"/>
            </a:endParaRPr>
          </a:p>
          <a:p>
            <a:pPr algn="just"/>
            <a:endParaRPr lang="en-IN" dirty="0">
              <a:solidFill>
                <a:srgbClr val="FF0000"/>
              </a:solidFill>
            </a:endParaRPr>
          </a:p>
        </p:txBody>
      </p:sp>
      <p:graphicFrame>
        <p:nvGraphicFramePr>
          <p:cNvPr id="28" name="Table 27"/>
          <p:cNvGraphicFramePr>
            <a:graphicFrameLocks noGrp="1"/>
          </p:cNvGraphicFramePr>
          <p:nvPr>
            <p:extLst>
              <p:ext uri="{D42A27DB-BD31-4B8C-83A1-F6EECF244321}">
                <p14:modId xmlns:p14="http://schemas.microsoft.com/office/powerpoint/2010/main" val="1463502213"/>
              </p:ext>
            </p:extLst>
          </p:nvPr>
        </p:nvGraphicFramePr>
        <p:xfrm>
          <a:off x="370638" y="1467730"/>
          <a:ext cx="4048962" cy="365760"/>
        </p:xfrm>
        <a:graphic>
          <a:graphicData uri="http://schemas.openxmlformats.org/drawingml/2006/table">
            <a:tbl>
              <a:tblPr firstRow="1" bandRow="1">
                <a:tableStyleId>{5C22544A-7EE6-4342-B048-85BDC9FD1C3A}</a:tableStyleId>
              </a:tblPr>
              <a:tblGrid>
                <a:gridCol w="1349654"/>
                <a:gridCol w="1349654"/>
                <a:gridCol w="1349654"/>
              </a:tblGrid>
              <a:tr h="345987">
                <a:tc>
                  <a:txBody>
                    <a:bodyPr/>
                    <a:lstStyle/>
                    <a:p>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45            50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           55           </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29" name="Rectangle 28"/>
          <p:cNvSpPr/>
          <p:nvPr/>
        </p:nvSpPr>
        <p:spPr>
          <a:xfrm>
            <a:off x="552665" y="1431984"/>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60</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3" name="Rectangle 32"/>
          <p:cNvSpPr/>
          <p:nvPr/>
        </p:nvSpPr>
        <p:spPr>
          <a:xfrm>
            <a:off x="543700" y="3106318"/>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60</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4" name="TextBox 33"/>
          <p:cNvSpPr txBox="1"/>
          <p:nvPr/>
        </p:nvSpPr>
        <p:spPr>
          <a:xfrm>
            <a:off x="2485024" y="2745853"/>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35" name="TextBox 34"/>
          <p:cNvSpPr txBox="1"/>
          <p:nvPr/>
        </p:nvSpPr>
        <p:spPr>
          <a:xfrm>
            <a:off x="3701898" y="2766546"/>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37" name="TextBox 36"/>
          <p:cNvSpPr txBox="1"/>
          <p:nvPr/>
        </p:nvSpPr>
        <p:spPr>
          <a:xfrm>
            <a:off x="5356880" y="3021231"/>
            <a:ext cx="3647819" cy="307777"/>
          </a:xfrm>
          <a:prstGeom prst="rect">
            <a:avLst/>
          </a:prstGeom>
          <a:noFill/>
        </p:spPr>
        <p:txBody>
          <a:bodyPr wrap="square" rtlCol="0">
            <a:spAutoFit/>
          </a:bodyPr>
          <a:lstStyle/>
          <a:p>
            <a:pPr algn="just"/>
            <a:r>
              <a:rPr lang="en-IN" sz="1400" b="1" dirty="0">
                <a:solidFill>
                  <a:srgbClr val="FF0000"/>
                </a:solidFill>
                <a:latin typeface="Times New Roman" panose="02020603050405020304" pitchFamily="18" charset="0"/>
                <a:cs typeface="Times New Roman" panose="02020603050405020304" pitchFamily="18" charset="0"/>
              </a:rPr>
              <a:t>5</a:t>
            </a:r>
            <a:r>
              <a:rPr lang="en-IN" sz="1400" b="1" dirty="0" smtClean="0">
                <a:solidFill>
                  <a:srgbClr val="FF0000"/>
                </a:solidFill>
                <a:latin typeface="Times New Roman" panose="02020603050405020304" pitchFamily="18" charset="0"/>
                <a:cs typeface="Times New Roman" panose="02020603050405020304" pitchFamily="18" charset="0"/>
              </a:rPr>
              <a:t>0 is less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60, so  i++</a:t>
            </a:r>
          </a:p>
        </p:txBody>
      </p:sp>
      <p:sp>
        <p:nvSpPr>
          <p:cNvPr id="39" name="Rectangle 38"/>
          <p:cNvSpPr/>
          <p:nvPr/>
        </p:nvSpPr>
        <p:spPr>
          <a:xfrm>
            <a:off x="517512" y="4296417"/>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60</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40" name="TextBox 39"/>
          <p:cNvSpPr txBox="1"/>
          <p:nvPr/>
        </p:nvSpPr>
        <p:spPr>
          <a:xfrm>
            <a:off x="3840051" y="3945529"/>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42" name="TextBox 41"/>
          <p:cNvSpPr txBox="1"/>
          <p:nvPr/>
        </p:nvSpPr>
        <p:spPr>
          <a:xfrm>
            <a:off x="3449294" y="3942370"/>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cxnSp>
        <p:nvCxnSpPr>
          <p:cNvPr id="43" name="Straight Connector 42"/>
          <p:cNvCxnSpPr/>
          <p:nvPr/>
        </p:nvCxnSpPr>
        <p:spPr>
          <a:xfrm flipH="1">
            <a:off x="3873463" y="1954486"/>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448970" y="1651568"/>
            <a:ext cx="3647819" cy="1015663"/>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60 is pivot element </a:t>
            </a:r>
          </a:p>
          <a:p>
            <a:pPr algn="just"/>
            <a:r>
              <a:rPr lang="en-IN" sz="1400" b="1" dirty="0" smtClean="0">
                <a:solidFill>
                  <a:srgbClr val="FF0000"/>
                </a:solidFill>
                <a:latin typeface="Times New Roman" panose="02020603050405020304" pitchFamily="18" charset="0"/>
                <a:cs typeface="Times New Roman" panose="02020603050405020304" pitchFamily="18" charset="0"/>
              </a:rPr>
              <a:t>45 is less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60, so i++</a:t>
            </a:r>
          </a:p>
          <a:p>
            <a:pPr algn="just"/>
            <a:r>
              <a:rPr lang="en-IN" sz="1400" b="1" dirty="0" smtClean="0">
                <a:solidFill>
                  <a:srgbClr val="FF0000"/>
                </a:solidFill>
                <a:latin typeface="Times New Roman" panose="02020603050405020304" pitchFamily="18" charset="0"/>
                <a:cs typeface="Times New Roman" panose="02020603050405020304" pitchFamily="18" charset="0"/>
              </a:rPr>
              <a:t>55 is not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60, so no </a:t>
            </a:r>
            <a:r>
              <a:rPr lang="en-IN" sz="1400" b="1" dirty="0">
                <a:solidFill>
                  <a:srgbClr val="FF0000"/>
                </a:solidFill>
                <a:latin typeface="Times New Roman" panose="02020603050405020304" pitchFamily="18" charset="0"/>
                <a:cs typeface="Times New Roman" panose="02020603050405020304" pitchFamily="18" charset="0"/>
              </a:rPr>
              <a:t>change in </a:t>
            </a:r>
            <a:r>
              <a:rPr lang="en-IN" sz="1400" b="1" dirty="0" smtClean="0">
                <a:solidFill>
                  <a:srgbClr val="FF0000"/>
                </a:solidFill>
                <a:latin typeface="Times New Roman" panose="02020603050405020304" pitchFamily="18" charset="0"/>
                <a:cs typeface="Times New Roman" panose="02020603050405020304" pitchFamily="18" charset="0"/>
              </a:rPr>
              <a:t>j, </a:t>
            </a:r>
          </a:p>
          <a:p>
            <a:endParaRPr lang="en-IN" dirty="0"/>
          </a:p>
        </p:txBody>
      </p:sp>
      <p:graphicFrame>
        <p:nvGraphicFramePr>
          <p:cNvPr id="53" name="Table 52"/>
          <p:cNvGraphicFramePr>
            <a:graphicFrameLocks noGrp="1"/>
          </p:cNvGraphicFramePr>
          <p:nvPr>
            <p:extLst>
              <p:ext uri="{D42A27DB-BD31-4B8C-83A1-F6EECF244321}">
                <p14:modId xmlns:p14="http://schemas.microsoft.com/office/powerpoint/2010/main" val="2848747295"/>
              </p:ext>
            </p:extLst>
          </p:nvPr>
        </p:nvGraphicFramePr>
        <p:xfrm>
          <a:off x="1699254" y="3244837"/>
          <a:ext cx="2699308" cy="365760"/>
        </p:xfrm>
        <a:graphic>
          <a:graphicData uri="http://schemas.openxmlformats.org/drawingml/2006/table">
            <a:tbl>
              <a:tblPr firstRow="1" bandRow="1">
                <a:tableStyleId>{5C22544A-7EE6-4342-B048-85BDC9FD1C3A}</a:tableStyleId>
              </a:tblPr>
              <a:tblGrid>
                <a:gridCol w="1349654"/>
                <a:gridCol w="1349654"/>
              </a:tblGrid>
              <a:tr h="345987">
                <a:tc>
                  <a:txBody>
                    <a:bodyPr/>
                    <a:lstStyle/>
                    <a:p>
                      <a:r>
                        <a:rPr lang="en-IN" b="1" dirty="0" smtClean="0">
                          <a:solidFill>
                            <a:srgbClr val="002060"/>
                          </a:solidFill>
                          <a:latin typeface="Times New Roman" panose="02020603050405020304" pitchFamily="18" charset="0"/>
                          <a:cs typeface="Times New Roman" panose="02020603050405020304" pitchFamily="18" charset="0"/>
                        </a:rPr>
                        <a:t>45           50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              55           </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54" name="TextBox 53"/>
          <p:cNvSpPr txBox="1"/>
          <p:nvPr/>
        </p:nvSpPr>
        <p:spPr>
          <a:xfrm>
            <a:off x="2164556" y="3598760"/>
            <a:ext cx="120482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50 &lt; 60</a:t>
            </a:r>
            <a:endParaRPr lang="en-IN" sz="1400" dirty="0"/>
          </a:p>
        </p:txBody>
      </p:sp>
      <p:graphicFrame>
        <p:nvGraphicFramePr>
          <p:cNvPr id="55" name="Table 54"/>
          <p:cNvGraphicFramePr>
            <a:graphicFrameLocks noGrp="1"/>
          </p:cNvGraphicFramePr>
          <p:nvPr>
            <p:extLst>
              <p:ext uri="{D42A27DB-BD31-4B8C-83A1-F6EECF244321}">
                <p14:modId xmlns:p14="http://schemas.microsoft.com/office/powerpoint/2010/main" val="2609193336"/>
              </p:ext>
            </p:extLst>
          </p:nvPr>
        </p:nvGraphicFramePr>
        <p:xfrm>
          <a:off x="619090" y="5146912"/>
          <a:ext cx="2914812" cy="640080"/>
        </p:xfrm>
        <a:graphic>
          <a:graphicData uri="http://schemas.openxmlformats.org/drawingml/2006/table">
            <a:tbl>
              <a:tblPr firstRow="1" bandRow="1">
                <a:tableStyleId>{5C22544A-7EE6-4342-B048-85BDC9FD1C3A}</a:tableStyleId>
              </a:tblPr>
              <a:tblGrid>
                <a:gridCol w="2914812"/>
              </a:tblGrid>
              <a:tr h="34598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solidFill>
                            <a:srgbClr val="002060"/>
                          </a:solidFill>
                          <a:latin typeface="Times New Roman" panose="02020603050405020304" pitchFamily="18" charset="0"/>
                          <a:cs typeface="Times New Roman" panose="02020603050405020304" pitchFamily="18" charset="0"/>
                        </a:rPr>
                        <a:t>55              45             50</a:t>
                      </a:r>
                    </a:p>
                    <a:p>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56" name="Rectangle 55"/>
          <p:cNvSpPr/>
          <p:nvPr/>
        </p:nvSpPr>
        <p:spPr>
          <a:xfrm>
            <a:off x="3688304" y="5164775"/>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60</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7" name="Table 56"/>
          <p:cNvGraphicFramePr>
            <a:graphicFrameLocks noGrp="1"/>
          </p:cNvGraphicFramePr>
          <p:nvPr>
            <p:extLst>
              <p:ext uri="{D42A27DB-BD31-4B8C-83A1-F6EECF244321}">
                <p14:modId xmlns:p14="http://schemas.microsoft.com/office/powerpoint/2010/main" val="380412907"/>
              </p:ext>
            </p:extLst>
          </p:nvPr>
        </p:nvGraphicFramePr>
        <p:xfrm>
          <a:off x="1699254" y="4334570"/>
          <a:ext cx="2699308" cy="365760"/>
        </p:xfrm>
        <a:graphic>
          <a:graphicData uri="http://schemas.openxmlformats.org/drawingml/2006/table">
            <a:tbl>
              <a:tblPr firstRow="1" bandRow="1">
                <a:tableStyleId>{5C22544A-7EE6-4342-B048-85BDC9FD1C3A}</a:tableStyleId>
              </a:tblPr>
              <a:tblGrid>
                <a:gridCol w="1349654"/>
                <a:gridCol w="1349654"/>
              </a:tblGrid>
              <a:tr h="345987">
                <a:tc>
                  <a:txBody>
                    <a:bodyPr/>
                    <a:lstStyle/>
                    <a:p>
                      <a:r>
                        <a:rPr lang="en-IN" b="1" dirty="0" smtClean="0">
                          <a:solidFill>
                            <a:srgbClr val="002060"/>
                          </a:solidFill>
                          <a:latin typeface="Times New Roman" panose="02020603050405020304" pitchFamily="18" charset="0"/>
                          <a:cs typeface="Times New Roman" panose="02020603050405020304" pitchFamily="18" charset="0"/>
                        </a:rPr>
                        <a:t>45           50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              55           </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60" name="TextBox 59"/>
          <p:cNvSpPr txBox="1"/>
          <p:nvPr/>
        </p:nvSpPr>
        <p:spPr>
          <a:xfrm>
            <a:off x="5355479" y="5112353"/>
            <a:ext cx="3539787" cy="307777"/>
          </a:xfrm>
          <a:prstGeom prst="rect">
            <a:avLst/>
          </a:prstGeom>
          <a:noFill/>
        </p:spPr>
        <p:txBody>
          <a:bodyPr wrap="square" rtlCol="0">
            <a:spAutoFit/>
          </a:bodyPr>
          <a:lstStyle/>
          <a:p>
            <a:pPr algn="just"/>
            <a:r>
              <a:rPr lang="en-IN" sz="1400" b="1" dirty="0" smtClean="0">
                <a:solidFill>
                  <a:srgbClr val="002060"/>
                </a:solidFill>
                <a:latin typeface="Times New Roman" panose="02020603050405020304" pitchFamily="18" charset="0"/>
                <a:cs typeface="Times New Roman" panose="02020603050405020304" pitchFamily="18" charset="0"/>
              </a:rPr>
              <a:t>60 is in final position. </a:t>
            </a:r>
            <a:endParaRPr lang="en-IN" dirty="0">
              <a:solidFill>
                <a:srgbClr val="FF0000"/>
              </a:solidFill>
            </a:endParaRPr>
          </a:p>
        </p:txBody>
      </p:sp>
      <p:sp>
        <p:nvSpPr>
          <p:cNvPr id="6" name="Date Placeholder 5"/>
          <p:cNvSpPr>
            <a:spLocks noGrp="1"/>
          </p:cNvSpPr>
          <p:nvPr>
            <p:ph type="dt" sz="half" idx="10"/>
          </p:nvPr>
        </p:nvSpPr>
        <p:spPr/>
        <p:txBody>
          <a:bodyPr/>
          <a:lstStyle/>
          <a:p>
            <a:fld id="{5E66D281-DF4C-4D1C-AF7D-2002A6C65C85}" type="datetime1">
              <a:rPr lang="en-IN" smtClean="0"/>
              <a:t>21-03-2026</a:t>
            </a:fld>
            <a:endParaRPr lang="en-IN"/>
          </a:p>
        </p:txBody>
      </p:sp>
      <p:sp>
        <p:nvSpPr>
          <p:cNvPr id="9" name="TextBox 8"/>
          <p:cNvSpPr txBox="1"/>
          <p:nvPr/>
        </p:nvSpPr>
        <p:spPr>
          <a:xfrm>
            <a:off x="3857428" y="5715883"/>
            <a:ext cx="583565" cy="369332"/>
          </a:xfrm>
          <a:prstGeom prst="rect">
            <a:avLst/>
          </a:prstGeom>
          <a:noFill/>
        </p:spPr>
        <p:txBody>
          <a:bodyPr wrap="square" rtlCol="0">
            <a:spAutoFit/>
          </a:bodyPr>
          <a:lstStyle/>
          <a:p>
            <a:r>
              <a:rPr lang="en-IN" dirty="0" smtClean="0"/>
              <a:t>S=3</a:t>
            </a:r>
            <a:endParaRPr lang="en-IN" dirty="0"/>
          </a:p>
        </p:txBody>
      </p:sp>
    </p:spTree>
    <p:extLst>
      <p:ext uri="{BB962C8B-B14F-4D97-AF65-F5344CB8AC3E}">
        <p14:creationId xmlns:p14="http://schemas.microsoft.com/office/powerpoint/2010/main" val="205397342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77052" y="575591"/>
            <a:ext cx="11797552" cy="6046339"/>
          </a:xfrm>
        </p:spPr>
        <p:txBody>
          <a:bodyPr>
            <a:normAutofit/>
          </a:bodyPr>
          <a:lstStyle/>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177052" y="6564391"/>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68</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1409583" y="1996234"/>
            <a:ext cx="120482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45 &lt; 55</a:t>
            </a:r>
            <a:endParaRPr lang="en-IN" sz="1400" dirty="0"/>
          </a:p>
        </p:txBody>
      </p:sp>
      <p:sp>
        <p:nvSpPr>
          <p:cNvPr id="19" name="TextBox 18"/>
          <p:cNvSpPr txBox="1"/>
          <p:nvPr/>
        </p:nvSpPr>
        <p:spPr>
          <a:xfrm>
            <a:off x="1696189" y="1073240"/>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21" name="TextBox 20"/>
          <p:cNvSpPr txBox="1"/>
          <p:nvPr/>
        </p:nvSpPr>
        <p:spPr>
          <a:xfrm>
            <a:off x="2571156" y="1101803"/>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41" name="TextBox 40"/>
          <p:cNvSpPr txBox="1"/>
          <p:nvPr/>
        </p:nvSpPr>
        <p:spPr>
          <a:xfrm>
            <a:off x="845591" y="786960"/>
            <a:ext cx="2915772" cy="307777"/>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Consider first part apply quick sort</a:t>
            </a:r>
            <a:endParaRPr lang="en-IN" dirty="0"/>
          </a:p>
        </p:txBody>
      </p:sp>
      <p:cxnSp>
        <p:nvCxnSpPr>
          <p:cNvPr id="46" name="Straight Arrow Connector 45"/>
          <p:cNvCxnSpPr/>
          <p:nvPr/>
        </p:nvCxnSpPr>
        <p:spPr>
          <a:xfrm flipV="1">
            <a:off x="854556" y="2039796"/>
            <a:ext cx="0" cy="24442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42777" y="2203600"/>
            <a:ext cx="943583"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pivot</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51" name="TextBox 50"/>
          <p:cNvSpPr txBox="1"/>
          <p:nvPr/>
        </p:nvSpPr>
        <p:spPr>
          <a:xfrm>
            <a:off x="2592899" y="1986538"/>
            <a:ext cx="1108999" cy="400110"/>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50</a:t>
            </a:r>
            <a:r>
              <a:rPr lang="en-IN" sz="2000" b="1" dirty="0" smtClean="0">
                <a:solidFill>
                  <a:srgbClr val="FF0000"/>
                </a:solidFill>
                <a:latin typeface="Times New Roman" panose="02020603050405020304" pitchFamily="18" charset="0"/>
                <a:cs typeface="Times New Roman" panose="02020603050405020304" pitchFamily="18" charset="0"/>
              </a:rPr>
              <a:t> &gt; 55</a:t>
            </a:r>
            <a:endParaRPr lang="en-IN" sz="1600" dirty="0"/>
          </a:p>
        </p:txBody>
      </p:sp>
      <p:sp>
        <p:nvSpPr>
          <p:cNvPr id="59" name="TextBox 58"/>
          <p:cNvSpPr txBox="1"/>
          <p:nvPr/>
        </p:nvSpPr>
        <p:spPr>
          <a:xfrm>
            <a:off x="5376908" y="2736986"/>
            <a:ext cx="3539787" cy="1292662"/>
          </a:xfrm>
          <a:prstGeom prst="rect">
            <a:avLst/>
          </a:prstGeom>
          <a:noFill/>
        </p:spPr>
        <p:txBody>
          <a:bodyPr wrap="square" rtlCol="0">
            <a:spAutoFit/>
          </a:bodyPr>
          <a:lstStyle/>
          <a:p>
            <a:pPr algn="just"/>
            <a:r>
              <a:rPr lang="en-IN" b="1" dirty="0" err="1">
                <a:solidFill>
                  <a:srgbClr val="002060"/>
                </a:solidFill>
                <a:latin typeface="Times New Roman" panose="02020603050405020304" pitchFamily="18" charset="0"/>
                <a:cs typeface="Times New Roman" panose="02020603050405020304" pitchFamily="18" charset="0"/>
              </a:rPr>
              <a:t>i</a:t>
            </a:r>
            <a:r>
              <a:rPr lang="en-IN" b="1" dirty="0" smtClean="0">
                <a:solidFill>
                  <a:srgbClr val="002060"/>
                </a:solidFill>
                <a:latin typeface="Times New Roman" panose="02020603050405020304" pitchFamily="18" charset="0"/>
                <a:cs typeface="Times New Roman" panose="02020603050405020304" pitchFamily="18" charset="0"/>
              </a:rPr>
              <a:t> ≥ j</a:t>
            </a:r>
          </a:p>
          <a:p>
            <a:pPr algn="just"/>
            <a:r>
              <a:rPr lang="en-IN" sz="1400" b="1" dirty="0" smtClean="0">
                <a:solidFill>
                  <a:srgbClr val="FF0000"/>
                </a:solidFill>
                <a:latin typeface="Times New Roman" panose="02020603050405020304" pitchFamily="18" charset="0"/>
                <a:cs typeface="Times New Roman" panose="02020603050405020304" pitchFamily="18" charset="0"/>
              </a:rPr>
              <a:t>Swap </a:t>
            </a:r>
            <a:r>
              <a:rPr lang="en-IN" sz="1400" b="1" dirty="0" smtClean="0">
                <a:solidFill>
                  <a:srgbClr val="002060"/>
                </a:solidFill>
                <a:latin typeface="Times New Roman" panose="02020603050405020304" pitchFamily="18" charset="0"/>
                <a:cs typeface="Times New Roman" panose="02020603050405020304" pitchFamily="18" charset="0"/>
              </a:rPr>
              <a:t>Pivot and A[j]. </a:t>
            </a:r>
            <a:r>
              <a:rPr lang="en-IN" sz="1400" b="1" dirty="0">
                <a:solidFill>
                  <a:srgbClr val="FF0000"/>
                </a:solidFill>
                <a:latin typeface="Times New Roman" panose="02020603050405020304" pitchFamily="18" charset="0"/>
                <a:cs typeface="Times New Roman" panose="02020603050405020304" pitchFamily="18" charset="0"/>
              </a:rPr>
              <a:t>all the elements before pivot are lesser than it and </a:t>
            </a:r>
            <a:r>
              <a:rPr lang="en-IN" sz="1400" b="1" dirty="0" smtClean="0">
                <a:solidFill>
                  <a:srgbClr val="FF0000"/>
                </a:solidFill>
                <a:latin typeface="Times New Roman" panose="02020603050405020304" pitchFamily="18" charset="0"/>
                <a:cs typeface="Times New Roman" panose="02020603050405020304" pitchFamily="18" charset="0"/>
              </a:rPr>
              <a:t>no elements towards right of pivot</a:t>
            </a:r>
            <a:endParaRPr lang="en-IN" sz="1400" b="1" dirty="0">
              <a:solidFill>
                <a:srgbClr val="FF0000"/>
              </a:solidFill>
              <a:latin typeface="Times New Roman" panose="02020603050405020304" pitchFamily="18" charset="0"/>
              <a:cs typeface="Times New Roman" panose="02020603050405020304" pitchFamily="18" charset="0"/>
            </a:endParaRPr>
          </a:p>
          <a:p>
            <a:pPr algn="just"/>
            <a:endParaRPr lang="en-IN" dirty="0">
              <a:solidFill>
                <a:srgbClr val="FF0000"/>
              </a:solidFill>
            </a:endParaRPr>
          </a:p>
        </p:txBody>
      </p:sp>
      <p:sp>
        <p:nvSpPr>
          <p:cNvPr id="33" name="Rectangle 32"/>
          <p:cNvSpPr/>
          <p:nvPr/>
        </p:nvSpPr>
        <p:spPr>
          <a:xfrm>
            <a:off x="543700" y="3106318"/>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55</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4" name="TextBox 33"/>
          <p:cNvSpPr txBox="1"/>
          <p:nvPr/>
        </p:nvSpPr>
        <p:spPr>
          <a:xfrm>
            <a:off x="2485024" y="2745853"/>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35" name="TextBox 34"/>
          <p:cNvSpPr txBox="1"/>
          <p:nvPr/>
        </p:nvSpPr>
        <p:spPr>
          <a:xfrm>
            <a:off x="1700713" y="4731322"/>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cxnSp>
        <p:nvCxnSpPr>
          <p:cNvPr id="43" name="Straight Connector 42"/>
          <p:cNvCxnSpPr/>
          <p:nvPr/>
        </p:nvCxnSpPr>
        <p:spPr>
          <a:xfrm flipH="1">
            <a:off x="3041418" y="2116773"/>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448970" y="1651568"/>
            <a:ext cx="3647819" cy="800219"/>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55 is pivot 45 is less </a:t>
            </a:r>
            <a:r>
              <a:rPr lang="en-IN" sz="1400" b="1" dirty="0">
                <a:solidFill>
                  <a:srgbClr val="FF0000"/>
                </a:solidFill>
                <a:latin typeface="Times New Roman" panose="02020603050405020304" pitchFamily="18" charset="0"/>
                <a:cs typeface="Times New Roman" panose="02020603050405020304" pitchFamily="18" charset="0"/>
              </a:rPr>
              <a:t>than  pivot, </a:t>
            </a:r>
            <a:r>
              <a:rPr lang="en-IN" sz="1400" b="1" dirty="0" smtClean="0">
                <a:solidFill>
                  <a:srgbClr val="FF0000"/>
                </a:solidFill>
                <a:latin typeface="Times New Roman" panose="02020603050405020304" pitchFamily="18" charset="0"/>
                <a:cs typeface="Times New Roman" panose="02020603050405020304" pitchFamily="18" charset="0"/>
              </a:rPr>
              <a:t>so i++</a:t>
            </a:r>
          </a:p>
          <a:p>
            <a:pPr algn="just"/>
            <a:r>
              <a:rPr lang="en-IN" sz="1400" b="1" dirty="0" smtClean="0">
                <a:solidFill>
                  <a:srgbClr val="FF0000"/>
                </a:solidFill>
                <a:latin typeface="Times New Roman" panose="02020603050405020304" pitchFamily="18" charset="0"/>
                <a:cs typeface="Times New Roman" panose="02020603050405020304" pitchFamily="18" charset="0"/>
              </a:rPr>
              <a:t>50 is not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pivot, so no </a:t>
            </a:r>
            <a:r>
              <a:rPr lang="en-IN" sz="1400" b="1" dirty="0">
                <a:solidFill>
                  <a:srgbClr val="FF0000"/>
                </a:solidFill>
                <a:latin typeface="Times New Roman" panose="02020603050405020304" pitchFamily="18" charset="0"/>
                <a:cs typeface="Times New Roman" panose="02020603050405020304" pitchFamily="18" charset="0"/>
              </a:rPr>
              <a:t>change in </a:t>
            </a:r>
            <a:r>
              <a:rPr lang="en-IN" sz="1400" b="1" dirty="0" smtClean="0">
                <a:solidFill>
                  <a:srgbClr val="FF0000"/>
                </a:solidFill>
                <a:latin typeface="Times New Roman" panose="02020603050405020304" pitchFamily="18" charset="0"/>
                <a:cs typeface="Times New Roman" panose="02020603050405020304" pitchFamily="18" charset="0"/>
              </a:rPr>
              <a:t>j, </a:t>
            </a:r>
          </a:p>
          <a:p>
            <a:endParaRPr lang="en-IN" dirty="0"/>
          </a:p>
        </p:txBody>
      </p:sp>
      <p:graphicFrame>
        <p:nvGraphicFramePr>
          <p:cNvPr id="55" name="Table 54"/>
          <p:cNvGraphicFramePr>
            <a:graphicFrameLocks noGrp="1"/>
          </p:cNvGraphicFramePr>
          <p:nvPr>
            <p:extLst>
              <p:ext uri="{D42A27DB-BD31-4B8C-83A1-F6EECF244321}">
                <p14:modId xmlns:p14="http://schemas.microsoft.com/office/powerpoint/2010/main" val="3953645971"/>
              </p:ext>
            </p:extLst>
          </p:nvPr>
        </p:nvGraphicFramePr>
        <p:xfrm>
          <a:off x="854556" y="5142489"/>
          <a:ext cx="1792416" cy="640080"/>
        </p:xfrm>
        <a:graphic>
          <a:graphicData uri="http://schemas.openxmlformats.org/drawingml/2006/table">
            <a:tbl>
              <a:tblPr firstRow="1" bandRow="1">
                <a:tableStyleId>{5C22544A-7EE6-4342-B048-85BDC9FD1C3A}</a:tableStyleId>
              </a:tblPr>
              <a:tblGrid>
                <a:gridCol w="1792416"/>
              </a:tblGrid>
              <a:tr h="34598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solidFill>
                            <a:srgbClr val="002060"/>
                          </a:solidFill>
                          <a:latin typeface="Times New Roman" panose="02020603050405020304" pitchFamily="18" charset="0"/>
                          <a:cs typeface="Times New Roman" panose="02020603050405020304" pitchFamily="18" charset="0"/>
                        </a:rPr>
                        <a:t>              45            </a:t>
                      </a:r>
                    </a:p>
                    <a:p>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graphicFrame>
        <p:nvGraphicFramePr>
          <p:cNvPr id="36" name="Table 35"/>
          <p:cNvGraphicFramePr>
            <a:graphicFrameLocks noGrp="1"/>
          </p:cNvGraphicFramePr>
          <p:nvPr>
            <p:extLst>
              <p:ext uri="{D42A27DB-BD31-4B8C-83A1-F6EECF244321}">
                <p14:modId xmlns:p14="http://schemas.microsoft.com/office/powerpoint/2010/main" val="4034575731"/>
              </p:ext>
            </p:extLst>
          </p:nvPr>
        </p:nvGraphicFramePr>
        <p:xfrm>
          <a:off x="1734390" y="1535741"/>
          <a:ext cx="1713189" cy="428906"/>
        </p:xfrm>
        <a:graphic>
          <a:graphicData uri="http://schemas.openxmlformats.org/drawingml/2006/table">
            <a:tbl>
              <a:tblPr firstRow="1" bandRow="1">
                <a:tableStyleId>{5C22544A-7EE6-4342-B048-85BDC9FD1C3A}</a:tableStyleId>
              </a:tblPr>
              <a:tblGrid>
                <a:gridCol w="1713189"/>
              </a:tblGrid>
              <a:tr h="4289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solidFill>
                            <a:srgbClr val="002060"/>
                          </a:solidFill>
                          <a:latin typeface="Times New Roman" panose="02020603050405020304" pitchFamily="18" charset="0"/>
                          <a:cs typeface="Times New Roman" panose="02020603050405020304" pitchFamily="18" charset="0"/>
                        </a:rPr>
                        <a:t>45             50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38" name="Rectangle 37"/>
          <p:cNvSpPr/>
          <p:nvPr/>
        </p:nvSpPr>
        <p:spPr>
          <a:xfrm>
            <a:off x="578922" y="1502675"/>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55</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4" name="Table 43"/>
          <p:cNvGraphicFramePr>
            <a:graphicFrameLocks noGrp="1"/>
          </p:cNvGraphicFramePr>
          <p:nvPr>
            <p:extLst>
              <p:ext uri="{D42A27DB-BD31-4B8C-83A1-F6EECF244321}">
                <p14:modId xmlns:p14="http://schemas.microsoft.com/office/powerpoint/2010/main" val="1099475919"/>
              </p:ext>
            </p:extLst>
          </p:nvPr>
        </p:nvGraphicFramePr>
        <p:xfrm>
          <a:off x="1591360" y="3175724"/>
          <a:ext cx="1713189" cy="428906"/>
        </p:xfrm>
        <a:graphic>
          <a:graphicData uri="http://schemas.openxmlformats.org/drawingml/2006/table">
            <a:tbl>
              <a:tblPr firstRow="1" bandRow="1">
                <a:tableStyleId>{5C22544A-7EE6-4342-B048-85BDC9FD1C3A}</a:tableStyleId>
              </a:tblPr>
              <a:tblGrid>
                <a:gridCol w="1713189"/>
              </a:tblGrid>
              <a:tr h="4289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solidFill>
                            <a:srgbClr val="002060"/>
                          </a:solidFill>
                          <a:latin typeface="Times New Roman" panose="02020603050405020304" pitchFamily="18" charset="0"/>
                          <a:cs typeface="Times New Roman" panose="02020603050405020304" pitchFamily="18" charset="0"/>
                        </a:rPr>
                        <a:t>45             50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graphicFrame>
        <p:nvGraphicFramePr>
          <p:cNvPr id="45" name="Table 44"/>
          <p:cNvGraphicFramePr>
            <a:graphicFrameLocks noGrp="1"/>
          </p:cNvGraphicFramePr>
          <p:nvPr>
            <p:extLst>
              <p:ext uri="{D42A27DB-BD31-4B8C-83A1-F6EECF244321}">
                <p14:modId xmlns:p14="http://schemas.microsoft.com/office/powerpoint/2010/main" val="3603491723"/>
              </p:ext>
            </p:extLst>
          </p:nvPr>
        </p:nvGraphicFramePr>
        <p:xfrm>
          <a:off x="692411" y="4151370"/>
          <a:ext cx="1713189" cy="428906"/>
        </p:xfrm>
        <a:graphic>
          <a:graphicData uri="http://schemas.openxmlformats.org/drawingml/2006/table">
            <a:tbl>
              <a:tblPr firstRow="1" bandRow="1">
                <a:tableStyleId>{5C22544A-7EE6-4342-B048-85BDC9FD1C3A}</a:tableStyleId>
              </a:tblPr>
              <a:tblGrid>
                <a:gridCol w="1713189"/>
              </a:tblGrid>
              <a:tr h="4289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solidFill>
                            <a:srgbClr val="002060"/>
                          </a:solidFill>
                          <a:latin typeface="Times New Roman" panose="02020603050405020304" pitchFamily="18" charset="0"/>
                          <a:cs typeface="Times New Roman" panose="02020603050405020304" pitchFamily="18" charset="0"/>
                        </a:rPr>
                        <a:t>50             45</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48" name="Rectangle 47"/>
          <p:cNvSpPr/>
          <p:nvPr/>
        </p:nvSpPr>
        <p:spPr>
          <a:xfrm>
            <a:off x="2601227" y="4115344"/>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55</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52" name="TextBox 51"/>
          <p:cNvSpPr txBox="1"/>
          <p:nvPr/>
        </p:nvSpPr>
        <p:spPr>
          <a:xfrm>
            <a:off x="5448970" y="4096291"/>
            <a:ext cx="3539787" cy="307777"/>
          </a:xfrm>
          <a:prstGeom prst="rect">
            <a:avLst/>
          </a:prstGeom>
          <a:noFill/>
        </p:spPr>
        <p:txBody>
          <a:bodyPr wrap="square" rtlCol="0">
            <a:spAutoFit/>
          </a:bodyPr>
          <a:lstStyle/>
          <a:p>
            <a:pPr algn="just"/>
            <a:r>
              <a:rPr lang="en-IN" sz="1400" b="1" dirty="0" smtClean="0">
                <a:solidFill>
                  <a:srgbClr val="002060"/>
                </a:solidFill>
                <a:latin typeface="Times New Roman" panose="02020603050405020304" pitchFamily="18" charset="0"/>
                <a:cs typeface="Times New Roman" panose="02020603050405020304" pitchFamily="18" charset="0"/>
              </a:rPr>
              <a:t>Pivot is in final position. </a:t>
            </a:r>
            <a:endParaRPr lang="en-IN" dirty="0">
              <a:solidFill>
                <a:srgbClr val="FF0000"/>
              </a:solidFill>
            </a:endParaRPr>
          </a:p>
        </p:txBody>
      </p:sp>
      <p:sp>
        <p:nvSpPr>
          <p:cNvPr id="58" name="Rectangle 57"/>
          <p:cNvSpPr/>
          <p:nvPr/>
        </p:nvSpPr>
        <p:spPr>
          <a:xfrm>
            <a:off x="543700" y="5133263"/>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50</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60" name="TextBox 59"/>
          <p:cNvSpPr txBox="1"/>
          <p:nvPr/>
        </p:nvSpPr>
        <p:spPr>
          <a:xfrm>
            <a:off x="1453649" y="4687414"/>
            <a:ext cx="622560" cy="523220"/>
          </a:xfrm>
          <a:prstGeom prst="rect">
            <a:avLst/>
          </a:prstGeom>
          <a:noFill/>
        </p:spPr>
        <p:txBody>
          <a:bodyPr wrap="square" rtlCol="0">
            <a:spAutoFit/>
          </a:bodyPr>
          <a:lstStyle/>
          <a:p>
            <a:pPr algn="ctr"/>
            <a:r>
              <a:rPr lang="en-IN" sz="2800" b="1" dirty="0" err="1" smtClean="0">
                <a:solidFill>
                  <a:srgbClr val="FF0000"/>
                </a:solidFill>
                <a:latin typeface="Times New Roman" panose="02020603050405020304" pitchFamily="18" charset="0"/>
                <a:cs typeface="Times New Roman" panose="02020603050405020304" pitchFamily="18" charset="0"/>
              </a:rPr>
              <a:t>i</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62" name="TextBox 61"/>
          <p:cNvSpPr txBox="1"/>
          <p:nvPr/>
        </p:nvSpPr>
        <p:spPr>
          <a:xfrm>
            <a:off x="5407929" y="4672064"/>
            <a:ext cx="3539787" cy="1292662"/>
          </a:xfrm>
          <a:prstGeom prst="rect">
            <a:avLst/>
          </a:prstGeom>
          <a:noFill/>
        </p:spPr>
        <p:txBody>
          <a:bodyPr wrap="square" rtlCol="0">
            <a:spAutoFit/>
          </a:bodyPr>
          <a:lstStyle/>
          <a:p>
            <a:pPr algn="just"/>
            <a:r>
              <a:rPr lang="en-IN" b="1" dirty="0" err="1">
                <a:solidFill>
                  <a:srgbClr val="002060"/>
                </a:solidFill>
                <a:latin typeface="Times New Roman" panose="02020603050405020304" pitchFamily="18" charset="0"/>
                <a:cs typeface="Times New Roman" panose="02020603050405020304" pitchFamily="18" charset="0"/>
              </a:rPr>
              <a:t>i</a:t>
            </a:r>
            <a:r>
              <a:rPr lang="en-IN" b="1" dirty="0" smtClean="0">
                <a:solidFill>
                  <a:srgbClr val="002060"/>
                </a:solidFill>
                <a:latin typeface="Times New Roman" panose="02020603050405020304" pitchFamily="18" charset="0"/>
                <a:cs typeface="Times New Roman" panose="02020603050405020304" pitchFamily="18" charset="0"/>
              </a:rPr>
              <a:t> ≥ j</a:t>
            </a:r>
          </a:p>
          <a:p>
            <a:pPr algn="just"/>
            <a:r>
              <a:rPr lang="en-IN" sz="1400" b="1" dirty="0" smtClean="0">
                <a:solidFill>
                  <a:srgbClr val="FF0000"/>
                </a:solidFill>
                <a:latin typeface="Times New Roman" panose="02020603050405020304" pitchFamily="18" charset="0"/>
                <a:cs typeface="Times New Roman" panose="02020603050405020304" pitchFamily="18" charset="0"/>
              </a:rPr>
              <a:t>Swap </a:t>
            </a:r>
            <a:r>
              <a:rPr lang="en-IN" sz="1400" b="1" dirty="0" smtClean="0">
                <a:solidFill>
                  <a:srgbClr val="002060"/>
                </a:solidFill>
                <a:latin typeface="Times New Roman" panose="02020603050405020304" pitchFamily="18" charset="0"/>
                <a:cs typeface="Times New Roman" panose="02020603050405020304" pitchFamily="18" charset="0"/>
              </a:rPr>
              <a:t>Pivot and A[j]. </a:t>
            </a:r>
            <a:r>
              <a:rPr lang="en-IN" sz="1400" b="1" dirty="0">
                <a:solidFill>
                  <a:srgbClr val="FF0000"/>
                </a:solidFill>
                <a:latin typeface="Times New Roman" panose="02020603050405020304" pitchFamily="18" charset="0"/>
                <a:cs typeface="Times New Roman" panose="02020603050405020304" pitchFamily="18" charset="0"/>
              </a:rPr>
              <a:t>all the elements before pivot are lesser than it and </a:t>
            </a:r>
            <a:r>
              <a:rPr lang="en-IN" sz="1400" b="1" dirty="0" smtClean="0">
                <a:solidFill>
                  <a:srgbClr val="FF0000"/>
                </a:solidFill>
                <a:latin typeface="Times New Roman" panose="02020603050405020304" pitchFamily="18" charset="0"/>
                <a:cs typeface="Times New Roman" panose="02020603050405020304" pitchFamily="18" charset="0"/>
              </a:rPr>
              <a:t>no elements towards right of pivot</a:t>
            </a:r>
            <a:endParaRPr lang="en-IN" sz="1400" b="1" dirty="0">
              <a:solidFill>
                <a:srgbClr val="FF0000"/>
              </a:solidFill>
              <a:latin typeface="Times New Roman" panose="02020603050405020304" pitchFamily="18" charset="0"/>
              <a:cs typeface="Times New Roman" panose="02020603050405020304" pitchFamily="18" charset="0"/>
            </a:endParaRPr>
          </a:p>
          <a:p>
            <a:pPr algn="just"/>
            <a:endParaRPr lang="en-IN" dirty="0">
              <a:solidFill>
                <a:srgbClr val="FF0000"/>
              </a:solidFill>
            </a:endParaRPr>
          </a:p>
        </p:txBody>
      </p:sp>
      <p:graphicFrame>
        <p:nvGraphicFramePr>
          <p:cNvPr id="63" name="Table 62"/>
          <p:cNvGraphicFramePr>
            <a:graphicFrameLocks noGrp="1"/>
          </p:cNvGraphicFramePr>
          <p:nvPr>
            <p:extLst>
              <p:ext uri="{D42A27DB-BD31-4B8C-83A1-F6EECF244321}">
                <p14:modId xmlns:p14="http://schemas.microsoft.com/office/powerpoint/2010/main" val="1257303526"/>
              </p:ext>
            </p:extLst>
          </p:nvPr>
        </p:nvGraphicFramePr>
        <p:xfrm>
          <a:off x="539074" y="5685565"/>
          <a:ext cx="964754" cy="914400"/>
        </p:xfrm>
        <a:graphic>
          <a:graphicData uri="http://schemas.openxmlformats.org/drawingml/2006/table">
            <a:tbl>
              <a:tblPr firstRow="1" bandRow="1">
                <a:tableStyleId>{5C22544A-7EE6-4342-B048-85BDC9FD1C3A}</a:tableStyleId>
              </a:tblPr>
              <a:tblGrid>
                <a:gridCol w="964754"/>
              </a:tblGrid>
              <a:tr h="6176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solidFill>
                            <a:srgbClr val="002060"/>
                          </a:solidFill>
                          <a:latin typeface="Times New Roman" panose="02020603050405020304" pitchFamily="18" charset="0"/>
                          <a:cs typeface="Times New Roman" panose="02020603050405020304" pitchFamily="18" charset="0"/>
                        </a:rPr>
                        <a:t>            45     </a:t>
                      </a:r>
                    </a:p>
                    <a:p>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64" name="Rectangle 63"/>
          <p:cNvSpPr/>
          <p:nvPr/>
        </p:nvSpPr>
        <p:spPr>
          <a:xfrm>
            <a:off x="1527653" y="5910145"/>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50</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65" name="TextBox 64"/>
          <p:cNvSpPr txBox="1"/>
          <p:nvPr/>
        </p:nvSpPr>
        <p:spPr>
          <a:xfrm>
            <a:off x="5463155" y="5942082"/>
            <a:ext cx="3539787" cy="307777"/>
          </a:xfrm>
          <a:prstGeom prst="rect">
            <a:avLst/>
          </a:prstGeom>
          <a:noFill/>
        </p:spPr>
        <p:txBody>
          <a:bodyPr wrap="square" rtlCol="0">
            <a:spAutoFit/>
          </a:bodyPr>
          <a:lstStyle/>
          <a:p>
            <a:pPr algn="just"/>
            <a:r>
              <a:rPr lang="en-IN" sz="1400" b="1" dirty="0" smtClean="0">
                <a:solidFill>
                  <a:srgbClr val="002060"/>
                </a:solidFill>
                <a:latin typeface="Times New Roman" panose="02020603050405020304" pitchFamily="18" charset="0"/>
                <a:cs typeface="Times New Roman" panose="02020603050405020304" pitchFamily="18" charset="0"/>
              </a:rPr>
              <a:t>Pivot is in final position. </a:t>
            </a:r>
            <a:endParaRPr lang="en-IN" dirty="0">
              <a:solidFill>
                <a:srgbClr val="FF0000"/>
              </a:solidFill>
            </a:endParaRPr>
          </a:p>
        </p:txBody>
      </p:sp>
      <p:sp>
        <p:nvSpPr>
          <p:cNvPr id="67" name="TextBox 66"/>
          <p:cNvSpPr txBox="1"/>
          <p:nvPr/>
        </p:nvSpPr>
        <p:spPr>
          <a:xfrm>
            <a:off x="2614403" y="3629480"/>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68" name="TextBox 67"/>
          <p:cNvSpPr txBox="1"/>
          <p:nvPr/>
        </p:nvSpPr>
        <p:spPr>
          <a:xfrm>
            <a:off x="2745105" y="2728584"/>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69" name="TextBox 68"/>
          <p:cNvSpPr txBox="1"/>
          <p:nvPr/>
        </p:nvSpPr>
        <p:spPr>
          <a:xfrm>
            <a:off x="3100119" y="3636410"/>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6" name="Date Placeholder 5"/>
          <p:cNvSpPr>
            <a:spLocks noGrp="1"/>
          </p:cNvSpPr>
          <p:nvPr>
            <p:ph type="dt" sz="half" idx="10"/>
          </p:nvPr>
        </p:nvSpPr>
        <p:spPr/>
        <p:txBody>
          <a:bodyPr/>
          <a:lstStyle/>
          <a:p>
            <a:fld id="{1FC70F99-8BF7-4276-93B2-7DE879E4B55F}" type="datetime1">
              <a:rPr lang="en-IN" smtClean="0"/>
              <a:t>21-03-2026</a:t>
            </a:fld>
            <a:endParaRPr lang="en-IN" dirty="0"/>
          </a:p>
        </p:txBody>
      </p:sp>
      <p:sp>
        <p:nvSpPr>
          <p:cNvPr id="9" name="TextBox 8"/>
          <p:cNvSpPr txBox="1"/>
          <p:nvPr/>
        </p:nvSpPr>
        <p:spPr>
          <a:xfrm>
            <a:off x="3048908" y="4731322"/>
            <a:ext cx="532492" cy="369332"/>
          </a:xfrm>
          <a:prstGeom prst="rect">
            <a:avLst/>
          </a:prstGeom>
          <a:noFill/>
        </p:spPr>
        <p:txBody>
          <a:bodyPr wrap="square" rtlCol="0">
            <a:spAutoFit/>
          </a:bodyPr>
          <a:lstStyle/>
          <a:p>
            <a:r>
              <a:rPr lang="en-IN" dirty="0" smtClean="0"/>
              <a:t>S=2</a:t>
            </a:r>
            <a:endParaRPr lang="en-IN" dirty="0"/>
          </a:p>
        </p:txBody>
      </p:sp>
      <p:sp>
        <p:nvSpPr>
          <p:cNvPr id="10" name="TextBox 9"/>
          <p:cNvSpPr txBox="1"/>
          <p:nvPr/>
        </p:nvSpPr>
        <p:spPr>
          <a:xfrm>
            <a:off x="2571156" y="5910145"/>
            <a:ext cx="522900" cy="369332"/>
          </a:xfrm>
          <a:prstGeom prst="rect">
            <a:avLst/>
          </a:prstGeom>
          <a:noFill/>
        </p:spPr>
        <p:txBody>
          <a:bodyPr wrap="none" rtlCol="0">
            <a:spAutoFit/>
          </a:bodyPr>
          <a:lstStyle/>
          <a:p>
            <a:r>
              <a:rPr lang="en-IN" dirty="0" smtClean="0"/>
              <a:t>S=1</a:t>
            </a:r>
            <a:endParaRPr lang="en-IN" dirty="0"/>
          </a:p>
        </p:txBody>
      </p:sp>
    </p:spTree>
    <p:extLst>
      <p:ext uri="{BB962C8B-B14F-4D97-AF65-F5344CB8AC3E}">
        <p14:creationId xmlns:p14="http://schemas.microsoft.com/office/powerpoint/2010/main" val="24215246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77052" y="575591"/>
            <a:ext cx="11797552" cy="6046339"/>
          </a:xfrm>
        </p:spPr>
        <p:txBody>
          <a:bodyPr>
            <a:normAutofit/>
          </a:bodyPr>
          <a:lstStyle/>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177052" y="6564391"/>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69</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1418771" y="1250562"/>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21" name="TextBox 20"/>
          <p:cNvSpPr txBox="1"/>
          <p:nvPr/>
        </p:nvSpPr>
        <p:spPr>
          <a:xfrm>
            <a:off x="3056385" y="1227597"/>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41" name="TextBox 40"/>
          <p:cNvSpPr txBox="1"/>
          <p:nvPr/>
        </p:nvSpPr>
        <p:spPr>
          <a:xfrm>
            <a:off x="845590" y="786960"/>
            <a:ext cx="3242315" cy="307777"/>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Consider second part apply quick sort</a:t>
            </a:r>
            <a:endParaRPr lang="en-IN" dirty="0"/>
          </a:p>
        </p:txBody>
      </p:sp>
      <p:cxnSp>
        <p:nvCxnSpPr>
          <p:cNvPr id="46" name="Straight Arrow Connector 45"/>
          <p:cNvCxnSpPr/>
          <p:nvPr/>
        </p:nvCxnSpPr>
        <p:spPr>
          <a:xfrm flipV="1">
            <a:off x="854556" y="2039796"/>
            <a:ext cx="0" cy="24442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42777" y="2203600"/>
            <a:ext cx="943583"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pivot</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59" name="TextBox 58"/>
          <p:cNvSpPr txBox="1"/>
          <p:nvPr/>
        </p:nvSpPr>
        <p:spPr>
          <a:xfrm>
            <a:off x="5544529" y="4115241"/>
            <a:ext cx="3539787" cy="1292662"/>
          </a:xfrm>
          <a:prstGeom prst="rect">
            <a:avLst/>
          </a:prstGeom>
          <a:noFill/>
        </p:spPr>
        <p:txBody>
          <a:bodyPr wrap="square" rtlCol="0">
            <a:spAutoFit/>
          </a:bodyPr>
          <a:lstStyle/>
          <a:p>
            <a:pPr algn="just"/>
            <a:r>
              <a:rPr lang="en-IN" b="1" dirty="0" err="1">
                <a:solidFill>
                  <a:srgbClr val="002060"/>
                </a:solidFill>
                <a:latin typeface="Times New Roman" panose="02020603050405020304" pitchFamily="18" charset="0"/>
                <a:cs typeface="Times New Roman" panose="02020603050405020304" pitchFamily="18" charset="0"/>
              </a:rPr>
              <a:t>i</a:t>
            </a:r>
            <a:r>
              <a:rPr lang="en-IN" b="1" dirty="0" smtClean="0">
                <a:solidFill>
                  <a:srgbClr val="002060"/>
                </a:solidFill>
                <a:latin typeface="Times New Roman" panose="02020603050405020304" pitchFamily="18" charset="0"/>
                <a:cs typeface="Times New Roman" panose="02020603050405020304" pitchFamily="18" charset="0"/>
              </a:rPr>
              <a:t> ≥ j</a:t>
            </a:r>
          </a:p>
          <a:p>
            <a:pPr algn="just"/>
            <a:r>
              <a:rPr lang="en-IN" sz="1400" b="1" dirty="0" smtClean="0">
                <a:solidFill>
                  <a:srgbClr val="FF0000"/>
                </a:solidFill>
                <a:latin typeface="Times New Roman" panose="02020603050405020304" pitchFamily="18" charset="0"/>
                <a:cs typeface="Times New Roman" panose="02020603050405020304" pitchFamily="18" charset="0"/>
              </a:rPr>
              <a:t>Swap </a:t>
            </a:r>
            <a:r>
              <a:rPr lang="en-IN" sz="1400" b="1" dirty="0" smtClean="0">
                <a:solidFill>
                  <a:srgbClr val="002060"/>
                </a:solidFill>
                <a:latin typeface="Times New Roman" panose="02020603050405020304" pitchFamily="18" charset="0"/>
                <a:cs typeface="Times New Roman" panose="02020603050405020304" pitchFamily="18" charset="0"/>
              </a:rPr>
              <a:t>Pivot and A[j]. </a:t>
            </a:r>
            <a:r>
              <a:rPr lang="en-IN" sz="1400" b="1" dirty="0">
                <a:solidFill>
                  <a:srgbClr val="FF0000"/>
                </a:solidFill>
                <a:latin typeface="Times New Roman" panose="02020603050405020304" pitchFamily="18" charset="0"/>
                <a:cs typeface="Times New Roman" panose="02020603050405020304" pitchFamily="18" charset="0"/>
              </a:rPr>
              <a:t>all the elements before pivot are lesser than it and </a:t>
            </a:r>
            <a:r>
              <a:rPr lang="en-IN" sz="1400" b="1" dirty="0" smtClean="0">
                <a:solidFill>
                  <a:srgbClr val="FF0000"/>
                </a:solidFill>
                <a:latin typeface="Times New Roman" panose="02020603050405020304" pitchFamily="18" charset="0"/>
                <a:cs typeface="Times New Roman" panose="02020603050405020304" pitchFamily="18" charset="0"/>
              </a:rPr>
              <a:t>no elements towards right of pivot</a:t>
            </a:r>
            <a:endParaRPr lang="en-IN" sz="1400" b="1" dirty="0">
              <a:solidFill>
                <a:srgbClr val="FF0000"/>
              </a:solidFill>
              <a:latin typeface="Times New Roman" panose="02020603050405020304" pitchFamily="18" charset="0"/>
              <a:cs typeface="Times New Roman" panose="02020603050405020304" pitchFamily="18" charset="0"/>
            </a:endParaRPr>
          </a:p>
          <a:p>
            <a:pPr algn="just"/>
            <a:endParaRPr lang="en-IN" dirty="0">
              <a:solidFill>
                <a:srgbClr val="FF0000"/>
              </a:solidFill>
            </a:endParaRPr>
          </a:p>
        </p:txBody>
      </p:sp>
      <p:cxnSp>
        <p:nvCxnSpPr>
          <p:cNvPr id="43" name="Straight Connector 42"/>
          <p:cNvCxnSpPr/>
          <p:nvPr/>
        </p:nvCxnSpPr>
        <p:spPr>
          <a:xfrm flipH="1">
            <a:off x="3265717" y="2143791"/>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448970" y="1651568"/>
            <a:ext cx="3647819" cy="800219"/>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85 is pivot 80 is less </a:t>
            </a:r>
            <a:r>
              <a:rPr lang="en-IN" sz="1400" b="1" dirty="0">
                <a:solidFill>
                  <a:srgbClr val="FF0000"/>
                </a:solidFill>
                <a:latin typeface="Times New Roman" panose="02020603050405020304" pitchFamily="18" charset="0"/>
                <a:cs typeface="Times New Roman" panose="02020603050405020304" pitchFamily="18" charset="0"/>
              </a:rPr>
              <a:t>than  pivot, </a:t>
            </a:r>
            <a:r>
              <a:rPr lang="en-IN" sz="1400" b="1" dirty="0" smtClean="0">
                <a:solidFill>
                  <a:srgbClr val="FF0000"/>
                </a:solidFill>
                <a:latin typeface="Times New Roman" panose="02020603050405020304" pitchFamily="18" charset="0"/>
                <a:cs typeface="Times New Roman" panose="02020603050405020304" pitchFamily="18" charset="0"/>
              </a:rPr>
              <a:t>so i++</a:t>
            </a:r>
          </a:p>
          <a:p>
            <a:pPr algn="just"/>
            <a:r>
              <a:rPr lang="en-IN" sz="1400" b="1" dirty="0" smtClean="0">
                <a:solidFill>
                  <a:srgbClr val="FF0000"/>
                </a:solidFill>
                <a:latin typeface="Times New Roman" panose="02020603050405020304" pitchFamily="18" charset="0"/>
                <a:cs typeface="Times New Roman" panose="02020603050405020304" pitchFamily="18" charset="0"/>
              </a:rPr>
              <a:t>70 is not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pivot, so no </a:t>
            </a:r>
            <a:r>
              <a:rPr lang="en-IN" sz="1400" b="1" dirty="0">
                <a:solidFill>
                  <a:srgbClr val="FF0000"/>
                </a:solidFill>
                <a:latin typeface="Times New Roman" panose="02020603050405020304" pitchFamily="18" charset="0"/>
                <a:cs typeface="Times New Roman" panose="02020603050405020304" pitchFamily="18" charset="0"/>
              </a:rPr>
              <a:t>change in </a:t>
            </a:r>
            <a:r>
              <a:rPr lang="en-IN" sz="1400" b="1" dirty="0" smtClean="0">
                <a:solidFill>
                  <a:srgbClr val="FF0000"/>
                </a:solidFill>
                <a:latin typeface="Times New Roman" panose="02020603050405020304" pitchFamily="18" charset="0"/>
                <a:cs typeface="Times New Roman" panose="02020603050405020304" pitchFamily="18" charset="0"/>
              </a:rPr>
              <a:t>j, </a:t>
            </a:r>
          </a:p>
          <a:p>
            <a:endParaRPr lang="en-IN" dirty="0"/>
          </a:p>
        </p:txBody>
      </p:sp>
      <p:sp>
        <p:nvSpPr>
          <p:cNvPr id="48" name="Rectangle 47"/>
          <p:cNvSpPr/>
          <p:nvPr/>
        </p:nvSpPr>
        <p:spPr>
          <a:xfrm>
            <a:off x="467826" y="1617840"/>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85</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52" name="TextBox 51"/>
          <p:cNvSpPr txBox="1"/>
          <p:nvPr/>
        </p:nvSpPr>
        <p:spPr>
          <a:xfrm>
            <a:off x="5582426" y="5392519"/>
            <a:ext cx="3539787" cy="307777"/>
          </a:xfrm>
          <a:prstGeom prst="rect">
            <a:avLst/>
          </a:prstGeom>
          <a:noFill/>
        </p:spPr>
        <p:txBody>
          <a:bodyPr wrap="square" rtlCol="0">
            <a:spAutoFit/>
          </a:bodyPr>
          <a:lstStyle/>
          <a:p>
            <a:pPr algn="just"/>
            <a:r>
              <a:rPr lang="en-IN" sz="1400" b="1" dirty="0" smtClean="0">
                <a:solidFill>
                  <a:srgbClr val="002060"/>
                </a:solidFill>
                <a:latin typeface="Times New Roman" panose="02020603050405020304" pitchFamily="18" charset="0"/>
                <a:cs typeface="Times New Roman" panose="02020603050405020304" pitchFamily="18" charset="0"/>
              </a:rPr>
              <a:t>Pivot is in final position. </a:t>
            </a:r>
            <a:endParaRPr lang="en-IN" dirty="0">
              <a:solidFill>
                <a:srgbClr val="FF0000"/>
              </a:solidFill>
            </a:endParaRPr>
          </a:p>
        </p:txBody>
      </p:sp>
      <p:graphicFrame>
        <p:nvGraphicFramePr>
          <p:cNvPr id="37" name="Table 36"/>
          <p:cNvGraphicFramePr>
            <a:graphicFrameLocks noGrp="1"/>
          </p:cNvGraphicFramePr>
          <p:nvPr>
            <p:extLst>
              <p:ext uri="{D42A27DB-BD31-4B8C-83A1-F6EECF244321}">
                <p14:modId xmlns:p14="http://schemas.microsoft.com/office/powerpoint/2010/main" val="3369547398"/>
              </p:ext>
            </p:extLst>
          </p:nvPr>
        </p:nvGraphicFramePr>
        <p:xfrm>
          <a:off x="1133974" y="1712227"/>
          <a:ext cx="2923590" cy="365760"/>
        </p:xfrm>
        <a:graphic>
          <a:graphicData uri="http://schemas.openxmlformats.org/drawingml/2006/table">
            <a:tbl>
              <a:tblPr firstRow="1" bandRow="1">
                <a:tableStyleId>{5C22544A-7EE6-4342-B048-85BDC9FD1C3A}</a:tableStyleId>
              </a:tblPr>
              <a:tblGrid>
                <a:gridCol w="974530"/>
                <a:gridCol w="974530"/>
                <a:gridCol w="974530"/>
              </a:tblGrid>
              <a:tr h="345987">
                <a:tc>
                  <a:txBody>
                    <a:bodyPr/>
                    <a:lstStyle/>
                    <a:p>
                      <a:r>
                        <a:rPr lang="en-IN" b="1" dirty="0" smtClean="0">
                          <a:solidFill>
                            <a:srgbClr val="002060"/>
                          </a:solidFill>
                          <a:latin typeface="Times New Roman" panose="02020603050405020304" pitchFamily="18" charset="0"/>
                          <a:cs typeface="Times New Roman" panose="02020603050405020304" pitchFamily="18" charset="0"/>
                        </a:rPr>
                        <a:t>       80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   75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70</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39" name="TextBox 38"/>
          <p:cNvSpPr txBox="1"/>
          <p:nvPr/>
        </p:nvSpPr>
        <p:spPr>
          <a:xfrm>
            <a:off x="1295727" y="2202608"/>
            <a:ext cx="120482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80 &lt; </a:t>
            </a:r>
            <a:r>
              <a:rPr lang="en-IN" b="1" dirty="0">
                <a:solidFill>
                  <a:srgbClr val="FF0000"/>
                </a:solidFill>
                <a:latin typeface="Times New Roman" panose="02020603050405020304" pitchFamily="18" charset="0"/>
                <a:cs typeface="Times New Roman" panose="02020603050405020304" pitchFamily="18" charset="0"/>
              </a:rPr>
              <a:t>8</a:t>
            </a:r>
            <a:r>
              <a:rPr lang="en-IN" b="1" dirty="0" smtClean="0">
                <a:solidFill>
                  <a:srgbClr val="FF0000"/>
                </a:solidFill>
                <a:latin typeface="Times New Roman" panose="02020603050405020304" pitchFamily="18" charset="0"/>
                <a:cs typeface="Times New Roman" panose="02020603050405020304" pitchFamily="18" charset="0"/>
              </a:rPr>
              <a:t>5</a:t>
            </a:r>
            <a:endParaRPr lang="en-IN" sz="1400" dirty="0"/>
          </a:p>
        </p:txBody>
      </p:sp>
      <p:sp>
        <p:nvSpPr>
          <p:cNvPr id="40" name="TextBox 39"/>
          <p:cNvSpPr txBox="1"/>
          <p:nvPr/>
        </p:nvSpPr>
        <p:spPr>
          <a:xfrm>
            <a:off x="2813165" y="2039796"/>
            <a:ext cx="1108999" cy="400110"/>
          </a:xfrm>
          <a:prstGeom prst="rect">
            <a:avLst/>
          </a:prstGeom>
          <a:noFill/>
        </p:spPr>
        <p:txBody>
          <a:bodyPr wrap="square" rtlCol="0">
            <a:spAutoFit/>
          </a:bodyPr>
          <a:lstStyle/>
          <a:p>
            <a:pPr algn="ctr"/>
            <a:r>
              <a:rPr lang="en-IN" sz="2000" b="1" dirty="0" smtClean="0">
                <a:solidFill>
                  <a:srgbClr val="FF0000"/>
                </a:solidFill>
                <a:latin typeface="Times New Roman" panose="02020603050405020304" pitchFamily="18" charset="0"/>
                <a:cs typeface="Times New Roman" panose="02020603050405020304" pitchFamily="18" charset="0"/>
              </a:rPr>
              <a:t>70 &gt; 85</a:t>
            </a:r>
            <a:endParaRPr lang="en-IN" sz="1600" dirty="0"/>
          </a:p>
        </p:txBody>
      </p:sp>
      <p:sp>
        <p:nvSpPr>
          <p:cNvPr id="42" name="Rectangle 41"/>
          <p:cNvSpPr/>
          <p:nvPr/>
        </p:nvSpPr>
        <p:spPr>
          <a:xfrm>
            <a:off x="456018" y="3085922"/>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85</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9" name="Table 48"/>
          <p:cNvGraphicFramePr>
            <a:graphicFrameLocks noGrp="1"/>
          </p:cNvGraphicFramePr>
          <p:nvPr>
            <p:extLst>
              <p:ext uri="{D42A27DB-BD31-4B8C-83A1-F6EECF244321}">
                <p14:modId xmlns:p14="http://schemas.microsoft.com/office/powerpoint/2010/main" val="1432245344"/>
              </p:ext>
            </p:extLst>
          </p:nvPr>
        </p:nvGraphicFramePr>
        <p:xfrm>
          <a:off x="1166826" y="3119462"/>
          <a:ext cx="2923590" cy="365760"/>
        </p:xfrm>
        <a:graphic>
          <a:graphicData uri="http://schemas.openxmlformats.org/drawingml/2006/table">
            <a:tbl>
              <a:tblPr firstRow="1" bandRow="1">
                <a:tableStyleId>{5C22544A-7EE6-4342-B048-85BDC9FD1C3A}</a:tableStyleId>
              </a:tblPr>
              <a:tblGrid>
                <a:gridCol w="974530"/>
                <a:gridCol w="974530"/>
                <a:gridCol w="974530"/>
              </a:tblGrid>
              <a:tr h="345987">
                <a:tc>
                  <a:txBody>
                    <a:bodyPr/>
                    <a:lstStyle/>
                    <a:p>
                      <a:r>
                        <a:rPr lang="en-IN" b="1" dirty="0" smtClean="0">
                          <a:solidFill>
                            <a:srgbClr val="002060"/>
                          </a:solidFill>
                          <a:latin typeface="Times New Roman" panose="02020603050405020304" pitchFamily="18" charset="0"/>
                          <a:cs typeface="Times New Roman" panose="02020603050405020304" pitchFamily="18" charset="0"/>
                        </a:rPr>
                        <a:t>       80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   75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70</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53" name="TextBox 52"/>
          <p:cNvSpPr txBox="1"/>
          <p:nvPr/>
        </p:nvSpPr>
        <p:spPr>
          <a:xfrm>
            <a:off x="2213096" y="2751055"/>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54" name="TextBox 53"/>
          <p:cNvSpPr txBox="1"/>
          <p:nvPr/>
        </p:nvSpPr>
        <p:spPr>
          <a:xfrm>
            <a:off x="3011124" y="2634321"/>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56" name="TextBox 55"/>
          <p:cNvSpPr txBox="1"/>
          <p:nvPr/>
        </p:nvSpPr>
        <p:spPr>
          <a:xfrm>
            <a:off x="1898137" y="3466965"/>
            <a:ext cx="120482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75 &lt; </a:t>
            </a:r>
            <a:r>
              <a:rPr lang="en-IN" b="1" dirty="0">
                <a:solidFill>
                  <a:srgbClr val="FF0000"/>
                </a:solidFill>
                <a:latin typeface="Times New Roman" panose="02020603050405020304" pitchFamily="18" charset="0"/>
                <a:cs typeface="Times New Roman" panose="02020603050405020304" pitchFamily="18" charset="0"/>
              </a:rPr>
              <a:t>8</a:t>
            </a:r>
            <a:r>
              <a:rPr lang="en-IN" b="1" dirty="0" smtClean="0">
                <a:solidFill>
                  <a:srgbClr val="FF0000"/>
                </a:solidFill>
                <a:latin typeface="Times New Roman" panose="02020603050405020304" pitchFamily="18" charset="0"/>
                <a:cs typeface="Times New Roman" panose="02020603050405020304" pitchFamily="18" charset="0"/>
              </a:rPr>
              <a:t>5</a:t>
            </a:r>
            <a:endParaRPr lang="en-IN" sz="1400" dirty="0"/>
          </a:p>
        </p:txBody>
      </p:sp>
      <p:sp>
        <p:nvSpPr>
          <p:cNvPr id="57" name="TextBox 56"/>
          <p:cNvSpPr txBox="1"/>
          <p:nvPr/>
        </p:nvSpPr>
        <p:spPr>
          <a:xfrm>
            <a:off x="5500967" y="2907908"/>
            <a:ext cx="3647819" cy="800219"/>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75 is less </a:t>
            </a:r>
            <a:r>
              <a:rPr lang="en-IN" sz="1400" b="1" dirty="0">
                <a:solidFill>
                  <a:srgbClr val="FF0000"/>
                </a:solidFill>
                <a:latin typeface="Times New Roman" panose="02020603050405020304" pitchFamily="18" charset="0"/>
                <a:cs typeface="Times New Roman" panose="02020603050405020304" pitchFamily="18" charset="0"/>
              </a:rPr>
              <a:t>than  pivot, </a:t>
            </a:r>
            <a:r>
              <a:rPr lang="en-IN" sz="1400" b="1" dirty="0" smtClean="0">
                <a:solidFill>
                  <a:srgbClr val="FF0000"/>
                </a:solidFill>
                <a:latin typeface="Times New Roman" panose="02020603050405020304" pitchFamily="18" charset="0"/>
                <a:cs typeface="Times New Roman" panose="02020603050405020304" pitchFamily="18" charset="0"/>
              </a:rPr>
              <a:t>so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a:t>
            </a:r>
          </a:p>
          <a:p>
            <a:pPr algn="just"/>
            <a:r>
              <a:rPr lang="en-IN" sz="1400" b="1" dirty="0" smtClean="0">
                <a:solidFill>
                  <a:srgbClr val="FF0000"/>
                </a:solidFill>
                <a:latin typeface="Times New Roman" panose="02020603050405020304" pitchFamily="18" charset="0"/>
                <a:cs typeface="Times New Roman" panose="02020603050405020304" pitchFamily="18" charset="0"/>
              </a:rPr>
              <a:t>70 is not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pivot, so no </a:t>
            </a:r>
            <a:r>
              <a:rPr lang="en-IN" sz="1400" b="1" dirty="0">
                <a:solidFill>
                  <a:srgbClr val="FF0000"/>
                </a:solidFill>
                <a:latin typeface="Times New Roman" panose="02020603050405020304" pitchFamily="18" charset="0"/>
                <a:cs typeface="Times New Roman" panose="02020603050405020304" pitchFamily="18" charset="0"/>
              </a:rPr>
              <a:t>change in </a:t>
            </a:r>
            <a:r>
              <a:rPr lang="en-IN" sz="1400" b="1" dirty="0" smtClean="0">
                <a:solidFill>
                  <a:srgbClr val="FF0000"/>
                </a:solidFill>
                <a:latin typeface="Times New Roman" panose="02020603050405020304" pitchFamily="18" charset="0"/>
                <a:cs typeface="Times New Roman" panose="02020603050405020304" pitchFamily="18" charset="0"/>
              </a:rPr>
              <a:t>j, </a:t>
            </a:r>
          </a:p>
          <a:p>
            <a:endParaRPr lang="en-IN" dirty="0"/>
          </a:p>
        </p:txBody>
      </p:sp>
      <p:sp>
        <p:nvSpPr>
          <p:cNvPr id="66" name="Rectangle 65"/>
          <p:cNvSpPr/>
          <p:nvPr/>
        </p:nvSpPr>
        <p:spPr>
          <a:xfrm>
            <a:off x="473947" y="4422623"/>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85</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67" name="Table 66"/>
          <p:cNvGraphicFramePr>
            <a:graphicFrameLocks noGrp="1"/>
          </p:cNvGraphicFramePr>
          <p:nvPr>
            <p:extLst>
              <p:ext uri="{D42A27DB-BD31-4B8C-83A1-F6EECF244321}">
                <p14:modId xmlns:p14="http://schemas.microsoft.com/office/powerpoint/2010/main" val="278673211"/>
              </p:ext>
            </p:extLst>
          </p:nvPr>
        </p:nvGraphicFramePr>
        <p:xfrm>
          <a:off x="1059800" y="4391176"/>
          <a:ext cx="2923590" cy="365760"/>
        </p:xfrm>
        <a:graphic>
          <a:graphicData uri="http://schemas.openxmlformats.org/drawingml/2006/table">
            <a:tbl>
              <a:tblPr firstRow="1" bandRow="1">
                <a:tableStyleId>{5C22544A-7EE6-4342-B048-85BDC9FD1C3A}</a:tableStyleId>
              </a:tblPr>
              <a:tblGrid>
                <a:gridCol w="974530"/>
                <a:gridCol w="974530"/>
                <a:gridCol w="974530"/>
              </a:tblGrid>
              <a:tr h="345987">
                <a:tc>
                  <a:txBody>
                    <a:bodyPr/>
                    <a:lstStyle/>
                    <a:p>
                      <a:r>
                        <a:rPr lang="en-IN" b="1" dirty="0" smtClean="0">
                          <a:solidFill>
                            <a:srgbClr val="002060"/>
                          </a:solidFill>
                          <a:latin typeface="Times New Roman" panose="02020603050405020304" pitchFamily="18" charset="0"/>
                          <a:cs typeface="Times New Roman" panose="02020603050405020304" pitchFamily="18" charset="0"/>
                        </a:rPr>
                        <a:t>       80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   75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70</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68" name="TextBox 67"/>
          <p:cNvSpPr txBox="1"/>
          <p:nvPr/>
        </p:nvSpPr>
        <p:spPr>
          <a:xfrm>
            <a:off x="2859407" y="4005725"/>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69" name="TextBox 68"/>
          <p:cNvSpPr txBox="1"/>
          <p:nvPr/>
        </p:nvSpPr>
        <p:spPr>
          <a:xfrm>
            <a:off x="3071169" y="4019346"/>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graphicFrame>
        <p:nvGraphicFramePr>
          <p:cNvPr id="70" name="Table 69"/>
          <p:cNvGraphicFramePr>
            <a:graphicFrameLocks noGrp="1"/>
          </p:cNvGraphicFramePr>
          <p:nvPr>
            <p:extLst>
              <p:ext uri="{D42A27DB-BD31-4B8C-83A1-F6EECF244321}">
                <p14:modId xmlns:p14="http://schemas.microsoft.com/office/powerpoint/2010/main" val="3771009227"/>
              </p:ext>
            </p:extLst>
          </p:nvPr>
        </p:nvGraphicFramePr>
        <p:xfrm>
          <a:off x="0" y="5330414"/>
          <a:ext cx="3056384" cy="365760"/>
        </p:xfrm>
        <a:graphic>
          <a:graphicData uri="http://schemas.openxmlformats.org/drawingml/2006/table">
            <a:tbl>
              <a:tblPr firstRow="1" bandRow="1">
                <a:tableStyleId>{5C22544A-7EE6-4342-B048-85BDC9FD1C3A}</a:tableStyleId>
              </a:tblPr>
              <a:tblGrid>
                <a:gridCol w="1528192"/>
                <a:gridCol w="1528192"/>
              </a:tblGrid>
              <a:tr h="345987">
                <a:tc>
                  <a:txBody>
                    <a:bodyPr/>
                    <a:lstStyle/>
                    <a:p>
                      <a:r>
                        <a:rPr lang="en-IN" b="1" dirty="0" smtClean="0">
                          <a:solidFill>
                            <a:srgbClr val="002060"/>
                          </a:solidFill>
                          <a:latin typeface="Times New Roman" panose="02020603050405020304" pitchFamily="18" charset="0"/>
                          <a:cs typeface="Times New Roman" panose="02020603050405020304" pitchFamily="18" charset="0"/>
                        </a:rPr>
                        <a:t>      70</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80          75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71" name="Rectangle 70"/>
          <p:cNvSpPr/>
          <p:nvPr/>
        </p:nvSpPr>
        <p:spPr>
          <a:xfrm>
            <a:off x="3075163" y="5288447"/>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85</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5E180CF5-74FD-4B19-A377-41F414E0A427}" type="datetime1">
              <a:rPr lang="en-IN" smtClean="0"/>
              <a:t>21-03-2026</a:t>
            </a:fld>
            <a:endParaRPr lang="en-IN"/>
          </a:p>
        </p:txBody>
      </p:sp>
      <p:sp>
        <p:nvSpPr>
          <p:cNvPr id="9" name="TextBox 8"/>
          <p:cNvSpPr txBox="1"/>
          <p:nvPr/>
        </p:nvSpPr>
        <p:spPr>
          <a:xfrm>
            <a:off x="3633684" y="5801481"/>
            <a:ext cx="773661" cy="369332"/>
          </a:xfrm>
          <a:prstGeom prst="rect">
            <a:avLst/>
          </a:prstGeom>
          <a:noFill/>
        </p:spPr>
        <p:txBody>
          <a:bodyPr wrap="square" rtlCol="0">
            <a:spAutoFit/>
          </a:bodyPr>
          <a:lstStyle/>
          <a:p>
            <a:r>
              <a:rPr lang="en-IN" dirty="0" smtClean="0"/>
              <a:t>S=8</a:t>
            </a:r>
            <a:endParaRPr lang="en-IN" dirty="0"/>
          </a:p>
        </p:txBody>
      </p:sp>
    </p:spTree>
    <p:extLst>
      <p:ext uri="{BB962C8B-B14F-4D97-AF65-F5344CB8AC3E}">
        <p14:creationId xmlns:p14="http://schemas.microsoft.com/office/powerpoint/2010/main" val="230237102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77052" y="575591"/>
            <a:ext cx="11797552" cy="6046339"/>
          </a:xfrm>
        </p:spPr>
        <p:txBody>
          <a:bodyPr>
            <a:normAutofit/>
          </a:bodyPr>
          <a:lstStyle/>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177052" y="6564391"/>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70</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2249127" y="4777887"/>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21" name="TextBox 20"/>
          <p:cNvSpPr txBox="1"/>
          <p:nvPr/>
        </p:nvSpPr>
        <p:spPr>
          <a:xfrm>
            <a:off x="2271782" y="1286073"/>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41" name="TextBox 40"/>
          <p:cNvSpPr txBox="1"/>
          <p:nvPr/>
        </p:nvSpPr>
        <p:spPr>
          <a:xfrm>
            <a:off x="845590" y="786960"/>
            <a:ext cx="3242315" cy="307777"/>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Consider second part apply quick sort</a:t>
            </a:r>
            <a:endParaRPr lang="en-IN" dirty="0"/>
          </a:p>
        </p:txBody>
      </p:sp>
      <p:cxnSp>
        <p:nvCxnSpPr>
          <p:cNvPr id="46" name="Straight Arrow Connector 45"/>
          <p:cNvCxnSpPr/>
          <p:nvPr/>
        </p:nvCxnSpPr>
        <p:spPr>
          <a:xfrm flipV="1">
            <a:off x="854556" y="2039796"/>
            <a:ext cx="0" cy="24442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42777" y="2203600"/>
            <a:ext cx="943583"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pivot</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43" name="Straight Connector 42"/>
          <p:cNvCxnSpPr/>
          <p:nvPr/>
        </p:nvCxnSpPr>
        <p:spPr>
          <a:xfrm flipH="1">
            <a:off x="1839771" y="2294818"/>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4002581" y="1708403"/>
            <a:ext cx="6259019" cy="800219"/>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70 is pivot80 is not less </a:t>
            </a:r>
            <a:r>
              <a:rPr lang="en-IN" sz="1400" b="1" dirty="0">
                <a:solidFill>
                  <a:srgbClr val="FF0000"/>
                </a:solidFill>
                <a:latin typeface="Times New Roman" panose="02020603050405020304" pitchFamily="18" charset="0"/>
                <a:cs typeface="Times New Roman" panose="02020603050405020304" pitchFamily="18" charset="0"/>
              </a:rPr>
              <a:t>than  pivot so no change in </a:t>
            </a:r>
            <a:r>
              <a:rPr lang="en-IN" sz="1400" b="1" dirty="0" smtClean="0">
                <a:solidFill>
                  <a:srgbClr val="FF0000"/>
                </a:solidFill>
                <a:latin typeface="Times New Roman" panose="02020603050405020304" pitchFamily="18" charset="0"/>
                <a:cs typeface="Times New Roman" panose="02020603050405020304" pitchFamily="18" charset="0"/>
              </a:rPr>
              <a:t>i</a:t>
            </a:r>
          </a:p>
          <a:p>
            <a:pPr algn="just"/>
            <a:r>
              <a:rPr lang="en-IN" sz="1400" b="1" dirty="0" smtClean="0">
                <a:solidFill>
                  <a:srgbClr val="FF0000"/>
                </a:solidFill>
                <a:latin typeface="Times New Roman" panose="02020603050405020304" pitchFamily="18" charset="0"/>
                <a:cs typeface="Times New Roman" panose="02020603050405020304" pitchFamily="18" charset="0"/>
              </a:rPr>
              <a:t>75 is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pivot, so j--, </a:t>
            </a:r>
          </a:p>
          <a:p>
            <a:endParaRPr lang="en-IN" dirty="0"/>
          </a:p>
        </p:txBody>
      </p:sp>
      <p:sp>
        <p:nvSpPr>
          <p:cNvPr id="52" name="TextBox 51"/>
          <p:cNvSpPr txBox="1"/>
          <p:nvPr/>
        </p:nvSpPr>
        <p:spPr>
          <a:xfrm>
            <a:off x="4002581" y="4066235"/>
            <a:ext cx="3539787" cy="307777"/>
          </a:xfrm>
          <a:prstGeom prst="rect">
            <a:avLst/>
          </a:prstGeom>
          <a:noFill/>
        </p:spPr>
        <p:txBody>
          <a:bodyPr wrap="square" rtlCol="0">
            <a:spAutoFit/>
          </a:bodyPr>
          <a:lstStyle/>
          <a:p>
            <a:pPr algn="just"/>
            <a:r>
              <a:rPr lang="en-IN" sz="1400" b="1" dirty="0" smtClean="0">
                <a:solidFill>
                  <a:srgbClr val="002060"/>
                </a:solidFill>
                <a:latin typeface="Times New Roman" panose="02020603050405020304" pitchFamily="18" charset="0"/>
                <a:cs typeface="Times New Roman" panose="02020603050405020304" pitchFamily="18" charset="0"/>
              </a:rPr>
              <a:t>Pivot is in final position. </a:t>
            </a:r>
            <a:endParaRPr lang="en-IN" dirty="0">
              <a:solidFill>
                <a:srgbClr val="FF0000"/>
              </a:solidFill>
            </a:endParaRPr>
          </a:p>
        </p:txBody>
      </p:sp>
      <p:sp>
        <p:nvSpPr>
          <p:cNvPr id="39" name="TextBox 38"/>
          <p:cNvSpPr txBox="1"/>
          <p:nvPr/>
        </p:nvSpPr>
        <p:spPr>
          <a:xfrm>
            <a:off x="1295727" y="2202608"/>
            <a:ext cx="120482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80 &lt; 70</a:t>
            </a:r>
            <a:endParaRPr lang="en-IN" sz="1400" dirty="0"/>
          </a:p>
        </p:txBody>
      </p:sp>
      <p:sp>
        <p:nvSpPr>
          <p:cNvPr id="40" name="TextBox 39"/>
          <p:cNvSpPr txBox="1"/>
          <p:nvPr/>
        </p:nvSpPr>
        <p:spPr>
          <a:xfrm>
            <a:off x="2260069" y="2165456"/>
            <a:ext cx="1108999" cy="400110"/>
          </a:xfrm>
          <a:prstGeom prst="rect">
            <a:avLst/>
          </a:prstGeom>
          <a:noFill/>
        </p:spPr>
        <p:txBody>
          <a:bodyPr wrap="square" rtlCol="0">
            <a:spAutoFit/>
          </a:bodyPr>
          <a:lstStyle/>
          <a:p>
            <a:pPr algn="ctr"/>
            <a:r>
              <a:rPr lang="en-IN" sz="2000" b="1" dirty="0" smtClean="0">
                <a:solidFill>
                  <a:srgbClr val="FF0000"/>
                </a:solidFill>
                <a:latin typeface="Times New Roman" panose="02020603050405020304" pitchFamily="18" charset="0"/>
                <a:cs typeface="Times New Roman" panose="02020603050405020304" pitchFamily="18" charset="0"/>
              </a:rPr>
              <a:t>75 &gt; 70</a:t>
            </a:r>
            <a:endParaRPr lang="en-IN" sz="1600" dirty="0"/>
          </a:p>
        </p:txBody>
      </p:sp>
      <p:sp>
        <p:nvSpPr>
          <p:cNvPr id="42" name="Rectangle 41"/>
          <p:cNvSpPr/>
          <p:nvPr/>
        </p:nvSpPr>
        <p:spPr>
          <a:xfrm>
            <a:off x="456018" y="3085922"/>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70</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53" name="TextBox 52"/>
          <p:cNvSpPr txBox="1"/>
          <p:nvPr/>
        </p:nvSpPr>
        <p:spPr>
          <a:xfrm>
            <a:off x="1571726" y="2689636"/>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54" name="TextBox 53"/>
          <p:cNvSpPr txBox="1"/>
          <p:nvPr/>
        </p:nvSpPr>
        <p:spPr>
          <a:xfrm>
            <a:off x="1372408" y="2644429"/>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56" name="TextBox 55"/>
          <p:cNvSpPr txBox="1"/>
          <p:nvPr/>
        </p:nvSpPr>
        <p:spPr>
          <a:xfrm>
            <a:off x="1898137" y="3466965"/>
            <a:ext cx="120482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75 &lt; </a:t>
            </a:r>
            <a:r>
              <a:rPr lang="en-IN" b="1" dirty="0">
                <a:solidFill>
                  <a:srgbClr val="FF0000"/>
                </a:solidFill>
                <a:latin typeface="Times New Roman" panose="02020603050405020304" pitchFamily="18" charset="0"/>
                <a:cs typeface="Times New Roman" panose="02020603050405020304" pitchFamily="18" charset="0"/>
              </a:rPr>
              <a:t>8</a:t>
            </a:r>
            <a:r>
              <a:rPr lang="en-IN" b="1" dirty="0" smtClean="0">
                <a:solidFill>
                  <a:srgbClr val="FF0000"/>
                </a:solidFill>
                <a:latin typeface="Times New Roman" panose="02020603050405020304" pitchFamily="18" charset="0"/>
                <a:cs typeface="Times New Roman" panose="02020603050405020304" pitchFamily="18" charset="0"/>
              </a:rPr>
              <a:t>5</a:t>
            </a:r>
            <a:endParaRPr lang="en-IN" sz="1400" dirty="0"/>
          </a:p>
        </p:txBody>
      </p:sp>
      <p:sp>
        <p:nvSpPr>
          <p:cNvPr id="69" name="TextBox 68"/>
          <p:cNvSpPr txBox="1"/>
          <p:nvPr/>
        </p:nvSpPr>
        <p:spPr>
          <a:xfrm>
            <a:off x="437240" y="3681485"/>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graphicFrame>
        <p:nvGraphicFramePr>
          <p:cNvPr id="33" name="Table 32"/>
          <p:cNvGraphicFramePr>
            <a:graphicFrameLocks noGrp="1"/>
          </p:cNvGraphicFramePr>
          <p:nvPr>
            <p:extLst>
              <p:ext uri="{D42A27DB-BD31-4B8C-83A1-F6EECF244321}">
                <p14:modId xmlns:p14="http://schemas.microsoft.com/office/powerpoint/2010/main" val="278869606"/>
              </p:ext>
            </p:extLst>
          </p:nvPr>
        </p:nvGraphicFramePr>
        <p:xfrm>
          <a:off x="1542977" y="1712227"/>
          <a:ext cx="1528192" cy="365760"/>
        </p:xfrm>
        <a:graphic>
          <a:graphicData uri="http://schemas.openxmlformats.org/drawingml/2006/table">
            <a:tbl>
              <a:tblPr firstRow="1" bandRow="1">
                <a:tableStyleId>{5C22544A-7EE6-4342-B048-85BDC9FD1C3A}</a:tableStyleId>
              </a:tblPr>
              <a:tblGrid>
                <a:gridCol w="1528192"/>
              </a:tblGrid>
              <a:tr h="345987">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80          75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34" name="Rectangle 33"/>
          <p:cNvSpPr/>
          <p:nvPr/>
        </p:nvSpPr>
        <p:spPr>
          <a:xfrm>
            <a:off x="426281" y="1667248"/>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70</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35" name="Table 34"/>
          <p:cNvGraphicFramePr>
            <a:graphicFrameLocks noGrp="1"/>
          </p:cNvGraphicFramePr>
          <p:nvPr>
            <p:extLst>
              <p:ext uri="{D42A27DB-BD31-4B8C-83A1-F6EECF244321}">
                <p14:modId xmlns:p14="http://schemas.microsoft.com/office/powerpoint/2010/main" val="2582446111"/>
              </p:ext>
            </p:extLst>
          </p:nvPr>
        </p:nvGraphicFramePr>
        <p:xfrm>
          <a:off x="1482932" y="3092221"/>
          <a:ext cx="1528192" cy="365760"/>
        </p:xfrm>
        <a:graphic>
          <a:graphicData uri="http://schemas.openxmlformats.org/drawingml/2006/table">
            <a:tbl>
              <a:tblPr firstRow="1" bandRow="1">
                <a:tableStyleId>{5C22544A-7EE6-4342-B048-85BDC9FD1C3A}</a:tableStyleId>
              </a:tblPr>
              <a:tblGrid>
                <a:gridCol w="1528192"/>
              </a:tblGrid>
              <a:tr h="345987">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80          75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graphicFrame>
        <p:nvGraphicFramePr>
          <p:cNvPr id="36" name="Table 35"/>
          <p:cNvGraphicFramePr>
            <a:graphicFrameLocks noGrp="1"/>
          </p:cNvGraphicFramePr>
          <p:nvPr>
            <p:extLst>
              <p:ext uri="{D42A27DB-BD31-4B8C-83A1-F6EECF244321}">
                <p14:modId xmlns:p14="http://schemas.microsoft.com/office/powerpoint/2010/main" val="2223353871"/>
              </p:ext>
            </p:extLst>
          </p:nvPr>
        </p:nvGraphicFramePr>
        <p:xfrm>
          <a:off x="1372408" y="5891045"/>
          <a:ext cx="762647" cy="365760"/>
        </p:xfrm>
        <a:graphic>
          <a:graphicData uri="http://schemas.openxmlformats.org/drawingml/2006/table">
            <a:tbl>
              <a:tblPr firstRow="1" bandRow="1">
                <a:tableStyleId>{5C22544A-7EE6-4342-B048-85BDC9FD1C3A}</a:tableStyleId>
              </a:tblPr>
              <a:tblGrid>
                <a:gridCol w="762647"/>
              </a:tblGrid>
              <a:tr h="345987">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75          </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51" name="TextBox 50"/>
          <p:cNvSpPr txBox="1"/>
          <p:nvPr/>
        </p:nvSpPr>
        <p:spPr>
          <a:xfrm>
            <a:off x="3932425" y="4609310"/>
            <a:ext cx="3539787" cy="1292662"/>
          </a:xfrm>
          <a:prstGeom prst="rect">
            <a:avLst/>
          </a:prstGeom>
          <a:noFill/>
        </p:spPr>
        <p:txBody>
          <a:bodyPr wrap="square" rtlCol="0">
            <a:spAutoFit/>
          </a:bodyPr>
          <a:lstStyle/>
          <a:p>
            <a:pPr algn="just"/>
            <a:r>
              <a:rPr lang="en-IN" b="1" dirty="0" err="1">
                <a:solidFill>
                  <a:srgbClr val="002060"/>
                </a:solidFill>
                <a:latin typeface="Times New Roman" panose="02020603050405020304" pitchFamily="18" charset="0"/>
                <a:cs typeface="Times New Roman" panose="02020603050405020304" pitchFamily="18" charset="0"/>
              </a:rPr>
              <a:t>i</a:t>
            </a:r>
            <a:r>
              <a:rPr lang="en-IN" b="1" dirty="0" smtClean="0">
                <a:solidFill>
                  <a:srgbClr val="002060"/>
                </a:solidFill>
                <a:latin typeface="Times New Roman" panose="02020603050405020304" pitchFamily="18" charset="0"/>
                <a:cs typeface="Times New Roman" panose="02020603050405020304" pitchFamily="18" charset="0"/>
              </a:rPr>
              <a:t> ≥ j</a:t>
            </a:r>
          </a:p>
          <a:p>
            <a:pPr algn="just"/>
            <a:r>
              <a:rPr lang="en-IN" sz="1400" b="1" dirty="0" smtClean="0">
                <a:solidFill>
                  <a:srgbClr val="FF0000"/>
                </a:solidFill>
                <a:latin typeface="Times New Roman" panose="02020603050405020304" pitchFamily="18" charset="0"/>
                <a:cs typeface="Times New Roman" panose="02020603050405020304" pitchFamily="18" charset="0"/>
              </a:rPr>
              <a:t>Swap </a:t>
            </a:r>
            <a:r>
              <a:rPr lang="en-IN" sz="1400" b="1" dirty="0" smtClean="0">
                <a:solidFill>
                  <a:srgbClr val="002060"/>
                </a:solidFill>
                <a:latin typeface="Times New Roman" panose="02020603050405020304" pitchFamily="18" charset="0"/>
                <a:cs typeface="Times New Roman" panose="02020603050405020304" pitchFamily="18" charset="0"/>
              </a:rPr>
              <a:t>Pivot and A[j]. </a:t>
            </a:r>
            <a:r>
              <a:rPr lang="en-IN" sz="1400" b="1" dirty="0">
                <a:solidFill>
                  <a:srgbClr val="FF0000"/>
                </a:solidFill>
                <a:latin typeface="Times New Roman" panose="02020603050405020304" pitchFamily="18" charset="0"/>
                <a:cs typeface="Times New Roman" panose="02020603050405020304" pitchFamily="18" charset="0"/>
              </a:rPr>
              <a:t>all the elements before pivot are lesser than it and </a:t>
            </a:r>
            <a:r>
              <a:rPr lang="en-IN" sz="1400" b="1" dirty="0" smtClean="0">
                <a:solidFill>
                  <a:srgbClr val="FF0000"/>
                </a:solidFill>
                <a:latin typeface="Times New Roman" panose="02020603050405020304" pitchFamily="18" charset="0"/>
                <a:cs typeface="Times New Roman" panose="02020603050405020304" pitchFamily="18" charset="0"/>
              </a:rPr>
              <a:t>no elements towards right of pivot</a:t>
            </a:r>
            <a:endParaRPr lang="en-IN" sz="1400" b="1" dirty="0">
              <a:solidFill>
                <a:srgbClr val="FF0000"/>
              </a:solidFill>
              <a:latin typeface="Times New Roman" panose="02020603050405020304" pitchFamily="18" charset="0"/>
              <a:cs typeface="Times New Roman" panose="02020603050405020304" pitchFamily="18" charset="0"/>
            </a:endParaRPr>
          </a:p>
          <a:p>
            <a:pPr algn="just"/>
            <a:endParaRPr lang="en-IN" dirty="0">
              <a:solidFill>
                <a:srgbClr val="FF0000"/>
              </a:solidFill>
            </a:endParaRPr>
          </a:p>
        </p:txBody>
      </p:sp>
      <p:sp>
        <p:nvSpPr>
          <p:cNvPr id="55" name="TextBox 54"/>
          <p:cNvSpPr txBox="1"/>
          <p:nvPr/>
        </p:nvSpPr>
        <p:spPr>
          <a:xfrm>
            <a:off x="4060723" y="2917939"/>
            <a:ext cx="3647819" cy="800219"/>
          </a:xfrm>
          <a:prstGeom prst="rect">
            <a:avLst/>
          </a:prstGeom>
          <a:noFill/>
        </p:spPr>
        <p:txBody>
          <a:bodyPr wrap="square" rtlCol="0">
            <a:spAutoFit/>
          </a:bodyPr>
          <a:lstStyle/>
          <a:p>
            <a:pPr algn="just"/>
            <a:endParaRPr lang="en-IN" sz="1400" b="1" dirty="0" smtClean="0">
              <a:solidFill>
                <a:srgbClr val="FF0000"/>
              </a:solidFill>
              <a:latin typeface="Times New Roman" panose="02020603050405020304" pitchFamily="18" charset="0"/>
              <a:cs typeface="Times New Roman" panose="02020603050405020304" pitchFamily="18" charset="0"/>
            </a:endParaRPr>
          </a:p>
          <a:p>
            <a:pPr algn="just"/>
            <a:r>
              <a:rPr lang="en-IN" sz="1400" b="1" dirty="0" smtClean="0">
                <a:solidFill>
                  <a:srgbClr val="FF0000"/>
                </a:solidFill>
                <a:latin typeface="Times New Roman" panose="02020603050405020304" pitchFamily="18" charset="0"/>
                <a:cs typeface="Times New Roman" panose="02020603050405020304" pitchFamily="18" charset="0"/>
              </a:rPr>
              <a:t>80 is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pivot, so j--, </a:t>
            </a:r>
          </a:p>
          <a:p>
            <a:endParaRPr lang="en-IN" dirty="0"/>
          </a:p>
        </p:txBody>
      </p:sp>
      <p:graphicFrame>
        <p:nvGraphicFramePr>
          <p:cNvPr id="58" name="Table 57"/>
          <p:cNvGraphicFramePr>
            <a:graphicFrameLocks noGrp="1"/>
          </p:cNvGraphicFramePr>
          <p:nvPr>
            <p:extLst>
              <p:ext uri="{D42A27DB-BD31-4B8C-83A1-F6EECF244321}">
                <p14:modId xmlns:p14="http://schemas.microsoft.com/office/powerpoint/2010/main" val="3173811136"/>
              </p:ext>
            </p:extLst>
          </p:nvPr>
        </p:nvGraphicFramePr>
        <p:xfrm>
          <a:off x="1495973" y="4149588"/>
          <a:ext cx="1528192" cy="365760"/>
        </p:xfrm>
        <a:graphic>
          <a:graphicData uri="http://schemas.openxmlformats.org/drawingml/2006/table">
            <a:tbl>
              <a:tblPr firstRow="1" bandRow="1">
                <a:tableStyleId>{5C22544A-7EE6-4342-B048-85BDC9FD1C3A}</a:tableStyleId>
              </a:tblPr>
              <a:tblGrid>
                <a:gridCol w="1528192"/>
              </a:tblGrid>
              <a:tr h="251039">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80          75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60" name="Rectangle 59"/>
          <p:cNvSpPr/>
          <p:nvPr/>
        </p:nvSpPr>
        <p:spPr>
          <a:xfrm>
            <a:off x="487003" y="4153380"/>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70</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61" name="Table 60"/>
          <p:cNvGraphicFramePr>
            <a:graphicFrameLocks noGrp="1"/>
          </p:cNvGraphicFramePr>
          <p:nvPr>
            <p:extLst>
              <p:ext uri="{D42A27DB-BD31-4B8C-83A1-F6EECF244321}">
                <p14:modId xmlns:p14="http://schemas.microsoft.com/office/powerpoint/2010/main" val="2749844579"/>
              </p:ext>
            </p:extLst>
          </p:nvPr>
        </p:nvGraphicFramePr>
        <p:xfrm>
          <a:off x="1784682" y="5246762"/>
          <a:ext cx="1079375" cy="365760"/>
        </p:xfrm>
        <a:graphic>
          <a:graphicData uri="http://schemas.openxmlformats.org/drawingml/2006/table">
            <a:tbl>
              <a:tblPr firstRow="1" bandRow="1">
                <a:tableStyleId>{5C22544A-7EE6-4342-B048-85BDC9FD1C3A}</a:tableStyleId>
              </a:tblPr>
              <a:tblGrid>
                <a:gridCol w="1079375"/>
              </a:tblGrid>
              <a:tr h="251039">
                <a:tc>
                  <a:txBody>
                    <a:bodyPr/>
                    <a:lstStyle/>
                    <a:p>
                      <a:pPr marL="0" algn="l" defTabSz="914400" rtl="0" eaLnBrk="1" latinLnBrk="0" hangingPunct="1"/>
                      <a:r>
                        <a:rPr lang="en-IN" sz="1800" b="1" kern="1200" dirty="0" smtClean="0">
                          <a:solidFill>
                            <a:srgbClr val="002060"/>
                          </a:solidFill>
                          <a:latin typeface="Times New Roman" panose="02020603050405020304" pitchFamily="18" charset="0"/>
                          <a:ea typeface="+mn-ea"/>
                          <a:cs typeface="Times New Roman" panose="02020603050405020304" pitchFamily="18" charset="0"/>
                        </a:rPr>
                        <a:t>         75</a:t>
                      </a:r>
                      <a:endParaRPr lang="en-IN" sz="1800" b="1" kern="1200" dirty="0">
                        <a:solidFill>
                          <a:srgbClr val="002060"/>
                        </a:solidFill>
                        <a:latin typeface="Times New Roman" panose="02020603050405020304" pitchFamily="18" charset="0"/>
                        <a:ea typeface="+mn-ea"/>
                        <a:cs typeface="Times New Roman" panose="02020603050405020304" pitchFamily="18" charset="0"/>
                      </a:endParaRPr>
                    </a:p>
                  </a:txBody>
                  <a:tcPr>
                    <a:solidFill>
                      <a:schemeClr val="bg1"/>
                    </a:solidFill>
                  </a:tcPr>
                </a:tc>
              </a:tr>
            </a:tbl>
          </a:graphicData>
        </a:graphic>
      </p:graphicFrame>
      <p:sp>
        <p:nvSpPr>
          <p:cNvPr id="62" name="Rectangle 61"/>
          <p:cNvSpPr/>
          <p:nvPr/>
        </p:nvSpPr>
        <p:spPr>
          <a:xfrm>
            <a:off x="1307039" y="5200344"/>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80</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63" name="TextBox 62"/>
          <p:cNvSpPr txBox="1"/>
          <p:nvPr/>
        </p:nvSpPr>
        <p:spPr>
          <a:xfrm>
            <a:off x="2443866" y="4762348"/>
            <a:ext cx="622560"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64" name="TextBox 63"/>
          <p:cNvSpPr txBox="1"/>
          <p:nvPr/>
        </p:nvSpPr>
        <p:spPr>
          <a:xfrm>
            <a:off x="1571171" y="1402962"/>
            <a:ext cx="563884"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65" name="Rectangle 64"/>
          <p:cNvSpPr/>
          <p:nvPr/>
        </p:nvSpPr>
        <p:spPr>
          <a:xfrm>
            <a:off x="2198656" y="5869539"/>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80</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72" name="TextBox 71"/>
          <p:cNvSpPr txBox="1"/>
          <p:nvPr/>
        </p:nvSpPr>
        <p:spPr>
          <a:xfrm>
            <a:off x="3921852" y="5850333"/>
            <a:ext cx="3539787" cy="307777"/>
          </a:xfrm>
          <a:prstGeom prst="rect">
            <a:avLst/>
          </a:prstGeom>
          <a:noFill/>
        </p:spPr>
        <p:txBody>
          <a:bodyPr wrap="square" rtlCol="0">
            <a:spAutoFit/>
          </a:bodyPr>
          <a:lstStyle/>
          <a:p>
            <a:pPr algn="just"/>
            <a:r>
              <a:rPr lang="en-IN" sz="1400" b="1" dirty="0" smtClean="0">
                <a:solidFill>
                  <a:srgbClr val="002060"/>
                </a:solidFill>
                <a:latin typeface="Times New Roman" panose="02020603050405020304" pitchFamily="18" charset="0"/>
                <a:cs typeface="Times New Roman" panose="02020603050405020304" pitchFamily="18" charset="0"/>
              </a:rPr>
              <a:t>Pivot is in final position. </a:t>
            </a:r>
            <a:endParaRPr lang="en-IN" dirty="0">
              <a:solidFill>
                <a:srgbClr val="FF0000"/>
              </a:solidFill>
            </a:endParaRPr>
          </a:p>
        </p:txBody>
      </p:sp>
      <p:sp>
        <p:nvSpPr>
          <p:cNvPr id="73" name="TextBox 72"/>
          <p:cNvSpPr txBox="1"/>
          <p:nvPr/>
        </p:nvSpPr>
        <p:spPr>
          <a:xfrm>
            <a:off x="6075828" y="2915159"/>
            <a:ext cx="5497607" cy="830997"/>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Final sorted array is</a:t>
            </a:r>
          </a:p>
          <a:p>
            <a:pPr algn="ctr"/>
            <a:r>
              <a:rPr lang="en-IN" sz="2400" b="1" dirty="0" smtClean="0">
                <a:solidFill>
                  <a:srgbClr val="FF0000"/>
                </a:solidFill>
                <a:latin typeface="Times New Roman" panose="02020603050405020304" pitchFamily="18" charset="0"/>
                <a:cs typeface="Times New Roman" panose="02020603050405020304" pitchFamily="18" charset="0"/>
              </a:rPr>
              <a:t> 45, 50, 55, 60, 65, 70, 75, 80, 85</a:t>
            </a:r>
            <a:endParaRPr lang="en-IN" dirty="0"/>
          </a:p>
        </p:txBody>
      </p:sp>
      <p:sp>
        <p:nvSpPr>
          <p:cNvPr id="6" name="Date Placeholder 5"/>
          <p:cNvSpPr>
            <a:spLocks noGrp="1"/>
          </p:cNvSpPr>
          <p:nvPr>
            <p:ph type="dt" sz="half" idx="10"/>
          </p:nvPr>
        </p:nvSpPr>
        <p:spPr/>
        <p:txBody>
          <a:bodyPr/>
          <a:lstStyle/>
          <a:p>
            <a:fld id="{FB52356C-F8A5-452E-82DF-2B282F8864E8}" type="datetime1">
              <a:rPr lang="en-IN" smtClean="0"/>
              <a:t>21-03-2026</a:t>
            </a:fld>
            <a:endParaRPr lang="en-IN"/>
          </a:p>
        </p:txBody>
      </p:sp>
      <p:sp>
        <p:nvSpPr>
          <p:cNvPr id="9" name="TextBox 8"/>
          <p:cNvSpPr txBox="1"/>
          <p:nvPr/>
        </p:nvSpPr>
        <p:spPr>
          <a:xfrm>
            <a:off x="342778" y="4876800"/>
            <a:ext cx="687286" cy="369332"/>
          </a:xfrm>
          <a:prstGeom prst="rect">
            <a:avLst/>
          </a:prstGeom>
          <a:noFill/>
        </p:spPr>
        <p:txBody>
          <a:bodyPr wrap="square" rtlCol="0">
            <a:spAutoFit/>
          </a:bodyPr>
          <a:lstStyle/>
          <a:p>
            <a:r>
              <a:rPr lang="en-IN" dirty="0" smtClean="0"/>
              <a:t>S=5</a:t>
            </a:r>
            <a:endParaRPr lang="en-IN" dirty="0"/>
          </a:p>
        </p:txBody>
      </p:sp>
      <p:sp>
        <p:nvSpPr>
          <p:cNvPr id="10" name="TextBox 9"/>
          <p:cNvSpPr txBox="1"/>
          <p:nvPr/>
        </p:nvSpPr>
        <p:spPr>
          <a:xfrm>
            <a:off x="3066425" y="6238875"/>
            <a:ext cx="619749" cy="369332"/>
          </a:xfrm>
          <a:prstGeom prst="rect">
            <a:avLst/>
          </a:prstGeom>
          <a:noFill/>
        </p:spPr>
        <p:txBody>
          <a:bodyPr wrap="square" rtlCol="0">
            <a:spAutoFit/>
          </a:bodyPr>
          <a:lstStyle/>
          <a:p>
            <a:r>
              <a:rPr lang="en-IN" dirty="0" smtClean="0"/>
              <a:t>S=7</a:t>
            </a:r>
            <a:endParaRPr lang="en-IN" dirty="0"/>
          </a:p>
        </p:txBody>
      </p:sp>
    </p:spTree>
    <p:extLst>
      <p:ext uri="{BB962C8B-B14F-4D97-AF65-F5344CB8AC3E}">
        <p14:creationId xmlns:p14="http://schemas.microsoft.com/office/powerpoint/2010/main" val="413442196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Recursive tree call for the example considered in previous slide is </a:t>
            </a: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71</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015820" y="2945431"/>
            <a:ext cx="943583" cy="646331"/>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Index</a:t>
            </a:r>
          </a:p>
          <a:p>
            <a:endParaRPr lang="en-IN" dirty="0"/>
          </a:p>
        </p:txBody>
      </p:sp>
      <p:cxnSp>
        <p:nvCxnSpPr>
          <p:cNvPr id="10" name="Straight Arrow Connector 9"/>
          <p:cNvCxnSpPr>
            <a:stCxn id="14" idx="1"/>
          </p:cNvCxnSpPr>
          <p:nvPr/>
        </p:nvCxnSpPr>
        <p:spPr>
          <a:xfrm flipH="1">
            <a:off x="3621741" y="2125858"/>
            <a:ext cx="1097430" cy="466080"/>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36738" y="2340192"/>
            <a:ext cx="1659615" cy="923330"/>
          </a:xfrm>
          <a:prstGeom prst="rect">
            <a:avLst/>
          </a:prstGeom>
          <a:noFill/>
        </p:spPr>
        <p:txBody>
          <a:bodyPr wrap="square" rtlCol="0">
            <a:spAutoFit/>
          </a:bodyPr>
          <a:lstStyle/>
          <a:p>
            <a:pPr algn="ctr"/>
            <a:r>
              <a:rPr lang="en-IN" b="1" dirty="0" smtClean="0">
                <a:solidFill>
                  <a:srgbClr val="002060"/>
                </a:solidFill>
                <a:latin typeface="Times New Roman" panose="02020603050405020304" pitchFamily="18" charset="0"/>
                <a:cs typeface="Times New Roman" panose="02020603050405020304" pitchFamily="18" charset="0"/>
              </a:rPr>
              <a:t>Array elements</a:t>
            </a:r>
            <a:endParaRPr lang="en-IN" b="1" dirty="0">
              <a:solidFill>
                <a:srgbClr val="002060"/>
              </a:solidFill>
              <a:latin typeface="Times New Roman" panose="02020603050405020304" pitchFamily="18" charset="0"/>
              <a:cs typeface="Times New Roman" panose="02020603050405020304" pitchFamily="18" charset="0"/>
            </a:endParaRPr>
          </a:p>
          <a:p>
            <a:endParaRPr lang="en-IN" dirty="0"/>
          </a:p>
        </p:txBody>
      </p:sp>
      <p:graphicFrame>
        <p:nvGraphicFramePr>
          <p:cNvPr id="14" name="Table 13"/>
          <p:cNvGraphicFramePr>
            <a:graphicFrameLocks noGrp="1"/>
          </p:cNvGraphicFramePr>
          <p:nvPr>
            <p:extLst>
              <p:ext uri="{D42A27DB-BD31-4B8C-83A1-F6EECF244321}">
                <p14:modId xmlns:p14="http://schemas.microsoft.com/office/powerpoint/2010/main" val="1070435796"/>
              </p:ext>
            </p:extLst>
          </p:nvPr>
        </p:nvGraphicFramePr>
        <p:xfrm>
          <a:off x="4719171" y="1757558"/>
          <a:ext cx="1098924" cy="736600"/>
        </p:xfrm>
        <a:graphic>
          <a:graphicData uri="http://schemas.openxmlformats.org/drawingml/2006/table">
            <a:tbl>
              <a:tblPr firstRow="1" bandRow="1">
                <a:tableStyleId>{5C22544A-7EE6-4342-B048-85BDC9FD1C3A}</a:tableStyleId>
              </a:tblPr>
              <a:tblGrid>
                <a:gridCol w="1098924"/>
              </a:tblGrid>
              <a:tr h="0">
                <a:tc>
                  <a:txBody>
                    <a:bodyPr/>
                    <a:lstStyle/>
                    <a:p>
                      <a:r>
                        <a:rPr lang="en-IN" dirty="0" smtClean="0">
                          <a:solidFill>
                            <a:srgbClr val="002060"/>
                          </a:solidFill>
                        </a:rPr>
                        <a:t>l=0, r=8</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s=4</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097550771"/>
              </p:ext>
            </p:extLst>
          </p:nvPr>
        </p:nvGraphicFramePr>
        <p:xfrm>
          <a:off x="2945598" y="2587713"/>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l=0, r=3</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s=3</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4067881376"/>
              </p:ext>
            </p:extLst>
          </p:nvPr>
        </p:nvGraphicFramePr>
        <p:xfrm>
          <a:off x="4148953" y="3565904"/>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l=4, r=3</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4236196918"/>
              </p:ext>
            </p:extLst>
          </p:nvPr>
        </p:nvGraphicFramePr>
        <p:xfrm>
          <a:off x="1438088" y="3499429"/>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l=0, r=2</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s=2</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398805826"/>
              </p:ext>
            </p:extLst>
          </p:nvPr>
        </p:nvGraphicFramePr>
        <p:xfrm>
          <a:off x="6966322" y="2649299"/>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l=5, r=8</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s=8</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4195670452"/>
              </p:ext>
            </p:extLst>
          </p:nvPr>
        </p:nvGraphicFramePr>
        <p:xfrm>
          <a:off x="8541430" y="3412179"/>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l=9, r=8</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718647784"/>
              </p:ext>
            </p:extLst>
          </p:nvPr>
        </p:nvGraphicFramePr>
        <p:xfrm>
          <a:off x="5888130" y="3583460"/>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l=5, r=7</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s=5</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2300515627"/>
              </p:ext>
            </p:extLst>
          </p:nvPr>
        </p:nvGraphicFramePr>
        <p:xfrm>
          <a:off x="143437" y="4474144"/>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l=0, r=1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s=1</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3810643490"/>
              </p:ext>
            </p:extLst>
          </p:nvPr>
        </p:nvGraphicFramePr>
        <p:xfrm>
          <a:off x="2597766" y="4605756"/>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l=3, r=2</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25" name="Straight Arrow Connector 24"/>
          <p:cNvCxnSpPr/>
          <p:nvPr/>
        </p:nvCxnSpPr>
        <p:spPr>
          <a:xfrm flipH="1">
            <a:off x="2244192" y="2853735"/>
            <a:ext cx="707149" cy="661750"/>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5806515" y="2054056"/>
            <a:ext cx="1262155" cy="537882"/>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8055401" y="2868534"/>
            <a:ext cx="972058" cy="547922"/>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6437592" y="2882606"/>
            <a:ext cx="496419" cy="68183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054793" y="2879086"/>
            <a:ext cx="517207" cy="63639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788894" y="3753780"/>
            <a:ext cx="621374" cy="720364"/>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2547079" y="3874134"/>
            <a:ext cx="440206" cy="720364"/>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1" name="Table 30"/>
          <p:cNvGraphicFramePr>
            <a:graphicFrameLocks noGrp="1"/>
          </p:cNvGraphicFramePr>
          <p:nvPr>
            <p:extLst>
              <p:ext uri="{D42A27DB-BD31-4B8C-83A1-F6EECF244321}">
                <p14:modId xmlns:p14="http://schemas.microsoft.com/office/powerpoint/2010/main" val="214586180"/>
              </p:ext>
            </p:extLst>
          </p:nvPr>
        </p:nvGraphicFramePr>
        <p:xfrm>
          <a:off x="6956477" y="4795232"/>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l=6, r=7</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s=7</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35" name="Table 34"/>
          <p:cNvGraphicFramePr>
            <a:graphicFrameLocks noGrp="1"/>
          </p:cNvGraphicFramePr>
          <p:nvPr>
            <p:extLst>
              <p:ext uri="{D42A27DB-BD31-4B8C-83A1-F6EECF244321}">
                <p14:modId xmlns:p14="http://schemas.microsoft.com/office/powerpoint/2010/main" val="2848485435"/>
              </p:ext>
            </p:extLst>
          </p:nvPr>
        </p:nvGraphicFramePr>
        <p:xfrm>
          <a:off x="5147607" y="4795232"/>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l=5, r=4</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40" name="Straight Arrow Connector 39"/>
          <p:cNvCxnSpPr/>
          <p:nvPr/>
        </p:nvCxnSpPr>
        <p:spPr>
          <a:xfrm flipH="1">
            <a:off x="5459506" y="3898079"/>
            <a:ext cx="396219" cy="852554"/>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6947731" y="4030269"/>
            <a:ext cx="440206" cy="720364"/>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3" name="Table 42"/>
          <p:cNvGraphicFramePr>
            <a:graphicFrameLocks noGrp="1"/>
          </p:cNvGraphicFramePr>
          <p:nvPr>
            <p:extLst>
              <p:ext uri="{D42A27DB-BD31-4B8C-83A1-F6EECF244321}">
                <p14:modId xmlns:p14="http://schemas.microsoft.com/office/powerpoint/2010/main" val="654582196"/>
              </p:ext>
            </p:extLst>
          </p:nvPr>
        </p:nvGraphicFramePr>
        <p:xfrm>
          <a:off x="1807593" y="5666175"/>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l=2, r=1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44" name="Table 43"/>
          <p:cNvGraphicFramePr>
            <a:graphicFrameLocks noGrp="1"/>
          </p:cNvGraphicFramePr>
          <p:nvPr>
            <p:extLst>
              <p:ext uri="{D42A27DB-BD31-4B8C-83A1-F6EECF244321}">
                <p14:modId xmlns:p14="http://schemas.microsoft.com/office/powerpoint/2010/main" val="86073085"/>
              </p:ext>
            </p:extLst>
          </p:nvPr>
        </p:nvGraphicFramePr>
        <p:xfrm>
          <a:off x="143437" y="5732090"/>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l=0, r=0</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46" name="Straight Arrow Connector 45"/>
          <p:cNvCxnSpPr/>
          <p:nvPr/>
        </p:nvCxnSpPr>
        <p:spPr>
          <a:xfrm flipH="1">
            <a:off x="143437" y="5245957"/>
            <a:ext cx="347542" cy="457086"/>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1267508" y="4869239"/>
            <a:ext cx="857127" cy="796455"/>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1" name="Table 50"/>
          <p:cNvGraphicFramePr>
            <a:graphicFrameLocks noGrp="1"/>
          </p:cNvGraphicFramePr>
          <p:nvPr>
            <p:extLst>
              <p:ext uri="{D42A27DB-BD31-4B8C-83A1-F6EECF244321}">
                <p14:modId xmlns:p14="http://schemas.microsoft.com/office/powerpoint/2010/main" val="3432719761"/>
              </p:ext>
            </p:extLst>
          </p:nvPr>
        </p:nvGraphicFramePr>
        <p:xfrm>
          <a:off x="8061138" y="5820664"/>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l=8, r=7</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2" name="Table 51"/>
          <p:cNvGraphicFramePr>
            <a:graphicFrameLocks noGrp="1"/>
          </p:cNvGraphicFramePr>
          <p:nvPr>
            <p:extLst>
              <p:ext uri="{D42A27DB-BD31-4B8C-83A1-F6EECF244321}">
                <p14:modId xmlns:p14="http://schemas.microsoft.com/office/powerpoint/2010/main" val="944307279"/>
              </p:ext>
            </p:extLst>
          </p:nvPr>
        </p:nvGraphicFramePr>
        <p:xfrm>
          <a:off x="5806515" y="5916263"/>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l=6, r=6</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53" name="Straight Arrow Connector 52"/>
          <p:cNvCxnSpPr/>
          <p:nvPr/>
        </p:nvCxnSpPr>
        <p:spPr>
          <a:xfrm flipH="1">
            <a:off x="6471771" y="5245957"/>
            <a:ext cx="496419" cy="68183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8055401" y="5114318"/>
            <a:ext cx="440206" cy="720364"/>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CDED40DD-00C0-43ED-A3E9-66E8374FCAA0}" type="datetime1">
              <a:rPr lang="en-IN" smtClean="0"/>
              <a:t>21-03-2026</a:t>
            </a:fld>
            <a:endParaRPr lang="en-IN"/>
          </a:p>
        </p:txBody>
      </p:sp>
    </p:spTree>
    <p:extLst>
      <p:ext uri="{BB962C8B-B14F-4D97-AF65-F5344CB8AC3E}">
        <p14:creationId xmlns:p14="http://schemas.microsoft.com/office/powerpoint/2010/main" val="233546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Quick sort Example</a:t>
            </a:r>
          </a:p>
          <a:p>
            <a:pPr algn="just"/>
            <a:r>
              <a:rPr lang="en-IN" sz="2000" b="1" dirty="0" smtClean="0">
                <a:solidFill>
                  <a:srgbClr val="002060"/>
                </a:solidFill>
                <a:latin typeface="Times New Roman" panose="02020603050405020304" pitchFamily="18" charset="0"/>
                <a:cs typeface="Times New Roman" panose="02020603050405020304" pitchFamily="18" charset="0"/>
              </a:rPr>
              <a:t>Trace the quick sort  algorithm for the following data set  and also construct tree for a recursive call </a:t>
            </a:r>
          </a:p>
          <a:p>
            <a:pPr algn="just"/>
            <a:r>
              <a:rPr lang="en-IN" sz="2000" b="1" dirty="0" smtClean="0">
                <a:solidFill>
                  <a:srgbClr val="002060"/>
                </a:solidFill>
                <a:latin typeface="Times New Roman" panose="02020603050405020304" pitchFamily="18" charset="0"/>
                <a:cs typeface="Times New Roman" panose="02020603050405020304" pitchFamily="18" charset="0"/>
              </a:rPr>
              <a:t>E     X     A      M      P      L      E</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C00000"/>
                </a:solidFill>
                <a:latin typeface="Times New Roman" panose="02020603050405020304" pitchFamily="18" charset="0"/>
                <a:cs typeface="Times New Roman" panose="02020603050405020304" pitchFamily="18" charset="0"/>
              </a:rPr>
              <a:t>Solution:</a:t>
            </a:r>
          </a:p>
          <a:p>
            <a:pPr algn="just"/>
            <a:r>
              <a:rPr lang="en-IN" sz="2000" b="1" dirty="0" smtClean="0">
                <a:solidFill>
                  <a:srgbClr val="002060"/>
                </a:solidFill>
                <a:latin typeface="Times New Roman" panose="02020603050405020304" pitchFamily="18" charset="0"/>
                <a:cs typeface="Times New Roman" panose="02020603050405020304" pitchFamily="18" charset="0"/>
              </a:rPr>
              <a:t>n=7</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72</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848464915"/>
              </p:ext>
            </p:extLst>
          </p:nvPr>
        </p:nvGraphicFramePr>
        <p:xfrm>
          <a:off x="2115752" y="3111419"/>
          <a:ext cx="5619355" cy="741680"/>
        </p:xfrm>
        <a:graphic>
          <a:graphicData uri="http://schemas.openxmlformats.org/drawingml/2006/table">
            <a:tbl>
              <a:tblPr firstRow="1" bandRow="1">
                <a:tableStyleId>{5C22544A-7EE6-4342-B048-85BDC9FD1C3A}</a:tableStyleId>
              </a:tblPr>
              <a:tblGrid>
                <a:gridCol w="802765"/>
                <a:gridCol w="802765"/>
                <a:gridCol w="802765"/>
                <a:gridCol w="802765"/>
                <a:gridCol w="802765"/>
                <a:gridCol w="802765"/>
                <a:gridCol w="802765"/>
              </a:tblGrid>
              <a:tr h="370840">
                <a:tc>
                  <a:txBody>
                    <a:bodyPr/>
                    <a:lstStyle/>
                    <a:p>
                      <a:r>
                        <a:rPr lang="en-IN" dirty="0" smtClean="0">
                          <a:solidFill>
                            <a:srgbClr val="C00000"/>
                          </a:solidFill>
                        </a:rPr>
                        <a:t>0</a:t>
                      </a:r>
                      <a:endParaRPr lang="en-IN" dirty="0">
                        <a:solidFill>
                          <a:srgbClr val="C00000"/>
                        </a:solidFill>
                      </a:endParaRPr>
                    </a:p>
                  </a:txBody>
                  <a:tcPr>
                    <a:solidFill>
                      <a:schemeClr val="bg1"/>
                    </a:solidFill>
                  </a:tcPr>
                </a:tc>
                <a:tc>
                  <a:txBody>
                    <a:bodyPr/>
                    <a:lstStyle/>
                    <a:p>
                      <a:r>
                        <a:rPr lang="en-IN" dirty="0" smtClean="0">
                          <a:solidFill>
                            <a:srgbClr val="C00000"/>
                          </a:solidFill>
                        </a:rPr>
                        <a:t>1</a:t>
                      </a:r>
                      <a:endParaRPr lang="en-IN" dirty="0">
                        <a:solidFill>
                          <a:srgbClr val="C00000"/>
                        </a:solidFill>
                      </a:endParaRPr>
                    </a:p>
                  </a:txBody>
                  <a:tcPr>
                    <a:solidFill>
                      <a:schemeClr val="bg1"/>
                    </a:solidFill>
                  </a:tcPr>
                </a:tc>
                <a:tc>
                  <a:txBody>
                    <a:bodyPr/>
                    <a:lstStyle/>
                    <a:p>
                      <a:r>
                        <a:rPr lang="en-IN" dirty="0" smtClean="0">
                          <a:solidFill>
                            <a:srgbClr val="C00000"/>
                          </a:solidFill>
                        </a:rPr>
                        <a:t>2</a:t>
                      </a:r>
                      <a:endParaRPr lang="en-IN" dirty="0">
                        <a:solidFill>
                          <a:srgbClr val="C00000"/>
                        </a:solidFill>
                      </a:endParaRPr>
                    </a:p>
                  </a:txBody>
                  <a:tcPr>
                    <a:solidFill>
                      <a:schemeClr val="bg1"/>
                    </a:solidFill>
                  </a:tcPr>
                </a:tc>
                <a:tc>
                  <a:txBody>
                    <a:bodyPr/>
                    <a:lstStyle/>
                    <a:p>
                      <a:r>
                        <a:rPr lang="en-IN" dirty="0" smtClean="0">
                          <a:solidFill>
                            <a:srgbClr val="C00000"/>
                          </a:solidFill>
                        </a:rPr>
                        <a:t>3</a:t>
                      </a:r>
                      <a:endParaRPr lang="en-IN" dirty="0">
                        <a:solidFill>
                          <a:srgbClr val="C00000"/>
                        </a:solidFill>
                      </a:endParaRPr>
                    </a:p>
                  </a:txBody>
                  <a:tcPr>
                    <a:solidFill>
                      <a:schemeClr val="bg1"/>
                    </a:solidFill>
                  </a:tcPr>
                </a:tc>
                <a:tc>
                  <a:txBody>
                    <a:bodyPr/>
                    <a:lstStyle/>
                    <a:p>
                      <a:r>
                        <a:rPr lang="en-IN" dirty="0" smtClean="0">
                          <a:solidFill>
                            <a:srgbClr val="C00000"/>
                          </a:solidFill>
                        </a:rPr>
                        <a:t>4</a:t>
                      </a:r>
                      <a:endParaRPr lang="en-IN" dirty="0">
                        <a:solidFill>
                          <a:srgbClr val="C00000"/>
                        </a:solidFill>
                      </a:endParaRPr>
                    </a:p>
                  </a:txBody>
                  <a:tcPr>
                    <a:solidFill>
                      <a:schemeClr val="bg1"/>
                    </a:solidFill>
                  </a:tcPr>
                </a:tc>
                <a:tc>
                  <a:txBody>
                    <a:bodyPr/>
                    <a:lstStyle/>
                    <a:p>
                      <a:r>
                        <a:rPr lang="en-IN" dirty="0" smtClean="0">
                          <a:solidFill>
                            <a:srgbClr val="C00000"/>
                          </a:solidFill>
                        </a:rPr>
                        <a:t>5</a:t>
                      </a:r>
                      <a:endParaRPr lang="en-IN" dirty="0">
                        <a:solidFill>
                          <a:srgbClr val="C00000"/>
                        </a:solidFill>
                      </a:endParaRPr>
                    </a:p>
                  </a:txBody>
                  <a:tcPr>
                    <a:solidFill>
                      <a:schemeClr val="bg1"/>
                    </a:solidFill>
                  </a:tcPr>
                </a:tc>
                <a:tc>
                  <a:txBody>
                    <a:bodyPr/>
                    <a:lstStyle/>
                    <a:p>
                      <a:r>
                        <a:rPr lang="en-IN" dirty="0" smtClean="0">
                          <a:solidFill>
                            <a:srgbClr val="C00000"/>
                          </a:solidFill>
                        </a:rPr>
                        <a:t>6</a:t>
                      </a:r>
                      <a:endParaRPr lang="en-IN" dirty="0">
                        <a:solidFill>
                          <a:srgbClr val="C00000"/>
                        </a:solidFill>
                      </a:endParaRPr>
                    </a:p>
                  </a:txBody>
                  <a:tcPr>
                    <a:solidFill>
                      <a:schemeClr val="bg1"/>
                    </a:solidFill>
                  </a:tcPr>
                </a:tc>
              </a:tr>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E</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A</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M</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P</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L</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E</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9" name="TextBox 8"/>
          <p:cNvSpPr txBox="1"/>
          <p:nvPr/>
        </p:nvSpPr>
        <p:spPr>
          <a:xfrm>
            <a:off x="1015820" y="2945431"/>
            <a:ext cx="943583" cy="646331"/>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Index</a:t>
            </a:r>
          </a:p>
          <a:p>
            <a:endParaRPr lang="en-IN" dirty="0"/>
          </a:p>
        </p:txBody>
      </p:sp>
      <p:cxnSp>
        <p:nvCxnSpPr>
          <p:cNvPr id="10" name="Straight Arrow Connector 9"/>
          <p:cNvCxnSpPr/>
          <p:nvPr/>
        </p:nvCxnSpPr>
        <p:spPr>
          <a:xfrm flipV="1">
            <a:off x="1077790" y="3273903"/>
            <a:ext cx="852075" cy="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59796" y="3399466"/>
            <a:ext cx="1659615" cy="923330"/>
          </a:xfrm>
          <a:prstGeom prst="rect">
            <a:avLst/>
          </a:prstGeom>
          <a:noFill/>
        </p:spPr>
        <p:txBody>
          <a:bodyPr wrap="square" rtlCol="0">
            <a:spAutoFit/>
          </a:bodyPr>
          <a:lstStyle/>
          <a:p>
            <a:pPr algn="ctr"/>
            <a:r>
              <a:rPr lang="en-IN" b="1" dirty="0" smtClean="0">
                <a:solidFill>
                  <a:srgbClr val="002060"/>
                </a:solidFill>
                <a:latin typeface="Times New Roman" panose="02020603050405020304" pitchFamily="18" charset="0"/>
                <a:cs typeface="Times New Roman" panose="02020603050405020304" pitchFamily="18" charset="0"/>
              </a:rPr>
              <a:t>Array elements</a:t>
            </a:r>
            <a:endParaRPr lang="en-IN" b="1" dirty="0">
              <a:solidFill>
                <a:srgbClr val="002060"/>
              </a:solidFill>
              <a:latin typeface="Times New Roman" panose="02020603050405020304" pitchFamily="18" charset="0"/>
              <a:cs typeface="Times New Roman" panose="02020603050405020304" pitchFamily="18" charset="0"/>
            </a:endParaRPr>
          </a:p>
          <a:p>
            <a:endParaRPr lang="en-IN" dirty="0"/>
          </a:p>
        </p:txBody>
      </p:sp>
      <p:sp>
        <p:nvSpPr>
          <p:cNvPr id="12" name="TextBox 11"/>
          <p:cNvSpPr txBox="1"/>
          <p:nvPr/>
        </p:nvSpPr>
        <p:spPr>
          <a:xfrm>
            <a:off x="1487611" y="2662208"/>
            <a:ext cx="943583" cy="646331"/>
          </a:xfrm>
          <a:prstGeom prst="rect">
            <a:avLst/>
          </a:prstGeom>
          <a:noFill/>
        </p:spPr>
        <p:txBody>
          <a:bodyPr wrap="square" rtlCol="0">
            <a:spAutoFit/>
          </a:bodyPr>
          <a:lstStyle/>
          <a:p>
            <a:pPr algn="ctr"/>
            <a:r>
              <a:rPr lang="en-IN" b="1" dirty="0" smtClean="0">
                <a:solidFill>
                  <a:srgbClr val="002060"/>
                </a:solidFill>
                <a:latin typeface="Times New Roman" panose="02020603050405020304" pitchFamily="18" charset="0"/>
                <a:cs typeface="Times New Roman" panose="02020603050405020304" pitchFamily="18" charset="0"/>
              </a:rPr>
              <a:t>A</a:t>
            </a:r>
            <a:endParaRPr lang="en-IN" b="1" dirty="0">
              <a:solidFill>
                <a:srgbClr val="002060"/>
              </a:solidFill>
              <a:latin typeface="Times New Roman" panose="02020603050405020304" pitchFamily="18" charset="0"/>
              <a:cs typeface="Times New Roman" panose="02020603050405020304" pitchFamily="18" charset="0"/>
            </a:endParaRPr>
          </a:p>
          <a:p>
            <a:endParaRPr lang="en-IN" dirty="0"/>
          </a:p>
        </p:txBody>
      </p:sp>
      <p:sp>
        <p:nvSpPr>
          <p:cNvPr id="13" name="Date Placeholder 12"/>
          <p:cNvSpPr>
            <a:spLocks noGrp="1"/>
          </p:cNvSpPr>
          <p:nvPr>
            <p:ph type="dt" sz="half" idx="10"/>
          </p:nvPr>
        </p:nvSpPr>
        <p:spPr/>
        <p:txBody>
          <a:bodyPr/>
          <a:lstStyle/>
          <a:p>
            <a:fld id="{3A4FC2E1-3DD6-4D78-8B9D-F46D8B8D4B1A}" type="datetime1">
              <a:rPr lang="en-IN" smtClean="0"/>
              <a:t>21-03-2026</a:t>
            </a:fld>
            <a:endParaRPr lang="en-IN"/>
          </a:p>
        </p:txBody>
      </p:sp>
    </p:spTree>
    <p:extLst>
      <p:ext uri="{BB962C8B-B14F-4D97-AF65-F5344CB8AC3E}">
        <p14:creationId xmlns:p14="http://schemas.microsoft.com/office/powerpoint/2010/main" val="14149134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77052" y="575591"/>
            <a:ext cx="11797552" cy="6046339"/>
          </a:xfrm>
        </p:spPr>
        <p:txBody>
          <a:bodyPr>
            <a:normAutofit/>
          </a:bodyPr>
          <a:lstStyle/>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177052" y="6564391"/>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73</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552665" y="1598530"/>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E</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1249381" y="952266"/>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5" name="TextBox 14"/>
          <p:cNvSpPr txBox="1"/>
          <p:nvPr/>
        </p:nvSpPr>
        <p:spPr>
          <a:xfrm>
            <a:off x="5173186" y="978239"/>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9" name="TextBox 18"/>
          <p:cNvSpPr txBox="1"/>
          <p:nvPr/>
        </p:nvSpPr>
        <p:spPr>
          <a:xfrm>
            <a:off x="1215267" y="2572381"/>
            <a:ext cx="715628"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21" name="TextBox 20"/>
          <p:cNvSpPr txBox="1"/>
          <p:nvPr/>
        </p:nvSpPr>
        <p:spPr>
          <a:xfrm>
            <a:off x="5353409" y="2493022"/>
            <a:ext cx="583136"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24" name="TextBox 23"/>
          <p:cNvSpPr txBox="1"/>
          <p:nvPr/>
        </p:nvSpPr>
        <p:spPr>
          <a:xfrm>
            <a:off x="4284876" y="4800957"/>
            <a:ext cx="943583" cy="584775"/>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L </a:t>
            </a:r>
            <a:r>
              <a:rPr lang="en-IN" b="1" dirty="0">
                <a:solidFill>
                  <a:srgbClr val="FF0000"/>
                </a:solidFill>
                <a:latin typeface="Times New Roman" panose="02020603050405020304" pitchFamily="18" charset="0"/>
                <a:cs typeface="Times New Roman" panose="02020603050405020304" pitchFamily="18" charset="0"/>
              </a:rPr>
              <a:t>&gt;</a:t>
            </a:r>
            <a:r>
              <a:rPr lang="en-IN" b="1" dirty="0" smtClean="0">
                <a:solidFill>
                  <a:srgbClr val="FF0000"/>
                </a:solidFill>
                <a:latin typeface="Times New Roman" panose="02020603050405020304" pitchFamily="18" charset="0"/>
                <a:cs typeface="Times New Roman" panose="02020603050405020304" pitchFamily="18" charset="0"/>
              </a:rPr>
              <a:t> E</a:t>
            </a:r>
            <a:endParaRPr lang="en-IN"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sp>
        <p:nvSpPr>
          <p:cNvPr id="25" name="TextBox 24"/>
          <p:cNvSpPr txBox="1"/>
          <p:nvPr/>
        </p:nvSpPr>
        <p:spPr>
          <a:xfrm>
            <a:off x="2033416" y="3966372"/>
            <a:ext cx="66945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29" name="TextBox 28"/>
          <p:cNvSpPr txBox="1"/>
          <p:nvPr/>
        </p:nvSpPr>
        <p:spPr>
          <a:xfrm>
            <a:off x="4433126" y="3999275"/>
            <a:ext cx="580504"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40" name="TextBox 39"/>
          <p:cNvSpPr txBox="1"/>
          <p:nvPr/>
        </p:nvSpPr>
        <p:spPr>
          <a:xfrm>
            <a:off x="7971956" y="1337707"/>
            <a:ext cx="3231683" cy="1015663"/>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First element is pivot </a:t>
            </a:r>
          </a:p>
          <a:p>
            <a:pPr algn="just"/>
            <a:r>
              <a:rPr lang="en-IN" sz="1400" b="1" dirty="0" smtClean="0">
                <a:solidFill>
                  <a:srgbClr val="FF0000"/>
                </a:solidFill>
                <a:latin typeface="Times New Roman" panose="02020603050405020304" pitchFamily="18" charset="0"/>
                <a:cs typeface="Times New Roman" panose="02020603050405020304" pitchFamily="18" charset="0"/>
              </a:rPr>
              <a:t>Initialize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to second element and j to last element</a:t>
            </a:r>
          </a:p>
          <a:p>
            <a:endParaRPr lang="en-IN" dirty="0"/>
          </a:p>
        </p:txBody>
      </p:sp>
      <p:sp>
        <p:nvSpPr>
          <p:cNvPr id="41" name="TextBox 40"/>
          <p:cNvSpPr txBox="1"/>
          <p:nvPr/>
        </p:nvSpPr>
        <p:spPr>
          <a:xfrm>
            <a:off x="8083578" y="5460878"/>
            <a:ext cx="3647819" cy="523220"/>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M is not less </a:t>
            </a:r>
            <a:r>
              <a:rPr lang="en-IN" sz="1400" b="1" dirty="0">
                <a:solidFill>
                  <a:srgbClr val="FF0000"/>
                </a:solidFill>
                <a:latin typeface="Times New Roman" panose="02020603050405020304" pitchFamily="18" charset="0"/>
                <a:cs typeface="Times New Roman" panose="02020603050405020304" pitchFamily="18" charset="0"/>
              </a:rPr>
              <a:t>than  pivot, </a:t>
            </a:r>
            <a:r>
              <a:rPr lang="en-IN" sz="1400" b="1" dirty="0" smtClean="0">
                <a:solidFill>
                  <a:srgbClr val="FF0000"/>
                </a:solidFill>
                <a:latin typeface="Times New Roman" panose="02020603050405020304" pitchFamily="18" charset="0"/>
                <a:cs typeface="Times New Roman" panose="02020603050405020304" pitchFamily="18" charset="0"/>
              </a:rPr>
              <a:t>so no change in </a:t>
            </a:r>
            <a:r>
              <a:rPr lang="en-IN" sz="1400" b="1" dirty="0" err="1" smtClean="0">
                <a:solidFill>
                  <a:srgbClr val="FF0000"/>
                </a:solidFill>
                <a:latin typeface="Times New Roman" panose="02020603050405020304" pitchFamily="18" charset="0"/>
                <a:cs typeface="Times New Roman" panose="02020603050405020304" pitchFamily="18" charset="0"/>
              </a:rPr>
              <a:t>i</a:t>
            </a:r>
            <a:endParaRPr lang="en-IN" sz="1400" b="1" dirty="0" smtClean="0">
              <a:solidFill>
                <a:srgbClr val="FF0000"/>
              </a:solidFill>
              <a:latin typeface="Times New Roman" panose="02020603050405020304" pitchFamily="18" charset="0"/>
              <a:cs typeface="Times New Roman" panose="02020603050405020304" pitchFamily="18" charset="0"/>
            </a:endParaRPr>
          </a:p>
          <a:p>
            <a:pPr algn="just"/>
            <a:r>
              <a:rPr lang="en-IN" sz="1400" b="1" dirty="0" smtClean="0">
                <a:solidFill>
                  <a:srgbClr val="FF0000"/>
                </a:solidFill>
                <a:latin typeface="Times New Roman" panose="02020603050405020304" pitchFamily="18" charset="0"/>
                <a:cs typeface="Times New Roman" panose="02020603050405020304" pitchFamily="18" charset="0"/>
              </a:rPr>
              <a:t>P is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pivot, so j-- </a:t>
            </a:r>
          </a:p>
        </p:txBody>
      </p:sp>
      <p:cxnSp>
        <p:nvCxnSpPr>
          <p:cNvPr id="46" name="Straight Arrow Connector 45"/>
          <p:cNvCxnSpPr/>
          <p:nvPr/>
        </p:nvCxnSpPr>
        <p:spPr>
          <a:xfrm flipV="1">
            <a:off x="854556" y="2039796"/>
            <a:ext cx="0" cy="24442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42777" y="2203600"/>
            <a:ext cx="943583"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pivot</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48" name="Straight Connector 47"/>
          <p:cNvCxnSpPr/>
          <p:nvPr/>
        </p:nvCxnSpPr>
        <p:spPr>
          <a:xfrm flipH="1">
            <a:off x="1662806" y="3674510"/>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505734" y="3082035"/>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E</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51" name="TextBox 50"/>
          <p:cNvSpPr txBox="1"/>
          <p:nvPr/>
        </p:nvSpPr>
        <p:spPr>
          <a:xfrm>
            <a:off x="5170943" y="3547440"/>
            <a:ext cx="1108999" cy="400110"/>
          </a:xfrm>
          <a:prstGeom prst="rect">
            <a:avLst/>
          </a:prstGeom>
          <a:noFill/>
        </p:spPr>
        <p:txBody>
          <a:bodyPr wrap="square" rtlCol="0">
            <a:spAutoFit/>
          </a:bodyPr>
          <a:lstStyle/>
          <a:p>
            <a:pPr algn="ctr"/>
            <a:r>
              <a:rPr lang="en-IN" sz="2000" b="1" dirty="0" smtClean="0">
                <a:solidFill>
                  <a:srgbClr val="FF0000"/>
                </a:solidFill>
                <a:latin typeface="Times New Roman" panose="02020603050405020304" pitchFamily="18" charset="0"/>
                <a:cs typeface="Times New Roman" panose="02020603050405020304" pitchFamily="18" charset="0"/>
              </a:rPr>
              <a:t>E &gt; E</a:t>
            </a:r>
            <a:endParaRPr lang="en-IN" sz="1600" dirty="0"/>
          </a:p>
        </p:txBody>
      </p:sp>
      <p:cxnSp>
        <p:nvCxnSpPr>
          <p:cNvPr id="52" name="Straight Connector 51"/>
          <p:cNvCxnSpPr/>
          <p:nvPr/>
        </p:nvCxnSpPr>
        <p:spPr>
          <a:xfrm flipH="1">
            <a:off x="5644977" y="3700736"/>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4" name="Rectangle 53"/>
          <p:cNvSpPr/>
          <p:nvPr/>
        </p:nvSpPr>
        <p:spPr>
          <a:xfrm>
            <a:off x="415614" y="4374448"/>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E</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62" name="TextBox 61"/>
          <p:cNvSpPr txBox="1"/>
          <p:nvPr/>
        </p:nvSpPr>
        <p:spPr>
          <a:xfrm>
            <a:off x="2782483" y="4992451"/>
            <a:ext cx="66945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63" name="TextBox 62"/>
          <p:cNvSpPr txBox="1"/>
          <p:nvPr/>
        </p:nvSpPr>
        <p:spPr>
          <a:xfrm>
            <a:off x="3584832" y="5045945"/>
            <a:ext cx="580504"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65" name="TextBox 64"/>
          <p:cNvSpPr txBox="1"/>
          <p:nvPr/>
        </p:nvSpPr>
        <p:spPr>
          <a:xfrm>
            <a:off x="3428174" y="5747953"/>
            <a:ext cx="1108999" cy="461665"/>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P &gt; E</a:t>
            </a:r>
            <a:endParaRPr lang="en-IN" dirty="0"/>
          </a:p>
        </p:txBody>
      </p:sp>
      <p:graphicFrame>
        <p:nvGraphicFramePr>
          <p:cNvPr id="44" name="Table 43"/>
          <p:cNvGraphicFramePr>
            <a:graphicFrameLocks noGrp="1"/>
          </p:cNvGraphicFramePr>
          <p:nvPr>
            <p:extLst>
              <p:ext uri="{D42A27DB-BD31-4B8C-83A1-F6EECF244321}">
                <p14:modId xmlns:p14="http://schemas.microsoft.com/office/powerpoint/2010/main" val="1707029596"/>
              </p:ext>
            </p:extLst>
          </p:nvPr>
        </p:nvGraphicFramePr>
        <p:xfrm>
          <a:off x="1425759" y="1610893"/>
          <a:ext cx="4816590" cy="370840"/>
        </p:xfrm>
        <a:graphic>
          <a:graphicData uri="http://schemas.openxmlformats.org/drawingml/2006/table">
            <a:tbl>
              <a:tblPr firstRow="1" bandRow="1">
                <a:tableStyleId>{5C22544A-7EE6-4342-B048-85BDC9FD1C3A}</a:tableStyleId>
              </a:tblPr>
              <a:tblGrid>
                <a:gridCol w="802765"/>
                <a:gridCol w="802765"/>
                <a:gridCol w="802765"/>
                <a:gridCol w="802765"/>
                <a:gridCol w="802765"/>
                <a:gridCol w="802765"/>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A</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M</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P</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L</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E</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45" name="TextBox 44"/>
          <p:cNvSpPr txBox="1"/>
          <p:nvPr/>
        </p:nvSpPr>
        <p:spPr>
          <a:xfrm>
            <a:off x="1109516" y="3619832"/>
            <a:ext cx="120482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X &lt; E</a:t>
            </a:r>
            <a:endParaRPr lang="en-IN" sz="1400" dirty="0"/>
          </a:p>
        </p:txBody>
      </p:sp>
      <p:graphicFrame>
        <p:nvGraphicFramePr>
          <p:cNvPr id="58" name="Table 57"/>
          <p:cNvGraphicFramePr>
            <a:graphicFrameLocks noGrp="1"/>
          </p:cNvGraphicFramePr>
          <p:nvPr>
            <p:extLst>
              <p:ext uri="{D42A27DB-BD31-4B8C-83A1-F6EECF244321}">
                <p14:modId xmlns:p14="http://schemas.microsoft.com/office/powerpoint/2010/main" val="1434631371"/>
              </p:ext>
            </p:extLst>
          </p:nvPr>
        </p:nvGraphicFramePr>
        <p:xfrm>
          <a:off x="1458338" y="3108037"/>
          <a:ext cx="4816590" cy="370840"/>
        </p:xfrm>
        <a:graphic>
          <a:graphicData uri="http://schemas.openxmlformats.org/drawingml/2006/table">
            <a:tbl>
              <a:tblPr firstRow="1" bandRow="1">
                <a:tableStyleId>{5C22544A-7EE6-4342-B048-85BDC9FD1C3A}</a:tableStyleId>
              </a:tblPr>
              <a:tblGrid>
                <a:gridCol w="802765"/>
                <a:gridCol w="802765"/>
                <a:gridCol w="802765"/>
                <a:gridCol w="802765"/>
                <a:gridCol w="802765"/>
                <a:gridCol w="802765"/>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A</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M</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P</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L</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E</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graphicFrame>
        <p:nvGraphicFramePr>
          <p:cNvPr id="69" name="Table 68"/>
          <p:cNvGraphicFramePr>
            <a:graphicFrameLocks noGrp="1"/>
          </p:cNvGraphicFramePr>
          <p:nvPr>
            <p:extLst>
              <p:ext uri="{D42A27DB-BD31-4B8C-83A1-F6EECF244321}">
                <p14:modId xmlns:p14="http://schemas.microsoft.com/office/powerpoint/2010/main" val="611702241"/>
              </p:ext>
            </p:extLst>
          </p:nvPr>
        </p:nvGraphicFramePr>
        <p:xfrm>
          <a:off x="1391188" y="4434404"/>
          <a:ext cx="4816590" cy="370840"/>
        </p:xfrm>
        <a:graphic>
          <a:graphicData uri="http://schemas.openxmlformats.org/drawingml/2006/table">
            <a:tbl>
              <a:tblPr firstRow="1" bandRow="1">
                <a:tableStyleId>{5C22544A-7EE6-4342-B048-85BDC9FD1C3A}</a:tableStyleId>
              </a:tblPr>
              <a:tblGrid>
                <a:gridCol w="802765"/>
                <a:gridCol w="802765"/>
                <a:gridCol w="802765"/>
                <a:gridCol w="802765"/>
                <a:gridCol w="802765"/>
                <a:gridCol w="802765"/>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E</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A</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M</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P</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L</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70" name="Rectangle 69"/>
          <p:cNvSpPr/>
          <p:nvPr/>
        </p:nvSpPr>
        <p:spPr>
          <a:xfrm>
            <a:off x="415614" y="5419946"/>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E</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71" name="Table 70"/>
          <p:cNvGraphicFramePr>
            <a:graphicFrameLocks noGrp="1"/>
          </p:cNvGraphicFramePr>
          <p:nvPr>
            <p:extLst>
              <p:ext uri="{D42A27DB-BD31-4B8C-83A1-F6EECF244321}">
                <p14:modId xmlns:p14="http://schemas.microsoft.com/office/powerpoint/2010/main" val="1551902984"/>
              </p:ext>
            </p:extLst>
          </p:nvPr>
        </p:nvGraphicFramePr>
        <p:xfrm>
          <a:off x="1318014" y="5447763"/>
          <a:ext cx="4816590" cy="370840"/>
        </p:xfrm>
        <a:graphic>
          <a:graphicData uri="http://schemas.openxmlformats.org/drawingml/2006/table">
            <a:tbl>
              <a:tblPr firstRow="1" bandRow="1">
                <a:tableStyleId>{5C22544A-7EE6-4342-B048-85BDC9FD1C3A}</a:tableStyleId>
              </a:tblPr>
              <a:tblGrid>
                <a:gridCol w="802765"/>
                <a:gridCol w="802765"/>
                <a:gridCol w="802765"/>
                <a:gridCol w="802765"/>
                <a:gridCol w="802765"/>
                <a:gridCol w="802765"/>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E</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A</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M</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P</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L</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73" name="TextBox 72"/>
          <p:cNvSpPr txBox="1"/>
          <p:nvPr/>
        </p:nvSpPr>
        <p:spPr>
          <a:xfrm>
            <a:off x="1820655" y="4774577"/>
            <a:ext cx="120482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A &lt; E</a:t>
            </a:r>
            <a:endParaRPr lang="en-IN" sz="1400" dirty="0"/>
          </a:p>
        </p:txBody>
      </p:sp>
      <p:sp>
        <p:nvSpPr>
          <p:cNvPr id="74" name="TextBox 73"/>
          <p:cNvSpPr txBox="1"/>
          <p:nvPr/>
        </p:nvSpPr>
        <p:spPr>
          <a:xfrm>
            <a:off x="2526298" y="5813420"/>
            <a:ext cx="120482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M &lt; E</a:t>
            </a:r>
            <a:endParaRPr lang="en-IN" sz="1400" dirty="0"/>
          </a:p>
        </p:txBody>
      </p:sp>
      <p:cxnSp>
        <p:nvCxnSpPr>
          <p:cNvPr id="75" name="Straight Connector 74"/>
          <p:cNvCxnSpPr/>
          <p:nvPr/>
        </p:nvCxnSpPr>
        <p:spPr>
          <a:xfrm flipH="1">
            <a:off x="3111276" y="5893138"/>
            <a:ext cx="116732" cy="2075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8083579" y="2713811"/>
            <a:ext cx="3647819" cy="954107"/>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X is not less </a:t>
            </a:r>
            <a:r>
              <a:rPr lang="en-IN" sz="1400" b="1" dirty="0">
                <a:solidFill>
                  <a:srgbClr val="FF0000"/>
                </a:solidFill>
                <a:latin typeface="Times New Roman" panose="02020603050405020304" pitchFamily="18" charset="0"/>
                <a:cs typeface="Times New Roman" panose="02020603050405020304" pitchFamily="18" charset="0"/>
              </a:rPr>
              <a:t>than  pivot, </a:t>
            </a:r>
            <a:r>
              <a:rPr lang="en-IN" sz="1400" b="1" dirty="0" smtClean="0">
                <a:solidFill>
                  <a:srgbClr val="FF0000"/>
                </a:solidFill>
                <a:latin typeface="Times New Roman" panose="02020603050405020304" pitchFamily="18" charset="0"/>
                <a:cs typeface="Times New Roman" panose="02020603050405020304" pitchFamily="18" charset="0"/>
              </a:rPr>
              <a:t>so no change in </a:t>
            </a:r>
            <a:r>
              <a:rPr lang="en-IN" sz="1400" b="1" dirty="0" err="1" smtClean="0">
                <a:solidFill>
                  <a:srgbClr val="FF0000"/>
                </a:solidFill>
                <a:latin typeface="Times New Roman" panose="02020603050405020304" pitchFamily="18" charset="0"/>
                <a:cs typeface="Times New Roman" panose="02020603050405020304" pitchFamily="18" charset="0"/>
              </a:rPr>
              <a:t>i</a:t>
            </a:r>
            <a:endParaRPr lang="en-IN" sz="1400" b="1" dirty="0" smtClean="0">
              <a:solidFill>
                <a:srgbClr val="FF0000"/>
              </a:solidFill>
              <a:latin typeface="Times New Roman" panose="02020603050405020304" pitchFamily="18" charset="0"/>
              <a:cs typeface="Times New Roman" panose="02020603050405020304" pitchFamily="18" charset="0"/>
            </a:endParaRPr>
          </a:p>
          <a:p>
            <a:pPr algn="just"/>
            <a:r>
              <a:rPr lang="en-IN" sz="1400" b="1" dirty="0" smtClean="0">
                <a:solidFill>
                  <a:srgbClr val="FF0000"/>
                </a:solidFill>
                <a:latin typeface="Times New Roman" panose="02020603050405020304" pitchFamily="18" charset="0"/>
                <a:cs typeface="Times New Roman" panose="02020603050405020304" pitchFamily="18" charset="0"/>
              </a:rPr>
              <a:t>E is not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pivot, so no </a:t>
            </a:r>
            <a:r>
              <a:rPr lang="en-IN" sz="1400" b="1" dirty="0">
                <a:solidFill>
                  <a:srgbClr val="FF0000"/>
                </a:solidFill>
                <a:latin typeface="Times New Roman" panose="02020603050405020304" pitchFamily="18" charset="0"/>
                <a:cs typeface="Times New Roman" panose="02020603050405020304" pitchFamily="18" charset="0"/>
              </a:rPr>
              <a:t>change in </a:t>
            </a:r>
            <a:r>
              <a:rPr lang="en-IN" sz="1400" b="1" dirty="0" smtClean="0">
                <a:solidFill>
                  <a:srgbClr val="FF0000"/>
                </a:solidFill>
                <a:latin typeface="Times New Roman" panose="02020603050405020304" pitchFamily="18" charset="0"/>
                <a:cs typeface="Times New Roman" panose="02020603050405020304" pitchFamily="18" charset="0"/>
              </a:rPr>
              <a:t>j, </a:t>
            </a:r>
          </a:p>
          <a:p>
            <a:pPr algn="just"/>
            <a:r>
              <a:rPr lang="en-IN" sz="1400" b="1" dirty="0" err="1" smtClean="0">
                <a:solidFill>
                  <a:srgbClr val="002060"/>
                </a:solidFill>
                <a:latin typeface="Times New Roman" panose="02020603050405020304" pitchFamily="18" charset="0"/>
                <a:cs typeface="Times New Roman" panose="02020603050405020304" pitchFamily="18" charset="0"/>
              </a:rPr>
              <a:t>i</a:t>
            </a:r>
            <a:r>
              <a:rPr lang="en-IN" sz="1400" b="1" dirty="0" smtClean="0">
                <a:solidFill>
                  <a:srgbClr val="002060"/>
                </a:solidFill>
                <a:latin typeface="Times New Roman" panose="02020603050405020304" pitchFamily="18" charset="0"/>
                <a:cs typeface="Times New Roman" panose="02020603050405020304" pitchFamily="18" charset="0"/>
              </a:rPr>
              <a:t>&lt;j, </a:t>
            </a:r>
            <a:r>
              <a:rPr lang="en-IN" sz="1400" b="1" dirty="0" smtClean="0">
                <a:solidFill>
                  <a:srgbClr val="FF0000"/>
                </a:solidFill>
                <a:latin typeface="Times New Roman" panose="02020603050405020304" pitchFamily="18" charset="0"/>
                <a:cs typeface="Times New Roman" panose="02020603050405020304" pitchFamily="18" charset="0"/>
              </a:rPr>
              <a:t>swap </a:t>
            </a:r>
            <a:r>
              <a:rPr lang="en-IN" sz="1400" b="1" dirty="0" smtClean="0">
                <a:solidFill>
                  <a:srgbClr val="002060"/>
                </a:solidFill>
                <a:latin typeface="Times New Roman" panose="02020603050405020304" pitchFamily="18" charset="0"/>
                <a:cs typeface="Times New Roman" panose="02020603050405020304" pitchFamily="18" charset="0"/>
              </a:rPr>
              <a:t>A[</a:t>
            </a:r>
            <a:r>
              <a:rPr lang="en-IN" sz="1400" b="1" dirty="0" err="1" smtClean="0">
                <a:solidFill>
                  <a:srgbClr val="002060"/>
                </a:solidFill>
                <a:latin typeface="Times New Roman" panose="02020603050405020304" pitchFamily="18" charset="0"/>
                <a:cs typeface="Times New Roman" panose="02020603050405020304" pitchFamily="18" charset="0"/>
              </a:rPr>
              <a:t>i</a:t>
            </a:r>
            <a:r>
              <a:rPr lang="en-IN" sz="1400" b="1" dirty="0" smtClean="0">
                <a:solidFill>
                  <a:srgbClr val="002060"/>
                </a:solidFill>
                <a:latin typeface="Times New Roman" panose="02020603050405020304" pitchFamily="18" charset="0"/>
                <a:cs typeface="Times New Roman" panose="02020603050405020304" pitchFamily="18" charset="0"/>
              </a:rPr>
              <a:t>] and A[j], </a:t>
            </a:r>
          </a:p>
          <a:p>
            <a:pPr algn="just"/>
            <a:r>
              <a:rPr lang="en-IN" sz="1400" b="1" dirty="0" err="1" smtClean="0">
                <a:solidFill>
                  <a:srgbClr val="002060"/>
                </a:solidFill>
                <a:latin typeface="Times New Roman" panose="02020603050405020304" pitchFamily="18" charset="0"/>
                <a:cs typeface="Times New Roman" panose="02020603050405020304" pitchFamily="18" charset="0"/>
              </a:rPr>
              <a:t>i</a:t>
            </a:r>
            <a:r>
              <a:rPr lang="en-IN" sz="1400" b="1" dirty="0" smtClean="0">
                <a:solidFill>
                  <a:srgbClr val="002060"/>
                </a:solidFill>
                <a:latin typeface="Times New Roman" panose="02020603050405020304" pitchFamily="18" charset="0"/>
                <a:cs typeface="Times New Roman" panose="02020603050405020304" pitchFamily="18" charset="0"/>
              </a:rPr>
              <a:t>++ and j--</a:t>
            </a:r>
            <a:endParaRPr lang="en-IN" dirty="0"/>
          </a:p>
        </p:txBody>
      </p:sp>
      <p:sp>
        <p:nvSpPr>
          <p:cNvPr id="77" name="TextBox 76"/>
          <p:cNvSpPr txBox="1"/>
          <p:nvPr/>
        </p:nvSpPr>
        <p:spPr>
          <a:xfrm>
            <a:off x="8235978" y="4485870"/>
            <a:ext cx="3647819" cy="523220"/>
          </a:xfrm>
          <a:prstGeom prst="rect">
            <a:avLst/>
          </a:prstGeom>
          <a:noFill/>
        </p:spPr>
        <p:txBody>
          <a:bodyPr wrap="square" rtlCol="0">
            <a:spAutoFit/>
          </a:bodyPr>
          <a:lstStyle/>
          <a:p>
            <a:pPr algn="just"/>
            <a:r>
              <a:rPr lang="en-IN" sz="1400" b="1" dirty="0">
                <a:solidFill>
                  <a:srgbClr val="FF0000"/>
                </a:solidFill>
                <a:latin typeface="Times New Roman" panose="02020603050405020304" pitchFamily="18" charset="0"/>
                <a:cs typeface="Times New Roman" panose="02020603050405020304" pitchFamily="18" charset="0"/>
              </a:rPr>
              <a:t>A</a:t>
            </a:r>
            <a:r>
              <a:rPr lang="en-IN" sz="1400" b="1" dirty="0" smtClean="0">
                <a:solidFill>
                  <a:srgbClr val="FF0000"/>
                </a:solidFill>
                <a:latin typeface="Times New Roman" panose="02020603050405020304" pitchFamily="18" charset="0"/>
                <a:cs typeface="Times New Roman" panose="02020603050405020304" pitchFamily="18" charset="0"/>
              </a:rPr>
              <a:t> is  less </a:t>
            </a:r>
            <a:r>
              <a:rPr lang="en-IN" sz="1400" b="1" dirty="0">
                <a:solidFill>
                  <a:srgbClr val="FF0000"/>
                </a:solidFill>
                <a:latin typeface="Times New Roman" panose="02020603050405020304" pitchFamily="18" charset="0"/>
                <a:cs typeface="Times New Roman" panose="02020603050405020304" pitchFamily="18" charset="0"/>
              </a:rPr>
              <a:t>than  pivot, </a:t>
            </a:r>
            <a:r>
              <a:rPr lang="en-IN" sz="1400" b="1" dirty="0" smtClean="0">
                <a:solidFill>
                  <a:srgbClr val="FF0000"/>
                </a:solidFill>
                <a:latin typeface="Times New Roman" panose="02020603050405020304" pitchFamily="18" charset="0"/>
                <a:cs typeface="Times New Roman" panose="02020603050405020304" pitchFamily="18" charset="0"/>
              </a:rPr>
              <a:t>so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a:t>
            </a:r>
          </a:p>
          <a:p>
            <a:pPr algn="just"/>
            <a:r>
              <a:rPr lang="en-IN" sz="1400" b="1" dirty="0" err="1" smtClean="0">
                <a:solidFill>
                  <a:srgbClr val="FF0000"/>
                </a:solidFill>
                <a:latin typeface="Times New Roman" panose="02020603050405020304" pitchFamily="18" charset="0"/>
                <a:cs typeface="Times New Roman" panose="02020603050405020304" pitchFamily="18" charset="0"/>
              </a:rPr>
              <a:t>Lis</a:t>
            </a:r>
            <a:r>
              <a:rPr lang="en-IN" sz="1400" b="1" dirty="0" smtClean="0">
                <a:solidFill>
                  <a:srgbClr val="FF0000"/>
                </a:solidFill>
                <a:latin typeface="Times New Roman" panose="02020603050405020304" pitchFamily="18" charset="0"/>
                <a:cs typeface="Times New Roman" panose="02020603050405020304" pitchFamily="18" charset="0"/>
              </a:rPr>
              <a:t>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pivot, so j-- </a:t>
            </a:r>
          </a:p>
        </p:txBody>
      </p:sp>
      <p:sp>
        <p:nvSpPr>
          <p:cNvPr id="6" name="Date Placeholder 5"/>
          <p:cNvSpPr>
            <a:spLocks noGrp="1"/>
          </p:cNvSpPr>
          <p:nvPr>
            <p:ph type="dt" sz="half" idx="10"/>
          </p:nvPr>
        </p:nvSpPr>
        <p:spPr/>
        <p:txBody>
          <a:bodyPr/>
          <a:lstStyle/>
          <a:p>
            <a:fld id="{4BB450ED-3F5B-4CCC-8F0B-6863555B4AD9}" type="datetime1">
              <a:rPr lang="en-IN" smtClean="0"/>
              <a:t>21-03-2026</a:t>
            </a:fld>
            <a:endParaRPr lang="en-IN"/>
          </a:p>
        </p:txBody>
      </p:sp>
    </p:spTree>
    <p:extLst>
      <p:ext uri="{BB962C8B-B14F-4D97-AF65-F5344CB8AC3E}">
        <p14:creationId xmlns:p14="http://schemas.microsoft.com/office/powerpoint/2010/main" val="107746972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177052" y="6564391"/>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74</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552665" y="1598530"/>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E</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2782630" y="1055057"/>
            <a:ext cx="943583" cy="738664"/>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4" name="TextBox 23"/>
          <p:cNvSpPr txBox="1"/>
          <p:nvPr/>
        </p:nvSpPr>
        <p:spPr>
          <a:xfrm>
            <a:off x="2760102" y="1995045"/>
            <a:ext cx="943583" cy="584775"/>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M </a:t>
            </a:r>
            <a:r>
              <a:rPr lang="en-IN" b="1" dirty="0">
                <a:solidFill>
                  <a:srgbClr val="FF0000"/>
                </a:solidFill>
                <a:latin typeface="Times New Roman" panose="02020603050405020304" pitchFamily="18" charset="0"/>
                <a:cs typeface="Times New Roman" panose="02020603050405020304" pitchFamily="18" charset="0"/>
              </a:rPr>
              <a:t>&gt;</a:t>
            </a:r>
            <a:r>
              <a:rPr lang="en-IN" b="1" dirty="0" smtClean="0">
                <a:solidFill>
                  <a:srgbClr val="FF0000"/>
                </a:solidFill>
                <a:latin typeface="Times New Roman" panose="02020603050405020304" pitchFamily="18" charset="0"/>
                <a:cs typeface="Times New Roman" panose="02020603050405020304" pitchFamily="18" charset="0"/>
              </a:rPr>
              <a:t> E</a:t>
            </a:r>
            <a:endParaRPr lang="en-IN"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sp>
        <p:nvSpPr>
          <p:cNvPr id="25" name="TextBox 24"/>
          <p:cNvSpPr txBox="1"/>
          <p:nvPr/>
        </p:nvSpPr>
        <p:spPr>
          <a:xfrm>
            <a:off x="1418017" y="3966437"/>
            <a:ext cx="66945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29" name="TextBox 28"/>
          <p:cNvSpPr txBox="1"/>
          <p:nvPr/>
        </p:nvSpPr>
        <p:spPr>
          <a:xfrm>
            <a:off x="1195216" y="3978966"/>
            <a:ext cx="580504" cy="461665"/>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i</a:t>
            </a:r>
            <a:endParaRPr lang="en-IN" dirty="0"/>
          </a:p>
        </p:txBody>
      </p:sp>
      <p:cxnSp>
        <p:nvCxnSpPr>
          <p:cNvPr id="46" name="Straight Arrow Connector 45"/>
          <p:cNvCxnSpPr/>
          <p:nvPr/>
        </p:nvCxnSpPr>
        <p:spPr>
          <a:xfrm flipV="1">
            <a:off x="854556" y="2039796"/>
            <a:ext cx="0" cy="24442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42777" y="2203600"/>
            <a:ext cx="943583"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pivot</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dirty="0"/>
          </a:p>
        </p:txBody>
      </p:sp>
      <p:graphicFrame>
        <p:nvGraphicFramePr>
          <p:cNvPr id="44" name="Table 43"/>
          <p:cNvGraphicFramePr>
            <a:graphicFrameLocks noGrp="1"/>
          </p:cNvGraphicFramePr>
          <p:nvPr>
            <p:extLst>
              <p:ext uri="{D42A27DB-BD31-4B8C-83A1-F6EECF244321}">
                <p14:modId xmlns:p14="http://schemas.microsoft.com/office/powerpoint/2010/main" val="3590969657"/>
              </p:ext>
            </p:extLst>
          </p:nvPr>
        </p:nvGraphicFramePr>
        <p:xfrm>
          <a:off x="1425759" y="1610893"/>
          <a:ext cx="4816590" cy="370840"/>
        </p:xfrm>
        <a:graphic>
          <a:graphicData uri="http://schemas.openxmlformats.org/drawingml/2006/table">
            <a:tbl>
              <a:tblPr firstRow="1" bandRow="1">
                <a:tableStyleId>{5C22544A-7EE6-4342-B048-85BDC9FD1C3A}</a:tableStyleId>
              </a:tblPr>
              <a:tblGrid>
                <a:gridCol w="802765"/>
                <a:gridCol w="802765"/>
                <a:gridCol w="802765"/>
                <a:gridCol w="802765"/>
                <a:gridCol w="802765"/>
                <a:gridCol w="802765"/>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E</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A</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M</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P</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L</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838711562"/>
              </p:ext>
            </p:extLst>
          </p:nvPr>
        </p:nvGraphicFramePr>
        <p:xfrm>
          <a:off x="415614" y="2804899"/>
          <a:ext cx="5945472" cy="370840"/>
        </p:xfrm>
        <a:graphic>
          <a:graphicData uri="http://schemas.openxmlformats.org/drawingml/2006/table">
            <a:tbl>
              <a:tblPr firstRow="1" bandRow="1">
                <a:tableStyleId>{5C22544A-7EE6-4342-B048-85BDC9FD1C3A}</a:tableStyleId>
              </a:tblPr>
              <a:tblGrid>
                <a:gridCol w="990912"/>
                <a:gridCol w="990912"/>
                <a:gridCol w="990912"/>
                <a:gridCol w="990912"/>
                <a:gridCol w="990912"/>
                <a:gridCol w="990912"/>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A</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E </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         M</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     P</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  L</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 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42" name="TextBox 41"/>
          <p:cNvSpPr txBox="1"/>
          <p:nvPr/>
        </p:nvSpPr>
        <p:spPr>
          <a:xfrm>
            <a:off x="7315967" y="2944238"/>
            <a:ext cx="3539787" cy="307777"/>
          </a:xfrm>
          <a:prstGeom prst="rect">
            <a:avLst/>
          </a:prstGeom>
          <a:noFill/>
        </p:spPr>
        <p:txBody>
          <a:bodyPr wrap="square" rtlCol="0">
            <a:spAutoFit/>
          </a:bodyPr>
          <a:lstStyle/>
          <a:p>
            <a:pPr algn="just"/>
            <a:r>
              <a:rPr lang="en-IN" sz="1400" b="1" dirty="0" smtClean="0">
                <a:solidFill>
                  <a:srgbClr val="002060"/>
                </a:solidFill>
                <a:latin typeface="Times New Roman" panose="02020603050405020304" pitchFamily="18" charset="0"/>
                <a:cs typeface="Times New Roman" panose="02020603050405020304" pitchFamily="18" charset="0"/>
              </a:rPr>
              <a:t>Pivot is in final position. </a:t>
            </a:r>
            <a:endParaRPr lang="en-IN" dirty="0">
              <a:solidFill>
                <a:srgbClr val="FF0000"/>
              </a:solidFill>
            </a:endParaRPr>
          </a:p>
        </p:txBody>
      </p:sp>
      <p:sp>
        <p:nvSpPr>
          <p:cNvPr id="10" name="Rectangle 9"/>
          <p:cNvSpPr/>
          <p:nvPr/>
        </p:nvSpPr>
        <p:spPr>
          <a:xfrm>
            <a:off x="2105698" y="2807972"/>
            <a:ext cx="448236" cy="43026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FF0000"/>
                </a:solidFill>
                <a:latin typeface="Times New Roman" panose="02020603050405020304" pitchFamily="18" charset="0"/>
                <a:cs typeface="Times New Roman" panose="02020603050405020304" pitchFamily="18" charset="0"/>
              </a:rPr>
              <a:t>E</a:t>
            </a:r>
            <a:endParaRPr lang="en-IN" b="1" dirty="0">
              <a:solidFill>
                <a:srgbClr val="FF0000"/>
              </a:solidFill>
              <a:latin typeface="Times New Roman" panose="02020603050405020304" pitchFamily="18" charset="0"/>
              <a:cs typeface="Times New Roman" panose="02020603050405020304" pitchFamily="18" charset="0"/>
            </a:endParaRPr>
          </a:p>
        </p:txBody>
      </p:sp>
      <p:cxnSp>
        <p:nvCxnSpPr>
          <p:cNvPr id="68" name="Straight Arrow Connector 67"/>
          <p:cNvCxnSpPr/>
          <p:nvPr/>
        </p:nvCxnSpPr>
        <p:spPr>
          <a:xfrm flipV="1">
            <a:off x="2918795" y="3482576"/>
            <a:ext cx="2835416" cy="3489"/>
          </a:xfrm>
          <a:prstGeom prst="straightConnector1">
            <a:avLst/>
          </a:prstGeom>
          <a:ln w="2857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342777" y="3452662"/>
            <a:ext cx="1296895" cy="1497"/>
          </a:xfrm>
          <a:prstGeom prst="straightConnector1">
            <a:avLst/>
          </a:prstGeom>
          <a:ln w="2857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graphicFrame>
        <p:nvGraphicFramePr>
          <p:cNvPr id="74" name="Table 73"/>
          <p:cNvGraphicFramePr>
            <a:graphicFrameLocks noGrp="1"/>
          </p:cNvGraphicFramePr>
          <p:nvPr>
            <p:extLst>
              <p:ext uri="{D42A27DB-BD31-4B8C-83A1-F6EECF244321}">
                <p14:modId xmlns:p14="http://schemas.microsoft.com/office/powerpoint/2010/main" val="1928584666"/>
              </p:ext>
            </p:extLst>
          </p:nvPr>
        </p:nvGraphicFramePr>
        <p:xfrm>
          <a:off x="1368119" y="4406338"/>
          <a:ext cx="271553" cy="370840"/>
        </p:xfrm>
        <a:graphic>
          <a:graphicData uri="http://schemas.openxmlformats.org/drawingml/2006/table">
            <a:tbl>
              <a:tblPr firstRow="1" bandRow="1">
                <a:tableStyleId>{5C22544A-7EE6-4342-B048-85BDC9FD1C3A}</a:tableStyleId>
              </a:tblPr>
              <a:tblGrid>
                <a:gridCol w="271553"/>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E</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75" name="Rectangle 74"/>
          <p:cNvSpPr/>
          <p:nvPr/>
        </p:nvSpPr>
        <p:spPr>
          <a:xfrm>
            <a:off x="389665" y="4360037"/>
            <a:ext cx="448236" cy="43026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FF0000"/>
                </a:solidFill>
                <a:latin typeface="Times New Roman" panose="02020603050405020304" pitchFamily="18" charset="0"/>
                <a:cs typeface="Times New Roman" panose="02020603050405020304" pitchFamily="18" charset="0"/>
              </a:rPr>
              <a:t>A</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76" name="Rectangle 75"/>
          <p:cNvSpPr/>
          <p:nvPr/>
        </p:nvSpPr>
        <p:spPr>
          <a:xfrm>
            <a:off x="389665" y="5354454"/>
            <a:ext cx="448236" cy="43026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rgbClr val="FF0000"/>
                </a:solidFill>
                <a:latin typeface="Times New Roman" panose="02020603050405020304" pitchFamily="18" charset="0"/>
                <a:cs typeface="Times New Roman" panose="02020603050405020304" pitchFamily="18" charset="0"/>
              </a:rPr>
              <a:t>A</a:t>
            </a:r>
          </a:p>
        </p:txBody>
      </p:sp>
      <p:graphicFrame>
        <p:nvGraphicFramePr>
          <p:cNvPr id="77" name="Table 76"/>
          <p:cNvGraphicFramePr>
            <a:graphicFrameLocks noGrp="1"/>
          </p:cNvGraphicFramePr>
          <p:nvPr>
            <p:extLst>
              <p:ext uri="{D42A27DB-BD31-4B8C-83A1-F6EECF244321}">
                <p14:modId xmlns:p14="http://schemas.microsoft.com/office/powerpoint/2010/main" val="728502174"/>
              </p:ext>
            </p:extLst>
          </p:nvPr>
        </p:nvGraphicFramePr>
        <p:xfrm>
          <a:off x="1370622" y="5404699"/>
          <a:ext cx="271553" cy="370840"/>
        </p:xfrm>
        <a:graphic>
          <a:graphicData uri="http://schemas.openxmlformats.org/drawingml/2006/table">
            <a:tbl>
              <a:tblPr firstRow="1" bandRow="1">
                <a:tableStyleId>{5C22544A-7EE6-4342-B048-85BDC9FD1C3A}</a:tableStyleId>
              </a:tblPr>
              <a:tblGrid>
                <a:gridCol w="271553"/>
              </a:tblGrid>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E</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78" name="TextBox 77"/>
          <p:cNvSpPr txBox="1"/>
          <p:nvPr/>
        </p:nvSpPr>
        <p:spPr>
          <a:xfrm>
            <a:off x="177052" y="5947066"/>
            <a:ext cx="943583"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j</a:t>
            </a:r>
            <a:endParaRPr lang="en-IN" sz="1400" dirty="0"/>
          </a:p>
        </p:txBody>
      </p:sp>
      <p:sp>
        <p:nvSpPr>
          <p:cNvPr id="79" name="TextBox 78"/>
          <p:cNvSpPr txBox="1"/>
          <p:nvPr/>
        </p:nvSpPr>
        <p:spPr>
          <a:xfrm>
            <a:off x="7315967" y="1546682"/>
            <a:ext cx="3647819" cy="738664"/>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M is not less </a:t>
            </a:r>
            <a:r>
              <a:rPr lang="en-IN" sz="1400" b="1" dirty="0">
                <a:solidFill>
                  <a:srgbClr val="FF0000"/>
                </a:solidFill>
                <a:latin typeface="Times New Roman" panose="02020603050405020304" pitchFamily="18" charset="0"/>
                <a:cs typeface="Times New Roman" panose="02020603050405020304" pitchFamily="18" charset="0"/>
              </a:rPr>
              <a:t>than  pivot, </a:t>
            </a:r>
            <a:r>
              <a:rPr lang="en-IN" sz="1400" b="1" dirty="0" smtClean="0">
                <a:solidFill>
                  <a:srgbClr val="FF0000"/>
                </a:solidFill>
                <a:latin typeface="Times New Roman" panose="02020603050405020304" pitchFamily="18" charset="0"/>
                <a:cs typeface="Times New Roman" panose="02020603050405020304" pitchFamily="18" charset="0"/>
              </a:rPr>
              <a:t>so no change in </a:t>
            </a:r>
            <a:r>
              <a:rPr lang="en-IN" sz="1400" b="1" dirty="0" err="1" smtClean="0">
                <a:solidFill>
                  <a:srgbClr val="FF0000"/>
                </a:solidFill>
                <a:latin typeface="Times New Roman" panose="02020603050405020304" pitchFamily="18" charset="0"/>
                <a:cs typeface="Times New Roman" panose="02020603050405020304" pitchFamily="18" charset="0"/>
              </a:rPr>
              <a:t>i</a:t>
            </a:r>
            <a:endParaRPr lang="en-IN" sz="1400" b="1" dirty="0" smtClean="0">
              <a:solidFill>
                <a:srgbClr val="FF0000"/>
              </a:solidFill>
              <a:latin typeface="Times New Roman" panose="02020603050405020304" pitchFamily="18" charset="0"/>
              <a:cs typeface="Times New Roman" panose="02020603050405020304" pitchFamily="18" charset="0"/>
            </a:endParaRPr>
          </a:p>
          <a:p>
            <a:pPr algn="just"/>
            <a:r>
              <a:rPr lang="en-IN" sz="1400" b="1" dirty="0">
                <a:solidFill>
                  <a:srgbClr val="FF0000"/>
                </a:solidFill>
                <a:latin typeface="Times New Roman" panose="02020603050405020304" pitchFamily="18" charset="0"/>
                <a:cs typeface="Times New Roman" panose="02020603050405020304" pitchFamily="18" charset="0"/>
              </a:rPr>
              <a:t>M</a:t>
            </a:r>
            <a:r>
              <a:rPr lang="en-IN" sz="1400" b="1" dirty="0" smtClean="0">
                <a:solidFill>
                  <a:srgbClr val="FF0000"/>
                </a:solidFill>
                <a:latin typeface="Times New Roman" panose="02020603050405020304" pitchFamily="18" charset="0"/>
                <a:cs typeface="Times New Roman" panose="02020603050405020304" pitchFamily="18" charset="0"/>
              </a:rPr>
              <a:t> is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pivot, so j– </a:t>
            </a:r>
          </a:p>
          <a:p>
            <a:pPr algn="just"/>
            <a:r>
              <a:rPr lang="en-IN" sz="1400" b="1" dirty="0" err="1">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 j, swap A[j] and pivot</a:t>
            </a:r>
          </a:p>
        </p:txBody>
      </p:sp>
      <p:sp>
        <p:nvSpPr>
          <p:cNvPr id="80" name="TextBox 79"/>
          <p:cNvSpPr txBox="1"/>
          <p:nvPr/>
        </p:nvSpPr>
        <p:spPr>
          <a:xfrm>
            <a:off x="1941295" y="1156836"/>
            <a:ext cx="943583" cy="738664"/>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j</a:t>
            </a:r>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82" name="TextBox 81"/>
          <p:cNvSpPr txBox="1"/>
          <p:nvPr/>
        </p:nvSpPr>
        <p:spPr>
          <a:xfrm>
            <a:off x="177052" y="3715454"/>
            <a:ext cx="3242315" cy="307777"/>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Consider first part apply quick sort</a:t>
            </a:r>
            <a:endParaRPr lang="en-IN" dirty="0"/>
          </a:p>
        </p:txBody>
      </p:sp>
      <p:sp>
        <p:nvSpPr>
          <p:cNvPr id="83" name="TextBox 82"/>
          <p:cNvSpPr txBox="1"/>
          <p:nvPr/>
        </p:nvSpPr>
        <p:spPr>
          <a:xfrm>
            <a:off x="2324053" y="5306019"/>
            <a:ext cx="2432774" cy="307777"/>
          </a:xfrm>
          <a:prstGeom prst="rect">
            <a:avLst/>
          </a:prstGeom>
          <a:noFill/>
        </p:spPr>
        <p:txBody>
          <a:bodyPr wrap="square" rtlCol="0">
            <a:spAutoFit/>
          </a:bodyPr>
          <a:lstStyle/>
          <a:p>
            <a:pPr algn="just"/>
            <a:r>
              <a:rPr lang="en-IN" sz="1400" b="1" dirty="0" smtClean="0">
                <a:solidFill>
                  <a:srgbClr val="002060"/>
                </a:solidFill>
                <a:latin typeface="Times New Roman" panose="02020603050405020304" pitchFamily="18" charset="0"/>
                <a:cs typeface="Times New Roman" panose="02020603050405020304" pitchFamily="18" charset="0"/>
              </a:rPr>
              <a:t>Pivot is in final position. </a:t>
            </a:r>
            <a:endParaRPr lang="en-IN" dirty="0">
              <a:solidFill>
                <a:srgbClr val="FF0000"/>
              </a:solidFill>
            </a:endParaRPr>
          </a:p>
        </p:txBody>
      </p:sp>
      <p:sp>
        <p:nvSpPr>
          <p:cNvPr id="6" name="Date Placeholder 5"/>
          <p:cNvSpPr>
            <a:spLocks noGrp="1"/>
          </p:cNvSpPr>
          <p:nvPr>
            <p:ph type="dt" sz="half" idx="10"/>
          </p:nvPr>
        </p:nvSpPr>
        <p:spPr/>
        <p:txBody>
          <a:bodyPr/>
          <a:lstStyle/>
          <a:p>
            <a:fld id="{7763E503-641E-44A0-B9D5-DB90E9968102}" type="datetime1">
              <a:rPr lang="en-IN" smtClean="0"/>
              <a:t>21-03-2026</a:t>
            </a:fld>
            <a:endParaRPr lang="en-IN"/>
          </a:p>
        </p:txBody>
      </p:sp>
      <p:sp>
        <p:nvSpPr>
          <p:cNvPr id="9" name="TextBox 8"/>
          <p:cNvSpPr txBox="1"/>
          <p:nvPr/>
        </p:nvSpPr>
        <p:spPr>
          <a:xfrm>
            <a:off x="2079275" y="3329464"/>
            <a:ext cx="797360" cy="369332"/>
          </a:xfrm>
          <a:prstGeom prst="rect">
            <a:avLst/>
          </a:prstGeom>
          <a:noFill/>
        </p:spPr>
        <p:txBody>
          <a:bodyPr wrap="square" rtlCol="0">
            <a:spAutoFit/>
          </a:bodyPr>
          <a:lstStyle/>
          <a:p>
            <a:r>
              <a:rPr lang="en-IN" dirty="0" smtClean="0"/>
              <a:t>S=2</a:t>
            </a:r>
            <a:endParaRPr lang="en-IN" dirty="0"/>
          </a:p>
        </p:txBody>
      </p:sp>
      <p:sp>
        <p:nvSpPr>
          <p:cNvPr id="33" name="Subtitle 32"/>
          <p:cNvSpPr txBox="1">
            <a:spLocks noGrp="1"/>
          </p:cNvSpPr>
          <p:nvPr>
            <p:ph type="subTitle" idx="1"/>
          </p:nvPr>
        </p:nvSpPr>
        <p:spPr>
          <a:xfrm>
            <a:off x="344193" y="6263762"/>
            <a:ext cx="1085935" cy="341632"/>
          </a:xfrm>
          <a:prstGeom prst="rect">
            <a:avLst/>
          </a:prstGeom>
          <a:noFill/>
        </p:spPr>
        <p:txBody>
          <a:bodyPr wrap="square" rtlCol="0">
            <a:spAutoFit/>
          </a:bodyPr>
          <a:lstStyle/>
          <a:p>
            <a:r>
              <a:rPr lang="en-IN" sz="1800" dirty="0" smtClean="0"/>
              <a:t>S=0</a:t>
            </a:r>
            <a:endParaRPr lang="en-IN" sz="1800" dirty="0"/>
          </a:p>
        </p:txBody>
      </p:sp>
      <p:sp>
        <p:nvSpPr>
          <p:cNvPr id="32" name="TextBox 31"/>
          <p:cNvSpPr txBox="1"/>
          <p:nvPr/>
        </p:nvSpPr>
        <p:spPr>
          <a:xfrm>
            <a:off x="1304800" y="5900900"/>
            <a:ext cx="580504" cy="461665"/>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i</a:t>
            </a:r>
            <a:endParaRPr lang="en-IN" dirty="0"/>
          </a:p>
        </p:txBody>
      </p:sp>
    </p:spTree>
    <p:extLst>
      <p:ext uri="{BB962C8B-B14F-4D97-AF65-F5344CB8AC3E}">
        <p14:creationId xmlns:p14="http://schemas.microsoft.com/office/powerpoint/2010/main" val="70333751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177052" y="6564391"/>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75</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2801608" y="2624482"/>
            <a:ext cx="66945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29" name="TextBox 28"/>
          <p:cNvSpPr txBox="1"/>
          <p:nvPr/>
        </p:nvSpPr>
        <p:spPr>
          <a:xfrm>
            <a:off x="2559495" y="2624483"/>
            <a:ext cx="580504" cy="461665"/>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54" name="Rectangle 53"/>
          <p:cNvSpPr/>
          <p:nvPr/>
        </p:nvSpPr>
        <p:spPr>
          <a:xfrm>
            <a:off x="342777" y="1265621"/>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M</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7" name="TextBox 36"/>
          <p:cNvSpPr txBox="1"/>
          <p:nvPr/>
        </p:nvSpPr>
        <p:spPr>
          <a:xfrm>
            <a:off x="4019777" y="3298149"/>
            <a:ext cx="3539787" cy="1292662"/>
          </a:xfrm>
          <a:prstGeom prst="rect">
            <a:avLst/>
          </a:prstGeom>
          <a:noFill/>
        </p:spPr>
        <p:txBody>
          <a:bodyPr wrap="square" rtlCol="0">
            <a:spAutoFit/>
          </a:bodyPr>
          <a:lstStyle/>
          <a:p>
            <a:pPr algn="just"/>
            <a:r>
              <a:rPr lang="en-IN" b="1" dirty="0" err="1">
                <a:solidFill>
                  <a:srgbClr val="002060"/>
                </a:solidFill>
                <a:latin typeface="Times New Roman" panose="02020603050405020304" pitchFamily="18" charset="0"/>
                <a:cs typeface="Times New Roman" panose="02020603050405020304" pitchFamily="18" charset="0"/>
              </a:rPr>
              <a:t>i</a:t>
            </a:r>
            <a:r>
              <a:rPr lang="en-IN" b="1" dirty="0" smtClean="0">
                <a:solidFill>
                  <a:srgbClr val="002060"/>
                </a:solidFill>
                <a:latin typeface="Times New Roman" panose="02020603050405020304" pitchFamily="18" charset="0"/>
                <a:cs typeface="Times New Roman" panose="02020603050405020304" pitchFamily="18" charset="0"/>
              </a:rPr>
              <a:t> ≥ j</a:t>
            </a:r>
          </a:p>
          <a:p>
            <a:pPr algn="just"/>
            <a:r>
              <a:rPr lang="en-IN" sz="1400" b="1" dirty="0" smtClean="0">
                <a:solidFill>
                  <a:srgbClr val="FF0000"/>
                </a:solidFill>
                <a:latin typeface="Times New Roman" panose="02020603050405020304" pitchFamily="18" charset="0"/>
                <a:cs typeface="Times New Roman" panose="02020603050405020304" pitchFamily="18" charset="0"/>
              </a:rPr>
              <a:t>Swap </a:t>
            </a:r>
            <a:r>
              <a:rPr lang="en-IN" sz="1400" b="1" dirty="0" smtClean="0">
                <a:solidFill>
                  <a:srgbClr val="002060"/>
                </a:solidFill>
                <a:latin typeface="Times New Roman" panose="02020603050405020304" pitchFamily="18" charset="0"/>
                <a:cs typeface="Times New Roman" panose="02020603050405020304" pitchFamily="18" charset="0"/>
              </a:rPr>
              <a:t>Pivot and A[j]. </a:t>
            </a:r>
            <a:r>
              <a:rPr lang="en-IN" sz="1400" b="1" dirty="0">
                <a:solidFill>
                  <a:srgbClr val="FF0000"/>
                </a:solidFill>
                <a:latin typeface="Times New Roman" panose="02020603050405020304" pitchFamily="18" charset="0"/>
                <a:cs typeface="Times New Roman" panose="02020603050405020304" pitchFamily="18" charset="0"/>
              </a:rPr>
              <a:t>all the elements before pivot are lesser than it and </a:t>
            </a:r>
            <a:r>
              <a:rPr lang="en-IN" sz="1400" b="1" dirty="0" smtClean="0">
                <a:solidFill>
                  <a:srgbClr val="FF0000"/>
                </a:solidFill>
                <a:latin typeface="Times New Roman" panose="02020603050405020304" pitchFamily="18" charset="0"/>
                <a:cs typeface="Times New Roman" panose="02020603050405020304" pitchFamily="18" charset="0"/>
              </a:rPr>
              <a:t>no elements towards right of pivot</a:t>
            </a:r>
            <a:endParaRPr lang="en-IN" sz="1400" b="1" dirty="0">
              <a:solidFill>
                <a:srgbClr val="FF0000"/>
              </a:solidFill>
              <a:latin typeface="Times New Roman" panose="02020603050405020304" pitchFamily="18" charset="0"/>
              <a:cs typeface="Times New Roman" panose="02020603050405020304" pitchFamily="18" charset="0"/>
            </a:endParaRPr>
          </a:p>
          <a:p>
            <a:pPr algn="just"/>
            <a:endParaRPr lang="en-IN" dirty="0">
              <a:solidFill>
                <a:srgbClr val="FF0000"/>
              </a:solidFill>
            </a:endParaRPr>
          </a:p>
        </p:txBody>
      </p:sp>
      <p:sp>
        <p:nvSpPr>
          <p:cNvPr id="42" name="TextBox 41"/>
          <p:cNvSpPr txBox="1"/>
          <p:nvPr/>
        </p:nvSpPr>
        <p:spPr>
          <a:xfrm>
            <a:off x="4896183" y="2098912"/>
            <a:ext cx="3539787" cy="307777"/>
          </a:xfrm>
          <a:prstGeom prst="rect">
            <a:avLst/>
          </a:prstGeom>
          <a:noFill/>
        </p:spPr>
        <p:txBody>
          <a:bodyPr wrap="square" rtlCol="0">
            <a:spAutoFit/>
          </a:bodyPr>
          <a:lstStyle/>
          <a:p>
            <a:pPr algn="just"/>
            <a:r>
              <a:rPr lang="en-IN" sz="1400" b="1" dirty="0" smtClean="0">
                <a:solidFill>
                  <a:srgbClr val="002060"/>
                </a:solidFill>
                <a:latin typeface="Times New Roman" panose="02020603050405020304" pitchFamily="18" charset="0"/>
                <a:cs typeface="Times New Roman" panose="02020603050405020304" pitchFamily="18" charset="0"/>
              </a:rPr>
              <a:t>Pivot is in final position. </a:t>
            </a:r>
            <a:endParaRPr lang="en-IN" dirty="0">
              <a:solidFill>
                <a:srgbClr val="FF0000"/>
              </a:solidFill>
            </a:endParaRPr>
          </a:p>
        </p:txBody>
      </p:sp>
      <p:graphicFrame>
        <p:nvGraphicFramePr>
          <p:cNvPr id="57" name="Table 56"/>
          <p:cNvGraphicFramePr>
            <a:graphicFrameLocks noGrp="1"/>
          </p:cNvGraphicFramePr>
          <p:nvPr>
            <p:extLst>
              <p:ext uri="{D42A27DB-BD31-4B8C-83A1-F6EECF244321}">
                <p14:modId xmlns:p14="http://schemas.microsoft.com/office/powerpoint/2010/main" val="457806269"/>
              </p:ext>
            </p:extLst>
          </p:nvPr>
        </p:nvGraphicFramePr>
        <p:xfrm>
          <a:off x="1259537" y="1343241"/>
          <a:ext cx="2408295" cy="388887"/>
        </p:xfrm>
        <a:graphic>
          <a:graphicData uri="http://schemas.openxmlformats.org/drawingml/2006/table">
            <a:tbl>
              <a:tblPr firstRow="1" bandRow="1">
                <a:tableStyleId>{5C22544A-7EE6-4342-B048-85BDC9FD1C3A}</a:tableStyleId>
              </a:tblPr>
              <a:tblGrid>
                <a:gridCol w="802765"/>
                <a:gridCol w="802765"/>
                <a:gridCol w="802765"/>
              </a:tblGrid>
              <a:tr h="388887">
                <a:tc>
                  <a:txBody>
                    <a:bodyPr/>
                    <a:lstStyle/>
                    <a:p>
                      <a:r>
                        <a:rPr lang="en-IN" b="1" dirty="0" smtClean="0">
                          <a:solidFill>
                            <a:srgbClr val="002060"/>
                          </a:solidFill>
                          <a:latin typeface="Times New Roman" panose="02020603050405020304" pitchFamily="18" charset="0"/>
                          <a:cs typeface="Times New Roman" panose="02020603050405020304" pitchFamily="18" charset="0"/>
                        </a:rPr>
                        <a:t>L</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P</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61" name="TextBox 60"/>
          <p:cNvSpPr txBox="1"/>
          <p:nvPr/>
        </p:nvSpPr>
        <p:spPr>
          <a:xfrm>
            <a:off x="2748498" y="844906"/>
            <a:ext cx="66945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64" name="TextBox 63"/>
          <p:cNvSpPr txBox="1"/>
          <p:nvPr/>
        </p:nvSpPr>
        <p:spPr>
          <a:xfrm>
            <a:off x="1149239" y="948991"/>
            <a:ext cx="580504" cy="461665"/>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i</a:t>
            </a:r>
            <a:endParaRPr lang="en-IN" dirty="0"/>
          </a:p>
        </p:txBody>
      </p:sp>
      <p:graphicFrame>
        <p:nvGraphicFramePr>
          <p:cNvPr id="33" name="Table 32"/>
          <p:cNvGraphicFramePr>
            <a:graphicFrameLocks noGrp="1"/>
          </p:cNvGraphicFramePr>
          <p:nvPr>
            <p:extLst>
              <p:ext uri="{D42A27DB-BD31-4B8C-83A1-F6EECF244321}">
                <p14:modId xmlns:p14="http://schemas.microsoft.com/office/powerpoint/2010/main" val="2573323526"/>
              </p:ext>
            </p:extLst>
          </p:nvPr>
        </p:nvGraphicFramePr>
        <p:xfrm>
          <a:off x="376615" y="4947569"/>
          <a:ext cx="3149307" cy="365760"/>
        </p:xfrm>
        <a:graphic>
          <a:graphicData uri="http://schemas.openxmlformats.org/drawingml/2006/table">
            <a:tbl>
              <a:tblPr firstRow="1" bandRow="1">
                <a:tableStyleId>{5C22544A-7EE6-4342-B048-85BDC9FD1C3A}</a:tableStyleId>
              </a:tblPr>
              <a:tblGrid>
                <a:gridCol w="1049769"/>
                <a:gridCol w="1049769"/>
                <a:gridCol w="1049769"/>
              </a:tblGrid>
              <a:tr h="353283">
                <a:tc>
                  <a:txBody>
                    <a:bodyPr/>
                    <a:lstStyle/>
                    <a:p>
                      <a:r>
                        <a:rPr lang="en-IN" b="1" dirty="0" smtClean="0">
                          <a:solidFill>
                            <a:srgbClr val="002060"/>
                          </a:solidFill>
                          <a:latin typeface="Times New Roman" panose="02020603050405020304" pitchFamily="18" charset="0"/>
                          <a:cs typeface="Times New Roman" panose="02020603050405020304" pitchFamily="18" charset="0"/>
                        </a:rPr>
                        <a:t>L</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         P</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    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34" name="Rectangle 33"/>
          <p:cNvSpPr/>
          <p:nvPr/>
        </p:nvSpPr>
        <p:spPr>
          <a:xfrm>
            <a:off x="342777" y="3986761"/>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M</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2818041448"/>
              </p:ext>
            </p:extLst>
          </p:nvPr>
        </p:nvGraphicFramePr>
        <p:xfrm>
          <a:off x="4178123" y="4289721"/>
          <a:ext cx="802765" cy="365760"/>
        </p:xfrm>
        <a:graphic>
          <a:graphicData uri="http://schemas.openxmlformats.org/drawingml/2006/table">
            <a:tbl>
              <a:tblPr firstRow="1" bandRow="1">
                <a:tableStyleId>{5C22544A-7EE6-4342-B048-85BDC9FD1C3A}</a:tableStyleId>
              </a:tblPr>
              <a:tblGrid>
                <a:gridCol w="802765"/>
              </a:tblGrid>
              <a:tr h="303567">
                <a:tc>
                  <a:txBody>
                    <a:bodyPr/>
                    <a:lstStyle/>
                    <a:p>
                      <a:r>
                        <a:rPr lang="en-IN" b="1" dirty="0" smtClean="0">
                          <a:solidFill>
                            <a:srgbClr val="002060"/>
                          </a:solidFill>
                          <a:latin typeface="Times New Roman" panose="02020603050405020304" pitchFamily="18" charset="0"/>
                          <a:cs typeface="Times New Roman" panose="02020603050405020304" pitchFamily="18" charset="0"/>
                        </a:rPr>
                        <a:t>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39" name="TextBox 38"/>
          <p:cNvSpPr txBox="1"/>
          <p:nvPr/>
        </p:nvSpPr>
        <p:spPr>
          <a:xfrm>
            <a:off x="1951269" y="3392551"/>
            <a:ext cx="580504" cy="461665"/>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40" name="TextBox 39"/>
          <p:cNvSpPr txBox="1"/>
          <p:nvPr/>
        </p:nvSpPr>
        <p:spPr>
          <a:xfrm>
            <a:off x="1104764" y="3367927"/>
            <a:ext cx="66945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41" name="TextBox 40"/>
          <p:cNvSpPr txBox="1"/>
          <p:nvPr/>
        </p:nvSpPr>
        <p:spPr>
          <a:xfrm>
            <a:off x="3423761" y="745786"/>
            <a:ext cx="3242315" cy="307777"/>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Consider first part apply quick sort</a:t>
            </a:r>
            <a:endParaRPr lang="en-IN" dirty="0"/>
          </a:p>
        </p:txBody>
      </p:sp>
      <p:sp>
        <p:nvSpPr>
          <p:cNvPr id="43" name="TextBox 42"/>
          <p:cNvSpPr txBox="1"/>
          <p:nvPr/>
        </p:nvSpPr>
        <p:spPr>
          <a:xfrm>
            <a:off x="1032036" y="1706886"/>
            <a:ext cx="943583" cy="584775"/>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L</a:t>
            </a:r>
            <a:r>
              <a:rPr lang="en-IN" b="1" dirty="0" smtClean="0">
                <a:solidFill>
                  <a:srgbClr val="FF0000"/>
                </a:solidFill>
                <a:latin typeface="Times New Roman" panose="02020603050405020304" pitchFamily="18" charset="0"/>
                <a:cs typeface="Times New Roman" panose="02020603050405020304" pitchFamily="18" charset="0"/>
              </a:rPr>
              <a:t> &lt; M</a:t>
            </a:r>
            <a:endParaRPr lang="en-IN"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sp>
        <p:nvSpPr>
          <p:cNvPr id="45" name="TextBox 44"/>
          <p:cNvSpPr txBox="1"/>
          <p:nvPr/>
        </p:nvSpPr>
        <p:spPr>
          <a:xfrm>
            <a:off x="2611432" y="1667068"/>
            <a:ext cx="943583" cy="584775"/>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X &gt;  M</a:t>
            </a:r>
            <a:endParaRPr lang="en-IN"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sp>
        <p:nvSpPr>
          <p:cNvPr id="48" name="TextBox 47"/>
          <p:cNvSpPr txBox="1"/>
          <p:nvPr/>
        </p:nvSpPr>
        <p:spPr>
          <a:xfrm>
            <a:off x="4048458" y="1251608"/>
            <a:ext cx="3647819" cy="523220"/>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L is less </a:t>
            </a:r>
            <a:r>
              <a:rPr lang="en-IN" sz="1400" b="1" dirty="0">
                <a:solidFill>
                  <a:srgbClr val="FF0000"/>
                </a:solidFill>
                <a:latin typeface="Times New Roman" panose="02020603050405020304" pitchFamily="18" charset="0"/>
                <a:cs typeface="Times New Roman" panose="02020603050405020304" pitchFamily="18" charset="0"/>
              </a:rPr>
              <a:t>than  pivot, </a:t>
            </a:r>
            <a:r>
              <a:rPr lang="en-IN" sz="1400" b="1" dirty="0" smtClean="0">
                <a:solidFill>
                  <a:srgbClr val="FF0000"/>
                </a:solidFill>
                <a:latin typeface="Times New Roman" panose="02020603050405020304" pitchFamily="18" charset="0"/>
                <a:cs typeface="Times New Roman" panose="02020603050405020304" pitchFamily="18" charset="0"/>
              </a:rPr>
              <a:t>so </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a:t>
            </a:r>
          </a:p>
          <a:p>
            <a:pPr algn="just"/>
            <a:r>
              <a:rPr lang="en-IN" sz="1400" b="1" dirty="0" smtClean="0">
                <a:solidFill>
                  <a:srgbClr val="FF0000"/>
                </a:solidFill>
                <a:latin typeface="Times New Roman" panose="02020603050405020304" pitchFamily="18" charset="0"/>
                <a:cs typeface="Times New Roman" panose="02020603050405020304" pitchFamily="18" charset="0"/>
              </a:rPr>
              <a:t>X is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pivot, so j– </a:t>
            </a:r>
          </a:p>
        </p:txBody>
      </p:sp>
      <p:graphicFrame>
        <p:nvGraphicFramePr>
          <p:cNvPr id="49" name="Table 48"/>
          <p:cNvGraphicFramePr>
            <a:graphicFrameLocks noGrp="1"/>
          </p:cNvGraphicFramePr>
          <p:nvPr>
            <p:extLst>
              <p:ext uri="{D42A27DB-BD31-4B8C-83A1-F6EECF244321}">
                <p14:modId xmlns:p14="http://schemas.microsoft.com/office/powerpoint/2010/main" val="631730242"/>
              </p:ext>
            </p:extLst>
          </p:nvPr>
        </p:nvGraphicFramePr>
        <p:xfrm>
          <a:off x="1195215" y="2546525"/>
          <a:ext cx="2408295" cy="388887"/>
        </p:xfrm>
        <a:graphic>
          <a:graphicData uri="http://schemas.openxmlformats.org/drawingml/2006/table">
            <a:tbl>
              <a:tblPr firstRow="1" bandRow="1">
                <a:tableStyleId>{5C22544A-7EE6-4342-B048-85BDC9FD1C3A}</a:tableStyleId>
              </a:tblPr>
              <a:tblGrid>
                <a:gridCol w="802765"/>
                <a:gridCol w="802765"/>
                <a:gridCol w="802765"/>
              </a:tblGrid>
              <a:tr h="388887">
                <a:tc>
                  <a:txBody>
                    <a:bodyPr/>
                    <a:lstStyle/>
                    <a:p>
                      <a:r>
                        <a:rPr lang="en-IN" b="1" dirty="0" smtClean="0">
                          <a:solidFill>
                            <a:srgbClr val="002060"/>
                          </a:solidFill>
                          <a:latin typeface="Times New Roman" panose="02020603050405020304" pitchFamily="18" charset="0"/>
                          <a:cs typeface="Times New Roman" panose="02020603050405020304" pitchFamily="18" charset="0"/>
                        </a:rPr>
                        <a:t>L</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P</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50" name="Rectangle 49"/>
          <p:cNvSpPr/>
          <p:nvPr/>
        </p:nvSpPr>
        <p:spPr>
          <a:xfrm>
            <a:off x="342777" y="2538667"/>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M</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51" name="TextBox 50"/>
          <p:cNvSpPr txBox="1"/>
          <p:nvPr/>
        </p:nvSpPr>
        <p:spPr>
          <a:xfrm>
            <a:off x="1826337" y="2122194"/>
            <a:ext cx="580504" cy="461665"/>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52" name="TextBox 51"/>
          <p:cNvSpPr txBox="1"/>
          <p:nvPr/>
        </p:nvSpPr>
        <p:spPr>
          <a:xfrm>
            <a:off x="1998599" y="2107304"/>
            <a:ext cx="66945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62" name="TextBox 61"/>
          <p:cNvSpPr txBox="1"/>
          <p:nvPr/>
        </p:nvSpPr>
        <p:spPr>
          <a:xfrm>
            <a:off x="4019777" y="2406689"/>
            <a:ext cx="3647819" cy="738664"/>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P (A[</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is not less </a:t>
            </a:r>
            <a:r>
              <a:rPr lang="en-IN" sz="1400" b="1" dirty="0">
                <a:solidFill>
                  <a:srgbClr val="FF0000"/>
                </a:solidFill>
                <a:latin typeface="Times New Roman" panose="02020603050405020304" pitchFamily="18" charset="0"/>
                <a:cs typeface="Times New Roman" panose="02020603050405020304" pitchFamily="18" charset="0"/>
              </a:rPr>
              <a:t>than  pivot, </a:t>
            </a:r>
            <a:r>
              <a:rPr lang="en-IN" sz="1400" b="1" dirty="0" smtClean="0">
                <a:solidFill>
                  <a:srgbClr val="FF0000"/>
                </a:solidFill>
                <a:latin typeface="Times New Roman" panose="02020603050405020304" pitchFamily="18" charset="0"/>
                <a:cs typeface="Times New Roman" panose="02020603050405020304" pitchFamily="18" charset="0"/>
              </a:rPr>
              <a:t>so no change in </a:t>
            </a:r>
            <a:r>
              <a:rPr lang="en-IN" sz="1400" b="1" dirty="0" err="1" smtClean="0">
                <a:solidFill>
                  <a:srgbClr val="FF0000"/>
                </a:solidFill>
                <a:latin typeface="Times New Roman" panose="02020603050405020304" pitchFamily="18" charset="0"/>
                <a:cs typeface="Times New Roman" panose="02020603050405020304" pitchFamily="18" charset="0"/>
              </a:rPr>
              <a:t>i</a:t>
            </a:r>
            <a:endParaRPr lang="en-IN" sz="1400" b="1" dirty="0" smtClean="0">
              <a:solidFill>
                <a:srgbClr val="FF0000"/>
              </a:solidFill>
              <a:latin typeface="Times New Roman" panose="02020603050405020304" pitchFamily="18" charset="0"/>
              <a:cs typeface="Times New Roman" panose="02020603050405020304" pitchFamily="18" charset="0"/>
            </a:endParaRPr>
          </a:p>
          <a:p>
            <a:pPr algn="just"/>
            <a:r>
              <a:rPr lang="en-IN" sz="1400" b="1" dirty="0" smtClean="0">
                <a:solidFill>
                  <a:srgbClr val="FF0000"/>
                </a:solidFill>
                <a:latin typeface="Times New Roman" panose="02020603050405020304" pitchFamily="18" charset="0"/>
                <a:cs typeface="Times New Roman" panose="02020603050405020304" pitchFamily="18" charset="0"/>
              </a:rPr>
              <a:t> P (A[j]) is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pivot, so j– </a:t>
            </a:r>
          </a:p>
        </p:txBody>
      </p:sp>
      <p:graphicFrame>
        <p:nvGraphicFramePr>
          <p:cNvPr id="63" name="Table 62"/>
          <p:cNvGraphicFramePr>
            <a:graphicFrameLocks noGrp="1"/>
          </p:cNvGraphicFramePr>
          <p:nvPr>
            <p:extLst>
              <p:ext uri="{D42A27DB-BD31-4B8C-83A1-F6EECF244321}">
                <p14:modId xmlns:p14="http://schemas.microsoft.com/office/powerpoint/2010/main" val="1762775377"/>
              </p:ext>
            </p:extLst>
          </p:nvPr>
        </p:nvGraphicFramePr>
        <p:xfrm>
          <a:off x="1243729" y="3965606"/>
          <a:ext cx="2408295" cy="388887"/>
        </p:xfrm>
        <a:graphic>
          <a:graphicData uri="http://schemas.openxmlformats.org/drawingml/2006/table">
            <a:tbl>
              <a:tblPr firstRow="1" bandRow="1">
                <a:tableStyleId>{5C22544A-7EE6-4342-B048-85BDC9FD1C3A}</a:tableStyleId>
              </a:tblPr>
              <a:tblGrid>
                <a:gridCol w="802765"/>
                <a:gridCol w="802765"/>
                <a:gridCol w="802765"/>
              </a:tblGrid>
              <a:tr h="388887">
                <a:tc>
                  <a:txBody>
                    <a:bodyPr/>
                    <a:lstStyle/>
                    <a:p>
                      <a:r>
                        <a:rPr lang="en-IN" b="1" dirty="0" smtClean="0">
                          <a:solidFill>
                            <a:srgbClr val="002060"/>
                          </a:solidFill>
                          <a:latin typeface="Times New Roman" panose="02020603050405020304" pitchFamily="18" charset="0"/>
                          <a:cs typeface="Times New Roman" panose="02020603050405020304" pitchFamily="18" charset="0"/>
                        </a:rPr>
                        <a:t>L</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P</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IN" b="1" dirty="0" smtClean="0">
                          <a:solidFill>
                            <a:srgbClr val="002060"/>
                          </a:solidFill>
                          <a:latin typeface="Times New Roman" panose="02020603050405020304" pitchFamily="18" charset="0"/>
                          <a:cs typeface="Times New Roman" panose="02020603050405020304" pitchFamily="18" charset="0"/>
                        </a:rPr>
                        <a:t>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65" name="Rectangle 64"/>
          <p:cNvSpPr/>
          <p:nvPr/>
        </p:nvSpPr>
        <p:spPr>
          <a:xfrm>
            <a:off x="959263" y="4888139"/>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0000"/>
                </a:solidFill>
                <a:latin typeface="Times New Roman" panose="02020603050405020304" pitchFamily="18" charset="0"/>
                <a:cs typeface="Times New Roman" panose="02020603050405020304" pitchFamily="18" charset="0"/>
              </a:rPr>
              <a:t>M</a:t>
            </a:r>
            <a:endParaRPr lang="en-I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70" name="Table 69"/>
          <p:cNvGraphicFramePr>
            <a:graphicFrameLocks noGrp="1"/>
          </p:cNvGraphicFramePr>
          <p:nvPr>
            <p:extLst>
              <p:ext uri="{D42A27DB-BD31-4B8C-83A1-F6EECF244321}">
                <p14:modId xmlns:p14="http://schemas.microsoft.com/office/powerpoint/2010/main" val="3169153552"/>
              </p:ext>
            </p:extLst>
          </p:nvPr>
        </p:nvGraphicFramePr>
        <p:xfrm>
          <a:off x="2476967" y="5815041"/>
          <a:ext cx="1049769" cy="365760"/>
        </p:xfrm>
        <a:graphic>
          <a:graphicData uri="http://schemas.openxmlformats.org/drawingml/2006/table">
            <a:tbl>
              <a:tblPr firstRow="1" bandRow="1">
                <a:tableStyleId>{5C22544A-7EE6-4342-B048-85BDC9FD1C3A}</a:tableStyleId>
              </a:tblPr>
              <a:tblGrid>
                <a:gridCol w="1049769"/>
              </a:tblGrid>
              <a:tr h="353283">
                <a:tc>
                  <a:txBody>
                    <a:bodyPr/>
                    <a:lstStyle/>
                    <a:p>
                      <a:r>
                        <a:rPr lang="en-IN" b="1" dirty="0" smtClean="0">
                          <a:solidFill>
                            <a:srgbClr val="002060"/>
                          </a:solidFill>
                          <a:latin typeface="Times New Roman" panose="02020603050405020304" pitchFamily="18" charset="0"/>
                          <a:cs typeface="Times New Roman" panose="02020603050405020304" pitchFamily="18" charset="0"/>
                        </a:rPr>
                        <a:t>    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71" name="Rectangle 70"/>
          <p:cNvSpPr/>
          <p:nvPr/>
        </p:nvSpPr>
        <p:spPr>
          <a:xfrm>
            <a:off x="1774217" y="5745324"/>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P</a:t>
            </a:r>
          </a:p>
        </p:txBody>
      </p:sp>
      <p:sp>
        <p:nvSpPr>
          <p:cNvPr id="72" name="TextBox 71"/>
          <p:cNvSpPr txBox="1"/>
          <p:nvPr/>
        </p:nvSpPr>
        <p:spPr>
          <a:xfrm>
            <a:off x="2511356" y="5433096"/>
            <a:ext cx="580504" cy="461665"/>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73" name="TextBox 72"/>
          <p:cNvSpPr txBox="1"/>
          <p:nvPr/>
        </p:nvSpPr>
        <p:spPr>
          <a:xfrm>
            <a:off x="10518557" y="498552"/>
            <a:ext cx="66945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i</a:t>
            </a:r>
            <a:endParaRPr lang="en-IN" dirty="0"/>
          </a:p>
        </p:txBody>
      </p:sp>
      <p:sp>
        <p:nvSpPr>
          <p:cNvPr id="74" name="TextBox 73"/>
          <p:cNvSpPr txBox="1"/>
          <p:nvPr/>
        </p:nvSpPr>
        <p:spPr>
          <a:xfrm>
            <a:off x="3965760" y="5282585"/>
            <a:ext cx="3647819" cy="738664"/>
          </a:xfrm>
          <a:prstGeom prst="rect">
            <a:avLst/>
          </a:prstGeom>
          <a:noFill/>
        </p:spPr>
        <p:txBody>
          <a:bodyPr wrap="square" rtlCol="0">
            <a:spAutoFit/>
          </a:bodyPr>
          <a:lstStyle/>
          <a:p>
            <a:pPr algn="just"/>
            <a:r>
              <a:rPr lang="en-IN" sz="1400" b="1" dirty="0" smtClean="0">
                <a:solidFill>
                  <a:srgbClr val="FF0000"/>
                </a:solidFill>
                <a:latin typeface="Times New Roman" panose="02020603050405020304" pitchFamily="18" charset="0"/>
                <a:cs typeface="Times New Roman" panose="02020603050405020304" pitchFamily="18" charset="0"/>
              </a:rPr>
              <a:t>X (A[</a:t>
            </a:r>
            <a:r>
              <a:rPr lang="en-IN" sz="1400" b="1" dirty="0" err="1" smtClean="0">
                <a:solidFill>
                  <a:srgbClr val="FF0000"/>
                </a:solidFill>
                <a:latin typeface="Times New Roman" panose="02020603050405020304" pitchFamily="18" charset="0"/>
                <a:cs typeface="Times New Roman" panose="02020603050405020304" pitchFamily="18" charset="0"/>
              </a:rPr>
              <a:t>i</a:t>
            </a:r>
            <a:r>
              <a:rPr lang="en-IN" sz="1400" b="1" dirty="0" smtClean="0">
                <a:solidFill>
                  <a:srgbClr val="FF0000"/>
                </a:solidFill>
                <a:latin typeface="Times New Roman" panose="02020603050405020304" pitchFamily="18" charset="0"/>
                <a:cs typeface="Times New Roman" panose="02020603050405020304" pitchFamily="18" charset="0"/>
              </a:rPr>
              <a:t>])  is not less </a:t>
            </a:r>
            <a:r>
              <a:rPr lang="en-IN" sz="1400" b="1" dirty="0">
                <a:solidFill>
                  <a:srgbClr val="FF0000"/>
                </a:solidFill>
                <a:latin typeface="Times New Roman" panose="02020603050405020304" pitchFamily="18" charset="0"/>
                <a:cs typeface="Times New Roman" panose="02020603050405020304" pitchFamily="18" charset="0"/>
              </a:rPr>
              <a:t>than  pivot, </a:t>
            </a:r>
            <a:r>
              <a:rPr lang="en-IN" sz="1400" b="1" dirty="0" smtClean="0">
                <a:solidFill>
                  <a:srgbClr val="FF0000"/>
                </a:solidFill>
                <a:latin typeface="Times New Roman" panose="02020603050405020304" pitchFamily="18" charset="0"/>
                <a:cs typeface="Times New Roman" panose="02020603050405020304" pitchFamily="18" charset="0"/>
              </a:rPr>
              <a:t>so no change in </a:t>
            </a:r>
            <a:r>
              <a:rPr lang="en-IN" sz="1400" b="1" dirty="0" err="1" smtClean="0">
                <a:solidFill>
                  <a:srgbClr val="FF0000"/>
                </a:solidFill>
                <a:latin typeface="Times New Roman" panose="02020603050405020304" pitchFamily="18" charset="0"/>
                <a:cs typeface="Times New Roman" panose="02020603050405020304" pitchFamily="18" charset="0"/>
              </a:rPr>
              <a:t>i</a:t>
            </a:r>
            <a:endParaRPr lang="en-IN" sz="1400" b="1" dirty="0" smtClean="0">
              <a:solidFill>
                <a:srgbClr val="FF0000"/>
              </a:solidFill>
              <a:latin typeface="Times New Roman" panose="02020603050405020304" pitchFamily="18" charset="0"/>
              <a:cs typeface="Times New Roman" panose="02020603050405020304" pitchFamily="18" charset="0"/>
            </a:endParaRPr>
          </a:p>
          <a:p>
            <a:pPr algn="just"/>
            <a:r>
              <a:rPr lang="en-IN" sz="1400" b="1" dirty="0" smtClean="0">
                <a:solidFill>
                  <a:srgbClr val="FF0000"/>
                </a:solidFill>
                <a:latin typeface="Times New Roman" panose="02020603050405020304" pitchFamily="18" charset="0"/>
                <a:cs typeface="Times New Roman" panose="02020603050405020304" pitchFamily="18" charset="0"/>
              </a:rPr>
              <a:t> X (A[j]) is great </a:t>
            </a:r>
            <a:r>
              <a:rPr lang="en-IN" sz="1400" b="1" dirty="0">
                <a:solidFill>
                  <a:srgbClr val="FF0000"/>
                </a:solidFill>
                <a:latin typeface="Times New Roman" panose="02020603050405020304" pitchFamily="18" charset="0"/>
                <a:cs typeface="Times New Roman" panose="02020603050405020304" pitchFamily="18" charset="0"/>
              </a:rPr>
              <a:t>than  </a:t>
            </a:r>
            <a:r>
              <a:rPr lang="en-IN" sz="1400" b="1" dirty="0" smtClean="0">
                <a:solidFill>
                  <a:srgbClr val="FF0000"/>
                </a:solidFill>
                <a:latin typeface="Times New Roman" panose="02020603050405020304" pitchFamily="18" charset="0"/>
                <a:cs typeface="Times New Roman" panose="02020603050405020304" pitchFamily="18" charset="0"/>
              </a:rPr>
              <a:t>pivot, so j– </a:t>
            </a:r>
          </a:p>
        </p:txBody>
      </p:sp>
      <p:graphicFrame>
        <p:nvGraphicFramePr>
          <p:cNvPr id="75" name="Table 74"/>
          <p:cNvGraphicFramePr>
            <a:graphicFrameLocks noGrp="1"/>
          </p:cNvGraphicFramePr>
          <p:nvPr>
            <p:extLst>
              <p:ext uri="{D42A27DB-BD31-4B8C-83A1-F6EECF244321}">
                <p14:modId xmlns:p14="http://schemas.microsoft.com/office/powerpoint/2010/main" val="1046208340"/>
              </p:ext>
            </p:extLst>
          </p:nvPr>
        </p:nvGraphicFramePr>
        <p:xfrm>
          <a:off x="10400459" y="948230"/>
          <a:ext cx="1049769" cy="365760"/>
        </p:xfrm>
        <a:graphic>
          <a:graphicData uri="http://schemas.openxmlformats.org/drawingml/2006/table">
            <a:tbl>
              <a:tblPr firstRow="1" bandRow="1">
                <a:tableStyleId>{5C22544A-7EE6-4342-B048-85BDC9FD1C3A}</a:tableStyleId>
              </a:tblPr>
              <a:tblGrid>
                <a:gridCol w="1049769"/>
              </a:tblGrid>
              <a:tr h="353283">
                <a:tc>
                  <a:txBody>
                    <a:bodyPr/>
                    <a:lstStyle/>
                    <a:p>
                      <a:r>
                        <a:rPr lang="en-IN" b="1" dirty="0" smtClean="0">
                          <a:solidFill>
                            <a:srgbClr val="002060"/>
                          </a:solidFill>
                          <a:latin typeface="Times New Roman" panose="02020603050405020304" pitchFamily="18" charset="0"/>
                          <a:cs typeface="Times New Roman" panose="02020603050405020304" pitchFamily="18" charset="0"/>
                        </a:rPr>
                        <a:t>    X</a:t>
                      </a:r>
                      <a:endParaRPr lang="en-IN" b="1" dirty="0">
                        <a:solidFill>
                          <a:srgbClr val="002060"/>
                        </a:solidFill>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76" name="Rectangle 75"/>
          <p:cNvSpPr/>
          <p:nvPr/>
        </p:nvSpPr>
        <p:spPr>
          <a:xfrm>
            <a:off x="9518203" y="969190"/>
            <a:ext cx="603782" cy="4412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rgbClr val="FF0000"/>
                </a:solidFill>
                <a:latin typeface="Times New Roman" panose="02020603050405020304" pitchFamily="18" charset="0"/>
                <a:cs typeface="Times New Roman" panose="02020603050405020304" pitchFamily="18" charset="0"/>
              </a:rPr>
              <a:t>P</a:t>
            </a:r>
          </a:p>
        </p:txBody>
      </p:sp>
      <p:sp>
        <p:nvSpPr>
          <p:cNvPr id="77" name="TextBox 76"/>
          <p:cNvSpPr txBox="1"/>
          <p:nvPr/>
        </p:nvSpPr>
        <p:spPr>
          <a:xfrm>
            <a:off x="9312747" y="511957"/>
            <a:ext cx="66945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78" name="TextBox 77"/>
          <p:cNvSpPr txBox="1"/>
          <p:nvPr/>
        </p:nvSpPr>
        <p:spPr>
          <a:xfrm>
            <a:off x="2820452" y="5561455"/>
            <a:ext cx="669453" cy="461665"/>
          </a:xfrm>
          <a:prstGeom prst="rect">
            <a:avLst/>
          </a:prstGeom>
          <a:noFill/>
        </p:spPr>
        <p:txBody>
          <a:bodyPr wrap="square" rtlCol="0">
            <a:spAutoFit/>
          </a:bodyPr>
          <a:lstStyle/>
          <a:p>
            <a:pPr algn="ctr"/>
            <a:r>
              <a:rPr lang="en-IN" sz="2400" b="1" dirty="0" err="1" smtClean="0">
                <a:solidFill>
                  <a:srgbClr val="FF0000"/>
                </a:solidFill>
                <a:latin typeface="Times New Roman" panose="02020603050405020304" pitchFamily="18" charset="0"/>
                <a:cs typeface="Times New Roman" panose="02020603050405020304" pitchFamily="18" charset="0"/>
              </a:rPr>
              <a:t>j</a:t>
            </a:r>
            <a:endParaRPr lang="en-IN" dirty="0"/>
          </a:p>
        </p:txBody>
      </p:sp>
      <p:sp>
        <p:nvSpPr>
          <p:cNvPr id="79" name="TextBox 78"/>
          <p:cNvSpPr txBox="1"/>
          <p:nvPr/>
        </p:nvSpPr>
        <p:spPr>
          <a:xfrm>
            <a:off x="6916886" y="2278251"/>
            <a:ext cx="5497607" cy="830997"/>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Final sorted array is</a:t>
            </a:r>
          </a:p>
          <a:p>
            <a:pPr algn="ctr"/>
            <a:r>
              <a:rPr lang="en-IN" sz="2400" b="1" dirty="0" smtClean="0">
                <a:solidFill>
                  <a:srgbClr val="FF0000"/>
                </a:solidFill>
                <a:latin typeface="Times New Roman" panose="02020603050405020304" pitchFamily="18" charset="0"/>
                <a:cs typeface="Times New Roman" panose="02020603050405020304" pitchFamily="18" charset="0"/>
              </a:rPr>
              <a:t> A E </a:t>
            </a:r>
            <a:r>
              <a:rPr lang="en-IN" sz="2400" b="1" dirty="0" err="1" smtClean="0">
                <a:solidFill>
                  <a:srgbClr val="FF0000"/>
                </a:solidFill>
                <a:latin typeface="Times New Roman" panose="02020603050405020304" pitchFamily="18" charset="0"/>
                <a:cs typeface="Times New Roman" panose="02020603050405020304" pitchFamily="18" charset="0"/>
              </a:rPr>
              <a:t>E</a:t>
            </a:r>
            <a:r>
              <a:rPr lang="en-IN" sz="2400" b="1" dirty="0" smtClean="0">
                <a:solidFill>
                  <a:srgbClr val="FF0000"/>
                </a:solidFill>
                <a:latin typeface="Times New Roman" panose="02020603050405020304" pitchFamily="18" charset="0"/>
                <a:cs typeface="Times New Roman" panose="02020603050405020304" pitchFamily="18" charset="0"/>
              </a:rPr>
              <a:t> L M P X</a:t>
            </a:r>
            <a:endParaRPr lang="en-IN" dirty="0"/>
          </a:p>
        </p:txBody>
      </p:sp>
      <p:sp>
        <p:nvSpPr>
          <p:cNvPr id="6" name="Date Placeholder 5"/>
          <p:cNvSpPr>
            <a:spLocks noGrp="1"/>
          </p:cNvSpPr>
          <p:nvPr>
            <p:ph type="dt" sz="half" idx="10"/>
          </p:nvPr>
        </p:nvSpPr>
        <p:spPr/>
        <p:txBody>
          <a:bodyPr/>
          <a:lstStyle/>
          <a:p>
            <a:fld id="{8F7159DB-FCE0-4C0F-8450-C2B19531BCEB}" type="datetime1">
              <a:rPr lang="en-IN" smtClean="0"/>
              <a:t>21-03-2026</a:t>
            </a:fld>
            <a:endParaRPr lang="en-IN"/>
          </a:p>
        </p:txBody>
      </p:sp>
      <p:sp>
        <p:nvSpPr>
          <p:cNvPr id="44" name="TextBox 43"/>
          <p:cNvSpPr txBox="1"/>
          <p:nvPr/>
        </p:nvSpPr>
        <p:spPr>
          <a:xfrm>
            <a:off x="952485" y="5422761"/>
            <a:ext cx="797360" cy="369332"/>
          </a:xfrm>
          <a:prstGeom prst="rect">
            <a:avLst/>
          </a:prstGeom>
          <a:noFill/>
        </p:spPr>
        <p:txBody>
          <a:bodyPr wrap="square" rtlCol="0">
            <a:spAutoFit/>
          </a:bodyPr>
          <a:lstStyle/>
          <a:p>
            <a:r>
              <a:rPr lang="en-IN" dirty="0" smtClean="0"/>
              <a:t>S=4</a:t>
            </a:r>
            <a:endParaRPr lang="en-IN" dirty="0"/>
          </a:p>
        </p:txBody>
      </p:sp>
      <p:sp>
        <p:nvSpPr>
          <p:cNvPr id="46" name="Subtitle 45"/>
          <p:cNvSpPr txBox="1">
            <a:spLocks noGrp="1"/>
          </p:cNvSpPr>
          <p:nvPr>
            <p:ph type="subTitle" idx="1"/>
          </p:nvPr>
        </p:nvSpPr>
        <p:spPr>
          <a:xfrm>
            <a:off x="9408395" y="1549920"/>
            <a:ext cx="713590" cy="313932"/>
          </a:xfrm>
          <a:prstGeom prst="rect">
            <a:avLst/>
          </a:prstGeom>
          <a:noFill/>
        </p:spPr>
        <p:txBody>
          <a:bodyPr wrap="square" rtlCol="0">
            <a:spAutoFit/>
          </a:bodyPr>
          <a:lstStyle/>
          <a:p>
            <a:r>
              <a:rPr lang="en-IN" sz="1600" dirty="0" smtClean="0"/>
              <a:t>S=5</a:t>
            </a:r>
            <a:endParaRPr lang="en-IN" sz="1600" dirty="0"/>
          </a:p>
        </p:txBody>
      </p:sp>
    </p:spTree>
    <p:extLst>
      <p:ext uri="{BB962C8B-B14F-4D97-AF65-F5344CB8AC3E}">
        <p14:creationId xmlns:p14="http://schemas.microsoft.com/office/powerpoint/2010/main" val="66136007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Quick </a:t>
            </a:r>
            <a:r>
              <a:rPr lang="en-IN" sz="2000" b="1" dirty="0" smtClean="0">
                <a:solidFill>
                  <a:srgbClr val="002060"/>
                </a:solidFill>
                <a:latin typeface="Times New Roman" panose="02020603050405020304" pitchFamily="18" charset="0"/>
                <a:cs typeface="Times New Roman" panose="02020603050405020304" pitchFamily="18" charset="0"/>
              </a:rPr>
              <a:t>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Recursive tree call for the example considered in previous slide is </a:t>
            </a: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76</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015820" y="2945431"/>
            <a:ext cx="943583" cy="646331"/>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Index</a:t>
            </a:r>
          </a:p>
          <a:p>
            <a:endParaRPr lang="en-IN" dirty="0"/>
          </a:p>
        </p:txBody>
      </p:sp>
      <p:cxnSp>
        <p:nvCxnSpPr>
          <p:cNvPr id="10" name="Straight Arrow Connector 9"/>
          <p:cNvCxnSpPr>
            <a:stCxn id="14" idx="1"/>
          </p:cNvCxnSpPr>
          <p:nvPr/>
        </p:nvCxnSpPr>
        <p:spPr>
          <a:xfrm flipH="1">
            <a:off x="3621741" y="2125858"/>
            <a:ext cx="1097430" cy="466080"/>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36738" y="2340192"/>
            <a:ext cx="1659615" cy="923330"/>
          </a:xfrm>
          <a:prstGeom prst="rect">
            <a:avLst/>
          </a:prstGeom>
          <a:noFill/>
        </p:spPr>
        <p:txBody>
          <a:bodyPr wrap="square" rtlCol="0">
            <a:spAutoFit/>
          </a:bodyPr>
          <a:lstStyle/>
          <a:p>
            <a:pPr algn="ctr"/>
            <a:r>
              <a:rPr lang="en-IN" b="1" dirty="0" smtClean="0">
                <a:solidFill>
                  <a:srgbClr val="002060"/>
                </a:solidFill>
                <a:latin typeface="Times New Roman" panose="02020603050405020304" pitchFamily="18" charset="0"/>
                <a:cs typeface="Times New Roman" panose="02020603050405020304" pitchFamily="18" charset="0"/>
              </a:rPr>
              <a:t>Array elements</a:t>
            </a:r>
            <a:endParaRPr lang="en-IN" b="1" dirty="0">
              <a:solidFill>
                <a:srgbClr val="002060"/>
              </a:solidFill>
              <a:latin typeface="Times New Roman" panose="02020603050405020304" pitchFamily="18" charset="0"/>
              <a:cs typeface="Times New Roman" panose="02020603050405020304" pitchFamily="18" charset="0"/>
            </a:endParaRPr>
          </a:p>
          <a:p>
            <a:endParaRPr lang="en-IN" dirty="0"/>
          </a:p>
        </p:txBody>
      </p:sp>
      <p:graphicFrame>
        <p:nvGraphicFramePr>
          <p:cNvPr id="14" name="Table 13"/>
          <p:cNvGraphicFramePr>
            <a:graphicFrameLocks noGrp="1"/>
          </p:cNvGraphicFramePr>
          <p:nvPr>
            <p:extLst>
              <p:ext uri="{D42A27DB-BD31-4B8C-83A1-F6EECF244321}">
                <p14:modId xmlns:p14="http://schemas.microsoft.com/office/powerpoint/2010/main" val="2530077183"/>
              </p:ext>
            </p:extLst>
          </p:nvPr>
        </p:nvGraphicFramePr>
        <p:xfrm>
          <a:off x="4719171" y="1757558"/>
          <a:ext cx="1098924" cy="736600"/>
        </p:xfrm>
        <a:graphic>
          <a:graphicData uri="http://schemas.openxmlformats.org/drawingml/2006/table">
            <a:tbl>
              <a:tblPr firstRow="1" bandRow="1">
                <a:tableStyleId>{5C22544A-7EE6-4342-B048-85BDC9FD1C3A}</a:tableStyleId>
              </a:tblPr>
              <a:tblGrid>
                <a:gridCol w="1098924"/>
              </a:tblGrid>
              <a:tr h="0">
                <a:tc>
                  <a:txBody>
                    <a:bodyPr/>
                    <a:lstStyle/>
                    <a:p>
                      <a:r>
                        <a:rPr lang="en-IN" dirty="0" smtClean="0">
                          <a:solidFill>
                            <a:srgbClr val="002060"/>
                          </a:solidFill>
                        </a:rPr>
                        <a:t>l=0, r=6</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s=2</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981905013"/>
              </p:ext>
            </p:extLst>
          </p:nvPr>
        </p:nvGraphicFramePr>
        <p:xfrm>
          <a:off x="2945598" y="2587713"/>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l=0, r=1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s=0</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6970805"/>
              </p:ext>
            </p:extLst>
          </p:nvPr>
        </p:nvGraphicFramePr>
        <p:xfrm>
          <a:off x="4148953" y="3565904"/>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l=1, r=1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945876382"/>
              </p:ext>
            </p:extLst>
          </p:nvPr>
        </p:nvGraphicFramePr>
        <p:xfrm>
          <a:off x="1438088" y="3499429"/>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l=0, r=-1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800229520"/>
              </p:ext>
            </p:extLst>
          </p:nvPr>
        </p:nvGraphicFramePr>
        <p:xfrm>
          <a:off x="6966322" y="2649299"/>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l=3, r=6</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s=4</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3706574113"/>
              </p:ext>
            </p:extLst>
          </p:nvPr>
        </p:nvGraphicFramePr>
        <p:xfrm>
          <a:off x="8541430" y="3412179"/>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l=5, r=6</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r>
                        <a:rPr lang="en-IN" sz="1800" b="1" kern="1200" dirty="0" smtClean="0">
                          <a:solidFill>
                            <a:srgbClr val="FF0000"/>
                          </a:solidFill>
                          <a:latin typeface="+mn-lt"/>
                          <a:ea typeface="+mn-ea"/>
                          <a:cs typeface="+mn-cs"/>
                        </a:rPr>
                        <a:t>s=5</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2706713122"/>
              </p:ext>
            </p:extLst>
          </p:nvPr>
        </p:nvGraphicFramePr>
        <p:xfrm>
          <a:off x="5888130" y="3583460"/>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l=3, r=3</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25" name="Straight Arrow Connector 24"/>
          <p:cNvCxnSpPr/>
          <p:nvPr/>
        </p:nvCxnSpPr>
        <p:spPr>
          <a:xfrm flipH="1">
            <a:off x="2244192" y="2853735"/>
            <a:ext cx="707149" cy="661750"/>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5806515" y="2054056"/>
            <a:ext cx="1262155" cy="537882"/>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8055401" y="2868534"/>
            <a:ext cx="972058" cy="547922"/>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6437592" y="2882606"/>
            <a:ext cx="496419" cy="68183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054793" y="2879086"/>
            <a:ext cx="517207" cy="63639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1" name="Table 30"/>
          <p:cNvGraphicFramePr>
            <a:graphicFrameLocks noGrp="1"/>
          </p:cNvGraphicFramePr>
          <p:nvPr>
            <p:extLst>
              <p:ext uri="{D42A27DB-BD31-4B8C-83A1-F6EECF244321}">
                <p14:modId xmlns:p14="http://schemas.microsoft.com/office/powerpoint/2010/main" val="366290718"/>
              </p:ext>
            </p:extLst>
          </p:nvPr>
        </p:nvGraphicFramePr>
        <p:xfrm>
          <a:off x="7215727" y="4471225"/>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l=5, r=4</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51" name="Table 50"/>
          <p:cNvGraphicFramePr>
            <a:graphicFrameLocks noGrp="1"/>
          </p:cNvGraphicFramePr>
          <p:nvPr>
            <p:extLst>
              <p:ext uri="{D42A27DB-BD31-4B8C-83A1-F6EECF244321}">
                <p14:modId xmlns:p14="http://schemas.microsoft.com/office/powerpoint/2010/main" val="741743867"/>
              </p:ext>
            </p:extLst>
          </p:nvPr>
        </p:nvGraphicFramePr>
        <p:xfrm>
          <a:off x="9650737" y="4518103"/>
          <a:ext cx="1098924" cy="736600"/>
        </p:xfrm>
        <a:graphic>
          <a:graphicData uri="http://schemas.openxmlformats.org/drawingml/2006/table">
            <a:tbl>
              <a:tblPr firstRow="1" bandRow="1">
                <a:tableStyleId>{5C22544A-7EE6-4342-B048-85BDC9FD1C3A}</a:tableStyleId>
              </a:tblPr>
              <a:tblGrid>
                <a:gridCol w="1098924"/>
              </a:tblGrid>
              <a:tr h="294379">
                <a:tc>
                  <a:txBody>
                    <a:bodyPr/>
                    <a:lstStyle/>
                    <a:p>
                      <a:r>
                        <a:rPr lang="en-IN" dirty="0" smtClean="0">
                          <a:solidFill>
                            <a:srgbClr val="002060"/>
                          </a:solidFill>
                        </a:rPr>
                        <a:t>l=6, r=6</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r>
                        <a:rPr lang="en-IN" dirty="0" smtClean="0">
                          <a:solidFill>
                            <a:srgbClr val="002060"/>
                          </a:solidFill>
                        </a:rPr>
                        <a:t>  </a:t>
                      </a:r>
                      <a:endParaRPr lang="en-IN" sz="1800" b="1"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54" name="Straight Arrow Connector 53"/>
          <p:cNvCxnSpPr/>
          <p:nvPr/>
        </p:nvCxnSpPr>
        <p:spPr>
          <a:xfrm>
            <a:off x="9650737" y="3809056"/>
            <a:ext cx="440206" cy="720364"/>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8066442" y="3809056"/>
            <a:ext cx="496419" cy="68183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E2AE5432-A66D-4F4C-BD48-CE7B02DF9B9C}" type="datetime1">
              <a:rPr lang="en-IN" smtClean="0"/>
              <a:t>21-03-2026</a:t>
            </a:fld>
            <a:endParaRPr lang="en-IN"/>
          </a:p>
        </p:txBody>
      </p:sp>
    </p:spTree>
    <p:extLst>
      <p:ext uri="{BB962C8B-B14F-4D97-AF65-F5344CB8AC3E}">
        <p14:creationId xmlns:p14="http://schemas.microsoft.com/office/powerpoint/2010/main" val="505927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Quick 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Time complexity Analysis of Quick sort</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Input size-</a:t>
            </a:r>
            <a:r>
              <a:rPr lang="en-IN" sz="2000" b="1" dirty="0" smtClean="0">
                <a:solidFill>
                  <a:srgbClr val="C00000"/>
                </a:solidFill>
                <a:latin typeface="Times New Roman" panose="02020603050405020304" pitchFamily="18" charset="0"/>
                <a:cs typeface="Times New Roman" panose="02020603050405020304" pitchFamily="18" charset="0"/>
              </a:rPr>
              <a:t> n</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Basic operation- </a:t>
            </a:r>
            <a:r>
              <a:rPr lang="en-IN" sz="2000" b="1" dirty="0">
                <a:solidFill>
                  <a:srgbClr val="C00000"/>
                </a:solidFill>
                <a:latin typeface="Times New Roman" panose="02020603050405020304" pitchFamily="18" charset="0"/>
                <a:cs typeface="Times New Roman" panose="02020603050405020304" pitchFamily="18" charset="0"/>
              </a:rPr>
              <a:t>Divide and merge of n elements</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As basic operation depends only on input size and also values of list, thus  worst, average and best case all can be computed. let </a:t>
            </a:r>
            <a:r>
              <a:rPr lang="en-IN" sz="2000" b="1" dirty="0">
                <a:solidFill>
                  <a:srgbClr val="002060"/>
                </a:solidFill>
                <a:latin typeface="Times New Roman" panose="02020603050405020304" pitchFamily="18" charset="0"/>
                <a:cs typeface="Times New Roman" panose="02020603050405020304" pitchFamily="18" charset="0"/>
              </a:rPr>
              <a:t>u</a:t>
            </a:r>
            <a:r>
              <a:rPr lang="en-IN" sz="2000" b="1" dirty="0" smtClean="0">
                <a:solidFill>
                  <a:srgbClr val="002060"/>
                </a:solidFill>
                <a:latin typeface="Times New Roman" panose="02020603050405020304" pitchFamily="18" charset="0"/>
                <a:cs typeface="Times New Roman" panose="02020603050405020304" pitchFamily="18" charset="0"/>
              </a:rPr>
              <a:t>s consider </a:t>
            </a:r>
          </a:p>
          <a:p>
            <a:pPr algn="just"/>
            <a:r>
              <a:rPr lang="en-IN" b="1" dirty="0" smtClean="0">
                <a:solidFill>
                  <a:srgbClr val="C00000"/>
                </a:solidFill>
                <a:latin typeface="Times New Roman" panose="02020603050405020304" pitchFamily="18" charset="0"/>
                <a:cs typeface="Times New Roman" panose="02020603050405020304" pitchFamily="18" charset="0"/>
              </a:rPr>
              <a:t>Best case complexity</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This case occurs when the pivot is at the centre and divides the array into two equal parts. The recurrence relation is given as</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77</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p:cNvSpPr txBox="1"/>
              <p:nvPr/>
            </p:nvSpPr>
            <p:spPr>
              <a:xfrm>
                <a:off x="1429813" y="3978630"/>
                <a:ext cx="9661947" cy="1074910"/>
              </a:xfrm>
              <a:prstGeom prst="rect">
                <a:avLst/>
              </a:prstGeom>
              <a:noFill/>
              <a:ln>
                <a:solidFill>
                  <a:schemeClr val="accent1"/>
                </a:solidFill>
              </a:ln>
            </p:spPr>
            <p:txBody>
              <a:bodyPr wrap="square" rtlCol="0">
                <a:spAutoFit/>
              </a:bodyPr>
              <a:lstStyle/>
              <a:p>
                <a:r>
                  <a:rPr lang="en-IN" sz="2000" b="1" dirty="0" smtClean="0">
                    <a:solidFill>
                      <a:srgbClr val="FF0000"/>
                    </a:solidFill>
                    <a:cs typeface="Times New Roman" panose="02020603050405020304" pitchFamily="18" charset="0"/>
                  </a:rPr>
                  <a:t>T</a:t>
                </a:r>
                <a14:m>
                  <m:oMath xmlns:m="http://schemas.openxmlformats.org/officeDocument/2006/math">
                    <m:r>
                      <a:rPr lang="en-IN" sz="2000" b="1" i="1" smtClean="0">
                        <a:solidFill>
                          <a:srgbClr val="FF0000"/>
                        </a:solidFill>
                        <a:latin typeface="Cambria Math" panose="02040503050406030204" pitchFamily="18" charset="0"/>
                        <a:cs typeface="Times New Roman" panose="02020603050405020304" pitchFamily="18" charset="0"/>
                      </a:rPr>
                      <m:t>(</m:t>
                    </m:r>
                    <m:r>
                      <a:rPr lang="en-IN" sz="2000" b="1" i="1" smtClean="0">
                        <a:solidFill>
                          <a:srgbClr val="FF0000"/>
                        </a:solidFill>
                        <a:latin typeface="Cambria Math" panose="02040503050406030204" pitchFamily="18" charset="0"/>
                        <a:cs typeface="Times New Roman" panose="02020603050405020304" pitchFamily="18" charset="0"/>
                      </a:rPr>
                      <m:t>𝒏</m:t>
                    </m:r>
                    <m:r>
                      <a:rPr lang="en-IN" sz="2000" b="1" i="1" smtClean="0">
                        <a:solidFill>
                          <a:srgbClr val="FF0000"/>
                        </a:solidFill>
                        <a:latin typeface="Cambria Math" panose="02040503050406030204" pitchFamily="18" charset="0"/>
                        <a:cs typeface="Times New Roman" panose="02020603050405020304" pitchFamily="18" charset="0"/>
                      </a:rPr>
                      <m:t>)=</m:t>
                    </m:r>
                    <m:d>
                      <m:dPr>
                        <m:begChr m:val="{"/>
                        <m:endChr m:val="}"/>
                        <m:ctrlPr>
                          <a:rPr lang="pt-BR" sz="2000" b="1" i="1" smtClean="0">
                            <a:solidFill>
                              <a:srgbClr val="002060"/>
                            </a:solidFill>
                            <a:latin typeface="Cambria Math"/>
                            <a:cs typeface="Times New Roman" panose="02020603050405020304" pitchFamily="18" charset="0"/>
                          </a:rPr>
                        </m:ctrlPr>
                      </m:dPr>
                      <m:e>
                        <m:eqArr>
                          <m:eqArrPr>
                            <m:ctrlPr>
                              <a:rPr lang="en-IN" sz="2000" b="1" i="1" smtClean="0">
                                <a:solidFill>
                                  <a:srgbClr val="002060"/>
                                </a:solidFill>
                                <a:latin typeface="Cambria Math"/>
                                <a:cs typeface="Times New Roman" panose="02020603050405020304" pitchFamily="18" charset="0"/>
                              </a:rPr>
                            </m:ctrlPr>
                          </m:eqArrPr>
                          <m:e>
                            <m:r>
                              <a:rPr lang="en-IN" sz="2000" b="1" i="1" smtClean="0">
                                <a:solidFill>
                                  <a:srgbClr val="002060"/>
                                </a:solidFill>
                                <a:latin typeface="Cambria Math" panose="02040503050406030204" pitchFamily="18" charset="0"/>
                                <a:cs typeface="Times New Roman" panose="02020603050405020304" pitchFamily="18" charset="0"/>
                              </a:rPr>
                              <m:t>𝟎</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
                          <m:e>
                            <m:r>
                              <a:rPr lang="en-IN" sz="2000" b="1" i="1" smtClean="0">
                                <a:solidFill>
                                  <a:srgbClr val="002060"/>
                                </a:solidFill>
                                <a:latin typeface="Cambria Math" panose="02040503050406030204" pitchFamily="18" charset="0"/>
                                <a:cs typeface="Times New Roman" panose="02020603050405020304" pitchFamily="18" charset="0"/>
                              </a:rPr>
                              <m:t>𝑻</m:t>
                            </m:r>
                            <m:d>
                              <m:dPr>
                                <m:ctrlPr>
                                  <a:rPr lang="en-IN" sz="2000" b="1" i="1" smtClean="0">
                                    <a:solidFill>
                                      <a:srgbClr val="002060"/>
                                    </a:solidFill>
                                    <a:latin typeface="Cambria Math"/>
                                    <a:cs typeface="Times New Roman" panose="02020603050405020304" pitchFamily="18" charset="0"/>
                                  </a:rPr>
                                </m:ctrlPr>
                              </m:dPr>
                              <m:e>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𝟐</m:t>
                                </m:r>
                              </m:e>
                            </m:d>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𝟐</m:t>
                                </m:r>
                              </m:e>
                            </m:d>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&gt;</m:t>
                            </m:r>
                            <m:r>
                              <a:rPr lang="en-IN" sz="2000" b="1" i="1" smtClean="0">
                                <a:solidFill>
                                  <a:srgbClr val="002060"/>
                                </a:solidFill>
                                <a:latin typeface="Cambria Math" panose="02040503050406030204" pitchFamily="18" charset="0"/>
                                <a:cs typeface="Times New Roman" panose="02020603050405020304" pitchFamily="18" charset="0"/>
                              </a:rPr>
                              <m:t>𝟏</m:t>
                            </m:r>
                          </m:e>
                        </m:eqArr>
                      </m:e>
                    </m:d>
                  </m:oMath>
                </a14:m>
                <a:endParaRPr lang="en-IN" sz="28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429813" y="3978630"/>
                <a:ext cx="9661947" cy="1074910"/>
              </a:xfrm>
              <a:prstGeom prst="rect">
                <a:avLst/>
              </a:prstGeom>
              <a:blipFill rotWithShape="0">
                <a:blip r:embed="rId5"/>
                <a:stretch>
                  <a:fillRect l="-630"/>
                </a:stretch>
              </a:blipFill>
              <a:ln>
                <a:solidFill>
                  <a:schemeClr val="accent1"/>
                </a:solidFill>
              </a:ln>
            </p:spPr>
            <p:txBody>
              <a:bodyPr/>
              <a:lstStyle/>
              <a:p>
                <a:r>
                  <a:rPr lang="en-IN">
                    <a:noFill/>
                  </a:rPr>
                  <a:t> </a:t>
                </a:r>
              </a:p>
            </p:txBody>
          </p:sp>
        </mc:Fallback>
      </mc:AlternateContent>
      <p:sp>
        <p:nvSpPr>
          <p:cNvPr id="11" name="TextBox 10"/>
          <p:cNvSpPr txBox="1"/>
          <p:nvPr/>
        </p:nvSpPr>
        <p:spPr>
          <a:xfrm>
            <a:off x="163413" y="5727745"/>
            <a:ext cx="2414936" cy="923330"/>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Time required to sort left part of the array</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2" name="TextBox 11"/>
          <p:cNvSpPr txBox="1"/>
          <p:nvPr/>
        </p:nvSpPr>
        <p:spPr>
          <a:xfrm>
            <a:off x="3379930" y="5708225"/>
            <a:ext cx="2537011" cy="923330"/>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Time required to sort </a:t>
            </a:r>
            <a:r>
              <a:rPr lang="en-IN" b="1" dirty="0" smtClean="0">
                <a:solidFill>
                  <a:srgbClr val="FF0000"/>
                </a:solidFill>
                <a:latin typeface="Times New Roman" panose="02020603050405020304" pitchFamily="18" charset="0"/>
                <a:cs typeface="Times New Roman" panose="02020603050405020304" pitchFamily="18" charset="0"/>
              </a:rPr>
              <a:t>right </a:t>
            </a:r>
            <a:r>
              <a:rPr lang="en-IN" b="1" dirty="0">
                <a:solidFill>
                  <a:srgbClr val="FF0000"/>
                </a:solidFill>
                <a:latin typeface="Times New Roman" panose="02020603050405020304" pitchFamily="18" charset="0"/>
                <a:cs typeface="Times New Roman" panose="02020603050405020304" pitchFamily="18" charset="0"/>
              </a:rPr>
              <a:t>part of the array</a:t>
            </a:r>
          </a:p>
          <a:p>
            <a:endParaRPr lang="en-IN" dirty="0"/>
          </a:p>
        </p:txBody>
      </p:sp>
      <p:sp>
        <p:nvSpPr>
          <p:cNvPr id="13" name="TextBox 12"/>
          <p:cNvSpPr txBox="1"/>
          <p:nvPr/>
        </p:nvSpPr>
        <p:spPr>
          <a:xfrm>
            <a:off x="6486512" y="5243280"/>
            <a:ext cx="3445428" cy="923330"/>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Time required to </a:t>
            </a:r>
            <a:r>
              <a:rPr lang="en-IN" b="1" dirty="0" smtClean="0">
                <a:solidFill>
                  <a:srgbClr val="FF0000"/>
                </a:solidFill>
                <a:latin typeface="Times New Roman" panose="02020603050405020304" pitchFamily="18" charset="0"/>
                <a:cs typeface="Times New Roman" panose="02020603050405020304" pitchFamily="18" charset="0"/>
              </a:rPr>
              <a:t>divide and merge list with n elements </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14" name="Straight Arrow Connector 13"/>
          <p:cNvCxnSpPr/>
          <p:nvPr/>
        </p:nvCxnSpPr>
        <p:spPr>
          <a:xfrm flipH="1">
            <a:off x="1227828" y="4940441"/>
            <a:ext cx="1404742" cy="800494"/>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734337" y="4944734"/>
            <a:ext cx="33782" cy="783011"/>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066747" y="4841404"/>
            <a:ext cx="1802849" cy="494835"/>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62940" y="3978630"/>
            <a:ext cx="3445428"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No sorting required </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6" name="Date Placeholder 5"/>
          <p:cNvSpPr>
            <a:spLocks noGrp="1"/>
          </p:cNvSpPr>
          <p:nvPr>
            <p:ph type="dt" sz="half" idx="10"/>
          </p:nvPr>
        </p:nvSpPr>
        <p:spPr/>
        <p:txBody>
          <a:bodyPr/>
          <a:lstStyle/>
          <a:p>
            <a:fld id="{7FBC3761-36B5-4583-89F5-630AB32B29B7}" type="datetime1">
              <a:rPr lang="en-IN" smtClean="0"/>
              <a:t>21-03-2026</a:t>
            </a:fld>
            <a:endParaRPr lang="en-IN"/>
          </a:p>
        </p:txBody>
      </p:sp>
    </p:spTree>
    <p:extLst>
      <p:ext uri="{BB962C8B-B14F-4D97-AF65-F5344CB8AC3E}">
        <p14:creationId xmlns:p14="http://schemas.microsoft.com/office/powerpoint/2010/main" val="286813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p:bldP spid="1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Time complexity Analysis of Quick sort</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Input size-</a:t>
            </a:r>
            <a:r>
              <a:rPr lang="en-IN" sz="2000" b="1" dirty="0" smtClean="0">
                <a:solidFill>
                  <a:srgbClr val="C00000"/>
                </a:solidFill>
                <a:latin typeface="Times New Roman" panose="02020603050405020304" pitchFamily="18" charset="0"/>
                <a:cs typeface="Times New Roman" panose="02020603050405020304" pitchFamily="18" charset="0"/>
              </a:rPr>
              <a:t> n</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Basic operation- </a:t>
            </a:r>
            <a:r>
              <a:rPr lang="en-IN" sz="2000" b="1" dirty="0">
                <a:solidFill>
                  <a:srgbClr val="C00000"/>
                </a:solidFill>
                <a:latin typeface="Times New Roman" panose="02020603050405020304" pitchFamily="18" charset="0"/>
                <a:cs typeface="Times New Roman" panose="02020603050405020304" pitchFamily="18" charset="0"/>
              </a:rPr>
              <a:t>Divide and merge of n elements</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As basic operation depends only on input size and also values of list, thus  worst, average and best case all can be computed. let </a:t>
            </a:r>
            <a:r>
              <a:rPr lang="en-IN" sz="2000" b="1" dirty="0">
                <a:solidFill>
                  <a:srgbClr val="002060"/>
                </a:solidFill>
                <a:latin typeface="Times New Roman" panose="02020603050405020304" pitchFamily="18" charset="0"/>
                <a:cs typeface="Times New Roman" panose="02020603050405020304" pitchFamily="18" charset="0"/>
              </a:rPr>
              <a:t>u</a:t>
            </a:r>
            <a:r>
              <a:rPr lang="en-IN" sz="2000" b="1" dirty="0" smtClean="0">
                <a:solidFill>
                  <a:srgbClr val="002060"/>
                </a:solidFill>
                <a:latin typeface="Times New Roman" panose="02020603050405020304" pitchFamily="18" charset="0"/>
                <a:cs typeface="Times New Roman" panose="02020603050405020304" pitchFamily="18" charset="0"/>
              </a:rPr>
              <a:t>s consider </a:t>
            </a:r>
          </a:p>
          <a:p>
            <a:pPr algn="just"/>
            <a:r>
              <a:rPr lang="en-IN" b="1" dirty="0" smtClean="0">
                <a:solidFill>
                  <a:srgbClr val="C00000"/>
                </a:solidFill>
                <a:latin typeface="Times New Roman" panose="02020603050405020304" pitchFamily="18" charset="0"/>
                <a:cs typeface="Times New Roman" panose="02020603050405020304" pitchFamily="18" charset="0"/>
              </a:rPr>
              <a:t>Best case complexity</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This case occurs when the pivot is at the centre and divides the array into two equal parts. The recurrence relation is given as</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78</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p:cNvSpPr txBox="1"/>
              <p:nvPr/>
            </p:nvSpPr>
            <p:spPr>
              <a:xfrm>
                <a:off x="1429813" y="3978630"/>
                <a:ext cx="9661947" cy="1074910"/>
              </a:xfrm>
              <a:prstGeom prst="rect">
                <a:avLst/>
              </a:prstGeom>
              <a:noFill/>
              <a:ln>
                <a:solidFill>
                  <a:schemeClr val="accent1"/>
                </a:solidFill>
              </a:ln>
            </p:spPr>
            <p:txBody>
              <a:bodyPr wrap="square" rtlCol="0">
                <a:spAutoFit/>
              </a:bodyPr>
              <a:lstStyle/>
              <a:p>
                <a:r>
                  <a:rPr lang="en-IN" sz="2000" b="1" dirty="0" smtClean="0">
                    <a:solidFill>
                      <a:srgbClr val="FF0000"/>
                    </a:solidFill>
                    <a:cs typeface="Times New Roman" panose="02020603050405020304" pitchFamily="18" charset="0"/>
                  </a:rPr>
                  <a:t>T</a:t>
                </a:r>
                <a14:m>
                  <m:oMath xmlns:m="http://schemas.openxmlformats.org/officeDocument/2006/math">
                    <m:r>
                      <a:rPr lang="en-IN" sz="2000" b="1" i="1" smtClean="0">
                        <a:solidFill>
                          <a:srgbClr val="FF0000"/>
                        </a:solidFill>
                        <a:latin typeface="Cambria Math" panose="02040503050406030204" pitchFamily="18" charset="0"/>
                        <a:cs typeface="Times New Roman" panose="02020603050405020304" pitchFamily="18" charset="0"/>
                      </a:rPr>
                      <m:t>(</m:t>
                    </m:r>
                    <m:r>
                      <a:rPr lang="en-IN" sz="2000" b="1" i="1" smtClean="0">
                        <a:solidFill>
                          <a:srgbClr val="FF0000"/>
                        </a:solidFill>
                        <a:latin typeface="Cambria Math" panose="02040503050406030204" pitchFamily="18" charset="0"/>
                        <a:cs typeface="Times New Roman" panose="02020603050405020304" pitchFamily="18" charset="0"/>
                      </a:rPr>
                      <m:t>𝒏</m:t>
                    </m:r>
                    <m:r>
                      <a:rPr lang="en-IN" sz="2000" b="1" i="1" smtClean="0">
                        <a:solidFill>
                          <a:srgbClr val="FF0000"/>
                        </a:solidFill>
                        <a:latin typeface="Cambria Math" panose="02040503050406030204" pitchFamily="18" charset="0"/>
                        <a:cs typeface="Times New Roman" panose="02020603050405020304" pitchFamily="18" charset="0"/>
                      </a:rPr>
                      <m:t>)=</m:t>
                    </m:r>
                    <m:d>
                      <m:dPr>
                        <m:begChr m:val="{"/>
                        <m:endChr m:val="}"/>
                        <m:ctrlPr>
                          <a:rPr lang="pt-BR" sz="2000" b="1" i="1" smtClean="0">
                            <a:solidFill>
                              <a:srgbClr val="002060"/>
                            </a:solidFill>
                            <a:latin typeface="Cambria Math"/>
                            <a:cs typeface="Times New Roman" panose="02020603050405020304" pitchFamily="18" charset="0"/>
                          </a:rPr>
                        </m:ctrlPr>
                      </m:dPr>
                      <m:e>
                        <m:eqArr>
                          <m:eqArrPr>
                            <m:ctrlPr>
                              <a:rPr lang="en-IN" sz="2000" b="1" i="1" smtClean="0">
                                <a:solidFill>
                                  <a:srgbClr val="002060"/>
                                </a:solidFill>
                                <a:latin typeface="Cambria Math"/>
                                <a:cs typeface="Times New Roman" panose="02020603050405020304" pitchFamily="18" charset="0"/>
                              </a:rPr>
                            </m:ctrlPr>
                          </m:eqArrPr>
                          <m:e>
                            <m:r>
                              <a:rPr lang="en-IN" sz="2000" b="1" i="1" smtClean="0">
                                <a:solidFill>
                                  <a:srgbClr val="002060"/>
                                </a:solidFill>
                                <a:latin typeface="Cambria Math" panose="02040503050406030204" pitchFamily="18" charset="0"/>
                                <a:cs typeface="Times New Roman" panose="02020603050405020304" pitchFamily="18" charset="0"/>
                              </a:rPr>
                              <m:t>𝟎</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
                          <m:e>
                            <m:r>
                              <a:rPr lang="en-IN" sz="2000" b="1" i="1" smtClean="0">
                                <a:solidFill>
                                  <a:srgbClr val="002060"/>
                                </a:solidFill>
                                <a:latin typeface="Cambria Math" panose="02040503050406030204" pitchFamily="18" charset="0"/>
                                <a:cs typeface="Times New Roman" panose="02020603050405020304" pitchFamily="18" charset="0"/>
                              </a:rPr>
                              <m:t>𝑻</m:t>
                            </m:r>
                            <m:d>
                              <m:dPr>
                                <m:ctrlPr>
                                  <a:rPr lang="en-IN" sz="2000" b="1" i="1" smtClean="0">
                                    <a:solidFill>
                                      <a:srgbClr val="002060"/>
                                    </a:solidFill>
                                    <a:latin typeface="Cambria Math"/>
                                    <a:cs typeface="Times New Roman" panose="02020603050405020304" pitchFamily="18" charset="0"/>
                                  </a:rPr>
                                </m:ctrlPr>
                              </m:dPr>
                              <m:e>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𝟐</m:t>
                                </m:r>
                              </m:e>
                            </m:d>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𝟐</m:t>
                                </m:r>
                              </m:e>
                            </m:d>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&gt;</m:t>
                            </m:r>
                            <m:r>
                              <a:rPr lang="en-IN" sz="2000" b="1" i="1" smtClean="0">
                                <a:solidFill>
                                  <a:srgbClr val="002060"/>
                                </a:solidFill>
                                <a:latin typeface="Cambria Math" panose="02040503050406030204" pitchFamily="18" charset="0"/>
                                <a:cs typeface="Times New Roman" panose="02020603050405020304" pitchFamily="18" charset="0"/>
                              </a:rPr>
                              <m:t>𝟏</m:t>
                            </m:r>
                          </m:e>
                        </m:eqArr>
                      </m:e>
                    </m:d>
                  </m:oMath>
                </a14:m>
                <a:endParaRPr lang="en-IN" sz="28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429813" y="3978630"/>
                <a:ext cx="9661947" cy="1074910"/>
              </a:xfrm>
              <a:prstGeom prst="rect">
                <a:avLst/>
              </a:prstGeom>
              <a:blipFill rotWithShape="0">
                <a:blip r:embed="rId5"/>
                <a:stretch>
                  <a:fillRect l="-630"/>
                </a:stretch>
              </a:blipFill>
              <a:ln>
                <a:solidFill>
                  <a:schemeClr val="accent1"/>
                </a:solidFill>
              </a:ln>
            </p:spPr>
            <p:txBody>
              <a:bodyPr/>
              <a:lstStyle/>
              <a:p>
                <a:r>
                  <a:rPr lang="en-IN">
                    <a:noFill/>
                  </a:rPr>
                  <a:t> </a:t>
                </a:r>
              </a:p>
            </p:txBody>
          </p:sp>
        </mc:Fallback>
      </mc:AlternateContent>
      <p:sp>
        <p:nvSpPr>
          <p:cNvPr id="11" name="TextBox 10"/>
          <p:cNvSpPr txBox="1"/>
          <p:nvPr/>
        </p:nvSpPr>
        <p:spPr>
          <a:xfrm>
            <a:off x="163413" y="5727745"/>
            <a:ext cx="2414936" cy="923330"/>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Time required to sort left part of the array</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2" name="TextBox 11"/>
          <p:cNvSpPr txBox="1"/>
          <p:nvPr/>
        </p:nvSpPr>
        <p:spPr>
          <a:xfrm>
            <a:off x="3379930" y="5708225"/>
            <a:ext cx="2537011" cy="923330"/>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Time required to sort </a:t>
            </a:r>
            <a:r>
              <a:rPr lang="en-IN" b="1" dirty="0" smtClean="0">
                <a:solidFill>
                  <a:srgbClr val="FF0000"/>
                </a:solidFill>
                <a:latin typeface="Times New Roman" panose="02020603050405020304" pitchFamily="18" charset="0"/>
                <a:cs typeface="Times New Roman" panose="02020603050405020304" pitchFamily="18" charset="0"/>
              </a:rPr>
              <a:t>right </a:t>
            </a:r>
            <a:r>
              <a:rPr lang="en-IN" b="1" dirty="0">
                <a:solidFill>
                  <a:srgbClr val="FF0000"/>
                </a:solidFill>
                <a:latin typeface="Times New Roman" panose="02020603050405020304" pitchFamily="18" charset="0"/>
                <a:cs typeface="Times New Roman" panose="02020603050405020304" pitchFamily="18" charset="0"/>
              </a:rPr>
              <a:t>part of the array</a:t>
            </a:r>
          </a:p>
          <a:p>
            <a:endParaRPr lang="en-IN" dirty="0"/>
          </a:p>
        </p:txBody>
      </p:sp>
      <p:sp>
        <p:nvSpPr>
          <p:cNvPr id="13" name="TextBox 12"/>
          <p:cNvSpPr txBox="1"/>
          <p:nvPr/>
        </p:nvSpPr>
        <p:spPr>
          <a:xfrm>
            <a:off x="6486512" y="5243280"/>
            <a:ext cx="3445428" cy="923330"/>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Time required to </a:t>
            </a:r>
            <a:r>
              <a:rPr lang="en-IN" b="1" dirty="0" smtClean="0">
                <a:solidFill>
                  <a:srgbClr val="FF0000"/>
                </a:solidFill>
                <a:latin typeface="Times New Roman" panose="02020603050405020304" pitchFamily="18" charset="0"/>
                <a:cs typeface="Times New Roman" panose="02020603050405020304" pitchFamily="18" charset="0"/>
              </a:rPr>
              <a:t>divide and merge list with n elements </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14" name="Straight Arrow Connector 13"/>
          <p:cNvCxnSpPr/>
          <p:nvPr/>
        </p:nvCxnSpPr>
        <p:spPr>
          <a:xfrm flipH="1">
            <a:off x="1227828" y="4940441"/>
            <a:ext cx="1404742" cy="800494"/>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734337" y="4944734"/>
            <a:ext cx="33782" cy="783011"/>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066747" y="4841404"/>
            <a:ext cx="1802849" cy="494835"/>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62940" y="3978630"/>
            <a:ext cx="3445428"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No sorting required </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6" name="Date Placeholder 5"/>
          <p:cNvSpPr>
            <a:spLocks noGrp="1"/>
          </p:cNvSpPr>
          <p:nvPr>
            <p:ph type="dt" sz="half" idx="10"/>
          </p:nvPr>
        </p:nvSpPr>
        <p:spPr/>
        <p:txBody>
          <a:bodyPr/>
          <a:lstStyle/>
          <a:p>
            <a:fld id="{919B921C-9557-4E76-ACAB-69FFA3EED61B}" type="datetime1">
              <a:rPr lang="en-IN" smtClean="0"/>
              <a:t>21-03-2026</a:t>
            </a:fld>
            <a:endParaRPr lang="en-IN"/>
          </a:p>
        </p:txBody>
      </p:sp>
    </p:spTree>
    <p:extLst>
      <p:ext uri="{BB962C8B-B14F-4D97-AF65-F5344CB8AC3E}">
        <p14:creationId xmlns:p14="http://schemas.microsoft.com/office/powerpoint/2010/main" val="2914808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p:bldP spid="1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Time complexity Analysis of Quick sort</a:t>
                </a:r>
              </a:p>
              <a:p>
                <a:pPr algn="just"/>
                <a:r>
                  <a:rPr lang="en-IN" sz="2000" b="1" dirty="0" smtClean="0">
                    <a:solidFill>
                      <a:srgbClr val="002060"/>
                    </a:solidFill>
                    <a:latin typeface="Times New Roman" panose="02020603050405020304" pitchFamily="18" charset="0"/>
                    <a:cs typeface="Times New Roman" panose="02020603050405020304" pitchFamily="18" charset="0"/>
                  </a:rPr>
                  <a:t>The above recurrence relation can be rewritten as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Time </a:t>
                </a:r>
                <a:r>
                  <a:rPr lang="en-IN" sz="2000" b="1" dirty="0">
                    <a:solidFill>
                      <a:srgbClr val="002060"/>
                    </a:solidFill>
                    <a:latin typeface="Times New Roman" panose="02020603050405020304" pitchFamily="18" charset="0"/>
                    <a:cs typeface="Times New Roman" panose="02020603050405020304" pitchFamily="18" charset="0"/>
                  </a:rPr>
                  <a:t>complexity Analysis of Merge </a:t>
                </a:r>
                <a:r>
                  <a:rPr lang="en-IN" sz="2000" b="1" dirty="0" smtClean="0">
                    <a:solidFill>
                      <a:srgbClr val="002060"/>
                    </a:solidFill>
                    <a:latin typeface="Times New Roman" panose="02020603050405020304" pitchFamily="18" charset="0"/>
                    <a:cs typeface="Times New Roman" panose="02020603050405020304" pitchFamily="18" charset="0"/>
                  </a:rPr>
                  <a:t>sort </a:t>
                </a:r>
                <a:r>
                  <a:rPr lang="en-IN" sz="2000" b="1" dirty="0" smtClean="0">
                    <a:solidFill>
                      <a:srgbClr val="C00000"/>
                    </a:solidFill>
                    <a:latin typeface="Times New Roman" panose="02020603050405020304" pitchFamily="18" charset="0"/>
                    <a:cs typeface="Times New Roman" panose="02020603050405020304" pitchFamily="18" charset="0"/>
                  </a:rPr>
                  <a:t>based on Masters theorem</a:t>
                </a:r>
              </a:p>
              <a:p>
                <a:pPr algn="just"/>
                <a14:m>
                  <m:oMathPara xmlns:m="http://schemas.openxmlformats.org/officeDocument/2006/math">
                    <m:oMathParaPr>
                      <m:jc m:val="left"/>
                    </m:oMathParaPr>
                    <m:oMath xmlns:m="http://schemas.openxmlformats.org/officeDocument/2006/math">
                      <m:r>
                        <a:rPr lang="en-IN" sz="2000" b="1" i="1">
                          <a:solidFill>
                            <a:srgbClr val="002060"/>
                          </a:solidFill>
                          <a:latin typeface="Cambria Math" panose="02040503050406030204" pitchFamily="18" charset="0"/>
                          <a:cs typeface="Times New Roman" panose="02020603050405020304" pitchFamily="18" charset="0"/>
                        </a:rPr>
                        <m:t>𝒂𝑻</m:t>
                      </m:r>
                      <m:d>
                        <m:dPr>
                          <m:ctrlPr>
                            <a:rPr lang="en-IN" sz="2000" b="1" i="1">
                              <a:solidFill>
                                <a:srgbClr val="002060"/>
                              </a:solidFill>
                              <a:latin typeface="Cambria Math"/>
                              <a:cs typeface="Times New Roman" panose="02020603050405020304" pitchFamily="18" charset="0"/>
                            </a:rPr>
                          </m:ctrlPr>
                        </m:dPr>
                        <m:e>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𝒃</m:t>
                          </m:r>
                        </m:e>
                      </m:d>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𝒇</m:t>
                      </m:r>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oMath>
                  </m:oMathPara>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a= 2, b=2, f(n) = n</a:t>
                </a:r>
              </a:p>
              <a:p>
                <a:pPr algn="just"/>
                <a:r>
                  <a:rPr lang="en-IN" sz="2000" b="1" dirty="0">
                    <a:solidFill>
                      <a:srgbClr val="002060"/>
                    </a:solidFill>
                    <a:latin typeface="Times New Roman" panose="02020603050405020304" pitchFamily="18" charset="0"/>
                    <a:cs typeface="Times New Roman" panose="02020603050405020304" pitchFamily="18" charset="0"/>
                  </a:rPr>
                  <a:t>f(n) = </a:t>
                </a:r>
                <a:r>
                  <a:rPr lang="en-IN" sz="2000" b="1" dirty="0" err="1" smtClean="0">
                    <a:solidFill>
                      <a:srgbClr val="002060"/>
                    </a:solidFill>
                    <a:latin typeface="Times New Roman" panose="02020603050405020304" pitchFamily="18" charset="0"/>
                    <a:cs typeface="Times New Roman" panose="02020603050405020304" pitchFamily="18" charset="0"/>
                  </a:rPr>
                  <a:t>n</a:t>
                </a:r>
                <a:r>
                  <a:rPr lang="en-IN" sz="2000" b="1" baseline="30000" dirty="0" err="1" smtClean="0">
                    <a:solidFill>
                      <a:srgbClr val="002060"/>
                    </a:solidFill>
                    <a:latin typeface="Times New Roman" panose="02020603050405020304" pitchFamily="18" charset="0"/>
                    <a:cs typeface="Times New Roman" panose="02020603050405020304" pitchFamily="18" charset="0"/>
                  </a:rPr>
                  <a:t>d</a:t>
                </a:r>
                <a:r>
                  <a:rPr lang="en-IN" sz="2000" b="1" baseline="30000" dirty="0" smtClean="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f(n</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n</a:t>
                </a:r>
                <a:r>
                  <a:rPr lang="en-IN" sz="2000" b="1" baseline="30000"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thus </a:t>
                </a:r>
                <a:r>
                  <a:rPr lang="en-IN" sz="2000" b="1" dirty="0" smtClean="0">
                    <a:solidFill>
                      <a:srgbClr val="002060"/>
                    </a:solidFill>
                    <a:latin typeface="Times New Roman" panose="02020603050405020304" pitchFamily="18" charset="0"/>
                    <a:cs typeface="Times New Roman" panose="02020603050405020304" pitchFamily="18" charset="0"/>
                  </a:rPr>
                  <a:t>  d=1</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According to masters theorem second condition holds good, as 2=2</a:t>
                </a:r>
                <a:r>
                  <a:rPr lang="en-IN" sz="2000" b="1" baseline="30000" dirty="0" smtClean="0">
                    <a:solidFill>
                      <a:srgbClr val="002060"/>
                    </a:solidFill>
                    <a:latin typeface="Times New Roman" panose="02020603050405020304" pitchFamily="18" charset="0"/>
                    <a:cs typeface="Times New Roman" panose="02020603050405020304" pitchFamily="18" charset="0"/>
                  </a:rPr>
                  <a:t>1 </a:t>
                </a:r>
                <a:r>
                  <a:rPr lang="en-IN" sz="2000" b="1" dirty="0" smtClean="0">
                    <a:solidFill>
                      <a:srgbClr val="002060"/>
                    </a:solidFill>
                    <a:latin typeface="Times New Roman" panose="02020603050405020304" pitchFamily="18" charset="0"/>
                    <a:cs typeface="Times New Roman" panose="02020603050405020304" pitchFamily="18" charset="0"/>
                  </a:rPr>
                  <a:t>is </a:t>
                </a:r>
                <a14:m>
                  <m:oMath xmlns:m="http://schemas.openxmlformats.org/officeDocument/2006/math">
                    <m:r>
                      <a:rPr lang="en-IN" sz="2000" b="1" i="0" dirty="0" smtClean="0">
                        <a:solidFill>
                          <a:srgbClr val="002060"/>
                        </a:solidFill>
                        <a:latin typeface="Cambria Math" panose="02040503050406030204" pitchFamily="18" charset="0"/>
                        <a:cs typeface="Times New Roman" panose="02020603050405020304" pitchFamily="18" charset="0"/>
                      </a:rPr>
                      <m:t> </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baseline="30000" dirty="0">
                        <a:solidFill>
                          <a:srgbClr val="002060"/>
                        </a:solidFill>
                        <a:latin typeface="Times New Roman" panose="02020603050405020304" pitchFamily="18" charset="0"/>
                        <a:cs typeface="Times New Roman" panose="02020603050405020304" pitchFamily="18" charset="0"/>
                      </a:rPr>
                      <m:t>d</m:t>
                    </m:r>
                    <m:r>
                      <m:rPr>
                        <m:nor/>
                      </m:rPr>
                      <a:rPr lang="en-IN" sz="2000" b="1" baseline="30000" dirty="0">
                        <a:solidFill>
                          <a:srgbClr val="002060"/>
                        </a:solidFill>
                        <a:latin typeface="Times New Roman" panose="02020603050405020304" pitchFamily="18" charset="0"/>
                        <a:cs typeface="Times New Roman" panose="02020603050405020304" pitchFamily="18" charset="0"/>
                      </a:rPr>
                      <m:t> </m:t>
                    </m:r>
                    <m:r>
                      <m:rPr>
                        <m:nor/>
                      </m:rPr>
                      <a:rPr lang="en-IN" sz="2000" b="1" dirty="0">
                        <a:solidFill>
                          <a:srgbClr val="002060"/>
                        </a:solidFill>
                        <a:latin typeface="Times New Roman" panose="02020603050405020304" pitchFamily="18" charset="0"/>
                        <a:cs typeface="Times New Roman" panose="02020603050405020304" pitchFamily="18" charset="0"/>
                      </a:rPr>
                      <m:t>logn</m:t>
                    </m:r>
                    <m:r>
                      <m:rPr>
                        <m:nor/>
                      </m:rPr>
                      <a:rPr lang="en-IN" sz="2000" b="1" dirty="0">
                        <a:solidFill>
                          <a:srgbClr val="002060"/>
                        </a:solidFill>
                        <a:latin typeface="Times New Roman" panose="02020603050405020304" pitchFamily="18" charset="0"/>
                        <a:cs typeface="Times New Roman" panose="02020603050405020304" pitchFamily="18" charset="0"/>
                      </a:rPr>
                      <m:t> </m:t>
                    </m:r>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14:m>
                  <m:oMath xmlns:m="http://schemas.openxmlformats.org/officeDocument/2006/math">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i="0" baseline="30000" dirty="0" smtClean="0">
                        <a:solidFill>
                          <a:srgbClr val="002060"/>
                        </a:solidFill>
                        <a:latin typeface="Times New Roman" panose="02020603050405020304" pitchFamily="18" charset="0"/>
                        <a:cs typeface="Times New Roman" panose="02020603050405020304" pitchFamily="18" charset="0"/>
                      </a:rPr>
                      <m:t>1</m:t>
                    </m:r>
                    <m:r>
                      <m:rPr>
                        <m:nor/>
                      </m:rPr>
                      <a:rPr lang="en-IN" sz="2000" b="1" baseline="30000" dirty="0">
                        <a:solidFill>
                          <a:srgbClr val="002060"/>
                        </a:solidFill>
                        <a:latin typeface="Times New Roman" panose="02020603050405020304" pitchFamily="18" charset="0"/>
                        <a:cs typeface="Times New Roman" panose="02020603050405020304" pitchFamily="18" charset="0"/>
                      </a:rPr>
                      <m:t> </m:t>
                    </m:r>
                    <m:r>
                      <m:rPr>
                        <m:nor/>
                      </m:rPr>
                      <a:rPr lang="en-IN" sz="2000" b="1" dirty="0">
                        <a:solidFill>
                          <a:srgbClr val="002060"/>
                        </a:solidFill>
                        <a:latin typeface="Times New Roman" panose="02020603050405020304" pitchFamily="18" charset="0"/>
                        <a:cs typeface="Times New Roman" panose="02020603050405020304" pitchFamily="18" charset="0"/>
                      </a:rPr>
                      <m:t>logn</m:t>
                    </m:r>
                  </m:oMath>
                </a14:m>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err="1">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e</a:t>
                </a:r>
                <a:endParaRPr lang="en-IN" sz="20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7" y="862739"/>
                <a:ext cx="11797552" cy="5627707"/>
              </a:xfrm>
              <a:blipFill rotWithShape="0">
                <a:blip r:embed="rId4"/>
                <a:stretch>
                  <a:fillRect l="-827" t="-1517"/>
                </a:stretch>
              </a:blipFill>
            </p:spPr>
            <p:txBody>
              <a:bodyPr/>
              <a:lstStyle/>
              <a:p>
                <a:r>
                  <a:rPr lang="en-IN">
                    <a:noFill/>
                  </a:rPr>
                  <a:t> </a:t>
                </a:r>
              </a:p>
            </p:txBody>
          </p:sp>
        </mc:Fallback>
      </mc:AlternateContent>
      <p:pic>
        <p:nvPicPr>
          <p:cNvPr id="4" name="Picture 3"/>
          <p:cNvPicPr>
            <a:picLocks noChangeAspect="1"/>
          </p:cNvPicPr>
          <p:nvPr/>
        </p:nvPicPr>
        <p:blipFill>
          <a:blip r:embed="rId5"/>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79</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p:cNvSpPr txBox="1"/>
              <p:nvPr/>
            </p:nvSpPr>
            <p:spPr>
              <a:xfrm>
                <a:off x="1244854" y="2008316"/>
                <a:ext cx="9661947" cy="1074910"/>
              </a:xfrm>
              <a:prstGeom prst="rect">
                <a:avLst/>
              </a:prstGeom>
              <a:noFill/>
              <a:ln>
                <a:solidFill>
                  <a:schemeClr val="accent1"/>
                </a:solidFill>
              </a:ln>
            </p:spPr>
            <p:txBody>
              <a:bodyPr wrap="square" rtlCol="0">
                <a:spAutoFit/>
              </a:bodyPr>
              <a:lstStyle/>
              <a:p>
                <a:r>
                  <a:rPr lang="en-IN" sz="2000" b="1" dirty="0" smtClean="0">
                    <a:solidFill>
                      <a:srgbClr val="FF0000"/>
                    </a:solidFill>
                    <a:cs typeface="Times New Roman" panose="02020603050405020304" pitchFamily="18" charset="0"/>
                  </a:rPr>
                  <a:t>T</a:t>
                </a:r>
                <a14:m>
                  <m:oMath xmlns:m="http://schemas.openxmlformats.org/officeDocument/2006/math">
                    <m:r>
                      <a:rPr lang="en-IN" sz="2000" b="1" i="1" smtClean="0">
                        <a:solidFill>
                          <a:srgbClr val="FF0000"/>
                        </a:solidFill>
                        <a:latin typeface="Cambria Math" panose="02040503050406030204" pitchFamily="18" charset="0"/>
                        <a:cs typeface="Times New Roman" panose="02020603050405020304" pitchFamily="18" charset="0"/>
                      </a:rPr>
                      <m:t>(</m:t>
                    </m:r>
                    <m:r>
                      <a:rPr lang="en-IN" sz="2000" b="1" i="1" smtClean="0">
                        <a:solidFill>
                          <a:srgbClr val="FF0000"/>
                        </a:solidFill>
                        <a:latin typeface="Cambria Math" panose="02040503050406030204" pitchFamily="18" charset="0"/>
                        <a:cs typeface="Times New Roman" panose="02020603050405020304" pitchFamily="18" charset="0"/>
                      </a:rPr>
                      <m:t>𝒏</m:t>
                    </m:r>
                    <m:r>
                      <a:rPr lang="en-IN" sz="2000" b="1" i="1" smtClean="0">
                        <a:solidFill>
                          <a:srgbClr val="FF0000"/>
                        </a:solidFill>
                        <a:latin typeface="Cambria Math" panose="02040503050406030204" pitchFamily="18" charset="0"/>
                        <a:cs typeface="Times New Roman" panose="02020603050405020304" pitchFamily="18" charset="0"/>
                      </a:rPr>
                      <m:t>)=</m:t>
                    </m:r>
                    <m:d>
                      <m:dPr>
                        <m:begChr m:val="{"/>
                        <m:endChr m:val="}"/>
                        <m:ctrlPr>
                          <a:rPr lang="pt-BR" sz="2000" b="1" i="1" smtClean="0">
                            <a:solidFill>
                              <a:srgbClr val="002060"/>
                            </a:solidFill>
                            <a:latin typeface="Cambria Math"/>
                            <a:cs typeface="Times New Roman" panose="02020603050405020304" pitchFamily="18" charset="0"/>
                          </a:rPr>
                        </m:ctrlPr>
                      </m:dPr>
                      <m:e>
                        <m:eqArr>
                          <m:eqArrPr>
                            <m:ctrlPr>
                              <a:rPr lang="en-IN" sz="2000" b="1" i="1" smtClean="0">
                                <a:solidFill>
                                  <a:srgbClr val="002060"/>
                                </a:solidFill>
                                <a:latin typeface="Cambria Math"/>
                                <a:cs typeface="Times New Roman" panose="02020603050405020304" pitchFamily="18" charset="0"/>
                              </a:rPr>
                            </m:ctrlPr>
                          </m:eqArrPr>
                          <m:e>
                            <m:r>
                              <a:rPr lang="en-IN" sz="2000" b="1" i="1" smtClean="0">
                                <a:solidFill>
                                  <a:srgbClr val="002060"/>
                                </a:solidFill>
                                <a:latin typeface="Cambria Math" panose="02040503050406030204" pitchFamily="18" charset="0"/>
                                <a:cs typeface="Times New Roman" panose="02020603050405020304" pitchFamily="18" charset="0"/>
                              </a:rPr>
                              <m:t>𝟎</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
                          <m:e>
                            <m:r>
                              <a:rPr lang="en-IN" sz="2000" b="1" i="1" smtClean="0">
                                <a:solidFill>
                                  <a:srgbClr val="002060"/>
                                </a:solidFill>
                                <a:latin typeface="Cambria Math" panose="02040503050406030204" pitchFamily="18" charset="0"/>
                                <a:cs typeface="Times New Roman" panose="02020603050405020304" pitchFamily="18" charset="0"/>
                              </a:rPr>
                              <m:t>𝟐</m:t>
                            </m:r>
                            <m:r>
                              <a:rPr lang="en-IN" sz="2000" b="1" i="1" smtClean="0">
                                <a:solidFill>
                                  <a:srgbClr val="002060"/>
                                </a:solidFill>
                                <a:latin typeface="Cambria Math" panose="02040503050406030204" pitchFamily="18" charset="0"/>
                                <a:cs typeface="Times New Roman" panose="02020603050405020304" pitchFamily="18" charset="0"/>
                              </a:rPr>
                              <m:t>𝑻</m:t>
                            </m:r>
                            <m:d>
                              <m:dPr>
                                <m:ctrlPr>
                                  <a:rPr lang="en-IN" sz="2000" b="1" i="1" smtClean="0">
                                    <a:solidFill>
                                      <a:srgbClr val="002060"/>
                                    </a:solidFill>
                                    <a:latin typeface="Cambria Math"/>
                                    <a:cs typeface="Times New Roman" panose="02020603050405020304" pitchFamily="18" charset="0"/>
                                  </a:rPr>
                                </m:ctrlPr>
                              </m:dPr>
                              <m:e>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𝟐</m:t>
                                </m:r>
                              </m:e>
                            </m:d>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&gt;</m:t>
                            </m:r>
                            <m:r>
                              <a:rPr lang="en-IN" sz="2000" b="1" i="1" smtClean="0">
                                <a:solidFill>
                                  <a:srgbClr val="002060"/>
                                </a:solidFill>
                                <a:latin typeface="Cambria Math" panose="02040503050406030204" pitchFamily="18" charset="0"/>
                                <a:cs typeface="Times New Roman" panose="02020603050405020304" pitchFamily="18" charset="0"/>
                              </a:rPr>
                              <m:t>𝟏</m:t>
                            </m:r>
                          </m:e>
                        </m:eqArr>
                      </m:e>
                    </m:d>
                  </m:oMath>
                </a14:m>
                <a:endParaRPr lang="en-IN" sz="28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244854" y="2008316"/>
                <a:ext cx="9661947" cy="1074910"/>
              </a:xfrm>
              <a:prstGeom prst="rect">
                <a:avLst/>
              </a:prstGeom>
              <a:blipFill rotWithShape="0">
                <a:blip r:embed="rId7"/>
                <a:stretch>
                  <a:fillRect l="-567"/>
                </a:stretch>
              </a:blipFill>
              <a:ln>
                <a:solidFill>
                  <a:schemeClr val="accent1"/>
                </a:solidFill>
              </a:ln>
            </p:spPr>
            <p:txBody>
              <a:bodyPr/>
              <a:lstStyle/>
              <a:p>
                <a:r>
                  <a:rPr lang="en-IN">
                    <a:noFill/>
                  </a:rPr>
                  <a:t> </a:t>
                </a:r>
              </a:p>
            </p:txBody>
          </p:sp>
        </mc:Fallback>
      </mc:AlternateContent>
      <p:sp>
        <p:nvSpPr>
          <p:cNvPr id="16" name="TextBox 15"/>
          <p:cNvSpPr txBox="1"/>
          <p:nvPr/>
        </p:nvSpPr>
        <p:spPr>
          <a:xfrm>
            <a:off x="2638965" y="5725211"/>
            <a:ext cx="8596481" cy="523220"/>
          </a:xfrm>
          <a:prstGeom prst="rect">
            <a:avLst/>
          </a:prstGeom>
          <a:noFill/>
          <a:ln>
            <a:solidFill>
              <a:schemeClr val="accent1"/>
            </a:solidFill>
          </a:ln>
        </p:spPr>
        <p:txBody>
          <a:bodyPr wrap="square" rtlCol="0">
            <a:spAutoFit/>
          </a:bodyPr>
          <a:lstStyle/>
          <a:p>
            <a:pPr algn="just"/>
            <a:r>
              <a:rPr lang="en-IN" sz="2800" b="1" dirty="0" smtClean="0">
                <a:solidFill>
                  <a:srgbClr val="002060"/>
                </a:solidFill>
                <a:latin typeface="Times New Roman" panose="02020603050405020304" pitchFamily="18" charset="0"/>
                <a:cs typeface="Times New Roman" panose="02020603050405020304" pitchFamily="18" charset="0"/>
              </a:rPr>
              <a:t>The best case time complexity is   T(n)</a:t>
            </a:r>
            <a:r>
              <a:rPr lang="en-IN" sz="2800" b="1" baseline="-25000" dirty="0" smtClean="0">
                <a:solidFill>
                  <a:srgbClr val="002060"/>
                </a:solidFill>
                <a:latin typeface="Times New Roman" panose="02020603050405020304" pitchFamily="18" charset="0"/>
                <a:cs typeface="Times New Roman" panose="02020603050405020304" pitchFamily="18" charset="0"/>
              </a:rPr>
              <a:t>best</a:t>
            </a:r>
            <a:r>
              <a:rPr lang="en-IN" sz="2800" b="1" dirty="0" smtClean="0">
                <a:solidFill>
                  <a:srgbClr val="002060"/>
                </a:solidFill>
                <a:latin typeface="Times New Roman" panose="02020603050405020304" pitchFamily="18" charset="0"/>
                <a:cs typeface="Times New Roman" panose="02020603050405020304" pitchFamily="18" charset="0"/>
              </a:rPr>
              <a:t> </a:t>
            </a:r>
            <a:r>
              <a:rPr lang="en-IN" sz="2800" b="1" dirty="0">
                <a:solidFill>
                  <a:srgbClr val="002060"/>
                </a:solidFill>
                <a:latin typeface="Times New Roman" panose="02020603050405020304" pitchFamily="18" charset="0"/>
                <a:cs typeface="Times New Roman" panose="02020603050405020304" pitchFamily="18" charset="0"/>
              </a:rPr>
              <a:t>= </a:t>
            </a:r>
            <a:r>
              <a:rPr lang="en-IN" sz="2800" b="1" dirty="0" smtClean="0">
                <a:solidFill>
                  <a:srgbClr val="C00000"/>
                </a:solidFill>
                <a:latin typeface="Times New Roman" panose="02020603050405020304" pitchFamily="18" charset="0"/>
                <a:cs typeface="Times New Roman" panose="02020603050405020304" pitchFamily="18" charset="0"/>
              </a:rPr>
              <a:t>(n </a:t>
            </a:r>
            <a:r>
              <a:rPr lang="en-IN" sz="2800" b="1" dirty="0" err="1">
                <a:solidFill>
                  <a:srgbClr val="C00000"/>
                </a:solidFill>
                <a:latin typeface="Times New Roman" panose="02020603050405020304" pitchFamily="18" charset="0"/>
                <a:cs typeface="Times New Roman" panose="02020603050405020304" pitchFamily="18" charset="0"/>
              </a:rPr>
              <a:t>logn</a:t>
            </a:r>
            <a:r>
              <a:rPr lang="en-IN" sz="2800" b="1" dirty="0">
                <a:solidFill>
                  <a:srgbClr val="C00000"/>
                </a:solidFill>
                <a:latin typeface="Times New Roman" panose="02020603050405020304" pitchFamily="18" charset="0"/>
                <a:cs typeface="Times New Roman" panose="02020603050405020304" pitchFamily="18" charset="0"/>
              </a:rPr>
              <a:t>)</a:t>
            </a:r>
          </a:p>
        </p:txBody>
      </p:sp>
      <p:sp>
        <p:nvSpPr>
          <p:cNvPr id="9" name="Date Placeholder 8"/>
          <p:cNvSpPr>
            <a:spLocks noGrp="1"/>
          </p:cNvSpPr>
          <p:nvPr>
            <p:ph type="dt" sz="half" idx="10"/>
          </p:nvPr>
        </p:nvSpPr>
        <p:spPr/>
        <p:txBody>
          <a:bodyPr/>
          <a:lstStyle/>
          <a:p>
            <a:fld id="{97D9B6FE-38DC-41BE-8491-8E3BD3D71D09}" type="datetime1">
              <a:rPr lang="en-IN" smtClean="0"/>
              <a:t>21-03-2026</a:t>
            </a:fld>
            <a:endParaRPr lang="en-IN"/>
          </a:p>
        </p:txBody>
      </p:sp>
      <p:sp>
        <p:nvSpPr>
          <p:cNvPr id="11"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12" name="Object 11"/>
          <p:cNvGraphicFramePr>
            <a:graphicFrameLocks noChangeAspect="1"/>
          </p:cNvGraphicFramePr>
          <p:nvPr>
            <p:extLst>
              <p:ext uri="{D42A27DB-BD31-4B8C-83A1-F6EECF244321}">
                <p14:modId xmlns:p14="http://schemas.microsoft.com/office/powerpoint/2010/main" val="4144041981"/>
              </p:ext>
            </p:extLst>
          </p:nvPr>
        </p:nvGraphicFramePr>
        <p:xfrm>
          <a:off x="7779496" y="3382401"/>
          <a:ext cx="4038600" cy="1480072"/>
        </p:xfrm>
        <a:graphic>
          <a:graphicData uri="http://schemas.openxmlformats.org/presentationml/2006/ole">
            <mc:AlternateContent xmlns:mc="http://schemas.openxmlformats.org/markup-compatibility/2006">
              <mc:Choice xmlns:v="urn:schemas-microsoft-com:vml" Requires="v">
                <p:oleObj spid="_x0000_s2095" name="Bitmap Image" r:id="rId8" imgW="6408975" imgH="1798095" progId="Paint.Picture">
                  <p:embed/>
                </p:oleObj>
              </mc:Choice>
              <mc:Fallback>
                <p:oleObj name="Bitmap Image" r:id="rId8" imgW="6408975" imgH="1798095" progId="Paint.Picture">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9496" y="3382401"/>
                        <a:ext cx="4038600" cy="1480072"/>
                      </a:xfrm>
                      <a:prstGeom prst="rect">
                        <a:avLst/>
                      </a:prstGeom>
                      <a:noFill/>
                      <a:extLst/>
                    </p:spPr>
                  </p:pic>
                </p:oleObj>
              </mc:Fallback>
            </mc:AlternateContent>
          </a:graphicData>
        </a:graphic>
      </p:graphicFrame>
    </p:spTree>
    <p:extLst>
      <p:ext uri="{BB962C8B-B14F-4D97-AF65-F5344CB8AC3E}">
        <p14:creationId xmlns:p14="http://schemas.microsoft.com/office/powerpoint/2010/main" val="1396881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Quick 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Time complexity Analysis of Quick sort</a:t>
            </a:r>
          </a:p>
          <a:p>
            <a:pPr algn="just"/>
            <a:r>
              <a:rPr lang="en-IN" b="1" dirty="0" smtClean="0">
                <a:solidFill>
                  <a:srgbClr val="C00000"/>
                </a:solidFill>
                <a:latin typeface="Times New Roman" panose="02020603050405020304" pitchFamily="18" charset="0"/>
                <a:cs typeface="Times New Roman" panose="02020603050405020304" pitchFamily="18" charset="0"/>
              </a:rPr>
              <a:t>Worst case complexity</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This case occurs when at the each invocation of the quick sort, the current array is partitioned into two sub array in that one is completely empty. Another contains all the elements for sorting.</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This situation occurs if all the input elements are in ascending or descending order.</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Example </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22,  33,  44,  55,  66   input array</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22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33,  44,  55,  66 </a:t>
            </a: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C0000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33,  44,  55,  66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80</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131701" y="5048958"/>
            <a:ext cx="772490"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pivot</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15" name="Straight Arrow Connector 14"/>
          <p:cNvCxnSpPr/>
          <p:nvPr/>
        </p:nvCxnSpPr>
        <p:spPr>
          <a:xfrm flipH="1">
            <a:off x="321013" y="4784105"/>
            <a:ext cx="39652" cy="237832"/>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807386" y="3978629"/>
            <a:ext cx="772490"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j</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0" name="TextBox 19"/>
          <p:cNvSpPr txBox="1"/>
          <p:nvPr/>
        </p:nvSpPr>
        <p:spPr>
          <a:xfrm>
            <a:off x="516230" y="4001860"/>
            <a:ext cx="772490" cy="646331"/>
          </a:xfrm>
          <a:prstGeom prst="rect">
            <a:avLst/>
          </a:prstGeom>
          <a:noFill/>
        </p:spPr>
        <p:txBody>
          <a:bodyPr wrap="square" rtlCol="0">
            <a:spAutoFit/>
          </a:bodyPr>
          <a:lstStyle/>
          <a:p>
            <a:pPr algn="ctr"/>
            <a:r>
              <a:rPr lang="en-IN" b="1" dirty="0" err="1" smtClean="0">
                <a:solidFill>
                  <a:srgbClr val="FF0000"/>
                </a:solidFill>
                <a:latin typeface="Times New Roman" panose="02020603050405020304" pitchFamily="18" charset="0"/>
                <a:cs typeface="Times New Roman" panose="02020603050405020304" pitchFamily="18" charset="0"/>
              </a:rPr>
              <a:t>i</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1" name="TextBox 20"/>
          <p:cNvSpPr txBox="1"/>
          <p:nvPr/>
        </p:nvSpPr>
        <p:spPr>
          <a:xfrm>
            <a:off x="516230" y="4725792"/>
            <a:ext cx="772490" cy="523220"/>
          </a:xfrm>
          <a:prstGeom prst="rect">
            <a:avLst/>
          </a:prstGeom>
          <a:noFill/>
        </p:spPr>
        <p:txBody>
          <a:bodyPr wrap="square" rtlCol="0">
            <a:spAutoFit/>
          </a:bodyPr>
          <a:lstStyle/>
          <a:p>
            <a:pPr algn="ctr"/>
            <a:r>
              <a:rPr lang="en-IN" sz="1400" b="1" dirty="0" smtClean="0">
                <a:solidFill>
                  <a:srgbClr val="FF0000"/>
                </a:solidFill>
                <a:latin typeface="Times New Roman" panose="02020603050405020304" pitchFamily="18" charset="0"/>
                <a:cs typeface="Times New Roman" panose="02020603050405020304" pitchFamily="18" charset="0"/>
              </a:rPr>
              <a:t>33&lt;22</a:t>
            </a:r>
            <a:endParaRPr lang="en-IN" sz="1400"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sp>
        <p:nvSpPr>
          <p:cNvPr id="22" name="TextBox 21"/>
          <p:cNvSpPr txBox="1"/>
          <p:nvPr/>
        </p:nvSpPr>
        <p:spPr>
          <a:xfrm>
            <a:off x="1328473" y="4801660"/>
            <a:ext cx="1811303" cy="523220"/>
          </a:xfrm>
          <a:prstGeom prst="rect">
            <a:avLst/>
          </a:prstGeom>
          <a:noFill/>
        </p:spPr>
        <p:txBody>
          <a:bodyPr wrap="square" rtlCol="0">
            <a:spAutoFit/>
          </a:bodyPr>
          <a:lstStyle/>
          <a:p>
            <a:pPr algn="ctr"/>
            <a:r>
              <a:rPr lang="en-IN" sz="1400" b="1" dirty="0" smtClean="0">
                <a:solidFill>
                  <a:srgbClr val="FF0000"/>
                </a:solidFill>
                <a:latin typeface="Times New Roman" panose="02020603050405020304" pitchFamily="18" charset="0"/>
                <a:cs typeface="Times New Roman" panose="02020603050405020304" pitchFamily="18" charset="0"/>
              </a:rPr>
              <a:t>66&gt;22, j--</a:t>
            </a:r>
            <a:endParaRPr lang="en-IN" sz="1400"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sp>
        <p:nvSpPr>
          <p:cNvPr id="23" name="TextBox 22"/>
          <p:cNvSpPr txBox="1"/>
          <p:nvPr/>
        </p:nvSpPr>
        <p:spPr>
          <a:xfrm>
            <a:off x="402649" y="5372123"/>
            <a:ext cx="772490" cy="646331"/>
          </a:xfrm>
          <a:prstGeom prst="rect">
            <a:avLst/>
          </a:prstGeom>
          <a:noFill/>
        </p:spPr>
        <p:txBody>
          <a:bodyPr wrap="square" rtlCol="0">
            <a:spAutoFit/>
          </a:bodyPr>
          <a:lstStyle/>
          <a:p>
            <a:pPr algn="ctr"/>
            <a:r>
              <a:rPr lang="en-IN" b="1" dirty="0" err="1" smtClean="0">
                <a:solidFill>
                  <a:srgbClr val="FF0000"/>
                </a:solidFill>
                <a:latin typeface="Times New Roman" panose="02020603050405020304" pitchFamily="18" charset="0"/>
                <a:cs typeface="Times New Roman" panose="02020603050405020304" pitchFamily="18" charset="0"/>
              </a:rPr>
              <a:t>i</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4" name="TextBox 23"/>
          <p:cNvSpPr txBox="1"/>
          <p:nvPr/>
        </p:nvSpPr>
        <p:spPr>
          <a:xfrm>
            <a:off x="1328473" y="5315067"/>
            <a:ext cx="772490"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j</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5" name="TextBox 24"/>
          <p:cNvSpPr txBox="1"/>
          <p:nvPr/>
        </p:nvSpPr>
        <p:spPr>
          <a:xfrm>
            <a:off x="912806" y="5925792"/>
            <a:ext cx="1849849" cy="523220"/>
          </a:xfrm>
          <a:prstGeom prst="rect">
            <a:avLst/>
          </a:prstGeom>
          <a:noFill/>
        </p:spPr>
        <p:txBody>
          <a:bodyPr wrap="square" rtlCol="0">
            <a:spAutoFit/>
          </a:bodyPr>
          <a:lstStyle/>
          <a:p>
            <a:pPr algn="ctr"/>
            <a:r>
              <a:rPr lang="en-IN" sz="1400" b="1" dirty="0" smtClean="0">
                <a:solidFill>
                  <a:srgbClr val="FF0000"/>
                </a:solidFill>
                <a:latin typeface="Times New Roman" panose="02020603050405020304" pitchFamily="18" charset="0"/>
                <a:cs typeface="Times New Roman" panose="02020603050405020304" pitchFamily="18" charset="0"/>
              </a:rPr>
              <a:t>55&gt;22, j--</a:t>
            </a:r>
            <a:endParaRPr lang="en-IN" sz="1400"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sp>
        <p:nvSpPr>
          <p:cNvPr id="6" name="Date Placeholder 5"/>
          <p:cNvSpPr>
            <a:spLocks noGrp="1"/>
          </p:cNvSpPr>
          <p:nvPr>
            <p:ph type="dt" sz="half" idx="10"/>
          </p:nvPr>
        </p:nvSpPr>
        <p:spPr/>
        <p:txBody>
          <a:bodyPr/>
          <a:lstStyle/>
          <a:p>
            <a:fld id="{0549B194-1242-40CA-835B-7184B9BC3A68}" type="datetime1">
              <a:rPr lang="en-IN" smtClean="0"/>
              <a:t>21-03-2026</a:t>
            </a:fld>
            <a:endParaRPr lang="en-IN"/>
          </a:p>
        </p:txBody>
      </p:sp>
    </p:spTree>
    <p:extLst>
      <p:ext uri="{BB962C8B-B14F-4D97-AF65-F5344CB8AC3E}">
        <p14:creationId xmlns:p14="http://schemas.microsoft.com/office/powerpoint/2010/main" val="3974558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P spid="20" grpId="0"/>
      <p:bldP spid="21" grpId="0"/>
      <p:bldP spid="22" grpId="0"/>
      <p:bldP spid="23" grpId="0"/>
      <p:bldP spid="24" grpId="0"/>
      <p:bldP spid="2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Time complexity Analysis of Quick sort</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22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33,  44,  55,  </a:t>
            </a:r>
            <a:r>
              <a:rPr lang="en-IN" sz="2000" b="1" dirty="0" smtClean="0">
                <a:solidFill>
                  <a:srgbClr val="002060"/>
                </a:solidFill>
                <a:latin typeface="Times New Roman" panose="02020603050405020304" pitchFamily="18" charset="0"/>
                <a:cs typeface="Times New Roman" panose="02020603050405020304" pitchFamily="18" charset="0"/>
              </a:rPr>
              <a:t>66</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C0000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33,  44,  55,  66 </a:t>
            </a: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C0000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33,  44,  55,  66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81</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889023" y="1832676"/>
            <a:ext cx="772490"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j</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0" name="TextBox 19"/>
          <p:cNvSpPr txBox="1"/>
          <p:nvPr/>
        </p:nvSpPr>
        <p:spPr>
          <a:xfrm>
            <a:off x="516230" y="1783843"/>
            <a:ext cx="772490" cy="646331"/>
          </a:xfrm>
          <a:prstGeom prst="rect">
            <a:avLst/>
          </a:prstGeom>
          <a:noFill/>
        </p:spPr>
        <p:txBody>
          <a:bodyPr wrap="square" rtlCol="0">
            <a:spAutoFit/>
          </a:bodyPr>
          <a:lstStyle/>
          <a:p>
            <a:pPr algn="ctr"/>
            <a:r>
              <a:rPr lang="en-IN" b="1" dirty="0" err="1" smtClean="0">
                <a:solidFill>
                  <a:srgbClr val="FF0000"/>
                </a:solidFill>
                <a:latin typeface="Times New Roman" panose="02020603050405020304" pitchFamily="18" charset="0"/>
                <a:cs typeface="Times New Roman" panose="02020603050405020304" pitchFamily="18" charset="0"/>
              </a:rPr>
              <a:t>i</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2" name="TextBox 21"/>
          <p:cNvSpPr txBox="1"/>
          <p:nvPr/>
        </p:nvSpPr>
        <p:spPr>
          <a:xfrm>
            <a:off x="598176" y="2455712"/>
            <a:ext cx="1811303" cy="523220"/>
          </a:xfrm>
          <a:prstGeom prst="rect">
            <a:avLst/>
          </a:prstGeom>
          <a:noFill/>
        </p:spPr>
        <p:txBody>
          <a:bodyPr wrap="square" rtlCol="0">
            <a:spAutoFit/>
          </a:bodyPr>
          <a:lstStyle/>
          <a:p>
            <a:pPr algn="ctr"/>
            <a:r>
              <a:rPr lang="en-IN" sz="1400" b="1" dirty="0" smtClean="0">
                <a:solidFill>
                  <a:srgbClr val="FF0000"/>
                </a:solidFill>
                <a:latin typeface="Times New Roman" panose="02020603050405020304" pitchFamily="18" charset="0"/>
                <a:cs typeface="Times New Roman" panose="02020603050405020304" pitchFamily="18" charset="0"/>
              </a:rPr>
              <a:t>44&gt;22, j--</a:t>
            </a:r>
            <a:endParaRPr lang="en-IN" sz="1400"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sp>
        <p:nvSpPr>
          <p:cNvPr id="23" name="TextBox 22"/>
          <p:cNvSpPr txBox="1"/>
          <p:nvPr/>
        </p:nvSpPr>
        <p:spPr>
          <a:xfrm>
            <a:off x="360665" y="3028112"/>
            <a:ext cx="772490" cy="646331"/>
          </a:xfrm>
          <a:prstGeom prst="rect">
            <a:avLst/>
          </a:prstGeom>
          <a:noFill/>
        </p:spPr>
        <p:txBody>
          <a:bodyPr wrap="square" rtlCol="0">
            <a:spAutoFit/>
          </a:bodyPr>
          <a:lstStyle/>
          <a:p>
            <a:pPr algn="ctr"/>
            <a:r>
              <a:rPr lang="en-IN" b="1" dirty="0" err="1" smtClean="0">
                <a:solidFill>
                  <a:srgbClr val="FF0000"/>
                </a:solidFill>
                <a:latin typeface="Times New Roman" panose="02020603050405020304" pitchFamily="18" charset="0"/>
                <a:cs typeface="Times New Roman" panose="02020603050405020304" pitchFamily="18" charset="0"/>
              </a:rPr>
              <a:t>i</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4" name="TextBox 23"/>
          <p:cNvSpPr txBox="1"/>
          <p:nvPr/>
        </p:nvSpPr>
        <p:spPr>
          <a:xfrm>
            <a:off x="486249" y="3028112"/>
            <a:ext cx="772490"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j</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5" name="TextBox 24"/>
          <p:cNvSpPr txBox="1"/>
          <p:nvPr/>
        </p:nvSpPr>
        <p:spPr>
          <a:xfrm>
            <a:off x="0" y="3681644"/>
            <a:ext cx="1849849" cy="523220"/>
          </a:xfrm>
          <a:prstGeom prst="rect">
            <a:avLst/>
          </a:prstGeom>
          <a:noFill/>
        </p:spPr>
        <p:txBody>
          <a:bodyPr wrap="square" rtlCol="0">
            <a:spAutoFit/>
          </a:bodyPr>
          <a:lstStyle/>
          <a:p>
            <a:pPr algn="ctr"/>
            <a:r>
              <a:rPr lang="en-IN" sz="1400" b="1" dirty="0" smtClean="0">
                <a:solidFill>
                  <a:srgbClr val="FF0000"/>
                </a:solidFill>
                <a:latin typeface="Times New Roman" panose="02020603050405020304" pitchFamily="18" charset="0"/>
                <a:cs typeface="Times New Roman" panose="02020603050405020304" pitchFamily="18" charset="0"/>
              </a:rPr>
              <a:t>33&gt;22, j--</a:t>
            </a:r>
            <a:endParaRPr lang="en-IN" sz="1400"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sp>
        <p:nvSpPr>
          <p:cNvPr id="17" name="TextBox 16"/>
          <p:cNvSpPr txBox="1"/>
          <p:nvPr/>
        </p:nvSpPr>
        <p:spPr>
          <a:xfrm>
            <a:off x="0" y="4150673"/>
            <a:ext cx="772490"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j</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8" name="TextBox 17"/>
          <p:cNvSpPr txBox="1"/>
          <p:nvPr/>
        </p:nvSpPr>
        <p:spPr>
          <a:xfrm>
            <a:off x="360665" y="4178907"/>
            <a:ext cx="772490" cy="646331"/>
          </a:xfrm>
          <a:prstGeom prst="rect">
            <a:avLst/>
          </a:prstGeom>
          <a:noFill/>
        </p:spPr>
        <p:txBody>
          <a:bodyPr wrap="square" rtlCol="0">
            <a:spAutoFit/>
          </a:bodyPr>
          <a:lstStyle/>
          <a:p>
            <a:pPr algn="ctr"/>
            <a:r>
              <a:rPr lang="en-IN" b="1" dirty="0" err="1" smtClean="0">
                <a:solidFill>
                  <a:srgbClr val="FF0000"/>
                </a:solidFill>
                <a:latin typeface="Times New Roman" panose="02020603050405020304" pitchFamily="18" charset="0"/>
                <a:cs typeface="Times New Roman" panose="02020603050405020304" pitchFamily="18" charset="0"/>
              </a:rPr>
              <a:t>i</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26" name="TextBox 25"/>
          <p:cNvSpPr txBox="1"/>
          <p:nvPr/>
        </p:nvSpPr>
        <p:spPr>
          <a:xfrm>
            <a:off x="2409479" y="3953009"/>
            <a:ext cx="5401832" cy="1292662"/>
          </a:xfrm>
          <a:prstGeom prst="rect">
            <a:avLst/>
          </a:prstGeom>
          <a:noFill/>
        </p:spPr>
        <p:txBody>
          <a:bodyPr wrap="square" rtlCol="0">
            <a:spAutoFit/>
          </a:bodyPr>
          <a:lstStyle/>
          <a:p>
            <a:pPr algn="just"/>
            <a:r>
              <a:rPr lang="en-IN" sz="1600" b="1" dirty="0" smtClean="0">
                <a:solidFill>
                  <a:srgbClr val="FF0000"/>
                </a:solidFill>
                <a:latin typeface="Times New Roman" panose="02020603050405020304" pitchFamily="18" charset="0"/>
                <a:cs typeface="Times New Roman" panose="02020603050405020304" pitchFamily="18" charset="0"/>
              </a:rPr>
              <a:t>Pivot in final position </a:t>
            </a:r>
          </a:p>
          <a:p>
            <a:pPr algn="just"/>
            <a:r>
              <a:rPr lang="en-IN" sz="1600" b="1" dirty="0" smtClean="0">
                <a:solidFill>
                  <a:srgbClr val="FF0000"/>
                </a:solidFill>
                <a:latin typeface="Times New Roman" panose="02020603050405020304" pitchFamily="18" charset="0"/>
                <a:cs typeface="Times New Roman" panose="02020603050405020304" pitchFamily="18" charset="0"/>
              </a:rPr>
              <a:t>And no elements towards left of pivot, and there are </a:t>
            </a:r>
            <a:r>
              <a:rPr lang="en-IN" sz="1600" b="1" dirty="0" smtClean="0">
                <a:solidFill>
                  <a:srgbClr val="002060"/>
                </a:solidFill>
                <a:latin typeface="Times New Roman" panose="02020603050405020304" pitchFamily="18" charset="0"/>
                <a:cs typeface="Times New Roman" panose="02020603050405020304" pitchFamily="18" charset="0"/>
              </a:rPr>
              <a:t>n-1</a:t>
            </a:r>
            <a:r>
              <a:rPr lang="en-IN" sz="1600" b="1" dirty="0" smtClean="0">
                <a:solidFill>
                  <a:srgbClr val="FF0000"/>
                </a:solidFill>
                <a:latin typeface="Times New Roman" panose="02020603050405020304" pitchFamily="18" charset="0"/>
                <a:cs typeface="Times New Roman" panose="02020603050405020304" pitchFamily="18" charset="0"/>
              </a:rPr>
              <a:t> elements at right, same problem continue with other elements </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400" dirty="0"/>
          </a:p>
        </p:txBody>
      </p:sp>
      <p:sp>
        <p:nvSpPr>
          <p:cNvPr id="27" name="TextBox 26"/>
          <p:cNvSpPr txBox="1"/>
          <p:nvPr/>
        </p:nvSpPr>
        <p:spPr>
          <a:xfrm>
            <a:off x="2517052" y="5197784"/>
            <a:ext cx="6733951" cy="1138773"/>
          </a:xfrm>
          <a:prstGeom prst="rect">
            <a:avLst/>
          </a:prstGeom>
          <a:noFill/>
        </p:spPr>
        <p:txBody>
          <a:bodyPr wrap="square" rtlCol="0">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In general if array has n elements, after </a:t>
            </a:r>
            <a:r>
              <a:rPr lang="en-IN" b="1" dirty="0" err="1" smtClean="0">
                <a:solidFill>
                  <a:srgbClr val="002060"/>
                </a:solidFill>
                <a:latin typeface="Times New Roman" panose="02020603050405020304" pitchFamily="18" charset="0"/>
                <a:cs typeface="Times New Roman" panose="02020603050405020304" pitchFamily="18" charset="0"/>
              </a:rPr>
              <a:t>partioning</a:t>
            </a:r>
            <a:r>
              <a:rPr lang="en-IN" b="1" dirty="0" smtClean="0">
                <a:solidFill>
                  <a:srgbClr val="002060"/>
                </a:solidFill>
                <a:latin typeface="Times New Roman" panose="02020603050405020304" pitchFamily="18" charset="0"/>
                <a:cs typeface="Times New Roman" panose="02020603050405020304" pitchFamily="18" charset="0"/>
              </a:rPr>
              <a:t>, in the worst case (n-1) elements appears towards right and 0 elements towards left (if input array is in ascending order) of pivot element.</a:t>
            </a:r>
            <a:endParaRPr lang="en-IN" b="1" dirty="0">
              <a:solidFill>
                <a:srgbClr val="002060"/>
              </a:solidFill>
              <a:latin typeface="Times New Roman" panose="02020603050405020304" pitchFamily="18" charset="0"/>
              <a:cs typeface="Times New Roman" panose="02020603050405020304" pitchFamily="18" charset="0"/>
            </a:endParaRPr>
          </a:p>
          <a:p>
            <a:endParaRPr lang="en-IN" sz="1400" dirty="0"/>
          </a:p>
        </p:txBody>
      </p:sp>
      <p:sp>
        <p:nvSpPr>
          <p:cNvPr id="6" name="Date Placeholder 5"/>
          <p:cNvSpPr>
            <a:spLocks noGrp="1"/>
          </p:cNvSpPr>
          <p:nvPr>
            <p:ph type="dt" sz="half" idx="10"/>
          </p:nvPr>
        </p:nvSpPr>
        <p:spPr/>
        <p:txBody>
          <a:bodyPr/>
          <a:lstStyle/>
          <a:p>
            <a:fld id="{7D80BDFC-3E8E-4762-9B45-0E20C654372B}" type="datetime1">
              <a:rPr lang="en-IN" smtClean="0"/>
              <a:t>21-03-2026</a:t>
            </a:fld>
            <a:endParaRPr lang="en-IN"/>
          </a:p>
        </p:txBody>
      </p:sp>
    </p:spTree>
    <p:extLst>
      <p:ext uri="{BB962C8B-B14F-4D97-AF65-F5344CB8AC3E}">
        <p14:creationId xmlns:p14="http://schemas.microsoft.com/office/powerpoint/2010/main" val="238850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2" grpId="0"/>
      <p:bldP spid="23" grpId="0"/>
      <p:bldP spid="24" grpId="0"/>
      <p:bldP spid="25" grpId="0"/>
      <p:bldP spid="17" grpId="0"/>
      <p:bldP spid="18" grpId="0"/>
      <p:bldP spid="26" grpId="0"/>
      <p:bldP spid="2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Quick sort</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77051" y="732885"/>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Time complexity Analysis of Quick sort</a:t>
                </a:r>
              </a:p>
              <a:p>
                <a:pPr algn="just"/>
                <a:r>
                  <a:rPr lang="en-IN" sz="2000" b="1" dirty="0" smtClean="0">
                    <a:solidFill>
                      <a:srgbClr val="002060"/>
                    </a:solidFill>
                    <a:latin typeface="Times New Roman" panose="02020603050405020304" pitchFamily="18" charset="0"/>
                    <a:cs typeface="Times New Roman" panose="02020603050405020304" pitchFamily="18" charset="0"/>
                  </a:rPr>
                  <a:t>The above recurrence relation can be rewritten as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The above recurrence relation becomes</a:t>
                </a:r>
              </a:p>
              <a:p>
                <a:pPr algn="just"/>
                <a14:m>
                  <m:oMath xmlns:m="http://schemas.openxmlformats.org/officeDocument/2006/math">
                    <m:r>
                      <a:rPr lang="en-IN" sz="2000" b="1" i="1" smtClean="0">
                        <a:solidFill>
                          <a:srgbClr val="002060"/>
                        </a:solidFill>
                        <a:latin typeface="Cambria Math" panose="02040503050406030204" pitchFamily="18" charset="0"/>
                        <a:cs typeface="Times New Roman" panose="02020603050405020304" pitchFamily="18" charset="0"/>
                      </a:rPr>
                      <m:t>𝟎</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e>
                    </m:d>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𝒏</m:t>
                    </m:r>
                  </m:oMath>
                </a14:m>
                <a:r>
                  <a:rPr lang="en-IN" sz="2000" b="1" dirty="0" smtClean="0">
                    <a:solidFill>
                      <a:srgbClr val="C00000"/>
                    </a:solidFill>
                    <a:latin typeface="Times New Roman" panose="02020603050405020304" pitchFamily="18" charset="0"/>
                    <a:cs typeface="Times New Roman" panose="02020603050405020304" pitchFamily="18" charset="0"/>
                  </a:rPr>
                  <a:t> = </a:t>
                </a:r>
                <a14:m>
                  <m:oMath xmlns:m="http://schemas.openxmlformats.org/officeDocument/2006/math">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e>
                    </m:d>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𝒏</m:t>
                    </m:r>
                  </m:oMath>
                </a14:m>
                <a:r>
                  <a:rPr lang="en-IN" sz="2000" b="1" dirty="0">
                    <a:solidFill>
                      <a:srgbClr val="C00000"/>
                    </a:solidFill>
                    <a:latin typeface="Times New Roman" panose="02020603050405020304" pitchFamily="18" charset="0"/>
                    <a:cs typeface="Times New Roman" panose="02020603050405020304" pitchFamily="18" charset="0"/>
                  </a:rPr>
                  <a:t> </a:t>
                </a:r>
              </a:p>
              <a:p>
                <a:pPr algn="just"/>
                <a:r>
                  <a:rPr lang="en-IN" sz="2000" b="1" dirty="0" smtClean="0">
                    <a:solidFill>
                      <a:srgbClr val="002060"/>
                    </a:solidFill>
                    <a:latin typeface="Times New Roman" panose="02020603050405020304" pitchFamily="18" charset="0"/>
                    <a:cs typeface="Times New Roman" panose="02020603050405020304" pitchFamily="18" charset="0"/>
                  </a:rPr>
                  <a:t>Apply substitution method </a:t>
                </a:r>
              </a:p>
              <a:p>
                <a:pPr algn="just"/>
                <a:r>
                  <a:rPr lang="en-IN" sz="2000" b="1" dirty="0" smtClean="0">
                    <a:solidFill>
                      <a:srgbClr val="002060"/>
                    </a:solidFill>
                    <a:latin typeface="Times New Roman" panose="02020603050405020304" pitchFamily="18" charset="0"/>
                    <a:cs typeface="Times New Roman" panose="02020603050405020304" pitchFamily="18" charset="0"/>
                  </a:rPr>
                  <a:t>T(n)=T(n-1)+n        replace T(n-1) by T(n-2)+n-1</a:t>
                </a:r>
              </a:p>
              <a:p>
                <a:pPr algn="just"/>
                <a:r>
                  <a:rPr lang="en-IN" sz="2000" b="1" dirty="0" smtClean="0">
                    <a:solidFill>
                      <a:srgbClr val="002060"/>
                    </a:solidFill>
                    <a:latin typeface="Times New Roman" panose="02020603050405020304" pitchFamily="18" charset="0"/>
                    <a:cs typeface="Times New Roman" panose="02020603050405020304" pitchFamily="18" charset="0"/>
                  </a:rPr>
                  <a:t>T(n)=</a:t>
                </a:r>
                <a:r>
                  <a:rPr lang="en-IN" sz="2000" b="1" dirty="0">
                    <a:solidFill>
                      <a:srgbClr val="002060"/>
                    </a:solidFill>
                    <a:latin typeface="Times New Roman" panose="02020603050405020304" pitchFamily="18" charset="0"/>
                    <a:cs typeface="Times New Roman" panose="02020603050405020304" pitchFamily="18" charset="0"/>
                  </a:rPr>
                  <a:t>T(n-2)+</a:t>
                </a:r>
                <a:r>
                  <a:rPr lang="en-IN" sz="2000" b="1" dirty="0" smtClean="0">
                    <a:solidFill>
                      <a:srgbClr val="002060"/>
                    </a:solidFill>
                    <a:latin typeface="Times New Roman" panose="02020603050405020304" pitchFamily="18" charset="0"/>
                    <a:cs typeface="Times New Roman" panose="02020603050405020304" pitchFamily="18" charset="0"/>
                  </a:rPr>
                  <a:t>n-1+n     </a:t>
                </a:r>
                <a:r>
                  <a:rPr lang="en-IN" sz="2000" b="1" dirty="0">
                    <a:solidFill>
                      <a:srgbClr val="002060"/>
                    </a:solidFill>
                    <a:latin typeface="Times New Roman" panose="02020603050405020304" pitchFamily="18" charset="0"/>
                    <a:cs typeface="Times New Roman" panose="02020603050405020304" pitchFamily="18" charset="0"/>
                  </a:rPr>
                  <a:t>replace </a:t>
                </a:r>
                <a:r>
                  <a:rPr lang="en-IN" sz="2000" b="1" dirty="0" smtClean="0">
                    <a:solidFill>
                      <a:srgbClr val="002060"/>
                    </a:solidFill>
                    <a:latin typeface="Times New Roman" panose="02020603050405020304" pitchFamily="18" charset="0"/>
                    <a:cs typeface="Times New Roman" panose="02020603050405020304" pitchFamily="18" charset="0"/>
                  </a:rPr>
                  <a:t>T(n-2) </a:t>
                </a:r>
                <a:r>
                  <a:rPr lang="en-IN" sz="2000" b="1" dirty="0">
                    <a:solidFill>
                      <a:srgbClr val="002060"/>
                    </a:solidFill>
                    <a:latin typeface="Times New Roman" panose="02020603050405020304" pitchFamily="18" charset="0"/>
                    <a:cs typeface="Times New Roman" panose="02020603050405020304" pitchFamily="18" charset="0"/>
                  </a:rPr>
                  <a:t>by </a:t>
                </a:r>
                <a:r>
                  <a:rPr lang="en-IN" sz="2000" b="1" dirty="0" smtClean="0">
                    <a:solidFill>
                      <a:srgbClr val="002060"/>
                    </a:solidFill>
                    <a:latin typeface="Times New Roman" panose="02020603050405020304" pitchFamily="18" charset="0"/>
                    <a:cs typeface="Times New Roman" panose="02020603050405020304" pitchFamily="18" charset="0"/>
                  </a:rPr>
                  <a:t>T(n-3)+n-2</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T(n)=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T(n-3</a:t>
                </a:r>
                <a:r>
                  <a:rPr lang="en-IN" sz="2000" b="1" dirty="0" smtClean="0">
                    <a:solidFill>
                      <a:srgbClr val="002060"/>
                    </a:solidFill>
                    <a:latin typeface="Times New Roman" panose="02020603050405020304" pitchFamily="18" charset="0"/>
                    <a:cs typeface="Times New Roman" panose="02020603050405020304" pitchFamily="18" charset="0"/>
                  </a:rPr>
                  <a:t>)+(n-2)+(n-1)+n</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77051" y="732885"/>
                <a:ext cx="11797552" cy="5627707"/>
              </a:xfrm>
              <a:blipFill rotWithShape="0">
                <a:blip r:embed="rId3"/>
                <a:stretch>
                  <a:fillRect l="-775" t="-1517"/>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82</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p:cNvSpPr txBox="1"/>
              <p:nvPr/>
            </p:nvSpPr>
            <p:spPr>
              <a:xfrm>
                <a:off x="1244853" y="1417629"/>
                <a:ext cx="9661947" cy="1074910"/>
              </a:xfrm>
              <a:prstGeom prst="rect">
                <a:avLst/>
              </a:prstGeom>
              <a:noFill/>
              <a:ln>
                <a:solidFill>
                  <a:schemeClr val="accent1"/>
                </a:solidFill>
              </a:ln>
            </p:spPr>
            <p:txBody>
              <a:bodyPr wrap="square" rtlCol="0">
                <a:spAutoFit/>
              </a:bodyPr>
              <a:lstStyle/>
              <a:p>
                <a:r>
                  <a:rPr lang="en-IN" sz="2000" b="1" dirty="0" smtClean="0">
                    <a:solidFill>
                      <a:srgbClr val="FF0000"/>
                    </a:solidFill>
                    <a:cs typeface="Times New Roman" panose="02020603050405020304" pitchFamily="18" charset="0"/>
                  </a:rPr>
                  <a:t>T</a:t>
                </a:r>
                <a14:m>
                  <m:oMath xmlns:m="http://schemas.openxmlformats.org/officeDocument/2006/math">
                    <m:r>
                      <a:rPr lang="en-IN" sz="2000" b="1" i="1" smtClean="0">
                        <a:solidFill>
                          <a:srgbClr val="FF0000"/>
                        </a:solidFill>
                        <a:latin typeface="Cambria Math" panose="02040503050406030204" pitchFamily="18" charset="0"/>
                        <a:cs typeface="Times New Roman" panose="02020603050405020304" pitchFamily="18" charset="0"/>
                      </a:rPr>
                      <m:t>(</m:t>
                    </m:r>
                    <m:r>
                      <a:rPr lang="en-IN" sz="2000" b="1" i="1" smtClean="0">
                        <a:solidFill>
                          <a:srgbClr val="FF0000"/>
                        </a:solidFill>
                        <a:latin typeface="Cambria Math" panose="02040503050406030204" pitchFamily="18" charset="0"/>
                        <a:cs typeface="Times New Roman" panose="02020603050405020304" pitchFamily="18" charset="0"/>
                      </a:rPr>
                      <m:t>𝒏</m:t>
                    </m:r>
                    <m:r>
                      <a:rPr lang="en-IN" sz="2000" b="1" i="1" smtClean="0">
                        <a:solidFill>
                          <a:srgbClr val="FF0000"/>
                        </a:solidFill>
                        <a:latin typeface="Cambria Math" panose="02040503050406030204" pitchFamily="18" charset="0"/>
                        <a:cs typeface="Times New Roman" panose="02020603050405020304" pitchFamily="18" charset="0"/>
                      </a:rPr>
                      <m:t>)=</m:t>
                    </m:r>
                    <m:d>
                      <m:dPr>
                        <m:begChr m:val="{"/>
                        <m:endChr m:val="}"/>
                        <m:ctrlPr>
                          <a:rPr lang="pt-BR" sz="2000" b="1" i="1" smtClean="0">
                            <a:solidFill>
                              <a:srgbClr val="002060"/>
                            </a:solidFill>
                            <a:latin typeface="Cambria Math"/>
                            <a:cs typeface="Times New Roman" panose="02020603050405020304" pitchFamily="18" charset="0"/>
                          </a:rPr>
                        </m:ctrlPr>
                      </m:dPr>
                      <m:e>
                        <m:eqArr>
                          <m:eqArrPr>
                            <m:ctrlPr>
                              <a:rPr lang="en-IN" sz="2000" b="1" i="1" smtClean="0">
                                <a:solidFill>
                                  <a:srgbClr val="002060"/>
                                </a:solidFill>
                                <a:latin typeface="Cambria Math"/>
                                <a:cs typeface="Times New Roman" panose="02020603050405020304" pitchFamily="18" charset="0"/>
                              </a:rPr>
                            </m:ctrlPr>
                          </m:eqArrPr>
                          <m:e>
                            <m:r>
                              <a:rPr lang="en-IN" sz="2000" b="1" i="1" smtClean="0">
                                <a:solidFill>
                                  <a:srgbClr val="002060"/>
                                </a:solidFill>
                                <a:latin typeface="Cambria Math" panose="02040503050406030204" pitchFamily="18" charset="0"/>
                                <a:cs typeface="Times New Roman" panose="02020603050405020304" pitchFamily="18" charset="0"/>
                              </a:rPr>
                              <m:t>𝟎</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
                          <m:e>
                            <m:r>
                              <a:rPr lang="en-IN" sz="2000" b="1" i="1" smtClean="0">
                                <a:solidFill>
                                  <a:srgbClr val="002060"/>
                                </a:solidFill>
                                <a:latin typeface="Cambria Math" panose="02040503050406030204" pitchFamily="18" charset="0"/>
                                <a:cs typeface="Times New Roman" panose="02020603050405020304" pitchFamily="18" charset="0"/>
                              </a:rPr>
                              <m:t>𝑻</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𝟎</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𝑻</m:t>
                            </m:r>
                            <m:d>
                              <m:dPr>
                                <m:ctrlPr>
                                  <a:rPr lang="en-IN" sz="2000" b="1" i="1" smtClean="0">
                                    <a:solidFill>
                                      <a:srgbClr val="002060"/>
                                    </a:solidFill>
                                    <a:latin typeface="Cambria Math"/>
                                    <a:cs typeface="Times New Roman" panose="02020603050405020304" pitchFamily="18" charset="0"/>
                                  </a:rPr>
                                </m:ctrlPr>
                              </m:dPr>
                              <m:e>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d>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&gt;</m:t>
                            </m:r>
                            <m:r>
                              <a:rPr lang="en-IN" sz="2000" b="1" i="1" smtClean="0">
                                <a:solidFill>
                                  <a:srgbClr val="002060"/>
                                </a:solidFill>
                                <a:latin typeface="Cambria Math" panose="02040503050406030204" pitchFamily="18" charset="0"/>
                                <a:cs typeface="Times New Roman" panose="02020603050405020304" pitchFamily="18" charset="0"/>
                              </a:rPr>
                              <m:t>𝟏</m:t>
                            </m:r>
                          </m:e>
                        </m:eqArr>
                      </m:e>
                    </m:d>
                  </m:oMath>
                </a14:m>
                <a:endParaRPr lang="en-IN" sz="28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244853" y="1417629"/>
                <a:ext cx="9661947" cy="1074910"/>
              </a:xfrm>
              <a:prstGeom prst="rect">
                <a:avLst/>
              </a:prstGeom>
              <a:blipFill rotWithShape="0">
                <a:blip r:embed="rId6"/>
                <a:stretch>
                  <a:fillRect l="-567"/>
                </a:stretch>
              </a:blipFill>
              <a:ln>
                <a:solidFill>
                  <a:schemeClr val="accent1"/>
                </a:solidFill>
              </a:ln>
            </p:spPr>
            <p:txBody>
              <a:bodyPr/>
              <a:lstStyle/>
              <a:p>
                <a:r>
                  <a:rPr lang="en-IN">
                    <a:noFill/>
                  </a:rPr>
                  <a:t> </a:t>
                </a:r>
              </a:p>
            </p:txBody>
          </p:sp>
        </mc:Fallback>
      </mc:AlternateContent>
      <p:sp>
        <p:nvSpPr>
          <p:cNvPr id="16" name="TextBox 15"/>
          <p:cNvSpPr txBox="1"/>
          <p:nvPr/>
        </p:nvSpPr>
        <p:spPr>
          <a:xfrm>
            <a:off x="5300953" y="5916380"/>
            <a:ext cx="6052847" cy="646331"/>
          </a:xfrm>
          <a:prstGeom prst="rect">
            <a:avLst/>
          </a:prstGeom>
          <a:noFill/>
          <a:ln>
            <a:solidFill>
              <a:schemeClr val="accent1"/>
            </a:solidFill>
          </a:ln>
        </p:spPr>
        <p:txBody>
          <a:bodyPr wrap="square" rtlCol="0">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The worst case time complexity is   T(n)worst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C00000"/>
                </a:solidFill>
                <a:latin typeface="Times New Roman" panose="02020603050405020304" pitchFamily="18" charset="0"/>
                <a:cs typeface="Times New Roman" panose="02020603050405020304" pitchFamily="18" charset="0"/>
              </a:rPr>
              <a:t>(n</a:t>
            </a:r>
            <a:r>
              <a:rPr lang="en-IN" b="1" baseline="30000" dirty="0" smtClean="0">
                <a:solidFill>
                  <a:srgbClr val="C00000"/>
                </a:solidFill>
                <a:latin typeface="Times New Roman" panose="02020603050405020304" pitchFamily="18" charset="0"/>
                <a:cs typeface="Times New Roman" panose="02020603050405020304" pitchFamily="18" charset="0"/>
              </a:rPr>
              <a:t>2</a:t>
            </a:r>
            <a:r>
              <a:rPr lang="en-IN" b="1" dirty="0">
                <a:solidFill>
                  <a:srgbClr val="C00000"/>
                </a:solidFill>
                <a:latin typeface="Times New Roman" panose="02020603050405020304" pitchFamily="18" charset="0"/>
                <a:cs typeface="Times New Roman" panose="02020603050405020304" pitchFamily="18" charset="0"/>
              </a:rPr>
              <a:t>)</a:t>
            </a:r>
          </a:p>
          <a:p>
            <a:pPr algn="just"/>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177051" y="2641706"/>
            <a:ext cx="3191191"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Zero number of elements left part of the array, thus T(0)=0)</a:t>
            </a:r>
            <a:endParaRPr lang="en-IN" dirty="0"/>
          </a:p>
        </p:txBody>
      </p:sp>
      <p:sp>
        <p:nvSpPr>
          <p:cNvPr id="12" name="TextBox 11"/>
          <p:cNvSpPr txBox="1"/>
          <p:nvPr/>
        </p:nvSpPr>
        <p:spPr>
          <a:xfrm>
            <a:off x="7584050" y="2760590"/>
            <a:ext cx="3562270" cy="369332"/>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divide and sort the elements</a:t>
            </a:r>
            <a:endParaRPr lang="en-IN" dirty="0"/>
          </a:p>
        </p:txBody>
      </p:sp>
      <p:sp>
        <p:nvSpPr>
          <p:cNvPr id="13" name="TextBox 12"/>
          <p:cNvSpPr txBox="1"/>
          <p:nvPr/>
        </p:nvSpPr>
        <p:spPr>
          <a:xfrm>
            <a:off x="3471472" y="2689599"/>
            <a:ext cx="4112578"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(n-1) number of elements right part of the array, thus T(n-1))</a:t>
            </a:r>
            <a:endParaRPr lang="en-IN" dirty="0"/>
          </a:p>
        </p:txBody>
      </p:sp>
      <mc:AlternateContent xmlns:mc="http://schemas.openxmlformats.org/markup-compatibility/2006" xmlns:a14="http://schemas.microsoft.com/office/drawing/2010/main">
        <mc:Choice Requires="a14">
          <p:sp>
            <p:nvSpPr>
              <p:cNvPr id="14" name="TextBox 13"/>
              <p:cNvSpPr txBox="1"/>
              <p:nvPr/>
            </p:nvSpPr>
            <p:spPr>
              <a:xfrm>
                <a:off x="6124897" y="3365707"/>
                <a:ext cx="4861070" cy="2326855"/>
              </a:xfrm>
              <a:prstGeom prst="rect">
                <a:avLst/>
              </a:prstGeom>
              <a:noFill/>
              <a:ln>
                <a:solidFill>
                  <a:schemeClr val="accent1"/>
                </a:solidFill>
              </a:ln>
            </p:spPr>
            <p:txBody>
              <a:bodyPr wrap="square" rtlCol="0">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On continuing the above equation</a:t>
                </a:r>
              </a:p>
              <a:p>
                <a:pPr algn="just"/>
                <a:r>
                  <a:rPr lang="en-IN" b="1" dirty="0" smtClean="0">
                    <a:solidFill>
                      <a:srgbClr val="002060"/>
                    </a:solidFill>
                    <a:latin typeface="Times New Roman" panose="02020603050405020304" pitchFamily="18" charset="0"/>
                    <a:cs typeface="Times New Roman" panose="02020603050405020304" pitchFamily="18" charset="0"/>
                  </a:rPr>
                  <a:t>;</a:t>
                </a:r>
              </a:p>
              <a:p>
                <a:pPr algn="just"/>
                <a:r>
                  <a:rPr lang="en-IN" b="1" dirty="0" smtClean="0">
                    <a:solidFill>
                      <a:srgbClr val="002060"/>
                    </a:solidFill>
                    <a:latin typeface="Times New Roman" panose="02020603050405020304" pitchFamily="18" charset="0"/>
                    <a:cs typeface="Times New Roman" panose="02020603050405020304" pitchFamily="18" charset="0"/>
                  </a:rPr>
                  <a:t>;</a:t>
                </a:r>
              </a:p>
              <a:p>
                <a:pPr algn="just"/>
                <a:r>
                  <a:rPr lang="en-IN" b="1" dirty="0">
                    <a:solidFill>
                      <a:srgbClr val="002060"/>
                    </a:solidFill>
                    <a:latin typeface="Times New Roman" panose="02020603050405020304" pitchFamily="18" charset="0"/>
                    <a:cs typeface="Times New Roman" panose="02020603050405020304" pitchFamily="18" charset="0"/>
                  </a:rPr>
                  <a:t>T(n)=  </a:t>
                </a:r>
                <a:r>
                  <a:rPr lang="en-IN" b="1" dirty="0" smtClean="0">
                    <a:solidFill>
                      <a:srgbClr val="002060"/>
                    </a:solidFill>
                    <a:latin typeface="Times New Roman" panose="02020603050405020304" pitchFamily="18" charset="0"/>
                    <a:cs typeface="Times New Roman" panose="02020603050405020304" pitchFamily="18" charset="0"/>
                  </a:rPr>
                  <a:t>T(n-n)+1+2+3……+ (n-2</a:t>
                </a:r>
                <a:r>
                  <a:rPr lang="en-IN" b="1" dirty="0">
                    <a:solidFill>
                      <a:srgbClr val="002060"/>
                    </a:solidFill>
                    <a:latin typeface="Times New Roman" panose="02020603050405020304" pitchFamily="18" charset="0"/>
                    <a:cs typeface="Times New Roman" panose="02020603050405020304" pitchFamily="18" charset="0"/>
                  </a:rPr>
                  <a:t>)+(n-1)+n</a:t>
                </a:r>
              </a:p>
              <a:p>
                <a:pPr algn="just"/>
                <a:r>
                  <a:rPr lang="en-IN" b="1" dirty="0">
                    <a:solidFill>
                      <a:srgbClr val="002060"/>
                    </a:solidFill>
                    <a:latin typeface="Times New Roman" panose="02020603050405020304" pitchFamily="18" charset="0"/>
                    <a:cs typeface="Times New Roman" panose="02020603050405020304" pitchFamily="18" charset="0"/>
                  </a:rPr>
                  <a:t>T(n)=  </a:t>
                </a:r>
                <a:r>
                  <a:rPr lang="en-IN" b="1" dirty="0" smtClean="0">
                    <a:solidFill>
                      <a:srgbClr val="002060"/>
                    </a:solidFill>
                    <a:latin typeface="Times New Roman" panose="02020603050405020304" pitchFamily="18" charset="0"/>
                    <a:cs typeface="Times New Roman" panose="02020603050405020304" pitchFamily="18" charset="0"/>
                  </a:rPr>
                  <a:t>1+2+3</a:t>
                </a:r>
                <a:r>
                  <a:rPr lang="en-IN" b="1" dirty="0">
                    <a:solidFill>
                      <a:srgbClr val="002060"/>
                    </a:solidFill>
                    <a:latin typeface="Times New Roman" panose="02020603050405020304" pitchFamily="18" charset="0"/>
                    <a:cs typeface="Times New Roman" panose="02020603050405020304" pitchFamily="18" charset="0"/>
                  </a:rPr>
                  <a:t>……+ (n-2)+(n-1)+</a:t>
                </a:r>
                <a:r>
                  <a:rPr lang="en-IN" b="1" dirty="0" smtClean="0">
                    <a:solidFill>
                      <a:srgbClr val="002060"/>
                    </a:solidFill>
                    <a:latin typeface="Times New Roman" panose="02020603050405020304" pitchFamily="18" charset="0"/>
                    <a:cs typeface="Times New Roman" panose="02020603050405020304" pitchFamily="18" charset="0"/>
                  </a:rPr>
                  <a:t>n</a:t>
                </a:r>
              </a:p>
              <a:p>
                <a:pPr algn="just"/>
                <a:r>
                  <a:rPr lang="en-IN" sz="24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400" b="1" i="1" smtClean="0">
                            <a:solidFill>
                              <a:srgbClr val="002060"/>
                            </a:solidFill>
                            <a:latin typeface="Cambria Math"/>
                            <a:cs typeface="Times New Roman" panose="02020603050405020304" pitchFamily="18" charset="0"/>
                          </a:rPr>
                        </m:ctrlPr>
                      </m:fPr>
                      <m:num>
                        <m:r>
                          <a:rPr lang="en-IN" sz="2400" b="1" i="1" smtClean="0">
                            <a:solidFill>
                              <a:srgbClr val="002060"/>
                            </a:solidFill>
                            <a:latin typeface="Cambria Math" panose="02040503050406030204" pitchFamily="18" charset="0"/>
                            <a:cs typeface="Times New Roman" panose="02020603050405020304" pitchFamily="18" charset="0"/>
                          </a:rPr>
                          <m:t>𝒏</m:t>
                        </m:r>
                        <m:d>
                          <m:dPr>
                            <m:ctrlPr>
                              <a:rPr lang="en-IN" sz="2400" b="1" i="1" smtClean="0">
                                <a:solidFill>
                                  <a:srgbClr val="002060"/>
                                </a:solidFill>
                                <a:latin typeface="Cambria Math"/>
                                <a:cs typeface="Times New Roman" panose="02020603050405020304" pitchFamily="18" charset="0"/>
                              </a:rPr>
                            </m:ctrlPr>
                          </m:dPr>
                          <m:e>
                            <m:r>
                              <a:rPr lang="en-IN" sz="2400" b="1" i="1" smtClean="0">
                                <a:solidFill>
                                  <a:srgbClr val="002060"/>
                                </a:solidFill>
                                <a:latin typeface="Cambria Math" panose="02040503050406030204" pitchFamily="18" charset="0"/>
                                <a:cs typeface="Times New Roman" panose="02020603050405020304" pitchFamily="18" charset="0"/>
                              </a:rPr>
                              <m:t>𝒏</m:t>
                            </m:r>
                            <m:r>
                              <a:rPr lang="en-IN" sz="2400" b="1" i="1" smtClean="0">
                                <a:solidFill>
                                  <a:srgbClr val="002060"/>
                                </a:solidFill>
                                <a:latin typeface="Cambria Math" panose="02040503050406030204" pitchFamily="18" charset="0"/>
                                <a:cs typeface="Times New Roman" panose="02020603050405020304" pitchFamily="18" charset="0"/>
                              </a:rPr>
                              <m:t>+</m:t>
                            </m:r>
                            <m:r>
                              <a:rPr lang="en-IN" sz="2400" b="1" i="1" smtClean="0">
                                <a:solidFill>
                                  <a:srgbClr val="002060"/>
                                </a:solidFill>
                                <a:latin typeface="Cambria Math" panose="02040503050406030204" pitchFamily="18" charset="0"/>
                                <a:cs typeface="Times New Roman" panose="02020603050405020304" pitchFamily="18" charset="0"/>
                              </a:rPr>
                              <m:t>𝟏</m:t>
                            </m:r>
                          </m:e>
                        </m:d>
                      </m:num>
                      <m:den>
                        <m:r>
                          <a:rPr lang="en-IN" sz="2400" b="1" i="1" smtClean="0">
                            <a:solidFill>
                              <a:srgbClr val="002060"/>
                            </a:solidFill>
                            <a:latin typeface="Cambria Math" panose="02040503050406030204" pitchFamily="18" charset="0"/>
                            <a:cs typeface="Times New Roman" panose="02020603050405020304" pitchFamily="18" charset="0"/>
                          </a:rPr>
                          <m:t>𝟐</m:t>
                        </m:r>
                      </m:den>
                    </m:f>
                  </m:oMath>
                </a14:m>
                <a:r>
                  <a:rPr lang="en-IN" sz="2400" b="1" dirty="0" smtClean="0">
                    <a:solidFill>
                      <a:srgbClr val="C00000"/>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IN" sz="2400" b="1" i="1">
                            <a:solidFill>
                              <a:srgbClr val="002060"/>
                            </a:solidFill>
                            <a:latin typeface="Cambria Math"/>
                            <a:cs typeface="Times New Roman" panose="02020603050405020304" pitchFamily="18" charset="0"/>
                          </a:rPr>
                        </m:ctrlPr>
                      </m:fPr>
                      <m:num>
                        <m:r>
                          <a:rPr lang="en-IN" sz="2400" b="1" i="1">
                            <a:solidFill>
                              <a:srgbClr val="002060"/>
                            </a:solidFill>
                            <a:latin typeface="Cambria Math" panose="02040503050406030204" pitchFamily="18" charset="0"/>
                            <a:cs typeface="Times New Roman" panose="02020603050405020304" pitchFamily="18" charset="0"/>
                          </a:rPr>
                          <m:t>𝒏</m:t>
                        </m:r>
                        <m:r>
                          <a:rPr lang="en-IN" sz="2400" b="1" i="1" baseline="30000" smtClean="0">
                            <a:solidFill>
                              <a:srgbClr val="002060"/>
                            </a:solidFill>
                            <a:latin typeface="Cambria Math" panose="02040503050406030204" pitchFamily="18" charset="0"/>
                            <a:cs typeface="Times New Roman" panose="02020603050405020304" pitchFamily="18" charset="0"/>
                          </a:rPr>
                          <m:t>𝟐</m:t>
                        </m:r>
                      </m:num>
                      <m:den>
                        <m:r>
                          <a:rPr lang="en-IN" sz="2400" b="1" i="1">
                            <a:solidFill>
                              <a:srgbClr val="002060"/>
                            </a:solidFill>
                            <a:latin typeface="Cambria Math" panose="02040503050406030204" pitchFamily="18" charset="0"/>
                            <a:cs typeface="Times New Roman" panose="02020603050405020304" pitchFamily="18" charset="0"/>
                          </a:rPr>
                          <m:t>𝟐</m:t>
                        </m:r>
                      </m:den>
                    </m:f>
                  </m:oMath>
                </a14:m>
                <a:r>
                  <a:rPr lang="en-IN" sz="2400" b="1" dirty="0" smtClean="0">
                    <a:solidFill>
                      <a:srgbClr val="C00000"/>
                    </a:solidFill>
                    <a:latin typeface="Times New Roman" panose="02020603050405020304" pitchFamily="18" charset="0"/>
                    <a:cs typeface="Times New Roman" panose="02020603050405020304" pitchFamily="18" charset="0"/>
                  </a:rPr>
                  <a:t> +</a:t>
                </a:r>
                <a:r>
                  <a:rPr lang="en-IN" b="1" dirty="0">
                    <a:solidFill>
                      <a:srgbClr val="002060"/>
                    </a:solidFill>
                    <a:cs typeface="Times New Roman" panose="02020603050405020304" pitchFamily="18" charset="0"/>
                  </a:rPr>
                  <a:t> </a:t>
                </a:r>
                <a14:m>
                  <m:oMath xmlns:m="http://schemas.openxmlformats.org/officeDocument/2006/math">
                    <m:f>
                      <m:fPr>
                        <m:ctrlPr>
                          <a:rPr lang="en-IN" sz="2400" b="1" i="1">
                            <a:solidFill>
                              <a:srgbClr val="002060"/>
                            </a:solidFill>
                            <a:latin typeface="Cambria Math"/>
                            <a:cs typeface="Times New Roman" panose="02020603050405020304" pitchFamily="18" charset="0"/>
                          </a:rPr>
                        </m:ctrlPr>
                      </m:fPr>
                      <m:num>
                        <m:r>
                          <a:rPr lang="en-IN" sz="2400" b="1" i="1">
                            <a:solidFill>
                              <a:srgbClr val="002060"/>
                            </a:solidFill>
                            <a:latin typeface="Cambria Math" panose="02040503050406030204" pitchFamily="18" charset="0"/>
                            <a:cs typeface="Times New Roman" panose="02020603050405020304" pitchFamily="18" charset="0"/>
                          </a:rPr>
                          <m:t>𝒏</m:t>
                        </m:r>
                      </m:num>
                      <m:den>
                        <m:r>
                          <a:rPr lang="en-IN" sz="2400" b="1" i="1">
                            <a:solidFill>
                              <a:srgbClr val="002060"/>
                            </a:solidFill>
                            <a:latin typeface="Cambria Math" panose="02040503050406030204" pitchFamily="18" charset="0"/>
                            <a:cs typeface="Times New Roman" panose="02020603050405020304" pitchFamily="18" charset="0"/>
                          </a:rPr>
                          <m:t>𝟐</m:t>
                        </m:r>
                      </m:den>
                    </m:f>
                  </m:oMath>
                </a14:m>
                <a:endParaRPr lang="en-IN" b="1" dirty="0" smtClean="0">
                  <a:solidFill>
                    <a:srgbClr val="C00000"/>
                  </a:solidFill>
                  <a:latin typeface="Times New Roman" panose="02020603050405020304" pitchFamily="18" charset="0"/>
                  <a:cs typeface="Times New Roman" panose="02020603050405020304" pitchFamily="18" charset="0"/>
                </a:endParaRPr>
              </a:p>
              <a:p>
                <a:pPr algn="just"/>
                <a:r>
                  <a:rPr lang="en-IN" b="1" dirty="0" smtClean="0">
                    <a:solidFill>
                      <a:srgbClr val="C00000"/>
                    </a:solidFill>
                    <a:latin typeface="Times New Roman" panose="02020603050405020304" pitchFamily="18" charset="0"/>
                    <a:cs typeface="Times New Roman" panose="02020603050405020304" pitchFamily="18" charset="0"/>
                  </a:rPr>
                  <a:t>≈ </a:t>
                </a:r>
                <a:r>
                  <a:rPr lang="en-IN" b="1" dirty="0">
                    <a:solidFill>
                      <a:srgbClr val="C00000"/>
                    </a:solidFill>
                    <a:latin typeface="Times New Roman" panose="02020603050405020304" pitchFamily="18" charset="0"/>
                    <a:cs typeface="Times New Roman" panose="02020603050405020304" pitchFamily="18" charset="0"/>
                  </a:rPr>
                  <a:t>O</a:t>
                </a:r>
                <a:r>
                  <a:rPr lang="en-IN" b="1" dirty="0" smtClean="0">
                    <a:solidFill>
                      <a:srgbClr val="C00000"/>
                    </a:solidFill>
                    <a:latin typeface="Times New Roman" panose="02020603050405020304" pitchFamily="18" charset="0"/>
                    <a:cs typeface="Times New Roman" panose="02020603050405020304" pitchFamily="18" charset="0"/>
                  </a:rPr>
                  <a:t>(n</a:t>
                </a:r>
                <a:r>
                  <a:rPr lang="en-IN" b="1" baseline="30000" dirty="0" smtClean="0">
                    <a:solidFill>
                      <a:srgbClr val="C00000"/>
                    </a:solidFill>
                    <a:latin typeface="Times New Roman" panose="02020603050405020304" pitchFamily="18" charset="0"/>
                    <a:cs typeface="Times New Roman" panose="02020603050405020304" pitchFamily="18" charset="0"/>
                  </a:rPr>
                  <a:t>2</a:t>
                </a:r>
                <a:r>
                  <a:rPr lang="en-IN" b="1" dirty="0" smtClean="0">
                    <a:solidFill>
                      <a:srgbClr val="C00000"/>
                    </a:solidFill>
                    <a:latin typeface="Times New Roman" panose="02020603050405020304" pitchFamily="18" charset="0"/>
                    <a:cs typeface="Times New Roman" panose="02020603050405020304" pitchFamily="18" charset="0"/>
                  </a:rPr>
                  <a:t>)</a:t>
                </a:r>
                <a:endParaRPr lang="en-IN"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6124897" y="3365707"/>
                <a:ext cx="4861070" cy="2326855"/>
              </a:xfrm>
              <a:prstGeom prst="rect">
                <a:avLst/>
              </a:prstGeom>
              <a:blipFill rotWithShape="1">
                <a:blip r:embed="rId8"/>
                <a:stretch>
                  <a:fillRect l="-1877" t="-1042" b="-1823"/>
                </a:stretch>
              </a:blipFill>
              <a:ln>
                <a:solidFill>
                  <a:schemeClr val="accent1"/>
                </a:solidFill>
              </a:ln>
            </p:spPr>
            <p:txBody>
              <a:bodyPr/>
              <a:lstStyle/>
              <a:p>
                <a:r>
                  <a:rPr lang="en-IN">
                    <a:noFill/>
                  </a:rPr>
                  <a:t> </a:t>
                </a:r>
              </a:p>
            </p:txBody>
          </p:sp>
        </mc:Fallback>
      </mc:AlternateContent>
      <p:sp>
        <p:nvSpPr>
          <p:cNvPr id="6" name="Date Placeholder 5"/>
          <p:cNvSpPr>
            <a:spLocks noGrp="1"/>
          </p:cNvSpPr>
          <p:nvPr>
            <p:ph type="dt" sz="half" idx="10"/>
          </p:nvPr>
        </p:nvSpPr>
        <p:spPr/>
        <p:txBody>
          <a:bodyPr/>
          <a:lstStyle/>
          <a:p>
            <a:fld id="{FAAECA15-B9FE-4D01-8424-C362E8C84651}" type="datetime1">
              <a:rPr lang="en-IN" smtClean="0"/>
              <a:t>21-03-2026</a:t>
            </a:fld>
            <a:endParaRPr lang="en-IN"/>
          </a:p>
        </p:txBody>
      </p:sp>
      <p:sp>
        <p:nvSpPr>
          <p:cNvPr id="15" name="TextBox 14"/>
          <p:cNvSpPr txBox="1"/>
          <p:nvPr/>
        </p:nvSpPr>
        <p:spPr>
          <a:xfrm>
            <a:off x="1195216" y="3978966"/>
            <a:ext cx="580504" cy="461665"/>
          </a:xfrm>
          <a:prstGeom prst="rect">
            <a:avLst/>
          </a:prstGeom>
          <a:noFill/>
        </p:spPr>
        <p:txBody>
          <a:bodyPr wrap="square" rtlCol="0">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i</a:t>
            </a:r>
            <a:endParaRPr lang="en-IN" dirty="0"/>
          </a:p>
        </p:txBody>
      </p:sp>
    </p:spTree>
    <p:extLst>
      <p:ext uri="{BB962C8B-B14F-4D97-AF65-F5344CB8AC3E}">
        <p14:creationId xmlns:p14="http://schemas.microsoft.com/office/powerpoint/2010/main" val="3669505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11" grpId="0"/>
      <p:bldP spid="12" grpId="0"/>
      <p:bldP spid="13" grpId="0"/>
      <p:bldP spid="1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Time complexity Analysis of Quick sort</a:t>
            </a:r>
          </a:p>
          <a:p>
            <a:pPr algn="just"/>
            <a:r>
              <a:rPr lang="en-IN" b="1" dirty="0" smtClean="0">
                <a:solidFill>
                  <a:srgbClr val="C00000"/>
                </a:solidFill>
                <a:latin typeface="Times New Roman" panose="02020603050405020304" pitchFamily="18" charset="0"/>
                <a:cs typeface="Times New Roman" panose="02020603050405020304" pitchFamily="18" charset="0"/>
              </a:rPr>
              <a:t>Average  case complexity</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This case occurs when the given array may not be exactly portioned into </a:t>
            </a:r>
            <a:r>
              <a:rPr lang="en-IN" sz="2000" b="1" dirty="0" err="1" smtClean="0">
                <a:solidFill>
                  <a:srgbClr val="002060"/>
                </a:solidFill>
                <a:latin typeface="Times New Roman" panose="02020603050405020304" pitchFamily="18" charset="0"/>
                <a:cs typeface="Times New Roman" panose="02020603050405020304" pitchFamily="18" charset="0"/>
              </a:rPr>
              <a:t>subarray</a:t>
            </a:r>
            <a:r>
              <a:rPr lang="en-IN" sz="2000" b="1" dirty="0" smtClean="0">
                <a:solidFill>
                  <a:srgbClr val="002060"/>
                </a:solidFill>
                <a:latin typeface="Times New Roman" panose="02020603050405020304" pitchFamily="18" charset="0"/>
                <a:cs typeface="Times New Roman" panose="02020603050405020304" pitchFamily="18" charset="0"/>
              </a:rPr>
              <a:t> or may not be skewed as in worst case.</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The pivot appears at any arbitrary position in the array ranging from 0 to n-1</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Let us consider k is partition position </a:t>
            </a:r>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83</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378047" y="4567326"/>
            <a:ext cx="2414936" cy="923330"/>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left part of the array</a:t>
            </a:r>
          </a:p>
          <a:p>
            <a:pPr algn="ctr"/>
            <a:r>
              <a:rPr lang="en-IN" b="1" dirty="0" smtClean="0">
                <a:solidFill>
                  <a:srgbClr val="FF0000"/>
                </a:solidFill>
                <a:latin typeface="Times New Roman" panose="02020603050405020304" pitchFamily="18" charset="0"/>
                <a:cs typeface="Times New Roman" panose="02020603050405020304" pitchFamily="18" charset="0"/>
              </a:rPr>
              <a:t>With k-1 elements</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2" name="TextBox 11"/>
          <p:cNvSpPr txBox="1"/>
          <p:nvPr/>
        </p:nvSpPr>
        <p:spPr>
          <a:xfrm>
            <a:off x="3413047" y="4797863"/>
            <a:ext cx="2537011"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Partition position </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3" name="TextBox 12"/>
          <p:cNvSpPr txBox="1"/>
          <p:nvPr/>
        </p:nvSpPr>
        <p:spPr>
          <a:xfrm>
            <a:off x="7135991" y="4452521"/>
            <a:ext cx="3445428" cy="923330"/>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Right part of array</a:t>
            </a:r>
          </a:p>
          <a:p>
            <a:pPr algn="ctr"/>
            <a:r>
              <a:rPr lang="en-IN" b="1" dirty="0" smtClean="0">
                <a:solidFill>
                  <a:srgbClr val="FF0000"/>
                </a:solidFill>
                <a:latin typeface="Times New Roman" panose="02020603050405020304" pitchFamily="18" charset="0"/>
                <a:cs typeface="Times New Roman" panose="02020603050405020304" pitchFamily="18" charset="0"/>
              </a:rPr>
              <a:t>n-k elements </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15" name="Straight Arrow Connector 14"/>
          <p:cNvCxnSpPr/>
          <p:nvPr/>
        </p:nvCxnSpPr>
        <p:spPr>
          <a:xfrm flipH="1">
            <a:off x="4487788" y="3893246"/>
            <a:ext cx="259561" cy="1047195"/>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 name="Table 5"/>
          <p:cNvGraphicFramePr>
            <a:graphicFrameLocks noGrp="1"/>
          </p:cNvGraphicFramePr>
          <p:nvPr>
            <p:extLst>
              <p:ext uri="{D42A27DB-BD31-4B8C-83A1-F6EECF244321}">
                <p14:modId xmlns:p14="http://schemas.microsoft.com/office/powerpoint/2010/main" val="3110107375"/>
              </p:ext>
            </p:extLst>
          </p:nvPr>
        </p:nvGraphicFramePr>
        <p:xfrm>
          <a:off x="1803940" y="3328395"/>
          <a:ext cx="6811142" cy="640080"/>
        </p:xfrm>
        <a:graphic>
          <a:graphicData uri="http://schemas.openxmlformats.org/drawingml/2006/table">
            <a:tbl>
              <a:tblPr firstRow="1" bandRow="1">
                <a:tableStyleId>{5C22544A-7EE6-4342-B048-85BDC9FD1C3A}</a:tableStyleId>
              </a:tblPr>
              <a:tblGrid>
                <a:gridCol w="812800"/>
                <a:gridCol w="812800"/>
                <a:gridCol w="1142460"/>
                <a:gridCol w="654424"/>
                <a:gridCol w="842682"/>
                <a:gridCol w="914400"/>
                <a:gridCol w="753035"/>
                <a:gridCol w="878541"/>
              </a:tblGrid>
              <a:tr h="370840">
                <a:tc>
                  <a:txBody>
                    <a:bodyPr/>
                    <a:lstStyle/>
                    <a:p>
                      <a:r>
                        <a:rPr lang="en-IN" dirty="0" smtClean="0">
                          <a:solidFill>
                            <a:srgbClr val="002060"/>
                          </a:solidFill>
                        </a:rPr>
                        <a:t>A[0]</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A[1]</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A[k]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2060"/>
                          </a:solidFill>
                        </a:rPr>
                        <a:t>A[k+1]</a:t>
                      </a:r>
                    </a:p>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2060"/>
                          </a:solidFill>
                        </a:rPr>
                        <a:t>A[k+2]</a:t>
                      </a:r>
                    </a:p>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2060"/>
                          </a:solidFill>
                        </a:rPr>
                        <a:t>A[n-1]</a:t>
                      </a:r>
                    </a:p>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9" name="Left Brace 8"/>
          <p:cNvSpPr/>
          <p:nvPr/>
        </p:nvSpPr>
        <p:spPr>
          <a:xfrm rot="16200000">
            <a:off x="6683428" y="2744664"/>
            <a:ext cx="569016" cy="3285328"/>
          </a:xfrm>
          <a:prstGeom prst="leftBrace">
            <a:avLst/>
          </a:prstGeom>
          <a:ln w="127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Left Brace 18"/>
          <p:cNvSpPr/>
          <p:nvPr/>
        </p:nvSpPr>
        <p:spPr>
          <a:xfrm rot="16200000">
            <a:off x="2449846" y="3746949"/>
            <a:ext cx="569016" cy="1569830"/>
          </a:xfrm>
          <a:prstGeom prst="leftBrace">
            <a:avLst/>
          </a:prstGeom>
          <a:ln w="127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 name="Date Placeholder 9"/>
          <p:cNvSpPr>
            <a:spLocks noGrp="1"/>
          </p:cNvSpPr>
          <p:nvPr>
            <p:ph type="dt" sz="half" idx="10"/>
          </p:nvPr>
        </p:nvSpPr>
        <p:spPr/>
        <p:txBody>
          <a:bodyPr/>
          <a:lstStyle/>
          <a:p>
            <a:fld id="{4AF42A6E-E314-4221-A931-9A7F27949F0D}" type="datetime1">
              <a:rPr lang="en-IN" smtClean="0"/>
              <a:t>21-03-2026</a:t>
            </a:fld>
            <a:endParaRPr lang="en-IN"/>
          </a:p>
        </p:txBody>
      </p:sp>
    </p:spTree>
    <p:extLst>
      <p:ext uri="{BB962C8B-B14F-4D97-AF65-F5344CB8AC3E}">
        <p14:creationId xmlns:p14="http://schemas.microsoft.com/office/powerpoint/2010/main" val="2456793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Quick 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fontScale="85000" lnSpcReduction="20000"/>
          </a:bodyPr>
          <a:lstStyle/>
          <a:p>
            <a:pPr marL="457200" indent="-457200" algn="just">
              <a:buAutoNum type="arabicPeriod"/>
            </a:pPr>
            <a:r>
              <a:rPr lang="en-IN" sz="2000" b="1" dirty="0" smtClean="0">
                <a:solidFill>
                  <a:srgbClr val="002060"/>
                </a:solidFill>
                <a:latin typeface="Times New Roman" panose="02020603050405020304" pitchFamily="18" charset="0"/>
                <a:cs typeface="Times New Roman" panose="02020603050405020304" pitchFamily="18" charset="0"/>
              </a:rPr>
              <a:t>Time to sort left part of the array</a:t>
            </a:r>
          </a:p>
          <a:p>
            <a:pPr algn="just"/>
            <a:r>
              <a:rPr lang="en-IN" sz="2000" b="1" dirty="0" smtClean="0">
                <a:solidFill>
                  <a:srgbClr val="C00000"/>
                </a:solidFill>
                <a:latin typeface="Times New Roman" panose="02020603050405020304" pitchFamily="18" charset="0"/>
                <a:cs typeface="Times New Roman" panose="02020603050405020304" pitchFamily="18" charset="0"/>
              </a:rPr>
              <a:t>In left part</a:t>
            </a:r>
          </a:p>
          <a:p>
            <a:pPr algn="just"/>
            <a:r>
              <a:rPr lang="en-IN" sz="2000" b="1" dirty="0" smtClean="0">
                <a:solidFill>
                  <a:srgbClr val="002060"/>
                </a:solidFill>
                <a:latin typeface="Times New Roman" panose="02020603050405020304" pitchFamily="18" charset="0"/>
                <a:cs typeface="Times New Roman" panose="02020603050405020304" pitchFamily="18" charset="0"/>
              </a:rPr>
              <a:t>Lower bound = 0</a:t>
            </a:r>
          </a:p>
          <a:p>
            <a:pPr algn="just"/>
            <a:r>
              <a:rPr lang="en-IN" sz="2000" b="1" dirty="0" smtClean="0">
                <a:solidFill>
                  <a:srgbClr val="002060"/>
                </a:solidFill>
                <a:latin typeface="Times New Roman" panose="02020603050405020304" pitchFamily="18" charset="0"/>
                <a:cs typeface="Times New Roman" panose="02020603050405020304" pitchFamily="18" charset="0"/>
              </a:rPr>
              <a:t>Upper bound = k-1</a:t>
            </a:r>
          </a:p>
          <a:p>
            <a:pPr algn="just"/>
            <a:r>
              <a:rPr lang="en-IN" sz="2000" b="1" dirty="0" smtClean="0">
                <a:solidFill>
                  <a:srgbClr val="002060"/>
                </a:solidFill>
                <a:latin typeface="Times New Roman" panose="02020603050405020304" pitchFamily="18" charset="0"/>
                <a:cs typeface="Times New Roman" panose="02020603050405020304" pitchFamily="18" charset="0"/>
              </a:rPr>
              <a:t>Thus no of elements in left part are obtained as </a:t>
            </a:r>
          </a:p>
          <a:p>
            <a:pPr algn="just"/>
            <a:r>
              <a:rPr lang="en-IN" sz="2000" b="1" dirty="0" smtClean="0">
                <a:solidFill>
                  <a:srgbClr val="C00000"/>
                </a:solidFill>
                <a:latin typeface="Times New Roman" panose="02020603050405020304" pitchFamily="18" charset="0"/>
                <a:cs typeface="Times New Roman" panose="02020603050405020304" pitchFamily="18" charset="0"/>
              </a:rPr>
              <a:t>Upper bound - lower bound+1</a:t>
            </a:r>
          </a:p>
          <a:p>
            <a:pPr algn="just"/>
            <a:r>
              <a:rPr lang="en-IN" sz="2000" b="1" dirty="0" smtClean="0">
                <a:solidFill>
                  <a:srgbClr val="C00000"/>
                </a:solidFill>
                <a:latin typeface="Times New Roman" panose="02020603050405020304" pitchFamily="18" charset="0"/>
                <a:cs typeface="Times New Roman" panose="02020603050405020304" pitchFamily="18" charset="0"/>
              </a:rPr>
              <a:t>k-1-0+1=k</a:t>
            </a:r>
          </a:p>
          <a:p>
            <a:pPr algn="just"/>
            <a:r>
              <a:rPr lang="en-IN" sz="2000" b="1" dirty="0">
                <a:solidFill>
                  <a:srgbClr val="002060"/>
                </a:solidFill>
                <a:latin typeface="Times New Roman" panose="02020603050405020304" pitchFamily="18" charset="0"/>
                <a:cs typeface="Times New Roman" panose="02020603050405020304" pitchFamily="18" charset="0"/>
              </a:rPr>
              <a:t>As there </a:t>
            </a:r>
            <a:r>
              <a:rPr lang="en-IN" sz="2000" b="1" dirty="0">
                <a:solidFill>
                  <a:srgbClr val="C00000"/>
                </a:solidFill>
                <a:latin typeface="Times New Roman" panose="02020603050405020304" pitchFamily="18" charset="0"/>
                <a:cs typeface="Times New Roman" panose="02020603050405020304" pitchFamily="18" charset="0"/>
              </a:rPr>
              <a:t>k</a:t>
            </a:r>
            <a:r>
              <a:rPr lang="en-IN" sz="2000" b="1" dirty="0">
                <a:solidFill>
                  <a:srgbClr val="002060"/>
                </a:solidFill>
                <a:latin typeface="Times New Roman" panose="02020603050405020304" pitchFamily="18" charset="0"/>
                <a:cs typeface="Times New Roman" panose="02020603050405020304" pitchFamily="18" charset="0"/>
              </a:rPr>
              <a:t> no of elements in left part, time </a:t>
            </a:r>
            <a:r>
              <a:rPr lang="en-IN" sz="2000" b="1" dirty="0" smtClean="0">
                <a:solidFill>
                  <a:srgbClr val="002060"/>
                </a:solidFill>
                <a:latin typeface="Times New Roman" panose="02020603050405020304" pitchFamily="18" charset="0"/>
                <a:cs typeface="Times New Roman" panose="02020603050405020304" pitchFamily="18" charset="0"/>
              </a:rPr>
              <a:t>to sort </a:t>
            </a:r>
            <a:r>
              <a:rPr lang="en-IN" sz="2000" b="1" dirty="0">
                <a:solidFill>
                  <a:srgbClr val="002060"/>
                </a:solidFill>
                <a:latin typeface="Times New Roman" panose="02020603050405020304" pitchFamily="18" charset="0"/>
                <a:cs typeface="Times New Roman" panose="02020603050405020304" pitchFamily="18" charset="0"/>
              </a:rPr>
              <a:t>left part is </a:t>
            </a:r>
            <a:r>
              <a:rPr lang="en-IN" sz="2000" b="1" dirty="0">
                <a:solidFill>
                  <a:srgbClr val="C00000"/>
                </a:solidFill>
                <a:latin typeface="Times New Roman" panose="02020603050405020304" pitchFamily="18" charset="0"/>
                <a:cs typeface="Times New Roman" panose="02020603050405020304" pitchFamily="18" charset="0"/>
              </a:rPr>
              <a:t>T(k</a:t>
            </a:r>
            <a:r>
              <a:rPr lang="en-IN" sz="2000" b="1" dirty="0" smtClean="0">
                <a:solidFill>
                  <a:srgbClr val="C00000"/>
                </a:solidFill>
                <a:latin typeface="Times New Roman" panose="02020603050405020304" pitchFamily="18" charset="0"/>
                <a:cs typeface="Times New Roman" panose="02020603050405020304" pitchFamily="18" charset="0"/>
              </a:rPr>
              <a:t>)     </a:t>
            </a:r>
            <a:r>
              <a:rPr lang="en-IN" sz="2000" b="1" dirty="0" err="1" smtClean="0">
                <a:solidFill>
                  <a:srgbClr val="C00000"/>
                </a:solidFill>
                <a:latin typeface="Times New Roman" panose="02020603050405020304" pitchFamily="18" charset="0"/>
                <a:cs typeface="Times New Roman" panose="02020603050405020304" pitchFamily="18" charset="0"/>
              </a:rPr>
              <a:t>Eq</a:t>
            </a:r>
            <a:r>
              <a:rPr lang="en-IN" sz="2000" b="1" dirty="0" smtClean="0">
                <a:solidFill>
                  <a:srgbClr val="C00000"/>
                </a:solidFill>
                <a:latin typeface="Times New Roman" panose="02020603050405020304" pitchFamily="18" charset="0"/>
                <a:cs typeface="Times New Roman" panose="02020603050405020304" pitchFamily="18" charset="0"/>
              </a:rPr>
              <a:t> 1.</a:t>
            </a: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2. Time </a:t>
            </a:r>
            <a:r>
              <a:rPr lang="en-IN" sz="2000" b="1" dirty="0">
                <a:solidFill>
                  <a:srgbClr val="002060"/>
                </a:solidFill>
                <a:latin typeface="Times New Roman" panose="02020603050405020304" pitchFamily="18" charset="0"/>
                <a:cs typeface="Times New Roman" panose="02020603050405020304" pitchFamily="18" charset="0"/>
              </a:rPr>
              <a:t>to sort </a:t>
            </a:r>
            <a:r>
              <a:rPr lang="en-IN" sz="2000" b="1" dirty="0" smtClean="0">
                <a:solidFill>
                  <a:srgbClr val="002060"/>
                </a:solidFill>
                <a:latin typeface="Times New Roman" panose="02020603050405020304" pitchFamily="18" charset="0"/>
                <a:cs typeface="Times New Roman" panose="02020603050405020304" pitchFamily="18" charset="0"/>
              </a:rPr>
              <a:t>right </a:t>
            </a:r>
            <a:r>
              <a:rPr lang="en-IN" sz="2000" b="1" dirty="0">
                <a:solidFill>
                  <a:srgbClr val="002060"/>
                </a:solidFill>
                <a:latin typeface="Times New Roman" panose="02020603050405020304" pitchFamily="18" charset="0"/>
                <a:cs typeface="Times New Roman" panose="02020603050405020304" pitchFamily="18" charset="0"/>
              </a:rPr>
              <a:t>part of the array</a:t>
            </a:r>
          </a:p>
          <a:p>
            <a:pPr algn="just"/>
            <a:r>
              <a:rPr lang="en-IN" sz="2000" b="1" dirty="0" smtClean="0">
                <a:solidFill>
                  <a:srgbClr val="002060"/>
                </a:solidFill>
                <a:latin typeface="Times New Roman" panose="02020603050405020304" pitchFamily="18" charset="0"/>
                <a:cs typeface="Times New Roman" panose="02020603050405020304" pitchFamily="18" charset="0"/>
              </a:rPr>
              <a:t>Lower </a:t>
            </a:r>
            <a:r>
              <a:rPr lang="en-IN" sz="2000" b="1" dirty="0">
                <a:solidFill>
                  <a:srgbClr val="002060"/>
                </a:solidFill>
                <a:latin typeface="Times New Roman" panose="02020603050405020304" pitchFamily="18" charset="0"/>
                <a:cs typeface="Times New Roman" panose="02020603050405020304" pitchFamily="18" charset="0"/>
              </a:rPr>
              <a:t>bound = </a:t>
            </a:r>
            <a:r>
              <a:rPr lang="en-IN" sz="2000" b="1" dirty="0" smtClean="0">
                <a:solidFill>
                  <a:srgbClr val="002060"/>
                </a:solidFill>
                <a:latin typeface="Times New Roman" panose="02020603050405020304" pitchFamily="18" charset="0"/>
                <a:cs typeface="Times New Roman" panose="02020603050405020304" pitchFamily="18" charset="0"/>
              </a:rPr>
              <a:t>k+1</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Upper bound = </a:t>
            </a:r>
            <a:r>
              <a:rPr lang="en-IN" sz="2000" b="1" dirty="0" smtClean="0">
                <a:solidFill>
                  <a:srgbClr val="002060"/>
                </a:solidFill>
                <a:latin typeface="Times New Roman" panose="02020603050405020304" pitchFamily="18" charset="0"/>
                <a:cs typeface="Times New Roman" panose="02020603050405020304" pitchFamily="18" charset="0"/>
              </a:rPr>
              <a:t>n-1</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Thus no of elements in </a:t>
            </a:r>
            <a:r>
              <a:rPr lang="en-IN" sz="2000" b="1" dirty="0" smtClean="0">
                <a:solidFill>
                  <a:srgbClr val="002060"/>
                </a:solidFill>
                <a:latin typeface="Times New Roman" panose="02020603050405020304" pitchFamily="18" charset="0"/>
                <a:cs typeface="Times New Roman" panose="02020603050405020304" pitchFamily="18" charset="0"/>
              </a:rPr>
              <a:t>right </a:t>
            </a:r>
            <a:r>
              <a:rPr lang="en-IN" sz="2000" b="1" dirty="0">
                <a:solidFill>
                  <a:srgbClr val="002060"/>
                </a:solidFill>
                <a:latin typeface="Times New Roman" panose="02020603050405020304" pitchFamily="18" charset="0"/>
                <a:cs typeface="Times New Roman" panose="02020603050405020304" pitchFamily="18" charset="0"/>
              </a:rPr>
              <a:t>part are obtained as </a:t>
            </a:r>
          </a:p>
          <a:p>
            <a:pPr algn="just"/>
            <a:r>
              <a:rPr lang="en-IN" sz="2000" b="1" dirty="0">
                <a:solidFill>
                  <a:srgbClr val="C00000"/>
                </a:solidFill>
                <a:latin typeface="Times New Roman" panose="02020603050405020304" pitchFamily="18" charset="0"/>
                <a:cs typeface="Times New Roman" panose="02020603050405020304" pitchFamily="18" charset="0"/>
              </a:rPr>
              <a:t>Upper bound - lower bound </a:t>
            </a:r>
            <a:r>
              <a:rPr lang="en-IN" sz="2000" b="1" dirty="0" smtClean="0">
                <a:solidFill>
                  <a:srgbClr val="C00000"/>
                </a:solidFill>
                <a:latin typeface="Times New Roman" panose="02020603050405020304" pitchFamily="18" charset="0"/>
                <a:cs typeface="Times New Roman" panose="02020603050405020304" pitchFamily="18" charset="0"/>
              </a:rPr>
              <a:t>+1</a:t>
            </a:r>
            <a:endParaRPr lang="en-IN" sz="2000" b="1" dirty="0">
              <a:solidFill>
                <a:srgbClr val="C00000"/>
              </a:solidFill>
              <a:latin typeface="Times New Roman" panose="02020603050405020304" pitchFamily="18" charset="0"/>
              <a:cs typeface="Times New Roman" panose="02020603050405020304" pitchFamily="18" charset="0"/>
            </a:endParaRPr>
          </a:p>
          <a:p>
            <a:pPr algn="just"/>
            <a:r>
              <a:rPr lang="en-IN" sz="2000" b="1" dirty="0" smtClean="0">
                <a:solidFill>
                  <a:srgbClr val="C00000"/>
                </a:solidFill>
                <a:latin typeface="Times New Roman" panose="02020603050405020304" pitchFamily="18" charset="0"/>
                <a:cs typeface="Times New Roman" panose="02020603050405020304" pitchFamily="18" charset="0"/>
              </a:rPr>
              <a:t>n-1-(k+1)+1</a:t>
            </a:r>
          </a:p>
          <a:p>
            <a:pPr algn="just"/>
            <a:r>
              <a:rPr lang="en-IN" sz="2000" b="1" dirty="0" smtClean="0">
                <a:solidFill>
                  <a:srgbClr val="C00000"/>
                </a:solidFill>
                <a:latin typeface="Times New Roman" panose="02020603050405020304" pitchFamily="18" charset="0"/>
                <a:cs typeface="Times New Roman" panose="02020603050405020304" pitchFamily="18" charset="0"/>
              </a:rPr>
              <a:t>= n – k </a:t>
            </a:r>
            <a:endParaRPr lang="en-IN" sz="2000" b="1" dirty="0">
              <a:solidFill>
                <a:srgbClr val="C0000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As </a:t>
            </a:r>
            <a:r>
              <a:rPr lang="en-IN" sz="2000" b="1" dirty="0" smtClean="0">
                <a:solidFill>
                  <a:srgbClr val="002060"/>
                </a:solidFill>
                <a:latin typeface="Times New Roman" panose="02020603050405020304" pitchFamily="18" charset="0"/>
                <a:cs typeface="Times New Roman" panose="02020603050405020304" pitchFamily="18" charset="0"/>
              </a:rPr>
              <a:t>there </a:t>
            </a:r>
            <a:r>
              <a:rPr lang="en-IN" sz="2000" b="1" dirty="0" smtClean="0">
                <a:solidFill>
                  <a:srgbClr val="C00000"/>
                </a:solidFill>
                <a:latin typeface="Times New Roman" panose="02020603050405020304" pitchFamily="18" charset="0"/>
                <a:cs typeface="Times New Roman" panose="02020603050405020304" pitchFamily="18" charset="0"/>
              </a:rPr>
              <a:t>n </a:t>
            </a:r>
            <a:r>
              <a:rPr lang="en-IN" sz="2000" b="1" dirty="0">
                <a:solidFill>
                  <a:srgbClr val="C00000"/>
                </a:solidFill>
                <a:latin typeface="Times New Roman" panose="02020603050405020304" pitchFamily="18" charset="0"/>
                <a:cs typeface="Times New Roman" panose="02020603050405020304" pitchFamily="18" charset="0"/>
              </a:rPr>
              <a:t>– k </a:t>
            </a:r>
            <a:r>
              <a:rPr lang="en-IN" sz="2000" b="1" dirty="0" smtClean="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no </a:t>
            </a:r>
            <a:r>
              <a:rPr lang="en-IN" sz="2000" b="1" dirty="0">
                <a:solidFill>
                  <a:srgbClr val="002060"/>
                </a:solidFill>
                <a:latin typeface="Times New Roman" panose="02020603050405020304" pitchFamily="18" charset="0"/>
                <a:cs typeface="Times New Roman" panose="02020603050405020304" pitchFamily="18" charset="0"/>
              </a:rPr>
              <a:t>of elements in </a:t>
            </a:r>
            <a:r>
              <a:rPr lang="en-IN" sz="2000" b="1" dirty="0" smtClean="0">
                <a:solidFill>
                  <a:srgbClr val="002060"/>
                </a:solidFill>
                <a:latin typeface="Times New Roman" panose="02020603050405020304" pitchFamily="18" charset="0"/>
                <a:cs typeface="Times New Roman" panose="02020603050405020304" pitchFamily="18" charset="0"/>
              </a:rPr>
              <a:t>right part</a:t>
            </a:r>
            <a:r>
              <a:rPr lang="en-IN" sz="2000" b="1" dirty="0">
                <a:solidFill>
                  <a:srgbClr val="002060"/>
                </a:solidFill>
                <a:latin typeface="Times New Roman" panose="02020603050405020304" pitchFamily="18" charset="0"/>
                <a:cs typeface="Times New Roman" panose="02020603050405020304" pitchFamily="18" charset="0"/>
              </a:rPr>
              <a:t>, time sort </a:t>
            </a:r>
            <a:r>
              <a:rPr lang="en-IN" sz="2000" b="1" dirty="0" smtClean="0">
                <a:solidFill>
                  <a:srgbClr val="002060"/>
                </a:solidFill>
                <a:latin typeface="Times New Roman" panose="02020603050405020304" pitchFamily="18" charset="0"/>
                <a:cs typeface="Times New Roman" panose="02020603050405020304" pitchFamily="18" charset="0"/>
              </a:rPr>
              <a:t>right </a:t>
            </a:r>
            <a:r>
              <a:rPr lang="en-IN" sz="2000" b="1" dirty="0">
                <a:solidFill>
                  <a:srgbClr val="002060"/>
                </a:solidFill>
                <a:latin typeface="Times New Roman" panose="02020603050405020304" pitchFamily="18" charset="0"/>
                <a:cs typeface="Times New Roman" panose="02020603050405020304" pitchFamily="18" charset="0"/>
              </a:rPr>
              <a:t>part is </a:t>
            </a:r>
            <a:r>
              <a:rPr lang="en-IN" sz="2000" b="1" dirty="0" smtClean="0">
                <a:solidFill>
                  <a:srgbClr val="C00000"/>
                </a:solidFill>
                <a:latin typeface="Times New Roman" panose="02020603050405020304" pitchFamily="18" charset="0"/>
                <a:cs typeface="Times New Roman" panose="02020603050405020304" pitchFamily="18" charset="0"/>
              </a:rPr>
              <a:t>T(n-k)     </a:t>
            </a:r>
            <a:r>
              <a:rPr lang="en-IN" sz="2000" b="1" dirty="0" err="1">
                <a:solidFill>
                  <a:srgbClr val="C00000"/>
                </a:solidFill>
                <a:latin typeface="Times New Roman" panose="02020603050405020304" pitchFamily="18" charset="0"/>
                <a:cs typeface="Times New Roman" panose="02020603050405020304" pitchFamily="18" charset="0"/>
              </a:rPr>
              <a:t>Eq</a:t>
            </a:r>
            <a:r>
              <a:rPr lang="en-IN" sz="2000" b="1" dirty="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2.</a:t>
            </a:r>
            <a:endParaRPr lang="en-IN" sz="20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84</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C0F47602-A934-439A-9A74-C221A6D0D7CA}" type="datetime1">
              <a:rPr lang="en-IN" smtClean="0"/>
              <a:t>21-03-2026</a:t>
            </a:fld>
            <a:endParaRPr lang="en-IN"/>
          </a:p>
        </p:txBody>
      </p:sp>
    </p:spTree>
    <p:extLst>
      <p:ext uri="{BB962C8B-B14F-4D97-AF65-F5344CB8AC3E}">
        <p14:creationId xmlns:p14="http://schemas.microsoft.com/office/powerpoint/2010/main" val="348397390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Quick sort</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7" y="862739"/>
                <a:ext cx="11797552" cy="5627707"/>
              </a:xfrm>
            </p:spPr>
            <p:txBody>
              <a:bodyPr>
                <a:normAutofit/>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Thus time efficiency of quick sort is given as recurrence relation as follows</a:t>
                </a:r>
              </a:p>
              <a:p>
                <a:pPr algn="just"/>
                <a:r>
                  <a:rPr lang="en-IN" sz="2000" b="1" dirty="0" smtClean="0">
                    <a:solidFill>
                      <a:srgbClr val="002060"/>
                    </a:solidFill>
                    <a:latin typeface="Times New Roman" panose="02020603050405020304" pitchFamily="18" charset="0"/>
                    <a:cs typeface="Times New Roman" panose="02020603050405020304" pitchFamily="18" charset="0"/>
                  </a:rPr>
                  <a:t>T(k)+</a:t>
                </a:r>
                <a:r>
                  <a:rPr lang="en-IN" sz="2000" b="1" dirty="0">
                    <a:solidFill>
                      <a:srgbClr val="002060"/>
                    </a:solidFill>
                    <a:latin typeface="Times New Roman" panose="02020603050405020304" pitchFamily="18" charset="0"/>
                    <a:cs typeface="Times New Roman" panose="02020603050405020304" pitchFamily="18" charset="0"/>
                  </a:rPr>
                  <a:t>T(n – k </a:t>
                </a:r>
                <a:r>
                  <a:rPr lang="en-IN" sz="2000" b="1" dirty="0" smtClean="0">
                    <a:solidFill>
                      <a:srgbClr val="002060"/>
                    </a:solidFill>
                    <a:latin typeface="Times New Roman" panose="02020603050405020304" pitchFamily="18" charset="0"/>
                    <a:cs typeface="Times New Roman" panose="02020603050405020304" pitchFamily="18" charset="0"/>
                  </a:rPr>
                  <a:t>)+n</a:t>
                </a:r>
              </a:p>
              <a:p>
                <a:pPr algn="just"/>
                <a:r>
                  <a:rPr lang="en-IN" sz="2000" b="1" dirty="0" smtClean="0">
                    <a:solidFill>
                      <a:srgbClr val="002060"/>
                    </a:solidFill>
                    <a:latin typeface="Times New Roman" panose="02020603050405020304" pitchFamily="18" charset="0"/>
                    <a:cs typeface="Times New Roman" panose="02020603050405020304" pitchFamily="18" charset="0"/>
                  </a:rPr>
                  <a:t>The average time </a:t>
                </a:r>
                <a:r>
                  <a:rPr lang="en-IN" sz="2000" b="1" dirty="0">
                    <a:solidFill>
                      <a:srgbClr val="002060"/>
                    </a:solidFill>
                    <a:latin typeface="Times New Roman" panose="02020603050405020304" pitchFamily="18" charset="0"/>
                    <a:cs typeface="Times New Roman" panose="02020603050405020304" pitchFamily="18" charset="0"/>
                  </a:rPr>
                  <a:t>efficiency of quick sort </a:t>
                </a:r>
                <a:r>
                  <a:rPr lang="en-IN" sz="2000" b="1" dirty="0" smtClean="0">
                    <a:solidFill>
                      <a:srgbClr val="002060"/>
                    </a:solidFill>
                    <a:latin typeface="Times New Roman" panose="02020603050405020304" pitchFamily="18" charset="0"/>
                    <a:cs typeface="Times New Roman" panose="02020603050405020304" pitchFamily="18" charset="0"/>
                  </a:rPr>
                  <a:t>is given by following equation</a:t>
                </a:r>
              </a:p>
              <a:p>
                <a:pPr algn="just"/>
                <a:r>
                  <a:rPr lang="en-IN"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en-IN" b="1" i="1" smtClean="0">
                        <a:solidFill>
                          <a:srgbClr val="002060"/>
                        </a:solidFill>
                        <a:latin typeface="Cambria Math" panose="02040503050406030204" pitchFamily="18" charset="0"/>
                        <a:cs typeface="Times New Roman" panose="02020603050405020304" pitchFamily="18" charset="0"/>
                      </a:rPr>
                      <m:t>𝑻</m:t>
                    </m:r>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𝒏</m:t>
                    </m:r>
                    <m:r>
                      <a:rPr lang="en-IN" b="1" i="1" smtClean="0">
                        <a:solidFill>
                          <a:srgbClr val="002060"/>
                        </a:solidFill>
                        <a:latin typeface="Cambria Math" panose="02040503050406030204" pitchFamily="18" charset="0"/>
                        <a:cs typeface="Times New Roman" panose="02020603050405020304" pitchFamily="18" charset="0"/>
                      </a:rPr>
                      <m:t>)=</m:t>
                    </m:r>
                    <m:f>
                      <m:fPr>
                        <m:ctrlPr>
                          <a:rPr lang="pt-BR" b="1" i="1" smtClean="0">
                            <a:solidFill>
                              <a:srgbClr val="002060"/>
                            </a:solidFill>
                            <a:latin typeface="Cambria Math"/>
                            <a:cs typeface="Times New Roman" panose="02020603050405020304" pitchFamily="18" charset="0"/>
                          </a:rPr>
                        </m:ctrlPr>
                      </m:fPr>
                      <m:num>
                        <m:r>
                          <a:rPr lang="en-IN" b="1" i="1" smtClean="0">
                            <a:solidFill>
                              <a:srgbClr val="002060"/>
                            </a:solidFill>
                            <a:latin typeface="Cambria Math" panose="02040503050406030204" pitchFamily="18" charset="0"/>
                            <a:cs typeface="Times New Roman" panose="02020603050405020304" pitchFamily="18" charset="0"/>
                          </a:rPr>
                          <m:t>𝟏</m:t>
                        </m:r>
                      </m:num>
                      <m:den>
                        <m:r>
                          <a:rPr lang="en-IN" b="1" i="1" smtClean="0">
                            <a:solidFill>
                              <a:srgbClr val="002060"/>
                            </a:solidFill>
                            <a:latin typeface="Cambria Math" panose="02040503050406030204" pitchFamily="18" charset="0"/>
                            <a:cs typeface="Times New Roman" panose="02020603050405020304" pitchFamily="18" charset="0"/>
                          </a:rPr>
                          <m:t>𝒏</m:t>
                        </m:r>
                      </m:den>
                    </m:f>
                    <m:nary>
                      <m:naryPr>
                        <m:chr m:val="∑"/>
                        <m:ctrlPr>
                          <a:rPr lang="pt-BR" b="1" i="1" smtClean="0">
                            <a:solidFill>
                              <a:srgbClr val="002060"/>
                            </a:solidFill>
                            <a:latin typeface="Cambria Math"/>
                            <a:cs typeface="Times New Roman" panose="02020603050405020304" pitchFamily="18" charset="0"/>
                          </a:rPr>
                        </m:ctrlPr>
                      </m:naryPr>
                      <m:sub>
                        <m:r>
                          <a:rPr lang="pt-BR" b="1" i="1" smtClean="0">
                            <a:solidFill>
                              <a:srgbClr val="002060"/>
                            </a:solidFill>
                            <a:latin typeface="Cambria Math" panose="02040503050406030204" pitchFamily="18" charset="0"/>
                            <a:cs typeface="Times New Roman" panose="02020603050405020304" pitchFamily="18" charset="0"/>
                          </a:rPr>
                          <m:t>𝒌</m:t>
                        </m:r>
                        <m:r>
                          <a:rPr lang="pt-BR" b="1" i="1" smtClean="0">
                            <a:solidFill>
                              <a:srgbClr val="002060"/>
                            </a:solidFill>
                            <a:latin typeface="Cambria Math" panose="02040503050406030204" pitchFamily="18" charset="0"/>
                            <a:cs typeface="Times New Roman" panose="02020603050405020304" pitchFamily="18" charset="0"/>
                          </a:rPr>
                          <m:t>=</m:t>
                        </m:r>
                        <m:r>
                          <a:rPr lang="pt-BR" b="1" i="1" smtClean="0">
                            <a:solidFill>
                              <a:srgbClr val="002060"/>
                            </a:solidFill>
                            <a:latin typeface="Cambria Math" panose="02040503050406030204" pitchFamily="18" charset="0"/>
                            <a:cs typeface="Times New Roman" panose="02020603050405020304" pitchFamily="18" charset="0"/>
                          </a:rPr>
                          <m:t>𝟎</m:t>
                        </m:r>
                      </m:sub>
                      <m:sup>
                        <m:r>
                          <a:rPr lang="pt-BR" b="1" i="1" smtClean="0">
                            <a:solidFill>
                              <a:srgbClr val="002060"/>
                            </a:solidFill>
                            <a:latin typeface="Cambria Math" panose="02040503050406030204" pitchFamily="18" charset="0"/>
                            <a:cs typeface="Times New Roman" panose="02020603050405020304" pitchFamily="18" charset="0"/>
                          </a:rPr>
                          <m:t>𝒏</m:t>
                        </m:r>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𝟏</m:t>
                        </m:r>
                      </m:sup>
                      <m:e>
                        <m:r>
                          <a:rPr lang="en-IN" b="1" i="1" smtClean="0">
                            <a:solidFill>
                              <a:srgbClr val="002060"/>
                            </a:solidFill>
                            <a:latin typeface="Cambria Math" panose="02040503050406030204" pitchFamily="18" charset="0"/>
                            <a:cs typeface="Times New Roman" panose="02020603050405020304" pitchFamily="18" charset="0"/>
                          </a:rPr>
                          <m:t>𝒏</m:t>
                        </m:r>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𝑻</m:t>
                        </m:r>
                        <m:d>
                          <m:dPr>
                            <m:ctrlPr>
                              <a:rPr lang="en-IN" b="1" i="1" smtClean="0">
                                <a:solidFill>
                                  <a:srgbClr val="002060"/>
                                </a:solidFill>
                                <a:latin typeface="Cambria Math"/>
                                <a:cs typeface="Times New Roman" panose="02020603050405020304" pitchFamily="18" charset="0"/>
                              </a:rPr>
                            </m:ctrlPr>
                          </m:dPr>
                          <m:e>
                            <m:r>
                              <a:rPr lang="en-IN" b="1" i="1" smtClean="0">
                                <a:solidFill>
                                  <a:srgbClr val="002060"/>
                                </a:solidFill>
                                <a:latin typeface="Cambria Math" panose="02040503050406030204" pitchFamily="18" charset="0"/>
                                <a:cs typeface="Times New Roman" panose="02020603050405020304" pitchFamily="18" charset="0"/>
                              </a:rPr>
                              <m:t>𝒌</m:t>
                            </m:r>
                          </m:e>
                        </m:d>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𝑻</m:t>
                        </m:r>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𝒏</m:t>
                        </m:r>
                        <m:r>
                          <a:rPr lang="en-IN" b="1" i="1" smtClean="0">
                            <a:solidFill>
                              <a:srgbClr val="002060"/>
                            </a:solidFill>
                            <a:latin typeface="Cambria Math" panose="02040503050406030204" pitchFamily="18" charset="0"/>
                            <a:cs typeface="Times New Roman" panose="02020603050405020304" pitchFamily="18" charset="0"/>
                          </a:rPr>
                          <m:t>−</m:t>
                        </m:r>
                        <m:r>
                          <a:rPr lang="en-IN" b="1" i="1" smtClean="0">
                            <a:solidFill>
                              <a:srgbClr val="002060"/>
                            </a:solidFill>
                            <a:latin typeface="Cambria Math" panose="02040503050406030204" pitchFamily="18" charset="0"/>
                            <a:cs typeface="Times New Roman" panose="02020603050405020304" pitchFamily="18" charset="0"/>
                          </a:rPr>
                          <m:t>𝒌</m:t>
                        </m:r>
                        <m:r>
                          <a:rPr lang="en-IN" b="1" i="1" smtClean="0">
                            <a:solidFill>
                              <a:srgbClr val="002060"/>
                            </a:solidFill>
                            <a:latin typeface="Cambria Math" panose="02040503050406030204" pitchFamily="18" charset="0"/>
                            <a:cs typeface="Times New Roman" panose="02020603050405020304" pitchFamily="18" charset="0"/>
                          </a:rPr>
                          <m:t>) </m:t>
                        </m:r>
                      </m:e>
                    </m:nary>
                  </m:oMath>
                </a14:m>
                <a:r>
                  <a:rPr lang="en-IN" b="1" dirty="0" smtClean="0">
                    <a:solidFill>
                      <a:srgbClr val="002060"/>
                    </a:solidFill>
                    <a:latin typeface="Times New Roman" panose="02020603050405020304" pitchFamily="18" charset="0"/>
                    <a:cs typeface="Times New Roman" panose="02020603050405020304" pitchFamily="18" charset="0"/>
                  </a:rPr>
                  <a:t> </a:t>
                </a:r>
              </a:p>
              <a:p>
                <a:pPr algn="just"/>
                <a:r>
                  <a:rPr lang="en-IN" sz="1800" b="1" dirty="0" smtClean="0">
                    <a:solidFill>
                      <a:srgbClr val="002060"/>
                    </a:solidFill>
                    <a:latin typeface="Times New Roman" panose="02020603050405020304" pitchFamily="18" charset="0"/>
                    <a:cs typeface="Times New Roman" panose="02020603050405020304" pitchFamily="18" charset="0"/>
                  </a:rPr>
                  <a:t>Multiply above equation by </a:t>
                </a:r>
                <a:r>
                  <a:rPr lang="en-IN" sz="1800" b="1" dirty="0" smtClean="0">
                    <a:solidFill>
                      <a:srgbClr val="FF0000"/>
                    </a:solidFill>
                    <a:latin typeface="Times New Roman" panose="02020603050405020304" pitchFamily="18" charset="0"/>
                    <a:cs typeface="Times New Roman" panose="02020603050405020304" pitchFamily="18" charset="0"/>
                  </a:rPr>
                  <a:t>n</a:t>
                </a:r>
                <a:r>
                  <a:rPr lang="en-IN" sz="1800" b="1" dirty="0" smtClean="0">
                    <a:solidFill>
                      <a:srgbClr val="002060"/>
                    </a:solidFill>
                    <a:latin typeface="Times New Roman" panose="02020603050405020304" pitchFamily="18" charset="0"/>
                    <a:cs typeface="Times New Roman" panose="02020603050405020304" pitchFamily="18" charset="0"/>
                  </a:rPr>
                  <a:t> we get</a:t>
                </a:r>
              </a:p>
              <a:p>
                <a:pPr algn="just"/>
                <a14:m>
                  <m:oMath xmlns:m="http://schemas.openxmlformats.org/officeDocument/2006/math">
                    <m:r>
                      <a:rPr lang="en-IN" sz="2000" b="1" i="1">
                        <a:solidFill>
                          <a:srgbClr val="002060"/>
                        </a:solidFill>
                        <a:latin typeface="Cambria Math" panose="02040503050406030204" pitchFamily="18" charset="0"/>
                        <a:cs typeface="Times New Roman" panose="02020603050405020304" pitchFamily="18" charset="0"/>
                      </a:rPr>
                      <m:t>𝑻</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𝒏</m:t>
                    </m:r>
                    <m:nary>
                      <m:naryPr>
                        <m:chr m:val="∑"/>
                        <m:ctrlPr>
                          <a:rPr lang="pt-BR" sz="2000" b="1" i="1">
                            <a:solidFill>
                              <a:srgbClr val="002060"/>
                            </a:solidFill>
                            <a:latin typeface="Cambria Math"/>
                            <a:cs typeface="Times New Roman" panose="02020603050405020304" pitchFamily="18" charset="0"/>
                          </a:rPr>
                        </m:ctrlPr>
                      </m:naryPr>
                      <m:sub>
                        <m:r>
                          <a:rPr lang="pt-BR" sz="2000" b="1" i="1">
                            <a:solidFill>
                              <a:srgbClr val="002060"/>
                            </a:solidFill>
                            <a:latin typeface="Cambria Math" panose="02040503050406030204" pitchFamily="18" charset="0"/>
                            <a:cs typeface="Times New Roman" panose="02020603050405020304" pitchFamily="18" charset="0"/>
                          </a:rPr>
                          <m:t>𝒌</m:t>
                        </m:r>
                        <m:r>
                          <a:rPr lang="pt-BR" sz="2000" b="1" i="1">
                            <a:solidFill>
                              <a:srgbClr val="002060"/>
                            </a:solidFill>
                            <a:latin typeface="Cambria Math" panose="02040503050406030204" pitchFamily="18" charset="0"/>
                            <a:cs typeface="Times New Roman" panose="02020603050405020304" pitchFamily="18" charset="0"/>
                          </a:rPr>
                          <m:t>=</m:t>
                        </m:r>
                        <m:r>
                          <a:rPr lang="pt-BR" sz="2000" b="1" i="1">
                            <a:solidFill>
                              <a:srgbClr val="002060"/>
                            </a:solidFill>
                            <a:latin typeface="Cambria Math" panose="02040503050406030204" pitchFamily="18" charset="0"/>
                            <a:cs typeface="Times New Roman" panose="02020603050405020304" pitchFamily="18" charset="0"/>
                          </a:rPr>
                          <m:t>𝟎</m:t>
                        </m:r>
                      </m:sub>
                      <m:sup>
                        <m:r>
                          <a:rPr lang="pt-BR"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sup>
                      <m:e>
                        <m:r>
                          <a:rPr lang="en-IN" sz="2000" b="1" i="1" smtClean="0">
                            <a:solidFill>
                              <a:srgbClr val="002060"/>
                            </a:solidFill>
                            <a:latin typeface="Cambria Math" panose="02040503050406030204" pitchFamily="18" charset="0"/>
                            <a:cs typeface="Times New Roman" panose="02020603050405020304" pitchFamily="18" charset="0"/>
                          </a:rPr>
                          <m:t>𝟏</m:t>
                        </m:r>
                        <m:r>
                          <a:rPr lang="en-IN" sz="2000" b="1" i="1">
                            <a:solidFill>
                              <a:srgbClr val="002060"/>
                            </a:solidFill>
                            <a:latin typeface="Cambria Math" panose="02040503050406030204" pitchFamily="18" charset="0"/>
                            <a:cs typeface="Times New Roman" panose="02020603050405020304" pitchFamily="18" charset="0"/>
                          </a:rPr>
                          <m:t>+</m:t>
                        </m:r>
                      </m:e>
                    </m:nary>
                    <m:r>
                      <m:rPr>
                        <m:nor/>
                      </m:rPr>
                      <a:rPr lang="en-IN" sz="2000" b="1" dirty="0">
                        <a:solidFill>
                          <a:srgbClr val="002060"/>
                        </a:solidFill>
                        <a:latin typeface="Times New Roman" panose="02020603050405020304" pitchFamily="18" charset="0"/>
                        <a:cs typeface="Times New Roman" panose="02020603050405020304" pitchFamily="18" charset="0"/>
                      </a:rPr>
                      <m:t> </m:t>
                    </m:r>
                    <m:nary>
                      <m:naryPr>
                        <m:chr m:val="∑"/>
                        <m:ctrlPr>
                          <a:rPr lang="pt-BR" sz="2000" b="1" i="1">
                            <a:solidFill>
                              <a:srgbClr val="002060"/>
                            </a:solidFill>
                            <a:latin typeface="Cambria Math"/>
                            <a:cs typeface="Times New Roman" panose="02020603050405020304" pitchFamily="18" charset="0"/>
                          </a:rPr>
                        </m:ctrlPr>
                      </m:naryPr>
                      <m:sub>
                        <m:r>
                          <a:rPr lang="pt-BR" sz="2000" b="1" i="1">
                            <a:solidFill>
                              <a:srgbClr val="002060"/>
                            </a:solidFill>
                            <a:latin typeface="Cambria Math" panose="02040503050406030204" pitchFamily="18" charset="0"/>
                            <a:cs typeface="Times New Roman" panose="02020603050405020304" pitchFamily="18" charset="0"/>
                          </a:rPr>
                          <m:t>𝒌</m:t>
                        </m:r>
                        <m:r>
                          <a:rPr lang="pt-BR" sz="2000" b="1" i="1">
                            <a:solidFill>
                              <a:srgbClr val="002060"/>
                            </a:solidFill>
                            <a:latin typeface="Cambria Math" panose="02040503050406030204" pitchFamily="18" charset="0"/>
                            <a:cs typeface="Times New Roman" panose="02020603050405020304" pitchFamily="18" charset="0"/>
                          </a:rPr>
                          <m:t>=</m:t>
                        </m:r>
                        <m:r>
                          <a:rPr lang="pt-BR" sz="2000" b="1" i="1">
                            <a:solidFill>
                              <a:srgbClr val="002060"/>
                            </a:solidFill>
                            <a:latin typeface="Cambria Math" panose="02040503050406030204" pitchFamily="18" charset="0"/>
                            <a:cs typeface="Times New Roman" panose="02020603050405020304" pitchFamily="18" charset="0"/>
                          </a:rPr>
                          <m:t>𝟎</m:t>
                        </m:r>
                      </m:sub>
                      <m:sup>
                        <m:r>
                          <a:rPr lang="pt-BR"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sup>
                      <m:e>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r>
                              <a:rPr lang="en-IN" sz="2000" b="1" i="1">
                                <a:solidFill>
                                  <a:srgbClr val="002060"/>
                                </a:solidFill>
                                <a:latin typeface="Cambria Math" panose="02040503050406030204" pitchFamily="18" charset="0"/>
                                <a:cs typeface="Times New Roman" panose="02020603050405020304" pitchFamily="18" charset="0"/>
                              </a:rPr>
                              <m:t>𝒌</m:t>
                            </m:r>
                          </m:e>
                        </m:d>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𝑻</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𝒌</m:t>
                        </m:r>
                        <m:r>
                          <a:rPr lang="en-IN" sz="2000" b="1" i="1">
                            <a:solidFill>
                              <a:srgbClr val="002060"/>
                            </a:solidFill>
                            <a:latin typeface="Cambria Math" panose="02040503050406030204" pitchFamily="18" charset="0"/>
                            <a:cs typeface="Times New Roman" panose="02020603050405020304" pitchFamily="18" charset="0"/>
                          </a:rPr>
                          <m:t>) </m:t>
                        </m:r>
                      </m:e>
                    </m:nary>
                  </m:oMath>
                </a14:m>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Eq. 1</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We know that</a:t>
                </a:r>
              </a:p>
              <a:p>
                <a:pPr algn="just"/>
                <a14:m>
                  <m:oMath xmlns:m="http://schemas.openxmlformats.org/officeDocument/2006/math">
                    <m:r>
                      <a:rPr lang="en-IN" sz="2000" b="1" i="1">
                        <a:solidFill>
                          <a:srgbClr val="002060"/>
                        </a:solidFill>
                        <a:latin typeface="Cambria Math" panose="02040503050406030204" pitchFamily="18" charset="0"/>
                        <a:cs typeface="Times New Roman" panose="02020603050405020304" pitchFamily="18" charset="0"/>
                      </a:rPr>
                      <m:t>𝒏</m:t>
                    </m:r>
                    <m:nary>
                      <m:naryPr>
                        <m:chr m:val="∑"/>
                        <m:ctrlPr>
                          <a:rPr lang="pt-BR" sz="2000" b="1" i="1" smtClean="0">
                            <a:solidFill>
                              <a:srgbClr val="002060"/>
                            </a:solidFill>
                            <a:latin typeface="Cambria Math"/>
                            <a:cs typeface="Times New Roman" panose="02020603050405020304" pitchFamily="18" charset="0"/>
                          </a:rPr>
                        </m:ctrlPr>
                      </m:naryPr>
                      <m:sub>
                        <m:r>
                          <a:rPr lang="pt-BR" sz="2000" b="1" i="1">
                            <a:solidFill>
                              <a:srgbClr val="002060"/>
                            </a:solidFill>
                            <a:latin typeface="Cambria Math" panose="02040503050406030204" pitchFamily="18" charset="0"/>
                            <a:cs typeface="Times New Roman" panose="02020603050405020304" pitchFamily="18" charset="0"/>
                          </a:rPr>
                          <m:t>𝒌</m:t>
                        </m:r>
                        <m:r>
                          <a:rPr lang="pt-BR" sz="2000" b="1" i="1">
                            <a:solidFill>
                              <a:srgbClr val="002060"/>
                            </a:solidFill>
                            <a:latin typeface="Cambria Math" panose="02040503050406030204" pitchFamily="18" charset="0"/>
                            <a:cs typeface="Times New Roman" panose="02020603050405020304" pitchFamily="18" charset="0"/>
                          </a:rPr>
                          <m:t>=</m:t>
                        </m:r>
                        <m:r>
                          <a:rPr lang="pt-BR" sz="2000" b="1" i="1">
                            <a:solidFill>
                              <a:srgbClr val="002060"/>
                            </a:solidFill>
                            <a:latin typeface="Cambria Math" panose="02040503050406030204" pitchFamily="18" charset="0"/>
                            <a:cs typeface="Times New Roman" panose="02020603050405020304" pitchFamily="18" charset="0"/>
                          </a:rPr>
                          <m:t>𝟎</m:t>
                        </m:r>
                      </m:sub>
                      <m:sup>
                        <m:r>
                          <a:rPr lang="pt-BR"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sup>
                      <m:e>
                        <m:r>
                          <a:rPr lang="en-IN" sz="2000" b="1" i="1">
                            <a:solidFill>
                              <a:srgbClr val="002060"/>
                            </a:solidFill>
                            <a:latin typeface="Cambria Math" panose="02040503050406030204" pitchFamily="18" charset="0"/>
                            <a:cs typeface="Times New Roman" panose="02020603050405020304" pitchFamily="18" charset="0"/>
                          </a:rPr>
                          <m:t>𝟏</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d>
                          <m:dPr>
                            <m:ctrlPr>
                              <a:rPr lang="en-IN" sz="2000" b="1" i="1" smtClean="0">
                                <a:solidFill>
                                  <a:srgbClr val="002060"/>
                                </a:solidFill>
                                <a:latin typeface="Cambria Math"/>
                                <a:cs typeface="Times New Roman" panose="02020603050405020304" pitchFamily="18" charset="0"/>
                              </a:rPr>
                            </m:ctrlPr>
                          </m:dPr>
                          <m:e>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𝟎</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d>
                        <m:r>
                          <a:rPr lang="en-IN" sz="2000" b="1" i="1" smtClean="0">
                            <a:solidFill>
                              <a:srgbClr val="002060"/>
                            </a:solidFill>
                            <a:latin typeface="Cambria Math" panose="02040503050406030204" pitchFamily="18" charset="0"/>
                            <a:cs typeface="Times New Roman" panose="02020603050405020304" pitchFamily="18" charset="0"/>
                          </a:rPr>
                          <m:t>=</m:t>
                        </m:r>
                      </m:e>
                    </m:nary>
                  </m:oMath>
                </a14:m>
                <a:r>
                  <a:rPr lang="en-IN" sz="2000" b="1" dirty="0" smtClean="0">
                    <a:solidFill>
                      <a:srgbClr val="002060"/>
                    </a:solidFill>
                    <a:latin typeface="Times New Roman" panose="02020603050405020304" pitchFamily="18" charset="0"/>
                    <a:cs typeface="Times New Roman" panose="02020603050405020304" pitchFamily="18" charset="0"/>
                  </a:rPr>
                  <a:t>n</a:t>
                </a:r>
                <a:r>
                  <a:rPr lang="en-IN" sz="2000" b="1" baseline="30000" dirty="0" smtClean="0">
                    <a:solidFill>
                      <a:srgbClr val="002060"/>
                    </a:solidFill>
                    <a:latin typeface="Times New Roman" panose="02020603050405020304" pitchFamily="18" charset="0"/>
                    <a:cs typeface="Times New Roman" panose="02020603050405020304" pitchFamily="18" charset="0"/>
                  </a:rPr>
                  <a:t>2                                     </a:t>
                </a:r>
                <a:r>
                  <a:rPr lang="en-IN" sz="2000" b="1" dirty="0" smtClean="0">
                    <a:solidFill>
                      <a:srgbClr val="002060"/>
                    </a:solidFill>
                    <a:latin typeface="Times New Roman" panose="02020603050405020304" pitchFamily="18" charset="0"/>
                    <a:cs typeface="Times New Roman" panose="02020603050405020304" pitchFamily="18" charset="0"/>
                  </a:rPr>
                  <a:t>Eq</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baseline="30000"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Now solve </a:t>
                </a: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nary>
                        <m:naryPr>
                          <m:chr m:val="∑"/>
                          <m:ctrlPr>
                            <a:rPr lang="pt-BR" sz="2000" b="1" i="1">
                              <a:solidFill>
                                <a:srgbClr val="002060"/>
                              </a:solidFill>
                              <a:latin typeface="Cambria Math"/>
                              <a:cs typeface="Times New Roman" panose="02020603050405020304" pitchFamily="18" charset="0"/>
                            </a:rPr>
                          </m:ctrlPr>
                        </m:naryPr>
                        <m:sub>
                          <m:r>
                            <a:rPr lang="pt-BR" sz="2000" b="1" i="1">
                              <a:solidFill>
                                <a:srgbClr val="002060"/>
                              </a:solidFill>
                              <a:latin typeface="Cambria Math" panose="02040503050406030204" pitchFamily="18" charset="0"/>
                              <a:cs typeface="Times New Roman" panose="02020603050405020304" pitchFamily="18" charset="0"/>
                            </a:rPr>
                            <m:t>𝒌</m:t>
                          </m:r>
                          <m:r>
                            <a:rPr lang="pt-BR" sz="2000" b="1" i="1">
                              <a:solidFill>
                                <a:srgbClr val="002060"/>
                              </a:solidFill>
                              <a:latin typeface="Cambria Math" panose="02040503050406030204" pitchFamily="18" charset="0"/>
                              <a:cs typeface="Times New Roman" panose="02020603050405020304" pitchFamily="18" charset="0"/>
                            </a:rPr>
                            <m:t>=</m:t>
                          </m:r>
                          <m:r>
                            <a:rPr lang="pt-BR" sz="2000" b="1" i="1">
                              <a:solidFill>
                                <a:srgbClr val="002060"/>
                              </a:solidFill>
                              <a:latin typeface="Cambria Math" panose="02040503050406030204" pitchFamily="18" charset="0"/>
                              <a:cs typeface="Times New Roman" panose="02020603050405020304" pitchFamily="18" charset="0"/>
                            </a:rPr>
                            <m:t>𝟎</m:t>
                          </m:r>
                        </m:sub>
                        <m:sup>
                          <m:r>
                            <a:rPr lang="pt-BR"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sup>
                        <m:e>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r>
                                <a:rPr lang="en-IN" sz="2000" b="1" i="1">
                                  <a:solidFill>
                                    <a:srgbClr val="002060"/>
                                  </a:solidFill>
                                  <a:latin typeface="Cambria Math" panose="02040503050406030204" pitchFamily="18" charset="0"/>
                                  <a:cs typeface="Times New Roman" panose="02020603050405020304" pitchFamily="18" charset="0"/>
                                </a:rPr>
                                <m:t>𝒌</m:t>
                              </m:r>
                            </m:e>
                          </m:d>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𝑻</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𝒌</m:t>
                          </m:r>
                          <m:r>
                            <a:rPr lang="en-IN" sz="2000" b="1" i="1">
                              <a:solidFill>
                                <a:srgbClr val="002060"/>
                              </a:solidFill>
                              <a:latin typeface="Cambria Math" panose="02040503050406030204" pitchFamily="18" charset="0"/>
                              <a:cs typeface="Times New Roman" panose="02020603050405020304" pitchFamily="18" charset="0"/>
                            </a:rPr>
                            <m:t>) </m:t>
                          </m:r>
                        </m:e>
                      </m:nary>
                    </m:oMath>
                  </m:oMathPara>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7" y="862739"/>
                <a:ext cx="11797552" cy="5627707"/>
              </a:xfrm>
              <a:blipFill rotWithShape="1">
                <a:blip r:embed="rId6"/>
                <a:stretch>
                  <a:fillRect l="-1447" t="-1083" b="-10184"/>
                </a:stretch>
              </a:blipFill>
            </p:spPr>
            <p:txBody>
              <a:bodyPr/>
              <a:lstStyle/>
              <a:p>
                <a:r>
                  <a:rPr lang="en-IN">
                    <a:noFill/>
                  </a:rPr>
                  <a:t> </a:t>
                </a:r>
              </a:p>
            </p:txBody>
          </p:sp>
        </mc:Fallback>
      </mc:AlternateContent>
      <p:pic>
        <p:nvPicPr>
          <p:cNvPr id="4" name="Picture 3"/>
          <p:cNvPicPr>
            <a:picLocks noChangeAspect="1"/>
          </p:cNvPicPr>
          <p:nvPr/>
        </p:nvPicPr>
        <p:blipFill>
          <a:blip r:embed="rId7"/>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85</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EEDFC0CE-0789-492E-8456-095307949487}" type="datetime1">
              <a:rPr lang="en-IN" smtClean="0"/>
              <a:t>21-03-2026</a:t>
            </a:fld>
            <a:endParaRPr lang="en-IN"/>
          </a:p>
        </p:txBody>
      </p:sp>
    </p:spTree>
    <p:extLst>
      <p:ext uri="{BB962C8B-B14F-4D97-AF65-F5344CB8AC3E}">
        <p14:creationId xmlns:p14="http://schemas.microsoft.com/office/powerpoint/2010/main" val="333884381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Quick sort</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7" y="862739"/>
                <a:ext cx="11797552" cy="5627707"/>
              </a:xfrm>
            </p:spPr>
            <p:txBody>
              <a:bodyPr>
                <a:normAutofit/>
              </a:bodyPr>
              <a:lstStyle/>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14:m>
                  <m:oMath xmlns:m="http://schemas.openxmlformats.org/officeDocument/2006/math">
                    <m:nary>
                      <m:naryPr>
                        <m:chr m:val="∑"/>
                        <m:ctrlPr>
                          <a:rPr lang="pt-BR" sz="2000" b="1" i="1">
                            <a:solidFill>
                              <a:srgbClr val="002060"/>
                            </a:solidFill>
                            <a:latin typeface="Cambria Math"/>
                            <a:cs typeface="Times New Roman" panose="02020603050405020304" pitchFamily="18" charset="0"/>
                          </a:rPr>
                        </m:ctrlPr>
                      </m:naryPr>
                      <m:sub>
                        <m:r>
                          <a:rPr lang="pt-BR" sz="2000" b="1" i="1">
                            <a:solidFill>
                              <a:srgbClr val="002060"/>
                            </a:solidFill>
                            <a:latin typeface="Cambria Math" panose="02040503050406030204" pitchFamily="18" charset="0"/>
                            <a:cs typeface="Times New Roman" panose="02020603050405020304" pitchFamily="18" charset="0"/>
                          </a:rPr>
                          <m:t>𝒌</m:t>
                        </m:r>
                        <m:r>
                          <a:rPr lang="pt-BR" sz="2000" b="1" i="1">
                            <a:solidFill>
                              <a:srgbClr val="002060"/>
                            </a:solidFill>
                            <a:latin typeface="Cambria Math" panose="02040503050406030204" pitchFamily="18" charset="0"/>
                            <a:cs typeface="Times New Roman" panose="02020603050405020304" pitchFamily="18" charset="0"/>
                          </a:rPr>
                          <m:t>=</m:t>
                        </m:r>
                        <m:r>
                          <a:rPr lang="pt-BR" sz="2000" b="1" i="1">
                            <a:solidFill>
                              <a:srgbClr val="002060"/>
                            </a:solidFill>
                            <a:latin typeface="Cambria Math" panose="02040503050406030204" pitchFamily="18" charset="0"/>
                            <a:cs typeface="Times New Roman" panose="02020603050405020304" pitchFamily="18" charset="0"/>
                          </a:rPr>
                          <m:t>𝟎</m:t>
                        </m:r>
                      </m:sub>
                      <m:sup>
                        <m:r>
                          <a:rPr lang="pt-BR"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sup>
                      <m:e>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r>
                              <a:rPr lang="en-IN" sz="2000" b="1" i="1">
                                <a:solidFill>
                                  <a:srgbClr val="002060"/>
                                </a:solidFill>
                                <a:latin typeface="Cambria Math" panose="02040503050406030204" pitchFamily="18" charset="0"/>
                                <a:cs typeface="Times New Roman" panose="02020603050405020304" pitchFamily="18" charset="0"/>
                              </a:rPr>
                              <m:t>𝒌</m:t>
                            </m:r>
                          </m:e>
                        </m:d>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𝑻</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𝒌</m:t>
                        </m:r>
                        <m:r>
                          <a:rPr lang="en-IN" sz="2000" b="1" i="1">
                            <a:solidFill>
                              <a:srgbClr val="002060"/>
                            </a:solidFill>
                            <a:latin typeface="Cambria Math" panose="02040503050406030204" pitchFamily="18" charset="0"/>
                            <a:cs typeface="Times New Roman" panose="02020603050405020304" pitchFamily="18" charset="0"/>
                          </a:rPr>
                          <m:t>) </m:t>
                        </m:r>
                      </m:e>
                    </m:nary>
                  </m:oMath>
                </a14:m>
                <a:r>
                  <a:rPr lang="en-IN" sz="2000" b="1" dirty="0" smtClean="0">
                    <a:solidFill>
                      <a:srgbClr val="002060"/>
                    </a:solidFill>
                    <a:latin typeface="Times New Roman" panose="02020603050405020304" pitchFamily="18" charset="0"/>
                    <a:cs typeface="Times New Roman" panose="02020603050405020304" pitchFamily="18" charset="0"/>
                  </a:rPr>
                  <a:t> is written as</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T(0)+T(n-1)+T(1)+T(n-2)+……..+T(n-2)+</a:t>
                </a:r>
                <a:r>
                  <a:rPr lang="en-IN" sz="2000" b="1" dirty="0">
                    <a:solidFill>
                      <a:srgbClr val="002060"/>
                    </a:solidFill>
                    <a:latin typeface="Times New Roman" panose="02020603050405020304" pitchFamily="18" charset="0"/>
                    <a:cs typeface="Times New Roman" panose="02020603050405020304" pitchFamily="18" charset="0"/>
                  </a:rPr>
                  <a:t>T(1</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T(n-1)+</a:t>
                </a:r>
                <a:r>
                  <a:rPr lang="en-IN" sz="2000" b="1" dirty="0" smtClean="0">
                    <a:solidFill>
                      <a:srgbClr val="002060"/>
                    </a:solidFill>
                    <a:latin typeface="Times New Roman" panose="02020603050405020304" pitchFamily="18" charset="0"/>
                    <a:cs typeface="Times New Roman" panose="02020603050405020304" pitchFamily="18" charset="0"/>
                  </a:rPr>
                  <a:t>T(0)</a:t>
                </a:r>
              </a:p>
              <a:p>
                <a:pPr algn="just"/>
                <a:r>
                  <a:rPr lang="en-IN" sz="2000" b="1" dirty="0">
                    <a:solidFill>
                      <a:srgbClr val="002060"/>
                    </a:solidFill>
                    <a:latin typeface="Times New Roman" panose="02020603050405020304" pitchFamily="18" charset="0"/>
                    <a:cs typeface="Times New Roman" panose="02020603050405020304" pitchFamily="18" charset="0"/>
                  </a:rPr>
                  <a:t>=</a:t>
                </a:r>
                <a:r>
                  <a:rPr lang="en-IN" sz="2000" b="1" dirty="0">
                    <a:solidFill>
                      <a:srgbClr val="C00000"/>
                    </a:solidFill>
                    <a:latin typeface="Times New Roman" panose="02020603050405020304" pitchFamily="18" charset="0"/>
                    <a:cs typeface="Times New Roman" panose="02020603050405020304" pitchFamily="18" charset="0"/>
                  </a:rPr>
                  <a:t>2[T(0</a:t>
                </a:r>
                <a:r>
                  <a:rPr lang="en-IN" sz="2000" b="1" dirty="0" smtClean="0">
                    <a:solidFill>
                      <a:srgbClr val="C00000"/>
                    </a:solidFill>
                    <a:latin typeface="Times New Roman" panose="02020603050405020304" pitchFamily="18" charset="0"/>
                    <a:cs typeface="Times New Roman" panose="02020603050405020304" pitchFamily="18" charset="0"/>
                  </a:rPr>
                  <a:t>)+</a:t>
                </a:r>
                <a:r>
                  <a:rPr lang="en-IN" sz="2000" b="1" dirty="0">
                    <a:solidFill>
                      <a:srgbClr val="C00000"/>
                    </a:solidFill>
                    <a:latin typeface="Times New Roman" panose="02020603050405020304" pitchFamily="18" charset="0"/>
                    <a:cs typeface="Times New Roman" panose="02020603050405020304" pitchFamily="18" charset="0"/>
                  </a:rPr>
                  <a:t> T(1)+ </a:t>
                </a:r>
                <a:r>
                  <a:rPr lang="en-IN" sz="2000" b="1" dirty="0" smtClean="0">
                    <a:solidFill>
                      <a:srgbClr val="C00000"/>
                    </a:solidFill>
                    <a:latin typeface="Times New Roman" panose="02020603050405020304" pitchFamily="18" charset="0"/>
                    <a:cs typeface="Times New Roman" panose="02020603050405020304" pitchFamily="18" charset="0"/>
                  </a:rPr>
                  <a:t>T(2)+…………..+</a:t>
                </a:r>
                <a:r>
                  <a:rPr lang="en-IN" sz="2000" b="1" dirty="0">
                    <a:solidFill>
                      <a:srgbClr val="C00000"/>
                    </a:solidFill>
                    <a:latin typeface="Times New Roman" panose="02020603050405020304" pitchFamily="18" charset="0"/>
                    <a:cs typeface="Times New Roman" panose="02020603050405020304" pitchFamily="18" charset="0"/>
                  </a:rPr>
                  <a:t>T(n-2</a:t>
                </a:r>
                <a:r>
                  <a:rPr lang="en-IN" sz="2000" b="1" dirty="0" smtClean="0">
                    <a:solidFill>
                      <a:srgbClr val="C00000"/>
                    </a:solidFill>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T(n-1</a:t>
                </a:r>
                <a:r>
                  <a:rPr lang="en-IN" sz="2000" b="1" dirty="0" smtClean="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Eq</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a:t>
                </a:r>
              </a:p>
              <a:p>
                <a:pPr algn="just"/>
                <a:r>
                  <a:rPr lang="en-IN" sz="2000" b="1" dirty="0" smtClean="0">
                    <a:solidFill>
                      <a:srgbClr val="002060"/>
                    </a:solidFill>
                    <a:latin typeface="Times New Roman" panose="02020603050405020304" pitchFamily="18" charset="0"/>
                    <a:cs typeface="Times New Roman" panose="02020603050405020304" pitchFamily="18" charset="0"/>
                  </a:rPr>
                  <a:t>Substitute </a:t>
                </a:r>
                <a:r>
                  <a:rPr lang="en-IN" sz="2000" b="1" dirty="0" err="1" smtClean="0">
                    <a:solidFill>
                      <a:srgbClr val="002060"/>
                    </a:solidFill>
                    <a:latin typeface="Times New Roman" panose="02020603050405020304" pitchFamily="18" charset="0"/>
                    <a:cs typeface="Times New Roman" panose="02020603050405020304" pitchFamily="18" charset="0"/>
                  </a:rPr>
                  <a:t>Eq</a:t>
                </a:r>
                <a:r>
                  <a:rPr lang="en-IN" sz="2000" b="1" dirty="0" smtClean="0">
                    <a:solidFill>
                      <a:srgbClr val="002060"/>
                    </a:solidFill>
                    <a:latin typeface="Times New Roman" panose="02020603050405020304" pitchFamily="18" charset="0"/>
                    <a:cs typeface="Times New Roman" panose="02020603050405020304" pitchFamily="18" charset="0"/>
                  </a:rPr>
                  <a:t> 2 and 3 in </a:t>
                </a:r>
                <a:r>
                  <a:rPr lang="en-IN" sz="2000" b="1" dirty="0" err="1" smtClean="0">
                    <a:solidFill>
                      <a:srgbClr val="002060"/>
                    </a:solidFill>
                    <a:latin typeface="Times New Roman" panose="02020603050405020304" pitchFamily="18" charset="0"/>
                    <a:cs typeface="Times New Roman" panose="02020603050405020304" pitchFamily="18" charset="0"/>
                  </a:rPr>
                  <a:t>Eq</a:t>
                </a:r>
                <a:r>
                  <a:rPr lang="en-IN" sz="2000" b="1" dirty="0" smtClean="0">
                    <a:solidFill>
                      <a:srgbClr val="002060"/>
                    </a:solidFill>
                    <a:latin typeface="Times New Roman" panose="02020603050405020304" pitchFamily="18" charset="0"/>
                    <a:cs typeface="Times New Roman" panose="02020603050405020304" pitchFamily="18" charset="0"/>
                  </a:rPr>
                  <a:t> 1 we get</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n</a:t>
                </a:r>
                <a:r>
                  <a:rPr lang="en-IN" sz="2000" b="1" dirty="0" smtClean="0">
                    <a:solidFill>
                      <a:srgbClr val="002060"/>
                    </a:solidFill>
                    <a:latin typeface="Times New Roman" panose="02020603050405020304" pitchFamily="18" charset="0"/>
                    <a:cs typeface="Times New Roman" panose="02020603050405020304" pitchFamily="18" charset="0"/>
                  </a:rPr>
                  <a:t>*T(n) = n</a:t>
                </a:r>
                <a:r>
                  <a:rPr lang="en-IN" sz="2000" b="1" baseline="30000" dirty="0" smtClean="0">
                    <a:solidFill>
                      <a:srgbClr val="002060"/>
                    </a:solidFill>
                    <a:latin typeface="Times New Roman" panose="02020603050405020304" pitchFamily="18" charset="0"/>
                    <a:cs typeface="Times New Roman" panose="02020603050405020304" pitchFamily="18" charset="0"/>
                  </a:rPr>
                  <a:t>2 </a:t>
                </a:r>
                <a:r>
                  <a:rPr lang="en-IN" sz="2000" b="1" dirty="0" smtClean="0">
                    <a:solidFill>
                      <a:srgbClr val="002060"/>
                    </a:solidFill>
                    <a:latin typeface="Times New Roman" panose="02020603050405020304" pitchFamily="18" charset="0"/>
                    <a:cs typeface="Times New Roman" panose="02020603050405020304" pitchFamily="18" charset="0"/>
                  </a:rPr>
                  <a:t>+ 2[T(0</a:t>
                </a:r>
                <a:r>
                  <a:rPr lang="en-IN" sz="2000" b="1" dirty="0">
                    <a:solidFill>
                      <a:srgbClr val="002060"/>
                    </a:solidFill>
                    <a:latin typeface="Times New Roman" panose="02020603050405020304" pitchFamily="18" charset="0"/>
                    <a:cs typeface="Times New Roman" panose="02020603050405020304" pitchFamily="18" charset="0"/>
                  </a:rPr>
                  <a:t>)+ T(1)+ T(2)+…………..+T(n-2)+ T(n-1)] </a:t>
                </a:r>
                <a:r>
                  <a:rPr lang="en-IN" sz="2000" b="1" dirty="0" smtClean="0">
                    <a:solidFill>
                      <a:srgbClr val="002060"/>
                    </a:solidFill>
                    <a:latin typeface="Times New Roman" panose="02020603050405020304" pitchFamily="18" charset="0"/>
                    <a:cs typeface="Times New Roman" panose="02020603050405020304" pitchFamily="18" charset="0"/>
                  </a:rPr>
                  <a:t>     Eq</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a:t>
                </a:r>
              </a:p>
              <a:p>
                <a:pPr algn="just"/>
                <a:r>
                  <a:rPr lang="en-IN" sz="2000" b="1" dirty="0" smtClean="0">
                    <a:solidFill>
                      <a:srgbClr val="002060"/>
                    </a:solidFill>
                    <a:latin typeface="Times New Roman" panose="02020603050405020304" pitchFamily="18" charset="0"/>
                    <a:cs typeface="Times New Roman" panose="02020603050405020304" pitchFamily="18" charset="0"/>
                  </a:rPr>
                  <a:t>Replacing n by n-1 we have </a:t>
                </a:r>
              </a:p>
              <a:p>
                <a:pPr algn="just"/>
                <a:r>
                  <a:rPr lang="en-IN" sz="2000" b="1" dirty="0" smtClean="0">
                    <a:solidFill>
                      <a:srgbClr val="C00000"/>
                    </a:solidFill>
                    <a:latin typeface="Times New Roman" panose="02020603050405020304" pitchFamily="18" charset="0"/>
                    <a:cs typeface="Times New Roman" panose="02020603050405020304" pitchFamily="18" charset="0"/>
                  </a:rPr>
                  <a:t>(n-1)*T(n-1) = (n-1)</a:t>
                </a:r>
                <a:r>
                  <a:rPr lang="en-IN" sz="2000" b="1" baseline="30000" dirty="0" smtClean="0">
                    <a:solidFill>
                      <a:srgbClr val="C00000"/>
                    </a:solidFill>
                    <a:latin typeface="Times New Roman" panose="02020603050405020304" pitchFamily="18" charset="0"/>
                    <a:cs typeface="Times New Roman" panose="02020603050405020304" pitchFamily="18" charset="0"/>
                  </a:rPr>
                  <a:t>2 </a:t>
                </a:r>
                <a:r>
                  <a:rPr lang="en-IN" sz="2000" b="1" dirty="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2[T(0</a:t>
                </a:r>
                <a:r>
                  <a:rPr lang="en-IN" sz="2000" b="1" dirty="0">
                    <a:solidFill>
                      <a:srgbClr val="C00000"/>
                    </a:solidFill>
                    <a:latin typeface="Times New Roman" panose="02020603050405020304" pitchFamily="18" charset="0"/>
                    <a:cs typeface="Times New Roman" panose="02020603050405020304" pitchFamily="18" charset="0"/>
                  </a:rPr>
                  <a:t>)+ T(1)+ T(2)+…………..+</a:t>
                </a:r>
                <a:r>
                  <a:rPr lang="en-IN" sz="2000" b="1" dirty="0" smtClean="0">
                    <a:solidFill>
                      <a:srgbClr val="C00000"/>
                    </a:solidFill>
                    <a:latin typeface="Times New Roman" panose="02020603050405020304" pitchFamily="18" charset="0"/>
                    <a:cs typeface="Times New Roman" panose="02020603050405020304" pitchFamily="18" charset="0"/>
                  </a:rPr>
                  <a:t>T(n-2)]      </a:t>
                </a:r>
                <a:r>
                  <a:rPr lang="en-IN" sz="2000" b="1" dirty="0" smtClean="0">
                    <a:solidFill>
                      <a:srgbClr val="002060"/>
                    </a:solidFill>
                    <a:latin typeface="Times New Roman" panose="02020603050405020304" pitchFamily="18" charset="0"/>
                    <a:cs typeface="Times New Roman" panose="02020603050405020304" pitchFamily="18" charset="0"/>
                  </a:rPr>
                  <a:t>Eq</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5</a:t>
                </a:r>
              </a:p>
              <a:p>
                <a:pPr algn="just"/>
                <a:r>
                  <a:rPr lang="en-IN" sz="2000" b="1" dirty="0" smtClean="0">
                    <a:solidFill>
                      <a:srgbClr val="002060"/>
                    </a:solidFill>
                    <a:latin typeface="Times New Roman" panose="02020603050405020304" pitchFamily="18" charset="0"/>
                    <a:cs typeface="Times New Roman" panose="02020603050405020304" pitchFamily="18" charset="0"/>
                  </a:rPr>
                  <a:t>Subtracting Eq</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 and </a:t>
                </a:r>
                <a:r>
                  <a:rPr lang="en-IN" sz="2000" b="1" dirty="0">
                    <a:solidFill>
                      <a:srgbClr val="002060"/>
                    </a:solidFill>
                    <a:latin typeface="Times New Roman" panose="02020603050405020304" pitchFamily="18" charset="0"/>
                    <a:cs typeface="Times New Roman" panose="02020603050405020304" pitchFamily="18" charset="0"/>
                  </a:rPr>
                  <a:t>Eq. </a:t>
                </a:r>
                <a:r>
                  <a:rPr lang="en-IN" sz="2000" b="1" dirty="0" smtClean="0">
                    <a:solidFill>
                      <a:srgbClr val="002060"/>
                    </a:solidFill>
                    <a:latin typeface="Times New Roman" panose="02020603050405020304" pitchFamily="18" charset="0"/>
                    <a:cs typeface="Times New Roman" panose="02020603050405020304" pitchFamily="18" charset="0"/>
                  </a:rPr>
                  <a:t>5  gives </a:t>
                </a:r>
              </a:p>
              <a:p>
                <a:pPr algn="just"/>
                <a:r>
                  <a:rPr lang="en-IN" sz="2000" b="1" dirty="0">
                    <a:solidFill>
                      <a:srgbClr val="002060"/>
                    </a:solidFill>
                    <a:latin typeface="Times New Roman" panose="02020603050405020304" pitchFamily="18" charset="0"/>
                    <a:cs typeface="Times New Roman" panose="02020603050405020304" pitchFamily="18" charset="0"/>
                  </a:rPr>
                  <a:t>n*T(n</a:t>
                </a:r>
                <a:r>
                  <a:rPr lang="en-IN" sz="2000" b="1" dirty="0" smtClean="0">
                    <a:solidFill>
                      <a:srgbClr val="002060"/>
                    </a:solidFill>
                    <a:latin typeface="Times New Roman" panose="02020603050405020304" pitchFamily="18" charset="0"/>
                    <a:cs typeface="Times New Roman" panose="02020603050405020304" pitchFamily="18" charset="0"/>
                  </a:rPr>
                  <a:t>) - </a:t>
                </a:r>
                <a:r>
                  <a:rPr lang="en-IN" sz="2000" b="1" dirty="0">
                    <a:solidFill>
                      <a:srgbClr val="002060"/>
                    </a:solidFill>
                    <a:latin typeface="Times New Roman" panose="02020603050405020304" pitchFamily="18" charset="0"/>
                    <a:cs typeface="Times New Roman" panose="02020603050405020304" pitchFamily="18" charset="0"/>
                  </a:rPr>
                  <a:t>(n-1)*T(n-1) </a:t>
                </a:r>
                <a:r>
                  <a:rPr lang="en-IN" sz="2000" b="1" dirty="0" smtClean="0">
                    <a:solidFill>
                      <a:srgbClr val="002060"/>
                    </a:solidFill>
                    <a:latin typeface="Times New Roman" panose="02020603050405020304" pitchFamily="18" charset="0"/>
                    <a:cs typeface="Times New Roman" panose="02020603050405020304" pitchFamily="18" charset="0"/>
                  </a:rPr>
                  <a:t>= 2n-1 + 2T(n-1)</a:t>
                </a:r>
              </a:p>
              <a:p>
                <a:pPr algn="just"/>
                <a:r>
                  <a:rPr lang="en-IN" sz="2000" b="1" dirty="0">
                    <a:solidFill>
                      <a:srgbClr val="002060"/>
                    </a:solidFill>
                    <a:latin typeface="Times New Roman" panose="02020603050405020304" pitchFamily="18" charset="0"/>
                    <a:cs typeface="Times New Roman" panose="02020603050405020304" pitchFamily="18" charset="0"/>
                  </a:rPr>
                  <a:t>n*T(n</a:t>
                </a:r>
                <a:r>
                  <a:rPr lang="en-IN" sz="2000" b="1" dirty="0" smtClean="0">
                    <a:solidFill>
                      <a:srgbClr val="002060"/>
                    </a:solidFill>
                    <a:latin typeface="Times New Roman" panose="02020603050405020304" pitchFamily="18" charset="0"/>
                    <a:cs typeface="Times New Roman" panose="02020603050405020304" pitchFamily="18" charset="0"/>
                  </a:rPr>
                  <a:t>)=2n-1 + 2T(n-1) + (n-1)</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T(n-1</a:t>
                </a:r>
                <a:r>
                  <a:rPr lang="en-IN" sz="2000" b="1" dirty="0">
                    <a:solidFill>
                      <a:srgbClr val="002060"/>
                    </a:solidFill>
                    <a:latin typeface="Times New Roman" panose="02020603050405020304" pitchFamily="18" charset="0"/>
                    <a:cs typeface="Times New Roman" panose="02020603050405020304" pitchFamily="18" charset="0"/>
                  </a:rPr>
                  <a:t>)</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7" y="862739"/>
                <a:ext cx="11797552" cy="5627707"/>
              </a:xfrm>
              <a:blipFill rotWithShape="1">
                <a:blip r:embed="rId6"/>
                <a:stretch>
                  <a:fillRect l="-3204" t="-1733" b="-23077"/>
                </a:stretch>
              </a:blipFill>
            </p:spPr>
            <p:txBody>
              <a:bodyPr/>
              <a:lstStyle/>
              <a:p>
                <a:r>
                  <a:rPr lang="en-IN">
                    <a:noFill/>
                  </a:rPr>
                  <a:t> </a:t>
                </a:r>
              </a:p>
            </p:txBody>
          </p:sp>
        </mc:Fallback>
      </mc:AlternateContent>
      <p:pic>
        <p:nvPicPr>
          <p:cNvPr id="4" name="Picture 3"/>
          <p:cNvPicPr>
            <a:picLocks noChangeAspect="1"/>
          </p:cNvPicPr>
          <p:nvPr/>
        </p:nvPicPr>
        <p:blipFill>
          <a:blip r:embed="rId7"/>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86</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527EE7DA-2EB0-46FA-BCFD-4686D028D173}" type="datetime1">
              <a:rPr lang="en-IN" smtClean="0"/>
              <a:t>21-03-2026</a:t>
            </a:fld>
            <a:endParaRPr lang="en-IN"/>
          </a:p>
        </p:txBody>
      </p:sp>
    </p:spTree>
    <p:extLst>
      <p:ext uri="{BB962C8B-B14F-4D97-AF65-F5344CB8AC3E}">
        <p14:creationId xmlns:p14="http://schemas.microsoft.com/office/powerpoint/2010/main" val="372615677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Quick sort</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7" y="862739"/>
                <a:ext cx="11797552" cy="5627707"/>
              </a:xfrm>
            </p:spPr>
            <p:txBody>
              <a:bodyPr>
                <a:normAutofit/>
              </a:bodyPr>
              <a:lstStyle/>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n*T(n)=2n-1 + 2T(n-1) + (n-1)</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T(n-1</a:t>
                </a:r>
                <a:r>
                  <a:rPr lang="en-IN" sz="2000" b="1" dirty="0">
                    <a:solidFill>
                      <a:srgbClr val="002060"/>
                    </a:solidFill>
                    <a:latin typeface="Times New Roman" panose="02020603050405020304" pitchFamily="18" charset="0"/>
                    <a:cs typeface="Times New Roman" panose="02020603050405020304" pitchFamily="18" charset="0"/>
                  </a:rPr>
                  <a:t>)</a:t>
                </a:r>
              </a:p>
              <a:p>
                <a:pPr algn="just"/>
                <a:r>
                  <a:rPr lang="en-IN" sz="2000" b="1" dirty="0">
                    <a:solidFill>
                      <a:srgbClr val="002060"/>
                    </a:solidFill>
                    <a:latin typeface="Times New Roman" panose="02020603050405020304" pitchFamily="18" charset="0"/>
                    <a:cs typeface="Times New Roman" panose="02020603050405020304" pitchFamily="18" charset="0"/>
                  </a:rPr>
                  <a:t>n*T(n</a:t>
                </a:r>
                <a:r>
                  <a:rPr lang="en-IN" sz="2000" b="1" dirty="0" smtClean="0">
                    <a:solidFill>
                      <a:srgbClr val="002060"/>
                    </a:solidFill>
                    <a:latin typeface="Times New Roman" panose="02020603050405020304" pitchFamily="18" charset="0"/>
                    <a:cs typeface="Times New Roman" panose="02020603050405020304" pitchFamily="18" charset="0"/>
                  </a:rPr>
                  <a:t>)=</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2T(n-1</a:t>
                </a:r>
                <a:r>
                  <a:rPr lang="en-IN" sz="2000" b="1" dirty="0">
                    <a:solidFill>
                      <a:srgbClr val="002060"/>
                    </a:solidFill>
                    <a:latin typeface="Times New Roman" panose="02020603050405020304" pitchFamily="18" charset="0"/>
                    <a:cs typeface="Times New Roman" panose="02020603050405020304" pitchFamily="18" charset="0"/>
                  </a:rPr>
                  <a:t>) + 2n-1 + </a:t>
                </a:r>
                <a:r>
                  <a:rPr lang="en-IN" sz="2000" b="1" dirty="0" err="1" smtClean="0">
                    <a:solidFill>
                      <a:srgbClr val="002060"/>
                    </a:solidFill>
                    <a:latin typeface="Times New Roman" panose="02020603050405020304" pitchFamily="18" charset="0"/>
                    <a:cs typeface="Times New Roman" panose="02020603050405020304" pitchFamily="18" charset="0"/>
                  </a:rPr>
                  <a:t>nT</a:t>
                </a:r>
                <a:r>
                  <a:rPr lang="en-IN" sz="2000" b="1" dirty="0" smtClean="0">
                    <a:solidFill>
                      <a:srgbClr val="002060"/>
                    </a:solidFill>
                    <a:latin typeface="Times New Roman" panose="02020603050405020304" pitchFamily="18" charset="0"/>
                    <a:cs typeface="Times New Roman" panose="02020603050405020304" pitchFamily="18" charset="0"/>
                  </a:rPr>
                  <a:t>(n-1</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T(n-1</a:t>
                </a:r>
                <a:r>
                  <a:rPr lang="en-IN" sz="2000" b="1" dirty="0">
                    <a:solidFill>
                      <a:srgbClr val="002060"/>
                    </a:solidFill>
                    <a:latin typeface="Times New Roman" panose="02020603050405020304" pitchFamily="18" charset="0"/>
                    <a:cs typeface="Times New Roman" panose="02020603050405020304" pitchFamily="18" charset="0"/>
                  </a:rPr>
                  <a:t>)</a:t>
                </a:r>
              </a:p>
              <a:p>
                <a:pPr algn="just"/>
                <a:r>
                  <a:rPr lang="en-IN" sz="2000" b="1" dirty="0">
                    <a:solidFill>
                      <a:srgbClr val="002060"/>
                    </a:solidFill>
                    <a:latin typeface="Times New Roman" panose="02020603050405020304" pitchFamily="18" charset="0"/>
                    <a:cs typeface="Times New Roman" panose="02020603050405020304" pitchFamily="18" charset="0"/>
                  </a:rPr>
                  <a:t>n*T(n</a:t>
                </a:r>
                <a:r>
                  <a:rPr lang="en-IN" sz="2000" b="1" dirty="0" smtClean="0">
                    <a:solidFill>
                      <a:srgbClr val="002060"/>
                    </a:solidFill>
                    <a:latin typeface="Times New Roman" panose="02020603050405020304" pitchFamily="18" charset="0"/>
                    <a:cs typeface="Times New Roman" panose="02020603050405020304" pitchFamily="18" charset="0"/>
                  </a:rPr>
                  <a:t>)= T(n-1) + </a:t>
                </a:r>
                <a:r>
                  <a:rPr lang="en-IN" sz="2000" b="1" dirty="0">
                    <a:solidFill>
                      <a:srgbClr val="002060"/>
                    </a:solidFill>
                    <a:latin typeface="Times New Roman" panose="02020603050405020304" pitchFamily="18" charset="0"/>
                    <a:cs typeface="Times New Roman" panose="02020603050405020304" pitchFamily="18" charset="0"/>
                  </a:rPr>
                  <a:t>2n-1 + </a:t>
                </a:r>
                <a:r>
                  <a:rPr lang="en-IN" sz="2000" b="1" dirty="0" err="1" smtClean="0">
                    <a:solidFill>
                      <a:srgbClr val="002060"/>
                    </a:solidFill>
                    <a:latin typeface="Times New Roman" panose="02020603050405020304" pitchFamily="18" charset="0"/>
                    <a:cs typeface="Times New Roman" panose="02020603050405020304" pitchFamily="18" charset="0"/>
                  </a:rPr>
                  <a:t>nT</a:t>
                </a:r>
                <a:r>
                  <a:rPr lang="en-IN" sz="2000" b="1" dirty="0" smtClean="0">
                    <a:solidFill>
                      <a:srgbClr val="002060"/>
                    </a:solidFill>
                    <a:latin typeface="Times New Roman" panose="02020603050405020304" pitchFamily="18" charset="0"/>
                    <a:cs typeface="Times New Roman" panose="02020603050405020304" pitchFamily="18" charset="0"/>
                  </a:rPr>
                  <a:t>(n-1)</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C00000"/>
                    </a:solidFill>
                    <a:latin typeface="Times New Roman" panose="02020603050405020304" pitchFamily="18" charset="0"/>
                    <a:cs typeface="Times New Roman" panose="02020603050405020304" pitchFamily="18" charset="0"/>
                  </a:rPr>
                  <a:t>n*T(n)= </a:t>
                </a:r>
                <a:r>
                  <a:rPr lang="en-IN" sz="2000" b="1" dirty="0" smtClean="0">
                    <a:solidFill>
                      <a:srgbClr val="C00000"/>
                    </a:solidFill>
                    <a:latin typeface="Times New Roman" panose="02020603050405020304" pitchFamily="18" charset="0"/>
                    <a:cs typeface="Times New Roman" panose="02020603050405020304" pitchFamily="18" charset="0"/>
                  </a:rPr>
                  <a:t>(n+1</a:t>
                </a:r>
                <a:r>
                  <a:rPr lang="en-IN" sz="2000" b="1" dirty="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T(n-1) + </a:t>
                </a:r>
                <a:r>
                  <a:rPr lang="en-IN" sz="2000" b="1" dirty="0">
                    <a:solidFill>
                      <a:srgbClr val="C00000"/>
                    </a:solidFill>
                    <a:latin typeface="Times New Roman" panose="02020603050405020304" pitchFamily="18" charset="0"/>
                    <a:cs typeface="Times New Roman" panose="02020603050405020304" pitchFamily="18" charset="0"/>
                  </a:rPr>
                  <a:t>2n-1 </a:t>
                </a:r>
                <a:r>
                  <a:rPr lang="en-IN" sz="2000" b="1" dirty="0" smtClean="0">
                    <a:solidFill>
                      <a:srgbClr val="C0000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Eq. </a:t>
                </a:r>
                <a:r>
                  <a:rPr lang="en-IN" sz="2000" b="1" dirty="0" smtClean="0">
                    <a:solidFill>
                      <a:srgbClr val="002060"/>
                    </a:solidFill>
                    <a:latin typeface="Times New Roman" panose="02020603050405020304" pitchFamily="18" charset="0"/>
                    <a:cs typeface="Times New Roman" panose="02020603050405020304" pitchFamily="18" charset="0"/>
                  </a:rPr>
                  <a:t>6</a:t>
                </a:r>
              </a:p>
              <a:p>
                <a:pPr algn="just"/>
                <a:r>
                  <a:rPr lang="en-IN" sz="2000" b="1" dirty="0" smtClean="0">
                    <a:solidFill>
                      <a:srgbClr val="002060"/>
                    </a:solidFill>
                    <a:latin typeface="Times New Roman" panose="02020603050405020304" pitchFamily="18" charset="0"/>
                    <a:cs typeface="Times New Roman" panose="02020603050405020304" pitchFamily="18" charset="0"/>
                  </a:rPr>
                  <a:t>Divide </a:t>
                </a:r>
                <a:r>
                  <a:rPr lang="en-IN" sz="2000" b="1" dirty="0" err="1" smtClean="0">
                    <a:solidFill>
                      <a:srgbClr val="002060"/>
                    </a:solidFill>
                    <a:latin typeface="Times New Roman" panose="02020603050405020304" pitchFamily="18" charset="0"/>
                    <a:cs typeface="Times New Roman" panose="02020603050405020304" pitchFamily="18" charset="0"/>
                  </a:rPr>
                  <a:t>Eq</a:t>
                </a:r>
                <a:r>
                  <a:rPr lang="en-IN" sz="2000" b="1" dirty="0" smtClean="0">
                    <a:solidFill>
                      <a:srgbClr val="002060"/>
                    </a:solidFill>
                    <a:latin typeface="Times New Roman" panose="02020603050405020304" pitchFamily="18" charset="0"/>
                    <a:cs typeface="Times New Roman" panose="02020603050405020304" pitchFamily="18" charset="0"/>
                  </a:rPr>
                  <a:t> 6 by n(n+1) we get</a:t>
                </a:r>
                <a:endParaRPr lang="en-IN" sz="2000" b="1" dirty="0">
                  <a:solidFill>
                    <a:srgbClr val="002060"/>
                  </a:solidFill>
                  <a:latin typeface="Times New Roman" panose="02020603050405020304" pitchFamily="18" charset="0"/>
                  <a:cs typeface="Times New Roman" panose="02020603050405020304" pitchFamily="18" charset="0"/>
                </a:endParaRPr>
              </a:p>
              <a:p>
                <a:pPr algn="just"/>
                <a14:m>
                  <m:oMath xmlns:m="http://schemas.openxmlformats.org/officeDocument/2006/math">
                    <m:f>
                      <m:fPr>
                        <m:ctrlPr>
                          <a:rPr lang="en-IN" sz="2000" b="1" i="1" smtClean="0">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T</m:t>
                        </m:r>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m:t>
                        </m:r>
                      </m:num>
                      <m:den>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r>
                          <a:rPr lang="en-IN" sz="2000" b="1" i="1" smtClean="0">
                            <a:solidFill>
                              <a:srgbClr val="002060"/>
                            </a:solidFill>
                            <a:latin typeface="Cambria Math" panose="02040503050406030204" pitchFamily="18" charset="0"/>
                            <a:cs typeface="Times New Roman" panose="02020603050405020304" pitchFamily="18" charset="0"/>
                          </a:rPr>
                          <m:t>)</m:t>
                        </m:r>
                      </m:den>
                    </m:f>
                  </m:oMath>
                </a14:m>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+1) </m:t>
                        </m:r>
                        <m:r>
                          <m:rPr>
                            <m:nor/>
                          </m:rPr>
                          <a:rPr lang="en-IN" sz="2000" b="1" dirty="0">
                            <a:solidFill>
                              <a:srgbClr val="002060"/>
                            </a:solidFill>
                            <a:latin typeface="Times New Roman" panose="02020603050405020304" pitchFamily="18" charset="0"/>
                            <a:cs typeface="Times New Roman" panose="02020603050405020304" pitchFamily="18" charset="0"/>
                          </a:rPr>
                          <m:t>T</m:t>
                        </m:r>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−1) + 2</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−1 </m:t>
                        </m:r>
                      </m:num>
                      <m:den>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r>
                          <a:rPr lang="en-IN" sz="2000" b="1" i="1">
                            <a:solidFill>
                              <a:srgbClr val="002060"/>
                            </a:solidFill>
                            <a:latin typeface="Cambria Math" panose="02040503050406030204" pitchFamily="18" charset="0"/>
                            <a:cs typeface="Times New Roman" panose="02020603050405020304" pitchFamily="18" charset="0"/>
                          </a:rPr>
                          <m:t>)</m:t>
                        </m:r>
                      </m:den>
                    </m:f>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T</m:t>
                        </m:r>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m:t>
                        </m:r>
                      </m:num>
                      <m:den>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r>
                          <a:rPr lang="en-IN" sz="2000" b="1" i="1">
                            <a:solidFill>
                              <a:srgbClr val="002060"/>
                            </a:solidFill>
                            <a:latin typeface="Cambria Math" panose="02040503050406030204" pitchFamily="18" charset="0"/>
                            <a:cs typeface="Times New Roman" panose="02020603050405020304" pitchFamily="18" charset="0"/>
                          </a:rPr>
                          <m:t>)</m:t>
                        </m:r>
                      </m:den>
                    </m:f>
                  </m:oMath>
                </a14:m>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 </m:t>
                        </m:r>
                        <m:r>
                          <m:rPr>
                            <m:nor/>
                          </m:rPr>
                          <a:rPr lang="en-IN" sz="2000" b="1" dirty="0">
                            <a:solidFill>
                              <a:srgbClr val="002060"/>
                            </a:solidFill>
                            <a:latin typeface="Times New Roman" panose="02020603050405020304" pitchFamily="18" charset="0"/>
                            <a:cs typeface="Times New Roman" panose="02020603050405020304" pitchFamily="18" charset="0"/>
                          </a:rPr>
                          <m:t>T</m:t>
                        </m:r>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−1)  </m:t>
                        </m:r>
                      </m:num>
                      <m:den>
                        <m:r>
                          <a:rPr lang="en-IN" sz="2000" b="1" i="1">
                            <a:solidFill>
                              <a:srgbClr val="002060"/>
                            </a:solidFill>
                            <a:latin typeface="Cambria Math" panose="02040503050406030204" pitchFamily="18" charset="0"/>
                            <a:cs typeface="Times New Roman" panose="02020603050405020304" pitchFamily="18" charset="0"/>
                          </a:rPr>
                          <m:t>𝒏</m:t>
                        </m:r>
                      </m:den>
                    </m:f>
                  </m:oMath>
                </a14:m>
                <a:r>
                  <a:rPr lang="en-IN" sz="2000" b="1" dirty="0" smtClean="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2</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−1</m:t>
                        </m:r>
                      </m:num>
                      <m:den>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r>
                          <a:rPr lang="en-IN" sz="2000" b="1" i="1">
                            <a:solidFill>
                              <a:srgbClr val="002060"/>
                            </a:solidFill>
                            <a:latin typeface="Cambria Math" panose="02040503050406030204" pitchFamily="18" charset="0"/>
                            <a:cs typeface="Times New Roman" panose="02020603050405020304" pitchFamily="18" charset="0"/>
                          </a:rPr>
                          <m:t>)</m:t>
                        </m:r>
                      </m:den>
                    </m:f>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approximate value of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2</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−1</m:t>
                        </m:r>
                      </m:num>
                      <m:den>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r>
                          <a:rPr lang="en-IN" sz="2000" b="1" i="1">
                            <a:solidFill>
                              <a:srgbClr val="002060"/>
                            </a:solidFill>
                            <a:latin typeface="Cambria Math" panose="02040503050406030204" pitchFamily="18" charset="0"/>
                            <a:cs typeface="Times New Roman" panose="02020603050405020304" pitchFamily="18" charset="0"/>
                          </a:rPr>
                          <m:t>)</m:t>
                        </m:r>
                      </m:den>
                    </m:f>
                  </m:oMath>
                </a14:m>
                <a:r>
                  <a:rPr lang="en-IN" sz="2000" b="1" dirty="0" smtClean="0">
                    <a:solidFill>
                      <a:srgbClr val="002060"/>
                    </a:solidFill>
                    <a:latin typeface="Times New Roman" panose="02020603050405020304" pitchFamily="18" charset="0"/>
                    <a:cs typeface="Times New Roman" panose="02020603050405020304" pitchFamily="18" charset="0"/>
                  </a:rPr>
                  <a:t>  is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i="0" dirty="0" smtClean="0">
                            <a:solidFill>
                              <a:srgbClr val="002060"/>
                            </a:solidFill>
                            <a:latin typeface="Times New Roman" panose="02020603050405020304" pitchFamily="18" charset="0"/>
                            <a:cs typeface="Times New Roman" panose="02020603050405020304" pitchFamily="18" charset="0"/>
                          </a:rPr>
                          <m:t>2</m:t>
                        </m:r>
                      </m:num>
                      <m:den>
                        <m:r>
                          <a:rPr lang="en-IN" sz="2000" b="1" i="1">
                            <a:solidFill>
                              <a:srgbClr val="002060"/>
                            </a:solidFill>
                            <a:latin typeface="Cambria Math" panose="02040503050406030204" pitchFamily="18" charset="0"/>
                            <a:cs typeface="Times New Roman" panose="02020603050405020304" pitchFamily="18" charset="0"/>
                          </a:rPr>
                          <m:t>𝒏</m:t>
                        </m:r>
                      </m:den>
                    </m:f>
                  </m:oMath>
                </a14:m>
                <a:r>
                  <a:rPr lang="en-IN" sz="2000" b="1" dirty="0" smtClean="0">
                    <a:solidFill>
                      <a:srgbClr val="002060"/>
                    </a:solidFill>
                    <a:latin typeface="Times New Roman" panose="02020603050405020304" pitchFamily="18" charset="0"/>
                    <a:cs typeface="Times New Roman" panose="02020603050405020304" pitchFamily="18" charset="0"/>
                  </a:rPr>
                  <a:t>	   	</a:t>
                </a:r>
                <a:endParaRPr lang="en-IN" sz="2000" b="1" dirty="0">
                  <a:solidFill>
                    <a:srgbClr val="002060"/>
                  </a:solidFill>
                  <a:latin typeface="Times New Roman" panose="02020603050405020304" pitchFamily="18" charset="0"/>
                  <a:cs typeface="Times New Roman" panose="02020603050405020304" pitchFamily="18" charset="0"/>
                </a:endParaRPr>
              </a:p>
              <a:p>
                <a:pPr algn="just"/>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T</m:t>
                        </m:r>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m:t>
                        </m:r>
                      </m:num>
                      <m:den>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r>
                          <a:rPr lang="en-IN" sz="2000" b="1" i="1">
                            <a:solidFill>
                              <a:srgbClr val="002060"/>
                            </a:solidFill>
                            <a:latin typeface="Cambria Math" panose="02040503050406030204" pitchFamily="18" charset="0"/>
                            <a:cs typeface="Times New Roman" panose="02020603050405020304" pitchFamily="18" charset="0"/>
                          </a:rPr>
                          <m:t>)</m:t>
                        </m:r>
                      </m:den>
                    </m:f>
                  </m:oMath>
                </a14:m>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 </m:t>
                        </m:r>
                        <m:r>
                          <m:rPr>
                            <m:nor/>
                          </m:rPr>
                          <a:rPr lang="en-IN" sz="2000" b="1" dirty="0">
                            <a:solidFill>
                              <a:srgbClr val="002060"/>
                            </a:solidFill>
                            <a:latin typeface="Times New Roman" panose="02020603050405020304" pitchFamily="18" charset="0"/>
                            <a:cs typeface="Times New Roman" panose="02020603050405020304" pitchFamily="18" charset="0"/>
                          </a:rPr>
                          <m:t>T</m:t>
                        </m:r>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−1)  </m:t>
                        </m:r>
                      </m:num>
                      <m:den>
                        <m:r>
                          <a:rPr lang="en-IN" sz="2000" b="1" i="1">
                            <a:solidFill>
                              <a:srgbClr val="002060"/>
                            </a:solidFill>
                            <a:latin typeface="Cambria Math" panose="02040503050406030204" pitchFamily="18" charset="0"/>
                            <a:cs typeface="Times New Roman" panose="02020603050405020304" pitchFamily="18" charset="0"/>
                          </a:rPr>
                          <m:t>𝒏</m:t>
                        </m:r>
                      </m:den>
                    </m:f>
                  </m:oMath>
                </a14:m>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a:t>
                </a:r>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2</m:t>
                        </m:r>
                      </m:num>
                      <m:den>
                        <m:r>
                          <a:rPr lang="en-IN" sz="2000" b="1" i="1">
                            <a:solidFill>
                              <a:srgbClr val="002060"/>
                            </a:solidFill>
                            <a:latin typeface="Cambria Math" panose="02040503050406030204" pitchFamily="18" charset="0"/>
                            <a:cs typeface="Times New Roman" panose="02020603050405020304" pitchFamily="18" charset="0"/>
                          </a:rPr>
                          <m:t>𝒏</m:t>
                        </m:r>
                      </m:den>
                    </m:f>
                  </m:oMath>
                </a14:m>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7" y="862739"/>
                <a:ext cx="11797552" cy="5627707"/>
              </a:xfrm>
              <a:blipFill rotWithShape="0">
                <a:blip r:embed="rId3"/>
                <a:stretch>
                  <a:fillRect l="-56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87</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352D2190-6B59-4718-9C98-0DEECC3C05CC}" type="datetime1">
              <a:rPr lang="en-IN" smtClean="0"/>
              <a:t>21-03-2026</a:t>
            </a:fld>
            <a:endParaRPr lang="en-IN"/>
          </a:p>
        </p:txBody>
      </p:sp>
    </p:spTree>
    <p:extLst>
      <p:ext uri="{BB962C8B-B14F-4D97-AF65-F5344CB8AC3E}">
        <p14:creationId xmlns:p14="http://schemas.microsoft.com/office/powerpoint/2010/main" val="110996288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Quick sort</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7" y="862739"/>
                <a:ext cx="11797552" cy="5627707"/>
              </a:xfrm>
            </p:spPr>
            <p:txBody>
              <a:bodyPr>
                <a:normAutofit/>
              </a:bodyPr>
              <a:lstStyle/>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Let us assume, d(n)   is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T</m:t>
                        </m:r>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m:t>
                        </m:r>
                      </m:num>
                      <m:den>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r>
                          <a:rPr lang="en-IN" sz="2000" b="1" i="1">
                            <a:solidFill>
                              <a:srgbClr val="002060"/>
                            </a:solidFill>
                            <a:latin typeface="Cambria Math" panose="02040503050406030204" pitchFamily="18" charset="0"/>
                            <a:cs typeface="Times New Roman" panose="02020603050405020304" pitchFamily="18" charset="0"/>
                          </a:rPr>
                          <m:t>)</m:t>
                        </m:r>
                      </m:den>
                    </m:f>
                  </m:oMath>
                </a14:m>
                <a:endParaRPr lang="en-IN" sz="2000" b="1" i="1" dirty="0" smtClean="0">
                  <a:solidFill>
                    <a:srgbClr val="002060"/>
                  </a:solidFill>
                  <a:latin typeface="Cambria Math" panose="02040503050406030204" pitchFamily="18" charset="0"/>
                  <a:cs typeface="Times New Roman" panose="02020603050405020304" pitchFamily="18" charset="0"/>
                </a:endParaRPr>
              </a:p>
              <a:p>
                <a:pPr algn="just"/>
                <a14:m>
                  <m:oMath xmlns:m="http://schemas.openxmlformats.org/officeDocument/2006/math">
                    <m:r>
                      <a:rPr lang="en-IN" sz="2000" b="1" i="1" smtClean="0">
                        <a:solidFill>
                          <a:srgbClr val="002060"/>
                        </a:solidFill>
                        <a:latin typeface="Cambria Math" panose="02040503050406030204" pitchFamily="18" charset="0"/>
                        <a:cs typeface="Times New Roman" panose="02020603050405020304" pitchFamily="18" charset="0"/>
                      </a:rPr>
                      <m:t>𝒅</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oMath>
                </a14:m>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 </m:t>
                        </m:r>
                        <m:r>
                          <m:rPr>
                            <m:nor/>
                          </m:rPr>
                          <a:rPr lang="en-IN" sz="2000" b="1" dirty="0">
                            <a:solidFill>
                              <a:srgbClr val="002060"/>
                            </a:solidFill>
                            <a:latin typeface="Times New Roman" panose="02020603050405020304" pitchFamily="18" charset="0"/>
                            <a:cs typeface="Times New Roman" panose="02020603050405020304" pitchFamily="18" charset="0"/>
                          </a:rPr>
                          <m:t>T</m:t>
                        </m:r>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−1)  </m:t>
                        </m:r>
                      </m:num>
                      <m:den>
                        <m:r>
                          <a:rPr lang="en-IN" sz="2000" b="1" i="1">
                            <a:solidFill>
                              <a:srgbClr val="002060"/>
                            </a:solidFill>
                            <a:latin typeface="Cambria Math" panose="02040503050406030204" pitchFamily="18" charset="0"/>
                            <a:cs typeface="Times New Roman" panose="02020603050405020304" pitchFamily="18" charset="0"/>
                          </a:rPr>
                          <m:t>𝒏</m:t>
                        </m:r>
                      </m:den>
                    </m:f>
                  </m:oMath>
                </a14:m>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a:t>
                </a:r>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2</m:t>
                        </m:r>
                      </m:num>
                      <m:den>
                        <m:r>
                          <a:rPr lang="en-IN" sz="2000" b="1" i="1">
                            <a:solidFill>
                              <a:srgbClr val="002060"/>
                            </a:solidFill>
                            <a:latin typeface="Cambria Math" panose="02040503050406030204" pitchFamily="18" charset="0"/>
                            <a:cs typeface="Times New Roman" panose="02020603050405020304" pitchFamily="18" charset="0"/>
                          </a:rPr>
                          <m:t>𝒏</m:t>
                        </m:r>
                      </m:den>
                    </m:f>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IN" sz="2000" b="1" i="1">
                        <a:solidFill>
                          <a:srgbClr val="002060"/>
                        </a:solidFill>
                        <a:latin typeface="Cambria Math" panose="02040503050406030204" pitchFamily="18" charset="0"/>
                        <a:cs typeface="Times New Roman" panose="02020603050405020304" pitchFamily="18" charset="0"/>
                      </a:rPr>
                      <m:t>𝒅</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oMath>
                </a14:m>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d(n-1) </a:t>
                </a:r>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2</m:t>
                        </m:r>
                      </m:num>
                      <m:den>
                        <m:r>
                          <a:rPr lang="en-IN" sz="2000" b="1" i="1">
                            <a:solidFill>
                              <a:srgbClr val="002060"/>
                            </a:solidFill>
                            <a:latin typeface="Cambria Math" panose="02040503050406030204" pitchFamily="18" charset="0"/>
                            <a:cs typeface="Times New Roman" panose="02020603050405020304" pitchFamily="18" charset="0"/>
                          </a:rPr>
                          <m:t>𝒏</m:t>
                        </m:r>
                      </m:den>
                    </m:f>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By substitution method we have </a:t>
                </a:r>
              </a:p>
              <a:p>
                <a:pPr algn="just"/>
                <a:r>
                  <a:rPr lang="en-IN" sz="2000" b="1" dirty="0">
                    <a:solidFill>
                      <a:srgbClr val="002060"/>
                    </a:solidFill>
                    <a:latin typeface="Times New Roman" panose="02020603050405020304" pitchFamily="18" charset="0"/>
                    <a:cs typeface="Times New Roman" panose="02020603050405020304" pitchFamily="18" charset="0"/>
                  </a:rPr>
                  <a:t>d</a:t>
                </a:r>
                <a:r>
                  <a:rPr lang="en-IN" sz="2000" b="1" dirty="0" smtClean="0">
                    <a:solidFill>
                      <a:srgbClr val="002060"/>
                    </a:solidFill>
                    <a:latin typeface="Times New Roman" panose="02020603050405020304" pitchFamily="18" charset="0"/>
                    <a:cs typeface="Times New Roman" panose="02020603050405020304" pitchFamily="18" charset="0"/>
                  </a:rPr>
                  <a:t>(n) = d(n-</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2</m:t>
                        </m:r>
                      </m:num>
                      <m:den>
                        <m:r>
                          <a:rPr lang="en-IN" sz="2000" b="1" i="1" dirty="0" smtClean="0">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𝒊</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r>
                          <a:rPr lang="en-IN" sz="2000" b="1" i="1" smtClean="0">
                            <a:solidFill>
                              <a:srgbClr val="002060"/>
                            </a:solidFill>
                            <a:latin typeface="Cambria Math" panose="02040503050406030204" pitchFamily="18" charset="0"/>
                            <a:cs typeface="Times New Roman" panose="02020603050405020304" pitchFamily="18" charset="0"/>
                          </a:rPr>
                          <m:t>)</m:t>
                        </m:r>
                      </m:den>
                    </m:f>
                  </m:oMath>
                </a14:m>
                <a:r>
                  <a:rPr lang="en-IN" sz="2000" b="1" dirty="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2</m:t>
                        </m:r>
                      </m:num>
                      <m:den>
                        <m:r>
                          <a:rPr lang="en-IN" sz="2000" b="1" i="1">
                            <a:solidFill>
                              <a:srgbClr val="002060"/>
                            </a:solidFill>
                            <a:latin typeface="Cambria Math" panose="02040503050406030204" pitchFamily="18" charset="0"/>
                            <a:cs typeface="Times New Roman" panose="02020603050405020304" pitchFamily="18" charset="0"/>
                          </a:rPr>
                          <m:t>𝒏</m:t>
                        </m:r>
                      </m:den>
                    </m:f>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Initial condition , d(1)=0, d(n-</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)=d(1)  [ as </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=n-1]</a:t>
                </a:r>
              </a:p>
              <a:p>
                <a:pPr algn="just"/>
                <a:r>
                  <a:rPr lang="en-IN" sz="2000" b="1" dirty="0" smtClean="0">
                    <a:solidFill>
                      <a:srgbClr val="002060"/>
                    </a:solidFill>
                    <a:latin typeface="Times New Roman" panose="02020603050405020304" pitchFamily="18" charset="0"/>
                    <a:cs typeface="Times New Roman" panose="02020603050405020304" pitchFamily="18" charset="0"/>
                  </a:rPr>
                  <a:t>d(n</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d(n-n+1)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i="0" smtClean="0">
                            <a:solidFill>
                              <a:srgbClr val="002060"/>
                            </a:solidFill>
                            <a:latin typeface="Cambria Math" panose="02040503050406030204" pitchFamily="18" charset="0"/>
                            <a:cs typeface="Times New Roman" panose="02020603050405020304" pitchFamily="18" charset="0"/>
                          </a:rPr>
                          <m:t>1</m:t>
                        </m:r>
                      </m:num>
                      <m:den>
                        <m:r>
                          <a:rPr lang="en-IN" sz="2000" b="1" i="1" dirty="0" smtClean="0">
                            <a:solidFill>
                              <a:srgbClr val="002060"/>
                            </a:solidFill>
                            <a:latin typeface="Cambria Math" panose="02040503050406030204" pitchFamily="18" charset="0"/>
                            <a:cs typeface="Times New Roman" panose="02020603050405020304" pitchFamily="18" charset="0"/>
                          </a:rPr>
                          <m:t>𝟐</m:t>
                        </m:r>
                      </m:den>
                    </m:f>
                  </m:oMath>
                </a14:m>
                <a:r>
                  <a:rPr lang="en-IN" sz="2000" b="1" dirty="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i="0" smtClean="0">
                            <a:solidFill>
                              <a:srgbClr val="002060"/>
                            </a:solidFill>
                            <a:latin typeface="Cambria Math" panose="02040503050406030204" pitchFamily="18" charset="0"/>
                            <a:cs typeface="Times New Roman" panose="02020603050405020304" pitchFamily="18" charset="0"/>
                          </a:rPr>
                          <m:t>1</m:t>
                        </m:r>
                      </m:num>
                      <m:den>
                        <m:r>
                          <a:rPr lang="en-IN" sz="2000" b="1" i="1">
                            <a:solidFill>
                              <a:srgbClr val="002060"/>
                            </a:solidFill>
                            <a:latin typeface="Cambria Math" panose="02040503050406030204" pitchFamily="18" charset="0"/>
                            <a:cs typeface="Times New Roman" panose="02020603050405020304" pitchFamily="18" charset="0"/>
                          </a:rPr>
                          <m:t>𝒏</m:t>
                        </m:r>
                      </m:den>
                    </m:f>
                  </m:oMath>
                </a14:m>
                <a:r>
                  <a:rPr lang="en-IN" sz="2000" b="1" dirty="0" smtClean="0">
                    <a:solidFill>
                      <a:srgbClr val="002060"/>
                    </a:solidFill>
                    <a:latin typeface="Times New Roman" panose="02020603050405020304" pitchFamily="18" charset="0"/>
                    <a:cs typeface="Times New Roman" panose="02020603050405020304" pitchFamily="18" charset="0"/>
                  </a:rPr>
                  <a:t>]</a:t>
                </a:r>
              </a:p>
              <a:p>
                <a:pPr algn="just"/>
                <a:r>
                  <a:rPr lang="en-IN" sz="2000" b="1" dirty="0">
                    <a:solidFill>
                      <a:srgbClr val="002060"/>
                    </a:solidFill>
                    <a:latin typeface="Times New Roman" panose="02020603050405020304" pitchFamily="18" charset="0"/>
                    <a:cs typeface="Times New Roman" panose="02020603050405020304" pitchFamily="18" charset="0"/>
                  </a:rPr>
                  <a:t>d(n) = </a:t>
                </a:r>
                <a:r>
                  <a:rPr lang="en-IN" sz="2000" b="1" dirty="0" smtClean="0">
                    <a:solidFill>
                      <a:srgbClr val="002060"/>
                    </a:solidFill>
                    <a:latin typeface="Times New Roman" panose="02020603050405020304" pitchFamily="18" charset="0"/>
                    <a:cs typeface="Times New Roman" panose="02020603050405020304" pitchFamily="18" charset="0"/>
                  </a:rPr>
                  <a:t>0+1+……..+</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i="0" smtClean="0">
                            <a:solidFill>
                              <a:srgbClr val="002060"/>
                            </a:solidFill>
                            <a:latin typeface="Cambria Math" panose="02040503050406030204" pitchFamily="18" charset="0"/>
                            <a:cs typeface="Times New Roman" panose="02020603050405020304" pitchFamily="18" charset="0"/>
                          </a:rPr>
                          <m:t>2</m:t>
                        </m:r>
                      </m:num>
                      <m:den>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den>
                    </m:f>
                  </m:oMath>
                </a14:m>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a:solidFill>
                              <a:srgbClr val="002060"/>
                            </a:solidFill>
                            <a:latin typeface="Cambria Math" panose="02040503050406030204" pitchFamily="18" charset="0"/>
                            <a:cs typeface="Times New Roman" panose="02020603050405020304" pitchFamily="18" charset="0"/>
                          </a:rPr>
                          <m:t>2</m:t>
                        </m:r>
                      </m:num>
                      <m:den>
                        <m:r>
                          <a:rPr lang="en-IN" sz="2000" b="1" i="1">
                            <a:solidFill>
                              <a:srgbClr val="002060"/>
                            </a:solidFill>
                            <a:latin typeface="Cambria Math" panose="02040503050406030204" pitchFamily="18" charset="0"/>
                            <a:cs typeface="Times New Roman" panose="02020603050405020304" pitchFamily="18" charset="0"/>
                          </a:rPr>
                          <m:t>𝒏</m:t>
                        </m:r>
                      </m:den>
                    </m:f>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7" y="862739"/>
                <a:ext cx="11797552" cy="5627707"/>
              </a:xfrm>
              <a:blipFill rotWithShape="0">
                <a:blip r:embed="rId3"/>
                <a:stretch>
                  <a:fillRect l="-56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88</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E711430E-01AC-4A2E-9A1F-0227E63A0478}" type="datetime1">
              <a:rPr lang="en-IN" smtClean="0"/>
              <a:t>21-03-2026</a:t>
            </a:fld>
            <a:endParaRPr lang="en-IN"/>
          </a:p>
        </p:txBody>
      </p:sp>
    </p:spTree>
    <p:extLst>
      <p:ext uri="{BB962C8B-B14F-4D97-AF65-F5344CB8AC3E}">
        <p14:creationId xmlns:p14="http://schemas.microsoft.com/office/powerpoint/2010/main" val="215134074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Quick sort</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43437" y="862739"/>
                <a:ext cx="11797552" cy="5627707"/>
              </a:xfrm>
            </p:spPr>
            <p:txBody>
              <a:bodyPr>
                <a:normAutofit/>
              </a:bodyPr>
              <a:lstStyle/>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d(n</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2ln(n)-2</a:t>
                </a:r>
              </a:p>
              <a:p>
                <a:pPr algn="just"/>
                <a:r>
                  <a:rPr lang="en-IN" sz="2000" b="1" dirty="0" smtClean="0">
                    <a:solidFill>
                      <a:srgbClr val="002060"/>
                    </a:solidFill>
                    <a:latin typeface="Times New Roman" panose="02020603050405020304" pitchFamily="18" charset="0"/>
                    <a:cs typeface="Times New Roman" panose="02020603050405020304" pitchFamily="18" charset="0"/>
                  </a:rPr>
                  <a:t>        ≈ </a:t>
                </a:r>
                <a:r>
                  <a:rPr lang="en-IN" sz="2000" b="1" dirty="0">
                    <a:solidFill>
                      <a:srgbClr val="002060"/>
                    </a:solidFill>
                    <a:latin typeface="Times New Roman" panose="02020603050405020304" pitchFamily="18" charset="0"/>
                    <a:cs typeface="Times New Roman" panose="02020603050405020304" pitchFamily="18" charset="0"/>
                  </a:rPr>
                  <a:t>2ln(n)</a:t>
                </a:r>
              </a:p>
              <a:p>
                <a:pPr algn="just"/>
                <a:r>
                  <a:rPr lang="en-IN" sz="2000" b="1" dirty="0">
                    <a:solidFill>
                      <a:srgbClr val="002060"/>
                    </a:solidFill>
                    <a:latin typeface="Times New Roman" panose="02020603050405020304" pitchFamily="18" charset="0"/>
                    <a:cs typeface="Times New Roman" panose="02020603050405020304" pitchFamily="18" charset="0"/>
                  </a:rPr>
                  <a:t>d(n) ≈ </a:t>
                </a:r>
                <a:r>
                  <a:rPr lang="en-IN" sz="2000" b="1" dirty="0" smtClean="0">
                    <a:solidFill>
                      <a:srgbClr val="002060"/>
                    </a:solidFill>
                    <a:latin typeface="Times New Roman" panose="02020603050405020304" pitchFamily="18" charset="0"/>
                    <a:cs typeface="Times New Roman" panose="02020603050405020304" pitchFamily="18" charset="0"/>
                  </a:rPr>
                  <a:t>2*0.69 log</a:t>
                </a:r>
                <a:r>
                  <a:rPr lang="en-IN" sz="2000" b="1" baseline="-25000" dirty="0" smtClean="0">
                    <a:solidFill>
                      <a:srgbClr val="002060"/>
                    </a:solidFill>
                    <a:latin typeface="Times New Roman" panose="02020603050405020304" pitchFamily="18" charset="0"/>
                    <a:cs typeface="Times New Roman" panose="02020603050405020304" pitchFamily="18" charset="0"/>
                  </a:rPr>
                  <a:t>2</a:t>
                </a:r>
                <a:r>
                  <a:rPr lang="en-IN" sz="2000" b="1" dirty="0" smtClean="0">
                    <a:solidFill>
                      <a:srgbClr val="002060"/>
                    </a:solidFill>
                    <a:latin typeface="Times New Roman" panose="02020603050405020304" pitchFamily="18" charset="0"/>
                    <a:cs typeface="Times New Roman" panose="02020603050405020304" pitchFamily="18" charset="0"/>
                  </a:rPr>
                  <a:t>n</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d(n) ≈ </a:t>
                </a:r>
                <a:r>
                  <a:rPr lang="en-IN" sz="2000" b="1" dirty="0" smtClean="0">
                    <a:solidFill>
                      <a:srgbClr val="002060"/>
                    </a:solidFill>
                    <a:latin typeface="Times New Roman" panose="02020603050405020304" pitchFamily="18" charset="0"/>
                    <a:cs typeface="Times New Roman" panose="02020603050405020304" pitchFamily="18" charset="0"/>
                  </a:rPr>
                  <a:t>1.38 log</a:t>
                </a:r>
                <a:r>
                  <a:rPr lang="en-IN" sz="2000" b="1" baseline="-25000" dirty="0" smtClean="0">
                    <a:solidFill>
                      <a:srgbClr val="002060"/>
                    </a:solidFill>
                    <a:latin typeface="Times New Roman" panose="02020603050405020304" pitchFamily="18" charset="0"/>
                    <a:cs typeface="Times New Roman" panose="02020603050405020304" pitchFamily="18" charset="0"/>
                  </a:rPr>
                  <a:t>2</a:t>
                </a:r>
                <a:r>
                  <a:rPr lang="en-IN" sz="2000" b="1" dirty="0" smtClean="0">
                    <a:solidFill>
                      <a:srgbClr val="002060"/>
                    </a:solidFill>
                    <a:latin typeface="Times New Roman" panose="02020603050405020304" pitchFamily="18" charset="0"/>
                    <a:cs typeface="Times New Roman" panose="02020603050405020304" pitchFamily="18" charset="0"/>
                  </a:rPr>
                  <a:t>n</a:t>
                </a:r>
              </a:p>
              <a:p>
                <a:pPr algn="just"/>
                <a:r>
                  <a:rPr lang="en-IN" sz="2000" b="1" dirty="0" smtClean="0">
                    <a:solidFill>
                      <a:srgbClr val="002060"/>
                    </a:solidFill>
                    <a:latin typeface="Times New Roman" panose="02020603050405020304" pitchFamily="18" charset="0"/>
                    <a:cs typeface="Times New Roman" panose="02020603050405020304" pitchFamily="18" charset="0"/>
                  </a:rPr>
                  <a:t>Where d(n) is </a:t>
                </a:r>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T</m:t>
                        </m:r>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m:t>
                        </m:r>
                      </m:num>
                      <m:den>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r>
                          <a:rPr lang="en-IN" sz="2000" b="1" i="1">
                            <a:solidFill>
                              <a:srgbClr val="002060"/>
                            </a:solidFill>
                            <a:latin typeface="Cambria Math" panose="02040503050406030204" pitchFamily="18" charset="0"/>
                            <a:cs typeface="Times New Roman" panose="02020603050405020304" pitchFamily="18" charset="0"/>
                          </a:rPr>
                          <m:t>)</m:t>
                        </m:r>
                      </m:den>
                    </m:f>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14:m>
                  <m:oMath xmlns:m="http://schemas.openxmlformats.org/officeDocument/2006/math">
                    <m:f>
                      <m:fPr>
                        <m:ctrlPr>
                          <a:rPr lang="en-IN" sz="2000" b="1" i="1">
                            <a:solidFill>
                              <a:srgbClr val="002060"/>
                            </a:solidFill>
                            <a:latin typeface="Cambria Math"/>
                            <a:cs typeface="Times New Roman" panose="02020603050405020304" pitchFamily="18" charset="0"/>
                          </a:rPr>
                        </m:ctrlPr>
                      </m:fPr>
                      <m:num>
                        <m:r>
                          <m:rPr>
                            <m:nor/>
                          </m:rPr>
                          <a:rPr lang="en-IN" sz="2000" b="1" dirty="0">
                            <a:solidFill>
                              <a:srgbClr val="002060"/>
                            </a:solidFill>
                            <a:latin typeface="Times New Roman" panose="02020603050405020304" pitchFamily="18" charset="0"/>
                            <a:cs typeface="Times New Roman" panose="02020603050405020304" pitchFamily="18" charset="0"/>
                          </a:rPr>
                          <m:t>T</m:t>
                        </m:r>
                        <m:r>
                          <m:rPr>
                            <m:nor/>
                          </m:rPr>
                          <a:rPr lang="en-IN" sz="2000" b="1" dirty="0">
                            <a:solidFill>
                              <a:srgbClr val="002060"/>
                            </a:solidFill>
                            <a:latin typeface="Times New Roman" panose="02020603050405020304" pitchFamily="18" charset="0"/>
                            <a:cs typeface="Times New Roman" panose="02020603050405020304" pitchFamily="18" charset="0"/>
                          </a:rPr>
                          <m:t>(</m:t>
                        </m:r>
                        <m:r>
                          <m:rPr>
                            <m:nor/>
                          </m:rPr>
                          <a:rPr lang="en-IN" sz="2000" b="1" dirty="0">
                            <a:solidFill>
                              <a:srgbClr val="002060"/>
                            </a:solidFill>
                            <a:latin typeface="Times New Roman" panose="02020603050405020304" pitchFamily="18" charset="0"/>
                            <a:cs typeface="Times New Roman" panose="02020603050405020304" pitchFamily="18" charset="0"/>
                          </a:rPr>
                          <m:t>n</m:t>
                        </m:r>
                        <m:r>
                          <m:rPr>
                            <m:nor/>
                          </m:rPr>
                          <a:rPr lang="en-IN" sz="2000" b="1" dirty="0">
                            <a:solidFill>
                              <a:srgbClr val="002060"/>
                            </a:solidFill>
                            <a:latin typeface="Times New Roman" panose="02020603050405020304" pitchFamily="18" charset="0"/>
                            <a:cs typeface="Times New Roman" panose="02020603050405020304" pitchFamily="18" charset="0"/>
                          </a:rPr>
                          <m:t>)</m:t>
                        </m:r>
                      </m:num>
                      <m:den>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r>
                          <a:rPr lang="en-IN" sz="2000" b="1" i="1">
                            <a:solidFill>
                              <a:srgbClr val="002060"/>
                            </a:solidFill>
                            <a:latin typeface="Cambria Math" panose="02040503050406030204" pitchFamily="18" charset="0"/>
                            <a:cs typeface="Times New Roman" panose="02020603050405020304" pitchFamily="18" charset="0"/>
                          </a:rPr>
                          <m:t>)</m:t>
                        </m:r>
                      </m:den>
                    </m:f>
                  </m:oMath>
                </a14:m>
                <a:r>
                  <a:rPr lang="en-IN" sz="2000" b="1" dirty="0">
                    <a:solidFill>
                      <a:srgbClr val="002060"/>
                    </a:solidFill>
                    <a:latin typeface="Times New Roman" panose="02020603050405020304" pitchFamily="18" charset="0"/>
                    <a:cs typeface="Times New Roman" panose="02020603050405020304" pitchFamily="18" charset="0"/>
                  </a:rPr>
                  <a:t>≈ 1.38 log</a:t>
                </a:r>
                <a:r>
                  <a:rPr lang="en-IN" sz="2000" b="1" baseline="-25000" dirty="0">
                    <a:solidFill>
                      <a:srgbClr val="002060"/>
                    </a:solidFill>
                    <a:latin typeface="Times New Roman" panose="02020603050405020304" pitchFamily="18" charset="0"/>
                    <a:cs typeface="Times New Roman" panose="02020603050405020304" pitchFamily="18" charset="0"/>
                  </a:rPr>
                  <a:t>2</a:t>
                </a:r>
                <a:r>
                  <a:rPr lang="en-IN" sz="2000" b="1" dirty="0">
                    <a:solidFill>
                      <a:srgbClr val="002060"/>
                    </a:solidFill>
                    <a:latin typeface="Times New Roman" panose="02020603050405020304" pitchFamily="18" charset="0"/>
                    <a:cs typeface="Times New Roman" panose="02020603050405020304" pitchFamily="18" charset="0"/>
                  </a:rPr>
                  <a:t>n</a:t>
                </a:r>
              </a:p>
              <a:p>
                <a:pPr algn="just"/>
                <a:r>
                  <a:rPr lang="en-IN" sz="2000" b="1" dirty="0" smtClean="0">
                    <a:solidFill>
                      <a:srgbClr val="002060"/>
                    </a:solidFill>
                    <a:latin typeface="Times New Roman" panose="02020603050405020304" pitchFamily="18" charset="0"/>
                    <a:cs typeface="Times New Roman" panose="02020603050405020304" pitchFamily="18" charset="0"/>
                  </a:rPr>
                  <a:t>T(n) ≈ (n+1) *1.38 log</a:t>
                </a:r>
                <a:r>
                  <a:rPr lang="en-IN" sz="2000" b="1" baseline="-25000" dirty="0" smtClean="0">
                    <a:solidFill>
                      <a:srgbClr val="002060"/>
                    </a:solidFill>
                    <a:latin typeface="Times New Roman" panose="02020603050405020304" pitchFamily="18" charset="0"/>
                    <a:cs typeface="Times New Roman" panose="02020603050405020304" pitchFamily="18" charset="0"/>
                  </a:rPr>
                  <a:t>2</a:t>
                </a:r>
                <a:r>
                  <a:rPr lang="en-IN" sz="2000" b="1" dirty="0" smtClean="0">
                    <a:solidFill>
                      <a:srgbClr val="002060"/>
                    </a:solidFill>
                    <a:latin typeface="Times New Roman" panose="02020603050405020304" pitchFamily="18" charset="0"/>
                    <a:cs typeface="Times New Roman" panose="02020603050405020304" pitchFamily="18" charset="0"/>
                  </a:rPr>
                  <a:t>n</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T(n) ≈ </a:t>
                </a:r>
                <a:r>
                  <a:rPr lang="en-IN" sz="2000" b="1" dirty="0" smtClean="0">
                    <a:solidFill>
                      <a:srgbClr val="002060"/>
                    </a:solidFill>
                    <a:latin typeface="Times New Roman" panose="02020603050405020304" pitchFamily="18" charset="0"/>
                    <a:cs typeface="Times New Roman" panose="02020603050405020304" pitchFamily="18" charset="0"/>
                  </a:rPr>
                  <a:t>n log</a:t>
                </a:r>
                <a:r>
                  <a:rPr lang="en-IN" sz="2000" b="1" baseline="-25000" dirty="0" smtClean="0">
                    <a:solidFill>
                      <a:srgbClr val="002060"/>
                    </a:solidFill>
                    <a:latin typeface="Times New Roman" panose="02020603050405020304" pitchFamily="18" charset="0"/>
                    <a:cs typeface="Times New Roman" panose="02020603050405020304" pitchFamily="18" charset="0"/>
                  </a:rPr>
                  <a:t>2</a:t>
                </a:r>
                <a:r>
                  <a:rPr lang="en-IN" sz="2000" b="1" dirty="0" smtClean="0">
                    <a:solidFill>
                      <a:srgbClr val="002060"/>
                    </a:solidFill>
                    <a:latin typeface="Times New Roman" panose="02020603050405020304" pitchFamily="18" charset="0"/>
                    <a:cs typeface="Times New Roman" panose="02020603050405020304" pitchFamily="18" charset="0"/>
                  </a:rPr>
                  <a:t>n</a:t>
                </a:r>
              </a:p>
              <a:p>
                <a:pPr algn="just"/>
                <a:r>
                  <a:rPr lang="en-IN" sz="2000" b="1" dirty="0" smtClean="0">
                    <a:solidFill>
                      <a:srgbClr val="C00000"/>
                    </a:solidFill>
                    <a:latin typeface="Times New Roman" panose="02020603050405020304" pitchFamily="18" charset="0"/>
                    <a:cs typeface="Times New Roman" panose="02020603050405020304" pitchFamily="18" charset="0"/>
                  </a:rPr>
                  <a:t>Thus Average time complexity is (</a:t>
                </a:r>
                <a:r>
                  <a:rPr lang="en-IN" sz="2000" b="1" dirty="0">
                    <a:solidFill>
                      <a:srgbClr val="C00000"/>
                    </a:solidFill>
                    <a:latin typeface="Times New Roman" panose="02020603050405020304" pitchFamily="18" charset="0"/>
                    <a:cs typeface="Times New Roman" panose="02020603050405020304" pitchFamily="18" charset="0"/>
                  </a:rPr>
                  <a:t>n </a:t>
                </a:r>
                <a:r>
                  <a:rPr lang="en-IN" sz="2000" b="1" dirty="0" smtClean="0">
                    <a:solidFill>
                      <a:srgbClr val="C00000"/>
                    </a:solidFill>
                    <a:latin typeface="Times New Roman" panose="02020603050405020304" pitchFamily="18" charset="0"/>
                    <a:cs typeface="Times New Roman" panose="02020603050405020304" pitchFamily="18" charset="0"/>
                  </a:rPr>
                  <a:t>log</a:t>
                </a:r>
                <a:r>
                  <a:rPr lang="en-IN" sz="2000" b="1" baseline="-25000" dirty="0" smtClean="0">
                    <a:solidFill>
                      <a:srgbClr val="C00000"/>
                    </a:solidFill>
                    <a:latin typeface="Times New Roman" panose="02020603050405020304" pitchFamily="18" charset="0"/>
                    <a:cs typeface="Times New Roman" panose="02020603050405020304" pitchFamily="18" charset="0"/>
                  </a:rPr>
                  <a:t>2</a:t>
                </a:r>
                <a:r>
                  <a:rPr lang="en-IN" sz="2000" b="1" dirty="0" smtClean="0">
                    <a:solidFill>
                      <a:srgbClr val="C00000"/>
                    </a:solidFill>
                    <a:latin typeface="Times New Roman" panose="02020603050405020304" pitchFamily="18" charset="0"/>
                    <a:cs typeface="Times New Roman" panose="02020603050405020304" pitchFamily="18" charset="0"/>
                  </a:rPr>
                  <a:t>n)</a:t>
                </a:r>
                <a:endParaRPr lang="en-IN" sz="20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43437" y="862739"/>
                <a:ext cx="11797552" cy="5627707"/>
              </a:xfrm>
              <a:blipFill rotWithShape="0">
                <a:blip r:embed="rId3"/>
                <a:stretch>
                  <a:fillRect l="-56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89</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536BDEA9-9950-4619-9CBA-CFD14C4D3771}" type="datetime1">
              <a:rPr lang="en-IN" smtClean="0"/>
              <a:t>21-03-2026</a:t>
            </a:fld>
            <a:endParaRPr lang="en-IN"/>
          </a:p>
        </p:txBody>
      </p:sp>
    </p:spTree>
    <p:extLst>
      <p:ext uri="{BB962C8B-B14F-4D97-AF65-F5344CB8AC3E}">
        <p14:creationId xmlns:p14="http://schemas.microsoft.com/office/powerpoint/2010/main" val="298736533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Max-Min algorithm</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Max-Min algorithm</a:t>
            </a:r>
          </a:p>
          <a:p>
            <a:pPr algn="just"/>
            <a:r>
              <a:rPr lang="en-IN" sz="2000" b="1" dirty="0" smtClean="0">
                <a:solidFill>
                  <a:srgbClr val="002060"/>
                </a:solidFill>
                <a:latin typeface="Times New Roman" panose="02020603050405020304" pitchFamily="18" charset="0"/>
                <a:cs typeface="Times New Roman" panose="02020603050405020304" pitchFamily="18" charset="0"/>
              </a:rPr>
              <a:t>It is algorithm used to find the maximum and minimum element in the given list of elements. </a:t>
            </a:r>
          </a:p>
          <a:p>
            <a:pPr algn="just"/>
            <a:r>
              <a:rPr lang="en-IN" sz="2000" b="1" dirty="0" smtClean="0">
                <a:solidFill>
                  <a:srgbClr val="002060"/>
                </a:solidFill>
                <a:latin typeface="Times New Roman" panose="02020603050405020304" pitchFamily="18" charset="0"/>
                <a:cs typeface="Times New Roman" panose="02020603050405020304" pitchFamily="18" charset="0"/>
              </a:rPr>
              <a:t>Different situations are possible.</a:t>
            </a:r>
          </a:p>
          <a:p>
            <a:pPr marL="457200" indent="-457200" algn="just">
              <a:buAutoNum type="arabicPeriod"/>
            </a:pPr>
            <a:r>
              <a:rPr lang="en-IN" sz="2000" b="1" dirty="0" smtClean="0">
                <a:solidFill>
                  <a:srgbClr val="002060"/>
                </a:solidFill>
                <a:latin typeface="Times New Roman" panose="02020603050405020304" pitchFamily="18" charset="0"/>
                <a:cs typeface="Times New Roman" panose="02020603050405020304" pitchFamily="18" charset="0"/>
              </a:rPr>
              <a:t>If list contains only one element, then that element itself is Max or Min element.</a:t>
            </a:r>
          </a:p>
          <a:p>
            <a:pPr marL="457200" indent="-457200" algn="just">
              <a:buAutoNum type="arabicPeriod"/>
            </a:pPr>
            <a:r>
              <a:rPr lang="en-IN" sz="2000" b="1" dirty="0" smtClean="0">
                <a:solidFill>
                  <a:srgbClr val="002060"/>
                </a:solidFill>
                <a:latin typeface="Times New Roman" panose="02020603050405020304" pitchFamily="18" charset="0"/>
                <a:cs typeface="Times New Roman" panose="02020603050405020304" pitchFamily="18" charset="0"/>
              </a:rPr>
              <a:t>When there are only two elements in the list, then simple comparison is sufficient to determine the Max and min element.</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if(a[0]&lt; a[1])</a:t>
            </a:r>
          </a:p>
          <a:p>
            <a:pPr lvl="2" algn="just"/>
            <a:r>
              <a:rPr lang="en-IN" b="1" dirty="0">
                <a:solidFill>
                  <a:srgbClr val="002060"/>
                </a:solidFill>
                <a:latin typeface="Times New Roman" panose="02020603050405020304" pitchFamily="18" charset="0"/>
                <a:cs typeface="Times New Roman" panose="02020603050405020304" pitchFamily="18" charset="0"/>
              </a:rPr>
              <a:t>{</a:t>
            </a:r>
            <a:endParaRPr lang="en-IN" b="1" dirty="0" smtClean="0">
              <a:solidFill>
                <a:srgbClr val="002060"/>
              </a:solidFill>
              <a:latin typeface="Times New Roman" panose="02020603050405020304" pitchFamily="18" charset="0"/>
              <a:cs typeface="Times New Roman" panose="02020603050405020304" pitchFamily="18" charset="0"/>
            </a:endParaRPr>
          </a:p>
          <a:p>
            <a:pPr lvl="2"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min=a[0]</a:t>
            </a:r>
          </a:p>
          <a:p>
            <a:pPr lvl="2"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max=a[1]</a:t>
            </a:r>
          </a:p>
          <a:p>
            <a:pPr lvl="2" algn="just"/>
            <a:r>
              <a:rPr lang="en-IN" b="1" dirty="0">
                <a:solidFill>
                  <a:srgbClr val="002060"/>
                </a:solidFill>
                <a:latin typeface="Times New Roman" panose="02020603050405020304" pitchFamily="18" charset="0"/>
                <a:cs typeface="Times New Roman" panose="02020603050405020304" pitchFamily="18" charset="0"/>
              </a:rPr>
              <a:t>}</a:t>
            </a:r>
          </a:p>
          <a:p>
            <a:pPr lvl="2" algn="just"/>
            <a:r>
              <a:rPr lang="en-IN" b="1" dirty="0" smtClean="0">
                <a:solidFill>
                  <a:srgbClr val="002060"/>
                </a:solidFill>
                <a:latin typeface="Times New Roman" panose="02020603050405020304" pitchFamily="18" charset="0"/>
                <a:cs typeface="Times New Roman" panose="02020603050405020304" pitchFamily="18" charset="0"/>
              </a:rPr>
              <a:t>else</a:t>
            </a:r>
          </a:p>
          <a:p>
            <a:pPr lvl="2" algn="just"/>
            <a:r>
              <a:rPr lang="en-IN" b="1" dirty="0">
                <a:solidFill>
                  <a:srgbClr val="002060"/>
                </a:solidFill>
                <a:latin typeface="Times New Roman" panose="02020603050405020304" pitchFamily="18" charset="0"/>
                <a:cs typeface="Times New Roman" panose="02020603050405020304" pitchFamily="18" charset="0"/>
              </a:rPr>
              <a:t>{</a:t>
            </a:r>
          </a:p>
          <a:p>
            <a:pPr lvl="2"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min=a[1]</a:t>
            </a:r>
            <a:endParaRPr lang="en-IN" b="1" dirty="0">
              <a:solidFill>
                <a:srgbClr val="002060"/>
              </a:solidFill>
              <a:latin typeface="Times New Roman" panose="02020603050405020304" pitchFamily="18" charset="0"/>
              <a:cs typeface="Times New Roman" panose="02020603050405020304" pitchFamily="18" charset="0"/>
            </a:endParaRPr>
          </a:p>
          <a:p>
            <a:pPr lvl="2"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max=a[0]</a:t>
            </a:r>
            <a:endParaRPr lang="en-IN" b="1" dirty="0">
              <a:solidFill>
                <a:srgbClr val="002060"/>
              </a:solidFill>
              <a:latin typeface="Times New Roman" panose="02020603050405020304" pitchFamily="18" charset="0"/>
              <a:cs typeface="Times New Roman" panose="02020603050405020304" pitchFamily="18" charset="0"/>
            </a:endParaRPr>
          </a:p>
          <a:p>
            <a:pPr lvl="2" algn="just"/>
            <a:r>
              <a:rPr lang="en-IN" b="1" dirty="0">
                <a:solidFill>
                  <a:srgbClr val="002060"/>
                </a:solidFill>
                <a:latin typeface="Times New Roman" panose="02020603050405020304" pitchFamily="18" charset="0"/>
                <a:cs typeface="Times New Roman" panose="02020603050405020304" pitchFamily="18" charset="0"/>
              </a:rPr>
              <a:t>}</a:t>
            </a: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90</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8F87B25A-2461-4E7A-948B-8895E683EB43}" type="datetime1">
              <a:rPr lang="en-IN" smtClean="0"/>
              <a:t>21-03-2026</a:t>
            </a:fld>
            <a:endParaRPr lang="en-IN"/>
          </a:p>
        </p:txBody>
      </p:sp>
    </p:spTree>
    <p:extLst>
      <p:ext uri="{BB962C8B-B14F-4D97-AF65-F5344CB8AC3E}">
        <p14:creationId xmlns:p14="http://schemas.microsoft.com/office/powerpoint/2010/main" val="23455311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Max-Min algorithm</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fontScale="85000" lnSpcReduction="20000"/>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3. When there are more number of elements in the list, then </a:t>
            </a:r>
            <a:r>
              <a:rPr lang="en-IN" sz="2000" b="1" dirty="0" err="1" smtClean="0">
                <a:solidFill>
                  <a:srgbClr val="002060"/>
                </a:solidFill>
                <a:latin typeface="Times New Roman" panose="02020603050405020304" pitchFamily="18" charset="0"/>
                <a:cs typeface="Times New Roman" panose="02020603050405020304" pitchFamily="18" charset="0"/>
              </a:rPr>
              <a:t>Maxmin</a:t>
            </a:r>
            <a:r>
              <a:rPr lang="en-IN" sz="2000" b="1" dirty="0" smtClean="0">
                <a:solidFill>
                  <a:srgbClr val="002060"/>
                </a:solidFill>
                <a:latin typeface="Times New Roman" panose="02020603050405020304" pitchFamily="18" charset="0"/>
                <a:cs typeface="Times New Roman" panose="02020603050405020304" pitchFamily="18" charset="0"/>
              </a:rPr>
              <a:t>( ) algorithm is applied recursively to find maximum and minimum elements in the array.</a:t>
            </a:r>
          </a:p>
          <a:p>
            <a:pPr algn="just"/>
            <a:r>
              <a:rPr lang="en-IN" sz="2000" b="1" dirty="0" smtClean="0">
                <a:solidFill>
                  <a:srgbClr val="002060"/>
                </a:solidFill>
                <a:latin typeface="Times New Roman" panose="02020603050405020304" pitchFamily="18" charset="0"/>
                <a:cs typeface="Times New Roman" panose="02020603050405020304" pitchFamily="18" charset="0"/>
              </a:rPr>
              <a:t>Algorithm</a:t>
            </a:r>
          </a:p>
          <a:p>
            <a:pPr algn="just"/>
            <a:r>
              <a:rPr lang="en-IN" sz="2000" b="1" dirty="0" err="1" smtClean="0">
                <a:solidFill>
                  <a:srgbClr val="002060"/>
                </a:solidFill>
                <a:latin typeface="Times New Roman" panose="02020603050405020304" pitchFamily="18" charset="0"/>
                <a:cs typeface="Times New Roman" panose="02020603050405020304" pitchFamily="18" charset="0"/>
              </a:rPr>
              <a:t>maxmin</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err="1" smtClean="0">
                <a:solidFill>
                  <a:srgbClr val="002060"/>
                </a:solidFill>
                <a:latin typeface="Times New Roman" panose="02020603050405020304" pitchFamily="18" charset="0"/>
                <a:cs typeface="Times New Roman" panose="02020603050405020304" pitchFamily="18" charset="0"/>
              </a:rPr>
              <a:t>int</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err="1" smtClean="0">
                <a:solidFill>
                  <a:srgbClr val="002060"/>
                </a:solidFill>
                <a:latin typeface="Times New Roman" panose="02020603050405020304" pitchFamily="18" charset="0"/>
                <a:cs typeface="Times New Roman" panose="02020603050405020304" pitchFamily="18" charset="0"/>
              </a:rPr>
              <a:t>int</a:t>
            </a:r>
            <a:r>
              <a:rPr lang="en-IN" sz="2000" b="1" dirty="0" smtClean="0">
                <a:solidFill>
                  <a:srgbClr val="002060"/>
                </a:solidFill>
                <a:latin typeface="Times New Roman" panose="02020603050405020304" pitchFamily="18" charset="0"/>
                <a:cs typeface="Times New Roman" panose="02020603050405020304" pitchFamily="18" charset="0"/>
              </a:rPr>
              <a:t> j, type max, type min)</a:t>
            </a:r>
          </a:p>
          <a:p>
            <a:pPr algn="just"/>
            <a:r>
              <a:rPr lang="en-IN" sz="2000" b="1" dirty="0" smtClean="0">
                <a:solidFill>
                  <a:srgbClr val="002060"/>
                </a:solidFill>
                <a:latin typeface="Times New Roman" panose="02020603050405020304" pitchFamily="18" charset="0"/>
                <a:cs typeface="Times New Roman" panose="02020603050405020304" pitchFamily="18" charset="0"/>
              </a:rPr>
              <a:t>// array A[0….n-1] is input array.</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and j are 0 ≤ </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 j ≤ (n-1)</a:t>
            </a:r>
          </a:p>
          <a:p>
            <a:pPr algn="just"/>
            <a:r>
              <a:rPr lang="en-IN" sz="2000" b="1" dirty="0" smtClean="0">
                <a:solidFill>
                  <a:srgbClr val="002060"/>
                </a:solidFill>
                <a:latin typeface="Times New Roman" panose="02020603050405020304" pitchFamily="18" charset="0"/>
                <a:cs typeface="Times New Roman" panose="02020603050405020304" pitchFamily="18" charset="0"/>
              </a:rPr>
              <a:t>// Algorithm set the maximum and minimum element of a[0…n-1] to max and min variable respectively.</a:t>
            </a:r>
          </a:p>
          <a:p>
            <a:pPr algn="just"/>
            <a:r>
              <a:rPr lang="en-IN" sz="2000" b="1" dirty="0" smtClean="0">
                <a:solidFill>
                  <a:srgbClr val="002060"/>
                </a:solidFill>
                <a:latin typeface="Times New Roman" panose="02020603050405020304" pitchFamily="18" charset="0"/>
                <a:cs typeface="Times New Roman" panose="02020603050405020304" pitchFamily="18" charset="0"/>
              </a:rPr>
              <a:t>{</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if (</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 j) max=min=a[</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array with only one element.</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else if (</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 j-1)</a:t>
            </a:r>
            <a:r>
              <a:rPr lang="en-IN" sz="2000" b="1" dirty="0">
                <a:solidFill>
                  <a:srgbClr val="002060"/>
                </a:solidFill>
                <a:latin typeface="Times New Roman" panose="02020603050405020304" pitchFamily="18" charset="0"/>
                <a:cs typeface="Times New Roman" panose="02020603050405020304" pitchFamily="18" charset="0"/>
              </a:rPr>
              <a:t> // array with only </a:t>
            </a:r>
            <a:r>
              <a:rPr lang="en-IN" sz="2000" b="1" dirty="0" smtClean="0">
                <a:solidFill>
                  <a:srgbClr val="002060"/>
                </a:solidFill>
                <a:latin typeface="Times New Roman" panose="02020603050405020304" pitchFamily="18" charset="0"/>
                <a:cs typeface="Times New Roman" panose="02020603050405020304" pitchFamily="18" charset="0"/>
              </a:rPr>
              <a:t>two </a:t>
            </a:r>
            <a:r>
              <a:rPr lang="en-IN" sz="2000" b="1" dirty="0">
                <a:solidFill>
                  <a:srgbClr val="002060"/>
                </a:solidFill>
                <a:latin typeface="Times New Roman" panose="02020603050405020304" pitchFamily="18" charset="0"/>
                <a:cs typeface="Times New Roman" panose="02020603050405020304" pitchFamily="18" charset="0"/>
              </a:rPr>
              <a:t>element</a:t>
            </a: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if(a[</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]&lt; a[j])</a:t>
            </a:r>
            <a:endParaRPr lang="en-IN" sz="2000" b="1" dirty="0">
              <a:solidFill>
                <a:srgbClr val="002060"/>
              </a:solidFill>
              <a:latin typeface="Times New Roman" panose="02020603050405020304" pitchFamily="18" charset="0"/>
              <a:cs typeface="Times New Roman" panose="02020603050405020304" pitchFamily="18" charset="0"/>
            </a:endParaRPr>
          </a:p>
          <a:p>
            <a:pPr lvl="2" algn="just"/>
            <a:r>
              <a:rPr lang="en-IN" b="1" dirty="0">
                <a:solidFill>
                  <a:srgbClr val="002060"/>
                </a:solidFill>
                <a:latin typeface="Times New Roman" panose="02020603050405020304" pitchFamily="18" charset="0"/>
                <a:cs typeface="Times New Roman" panose="02020603050405020304" pitchFamily="18" charset="0"/>
              </a:rPr>
              <a:t>{</a:t>
            </a:r>
          </a:p>
          <a:p>
            <a:pPr lvl="2"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min=a[</a:t>
            </a:r>
            <a:r>
              <a:rPr lang="en-IN" b="1" dirty="0" err="1" smtClean="0">
                <a:solidFill>
                  <a:srgbClr val="002060"/>
                </a:solidFill>
                <a:latin typeface="Times New Roman" panose="02020603050405020304" pitchFamily="18" charset="0"/>
                <a:cs typeface="Times New Roman" panose="02020603050405020304" pitchFamily="18" charset="0"/>
              </a:rPr>
              <a:t>i</a:t>
            </a:r>
            <a:r>
              <a:rPr lang="en-IN" b="1" dirty="0" smtClean="0">
                <a:solidFill>
                  <a:srgbClr val="002060"/>
                </a:solidFill>
                <a:latin typeface="Times New Roman" panose="02020603050405020304" pitchFamily="18" charset="0"/>
                <a:cs typeface="Times New Roman" panose="02020603050405020304" pitchFamily="18" charset="0"/>
              </a:rPr>
              <a:t>]</a:t>
            </a:r>
            <a:endParaRPr lang="en-IN" b="1" dirty="0">
              <a:solidFill>
                <a:srgbClr val="002060"/>
              </a:solidFill>
              <a:latin typeface="Times New Roman" panose="02020603050405020304" pitchFamily="18" charset="0"/>
              <a:cs typeface="Times New Roman" panose="02020603050405020304" pitchFamily="18" charset="0"/>
            </a:endParaRPr>
          </a:p>
          <a:p>
            <a:pPr lvl="2"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max=a[j]</a:t>
            </a:r>
            <a:endParaRPr lang="en-IN" b="1" dirty="0">
              <a:solidFill>
                <a:srgbClr val="002060"/>
              </a:solidFill>
              <a:latin typeface="Times New Roman" panose="02020603050405020304" pitchFamily="18" charset="0"/>
              <a:cs typeface="Times New Roman" panose="02020603050405020304" pitchFamily="18" charset="0"/>
            </a:endParaRPr>
          </a:p>
          <a:p>
            <a:pPr lvl="2" algn="just"/>
            <a:r>
              <a:rPr lang="en-IN" b="1" dirty="0">
                <a:solidFill>
                  <a:srgbClr val="002060"/>
                </a:solidFill>
                <a:latin typeface="Times New Roman" panose="02020603050405020304" pitchFamily="18" charset="0"/>
                <a:cs typeface="Times New Roman" panose="02020603050405020304" pitchFamily="18" charset="0"/>
              </a:rPr>
              <a:t>}</a:t>
            </a:r>
          </a:p>
          <a:p>
            <a:pPr lvl="2" algn="just"/>
            <a:r>
              <a:rPr lang="en-IN" b="1" dirty="0">
                <a:solidFill>
                  <a:srgbClr val="002060"/>
                </a:solidFill>
                <a:latin typeface="Times New Roman" panose="02020603050405020304" pitchFamily="18" charset="0"/>
                <a:cs typeface="Times New Roman" panose="02020603050405020304" pitchFamily="18" charset="0"/>
              </a:rPr>
              <a:t>else</a:t>
            </a:r>
          </a:p>
          <a:p>
            <a:pPr lvl="2" algn="just"/>
            <a:r>
              <a:rPr lang="en-IN" b="1" dirty="0">
                <a:solidFill>
                  <a:srgbClr val="002060"/>
                </a:solidFill>
                <a:latin typeface="Times New Roman" panose="02020603050405020304" pitchFamily="18" charset="0"/>
                <a:cs typeface="Times New Roman" panose="02020603050405020304" pitchFamily="18" charset="0"/>
              </a:rPr>
              <a:t>{</a:t>
            </a:r>
          </a:p>
          <a:p>
            <a:pPr lvl="2"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min=a[j]</a:t>
            </a:r>
            <a:endParaRPr lang="en-IN" b="1" dirty="0">
              <a:solidFill>
                <a:srgbClr val="002060"/>
              </a:solidFill>
              <a:latin typeface="Times New Roman" panose="02020603050405020304" pitchFamily="18" charset="0"/>
              <a:cs typeface="Times New Roman" panose="02020603050405020304" pitchFamily="18" charset="0"/>
            </a:endParaRPr>
          </a:p>
          <a:p>
            <a:pPr lvl="2"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max=a[</a:t>
            </a:r>
            <a:r>
              <a:rPr lang="en-IN" b="1" dirty="0" err="1" smtClean="0">
                <a:solidFill>
                  <a:srgbClr val="002060"/>
                </a:solidFill>
                <a:latin typeface="Times New Roman" panose="02020603050405020304" pitchFamily="18" charset="0"/>
                <a:cs typeface="Times New Roman" panose="02020603050405020304" pitchFamily="18" charset="0"/>
              </a:rPr>
              <a:t>i</a:t>
            </a:r>
            <a:r>
              <a:rPr lang="en-IN" b="1" dirty="0" smtClean="0">
                <a:solidFill>
                  <a:srgbClr val="002060"/>
                </a:solidFill>
                <a:latin typeface="Times New Roman" panose="02020603050405020304" pitchFamily="18" charset="0"/>
                <a:cs typeface="Times New Roman" panose="02020603050405020304" pitchFamily="18" charset="0"/>
              </a:rPr>
              <a:t>]</a:t>
            </a:r>
            <a:endParaRPr lang="en-IN" b="1" dirty="0">
              <a:solidFill>
                <a:srgbClr val="002060"/>
              </a:solidFill>
              <a:latin typeface="Times New Roman" panose="02020603050405020304" pitchFamily="18" charset="0"/>
              <a:cs typeface="Times New Roman" panose="02020603050405020304" pitchFamily="18" charset="0"/>
            </a:endParaRPr>
          </a:p>
          <a:p>
            <a:pPr lvl="2" algn="just"/>
            <a:r>
              <a:rPr lang="en-IN" b="1" dirty="0" smtClean="0">
                <a:solidFill>
                  <a:srgbClr val="002060"/>
                </a:solidFill>
                <a:latin typeface="Times New Roman" panose="02020603050405020304" pitchFamily="18" charset="0"/>
                <a:cs typeface="Times New Roman" panose="02020603050405020304" pitchFamily="18" charset="0"/>
              </a:rPr>
              <a:t>}}</a:t>
            </a: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91</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411E299F-B931-40EC-B631-622C614312DB}" type="datetime1">
              <a:rPr lang="en-IN" smtClean="0"/>
              <a:t>21-03-2026</a:t>
            </a:fld>
            <a:endParaRPr lang="en-IN"/>
          </a:p>
        </p:txBody>
      </p:sp>
    </p:spTree>
    <p:extLst>
      <p:ext uri="{BB962C8B-B14F-4D97-AF65-F5344CB8AC3E}">
        <p14:creationId xmlns:p14="http://schemas.microsoft.com/office/powerpoint/2010/main" val="94782733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Max-Min algorithm</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else</a:t>
            </a:r>
          </a:p>
          <a:p>
            <a:pPr algn="just"/>
            <a:r>
              <a:rPr lang="en-IN" sz="2000" b="1" dirty="0" smtClean="0">
                <a:solidFill>
                  <a:srgbClr val="002060"/>
                </a:solidFill>
                <a:latin typeface="Times New Roman" panose="02020603050405020304" pitchFamily="18" charset="0"/>
                <a:cs typeface="Times New Roman" panose="02020603050405020304" pitchFamily="18" charset="0"/>
              </a:rPr>
              <a:t>{</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 array is not small, split the array </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mid=(</a:t>
            </a:r>
            <a:r>
              <a:rPr lang="en-IN" sz="2000" b="1" dirty="0" err="1" smtClean="0">
                <a:solidFill>
                  <a:srgbClr val="002060"/>
                </a:solidFill>
                <a:latin typeface="Times New Roman" panose="02020603050405020304" pitchFamily="18" charset="0"/>
                <a:cs typeface="Times New Roman" panose="02020603050405020304" pitchFamily="18" charset="0"/>
              </a:rPr>
              <a:t>i+j</a:t>
            </a:r>
            <a:r>
              <a:rPr lang="en-IN" sz="2000" b="1" dirty="0" smtClean="0">
                <a:solidFill>
                  <a:srgbClr val="002060"/>
                </a:solidFill>
                <a:latin typeface="Times New Roman" panose="02020603050405020304" pitchFamily="18" charset="0"/>
                <a:cs typeface="Times New Roman" panose="02020603050405020304" pitchFamily="18" charset="0"/>
              </a:rPr>
              <a:t>)/2</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err="1" smtClean="0">
                <a:solidFill>
                  <a:srgbClr val="002060"/>
                </a:solidFill>
                <a:latin typeface="Times New Roman" panose="02020603050405020304" pitchFamily="18" charset="0"/>
                <a:cs typeface="Times New Roman" panose="02020603050405020304" pitchFamily="18" charset="0"/>
              </a:rPr>
              <a:t>maxmin</a:t>
            </a:r>
            <a:r>
              <a:rPr lang="en-IN" sz="2000" b="1" dirty="0" smtClean="0">
                <a:solidFill>
                  <a:srgbClr val="002060"/>
                </a:solidFill>
                <a:latin typeface="Times New Roman" panose="02020603050405020304" pitchFamily="18" charset="0"/>
                <a:cs typeface="Times New Roman" panose="02020603050405020304" pitchFamily="18" charset="0"/>
              </a:rPr>
              <a:t>(</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mid, max, min);</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err="1" smtClean="0">
                <a:solidFill>
                  <a:srgbClr val="002060"/>
                </a:solidFill>
                <a:latin typeface="Times New Roman" panose="02020603050405020304" pitchFamily="18" charset="0"/>
                <a:cs typeface="Times New Roman" panose="02020603050405020304" pitchFamily="18" charset="0"/>
              </a:rPr>
              <a:t>maxmin</a:t>
            </a:r>
            <a:r>
              <a:rPr lang="en-IN" sz="2000" b="1" dirty="0" smtClean="0">
                <a:solidFill>
                  <a:srgbClr val="002060"/>
                </a:solidFill>
                <a:latin typeface="Times New Roman" panose="02020603050405020304" pitchFamily="18" charset="0"/>
                <a:cs typeface="Times New Roman" panose="02020603050405020304" pitchFamily="18" charset="0"/>
              </a:rPr>
              <a:t>(mid+1, j, max1, min1) </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 combine the solution </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if(max&lt; max1)</a:t>
            </a:r>
            <a:endParaRPr lang="en-IN" sz="2000" b="1" dirty="0">
              <a:solidFill>
                <a:srgbClr val="002060"/>
              </a:solidFill>
              <a:latin typeface="Times New Roman" panose="02020603050405020304" pitchFamily="18" charset="0"/>
              <a:cs typeface="Times New Roman" panose="02020603050405020304" pitchFamily="18" charset="0"/>
            </a:endParaRPr>
          </a:p>
          <a:p>
            <a:pPr lvl="2" algn="just"/>
            <a:r>
              <a:rPr lang="en-IN" b="1" dirty="0" smtClean="0">
                <a:solidFill>
                  <a:srgbClr val="002060"/>
                </a:solidFill>
                <a:latin typeface="Times New Roman" panose="02020603050405020304" pitchFamily="18" charset="0"/>
                <a:cs typeface="Times New Roman" panose="02020603050405020304" pitchFamily="18" charset="0"/>
              </a:rPr>
              <a:t>max= max1]</a:t>
            </a:r>
          </a:p>
          <a:p>
            <a:pPr marL="540000" lvl="2" algn="just"/>
            <a:r>
              <a:rPr lang="en-IN" b="1" dirty="0" smtClean="0">
                <a:solidFill>
                  <a:srgbClr val="002060"/>
                </a:solidFill>
                <a:latin typeface="Times New Roman" panose="02020603050405020304" pitchFamily="18" charset="0"/>
                <a:cs typeface="Times New Roman" panose="02020603050405020304" pitchFamily="18" charset="0"/>
              </a:rPr>
              <a:t>if(min&gt; min1</a:t>
            </a:r>
            <a:r>
              <a:rPr lang="en-IN" b="1" dirty="0">
                <a:solidFill>
                  <a:srgbClr val="002060"/>
                </a:solidFill>
                <a:latin typeface="Times New Roman" panose="02020603050405020304" pitchFamily="18" charset="0"/>
                <a:cs typeface="Times New Roman" panose="02020603050405020304" pitchFamily="18" charset="0"/>
              </a:rPr>
              <a:t>)</a:t>
            </a:r>
          </a:p>
          <a:p>
            <a:pPr lvl="2" algn="just"/>
            <a:r>
              <a:rPr lang="en-IN" b="1" dirty="0" smtClean="0">
                <a:solidFill>
                  <a:srgbClr val="002060"/>
                </a:solidFill>
                <a:latin typeface="Times New Roman" panose="02020603050405020304" pitchFamily="18" charset="0"/>
                <a:cs typeface="Times New Roman" panose="02020603050405020304" pitchFamily="18" charset="0"/>
              </a:rPr>
              <a:t>min=min1;</a:t>
            </a:r>
          </a:p>
          <a:p>
            <a:pPr marL="0" lvl="2" algn="just">
              <a:spcBef>
                <a:spcPts val="1000"/>
              </a:spcBef>
            </a:pPr>
            <a:r>
              <a:rPr lang="en-IN" sz="2000" b="1" dirty="0" smtClean="0">
                <a:solidFill>
                  <a:srgbClr val="002060"/>
                </a:solidFill>
                <a:latin typeface="Times New Roman" panose="02020603050405020304" pitchFamily="18" charset="0"/>
                <a:cs typeface="Times New Roman" panose="02020603050405020304" pitchFamily="18" charset="0"/>
              </a:rPr>
              <a:t>}</a:t>
            </a:r>
          </a:p>
          <a:p>
            <a:pPr marL="0" lvl="2" algn="just">
              <a:spcBef>
                <a:spcPts val="1000"/>
              </a:spcBef>
            </a:pPr>
            <a:r>
              <a:rPr lang="en-IN" sz="2000" b="1" dirty="0">
                <a:solidFill>
                  <a:srgbClr val="002060"/>
                </a:solidFill>
                <a:latin typeface="Times New Roman" panose="02020603050405020304" pitchFamily="18" charset="0"/>
                <a:cs typeface="Times New Roman" panose="02020603050405020304" pitchFamily="18" charset="0"/>
              </a:rPr>
              <a:t>}</a:t>
            </a: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92</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524CFCB7-DD0A-442C-B4F1-873A7597C5F6}" type="datetime1">
              <a:rPr lang="en-IN" smtClean="0"/>
              <a:t>21-03-2026</a:t>
            </a:fld>
            <a:endParaRPr lang="en-IN"/>
          </a:p>
        </p:txBody>
      </p:sp>
    </p:spTree>
    <p:extLst>
      <p:ext uri="{BB962C8B-B14F-4D97-AF65-F5344CB8AC3E}">
        <p14:creationId xmlns:p14="http://schemas.microsoft.com/office/powerpoint/2010/main" val="368697835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Maxmin</a:t>
            </a:r>
            <a:r>
              <a:rPr lang="en-IN" sz="2000" b="1" dirty="0" smtClean="0">
                <a:solidFill>
                  <a:srgbClr val="002060"/>
                </a:solidFill>
                <a:latin typeface="Times New Roman" panose="02020603050405020304" pitchFamily="18" charset="0"/>
                <a:cs typeface="Times New Roman" panose="02020603050405020304" pitchFamily="18" charset="0"/>
              </a:rPr>
              <a:t> algorithm </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err="1">
                <a:solidFill>
                  <a:srgbClr val="002060"/>
                </a:solidFill>
                <a:latin typeface="Times New Roman" panose="02020603050405020304" pitchFamily="18" charset="0"/>
                <a:cs typeface="Times New Roman" panose="02020603050405020304" pitchFamily="18" charset="0"/>
              </a:rPr>
              <a:t>Maxmin</a:t>
            </a:r>
            <a:r>
              <a:rPr lang="en-IN" b="1" dirty="0">
                <a:solidFill>
                  <a:srgbClr val="002060"/>
                </a:solidFill>
                <a:latin typeface="Times New Roman" panose="02020603050405020304" pitchFamily="18" charset="0"/>
                <a:cs typeface="Times New Roman" panose="02020603050405020304" pitchFamily="18" charset="0"/>
              </a:rPr>
              <a:t> algorithm Example</a:t>
            </a:r>
            <a:endParaRPr lang="en-IN"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Trace the </a:t>
            </a:r>
            <a:r>
              <a:rPr lang="en-IN" sz="2000" b="1" dirty="0" err="1">
                <a:solidFill>
                  <a:srgbClr val="002060"/>
                </a:solidFill>
                <a:latin typeface="Times New Roman" panose="02020603050405020304" pitchFamily="18" charset="0"/>
                <a:cs typeface="Times New Roman" panose="02020603050405020304" pitchFamily="18" charset="0"/>
              </a:rPr>
              <a:t>Maxmin</a:t>
            </a:r>
            <a:r>
              <a:rPr lang="en-IN" sz="2000" b="1" dirty="0">
                <a:solidFill>
                  <a:srgbClr val="002060"/>
                </a:solidFill>
                <a:latin typeface="Times New Roman" panose="02020603050405020304" pitchFamily="18" charset="0"/>
                <a:cs typeface="Times New Roman" panose="02020603050405020304" pitchFamily="18" charset="0"/>
              </a:rPr>
              <a:t> algorithm </a:t>
            </a:r>
            <a:r>
              <a:rPr lang="en-IN" sz="2000" b="1" dirty="0" smtClean="0">
                <a:solidFill>
                  <a:srgbClr val="002060"/>
                </a:solidFill>
                <a:latin typeface="Times New Roman" panose="02020603050405020304" pitchFamily="18" charset="0"/>
                <a:cs typeface="Times New Roman" panose="02020603050405020304" pitchFamily="18" charset="0"/>
              </a:rPr>
              <a:t>for a given list of elements and also construct the recursive calls tree</a:t>
            </a:r>
          </a:p>
          <a:p>
            <a:pPr algn="just"/>
            <a:r>
              <a:rPr lang="en-IN" sz="2000" b="1" dirty="0" smtClean="0">
                <a:solidFill>
                  <a:srgbClr val="C00000"/>
                </a:solidFill>
                <a:latin typeface="Times New Roman" panose="02020603050405020304" pitchFamily="18" charset="0"/>
                <a:cs typeface="Times New Roman" panose="02020603050405020304" pitchFamily="18" charset="0"/>
              </a:rPr>
              <a:t>22, 13, -5, -8,  15, 60, 17, 31, 47</a:t>
            </a:r>
          </a:p>
          <a:p>
            <a:pPr algn="just"/>
            <a:r>
              <a:rPr lang="en-IN" sz="2000" b="1" dirty="0" smtClean="0">
                <a:solidFill>
                  <a:srgbClr val="C00000"/>
                </a:solidFill>
                <a:latin typeface="Times New Roman" panose="02020603050405020304" pitchFamily="18" charset="0"/>
                <a:cs typeface="Times New Roman" panose="02020603050405020304" pitchFamily="18" charset="0"/>
              </a:rPr>
              <a:t>Solution:</a:t>
            </a: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smtClean="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r>
              <a:rPr lang="en-IN" sz="2000" b="1" dirty="0" smtClean="0">
                <a:solidFill>
                  <a:srgbClr val="C00000"/>
                </a:solidFill>
                <a:latin typeface="Times New Roman" panose="02020603050405020304" pitchFamily="18" charset="0"/>
                <a:cs typeface="Times New Roman" panose="02020603050405020304" pitchFamily="18" charset="0"/>
              </a:rPr>
              <a:t>Array size is n=9</a:t>
            </a:r>
          </a:p>
          <a:p>
            <a:pPr algn="just"/>
            <a:endParaRPr lang="en-IN" sz="20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93</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817556074"/>
              </p:ext>
            </p:extLst>
          </p:nvPr>
        </p:nvGraphicFramePr>
        <p:xfrm>
          <a:off x="2081591" y="2746262"/>
          <a:ext cx="6502401" cy="741680"/>
        </p:xfrm>
        <a:graphic>
          <a:graphicData uri="http://schemas.openxmlformats.org/drawingml/2006/table">
            <a:tbl>
              <a:tblPr firstRow="1" bandRow="1">
                <a:tableStyleId>{5C22544A-7EE6-4342-B048-85BDC9FD1C3A}</a:tableStyleId>
              </a:tblPr>
              <a:tblGrid>
                <a:gridCol w="722489"/>
                <a:gridCol w="722489"/>
                <a:gridCol w="722489"/>
                <a:gridCol w="722489"/>
                <a:gridCol w="722489"/>
                <a:gridCol w="722489"/>
                <a:gridCol w="722489"/>
                <a:gridCol w="722489"/>
                <a:gridCol w="722489"/>
              </a:tblGrid>
              <a:tr h="370840">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8</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pPr algn="ctr"/>
                      <a:r>
                        <a:rPr lang="en-IN" b="1" dirty="0" smtClean="0">
                          <a:solidFill>
                            <a:srgbClr val="002060"/>
                          </a:solidFill>
                        </a:rPr>
                        <a:t>22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60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31</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47</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9" name="TextBox 8"/>
          <p:cNvSpPr txBox="1"/>
          <p:nvPr/>
        </p:nvSpPr>
        <p:spPr>
          <a:xfrm>
            <a:off x="1032036" y="2640048"/>
            <a:ext cx="943583" cy="646331"/>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Index</a:t>
            </a:r>
          </a:p>
          <a:p>
            <a:endParaRPr lang="en-IN" dirty="0"/>
          </a:p>
        </p:txBody>
      </p:sp>
      <p:cxnSp>
        <p:nvCxnSpPr>
          <p:cNvPr id="11" name="Straight Arrow Connector 10"/>
          <p:cNvCxnSpPr/>
          <p:nvPr/>
        </p:nvCxnSpPr>
        <p:spPr>
          <a:xfrm flipV="1">
            <a:off x="1077789" y="2963213"/>
            <a:ext cx="852075" cy="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680546" y="2354599"/>
            <a:ext cx="943583"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A</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0" name="Date Placeholder 9"/>
          <p:cNvSpPr>
            <a:spLocks noGrp="1"/>
          </p:cNvSpPr>
          <p:nvPr>
            <p:ph type="dt" sz="half" idx="10"/>
          </p:nvPr>
        </p:nvSpPr>
        <p:spPr/>
        <p:txBody>
          <a:bodyPr/>
          <a:lstStyle/>
          <a:p>
            <a:fld id="{64F33121-3878-4D32-9CA1-8558F58A5E53}" type="datetime1">
              <a:rPr lang="en-IN" smtClean="0"/>
              <a:t>21-03-2026</a:t>
            </a:fld>
            <a:endParaRPr lang="en-IN"/>
          </a:p>
        </p:txBody>
      </p:sp>
    </p:spTree>
    <p:extLst>
      <p:ext uri="{BB962C8B-B14F-4D97-AF65-F5344CB8AC3E}">
        <p14:creationId xmlns:p14="http://schemas.microsoft.com/office/powerpoint/2010/main" val="170447134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Maxmin</a:t>
            </a:r>
            <a:r>
              <a:rPr lang="en-IN" sz="2000" b="1" dirty="0" smtClean="0">
                <a:solidFill>
                  <a:srgbClr val="002060"/>
                </a:solidFill>
                <a:latin typeface="Times New Roman" panose="02020603050405020304" pitchFamily="18" charset="0"/>
                <a:cs typeface="Times New Roman" panose="02020603050405020304" pitchFamily="18" charset="0"/>
              </a:rPr>
              <a:t> algorithm </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smtClean="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94</a:t>
            </a:fld>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11" name="Straight Arrow Connector 10"/>
          <p:cNvCxnSpPr/>
          <p:nvPr/>
        </p:nvCxnSpPr>
        <p:spPr>
          <a:xfrm flipH="1">
            <a:off x="4217942" y="978284"/>
            <a:ext cx="638640" cy="48421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17" idx="1"/>
          </p:cNvCxnSpPr>
          <p:nvPr/>
        </p:nvCxnSpPr>
        <p:spPr>
          <a:xfrm>
            <a:off x="6160636" y="942520"/>
            <a:ext cx="576256" cy="456300"/>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4529463" y="1852415"/>
            <a:ext cx="402492" cy="55691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119" idx="0"/>
          </p:cNvCxnSpPr>
          <p:nvPr/>
        </p:nvCxnSpPr>
        <p:spPr>
          <a:xfrm flipH="1">
            <a:off x="2901142" y="1821426"/>
            <a:ext cx="366655" cy="479888"/>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7773710" y="1800578"/>
            <a:ext cx="646390" cy="56063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546470" y="5157770"/>
            <a:ext cx="794815" cy="986530"/>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124" idx="7"/>
          </p:cNvCxnSpPr>
          <p:nvPr/>
        </p:nvCxnSpPr>
        <p:spPr>
          <a:xfrm>
            <a:off x="3497588" y="2593741"/>
            <a:ext cx="735433" cy="83267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125" idx="1"/>
          </p:cNvCxnSpPr>
          <p:nvPr/>
        </p:nvCxnSpPr>
        <p:spPr>
          <a:xfrm flipH="1">
            <a:off x="1523421" y="2625378"/>
            <a:ext cx="754507" cy="787897"/>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6164524" y="2936002"/>
            <a:ext cx="629770" cy="1574507"/>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H="1">
            <a:off x="7977788" y="2963836"/>
            <a:ext cx="936496" cy="1635266"/>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728460" y="2799158"/>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Max=22</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51" name="TextBox 50"/>
          <p:cNvSpPr txBox="1"/>
          <p:nvPr/>
        </p:nvSpPr>
        <p:spPr>
          <a:xfrm>
            <a:off x="498810" y="1806495"/>
            <a:ext cx="1094729"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Dividing</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52" name="TextBox 51"/>
          <p:cNvSpPr txBox="1"/>
          <p:nvPr/>
        </p:nvSpPr>
        <p:spPr>
          <a:xfrm>
            <a:off x="708081" y="3041483"/>
            <a:ext cx="1027556"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Min=13</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57" name="TextBox 56"/>
          <p:cNvSpPr txBox="1"/>
          <p:nvPr/>
        </p:nvSpPr>
        <p:spPr>
          <a:xfrm>
            <a:off x="4143693" y="3164710"/>
            <a:ext cx="1027556"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Min=-5</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58" name="TextBox 57"/>
          <p:cNvSpPr txBox="1"/>
          <p:nvPr/>
        </p:nvSpPr>
        <p:spPr>
          <a:xfrm>
            <a:off x="4430670" y="2489008"/>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60" name="TextBox 59"/>
          <p:cNvSpPr txBox="1"/>
          <p:nvPr/>
        </p:nvSpPr>
        <p:spPr>
          <a:xfrm>
            <a:off x="2979808" y="3026330"/>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61" name="TextBox 60"/>
          <p:cNvSpPr txBox="1"/>
          <p:nvPr/>
        </p:nvSpPr>
        <p:spPr>
          <a:xfrm>
            <a:off x="4852987" y="2133843"/>
            <a:ext cx="1027556"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Min=-8</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62" name="TextBox 61"/>
          <p:cNvSpPr txBox="1"/>
          <p:nvPr/>
        </p:nvSpPr>
        <p:spPr>
          <a:xfrm>
            <a:off x="5759872" y="4208214"/>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Max=60</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63" name="TextBox 62"/>
          <p:cNvSpPr txBox="1"/>
          <p:nvPr/>
        </p:nvSpPr>
        <p:spPr>
          <a:xfrm>
            <a:off x="6262032" y="2017891"/>
            <a:ext cx="1027556"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Min=17</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65" name="TextBox 64"/>
          <p:cNvSpPr txBox="1"/>
          <p:nvPr/>
        </p:nvSpPr>
        <p:spPr>
          <a:xfrm>
            <a:off x="8420100" y="2070236"/>
            <a:ext cx="1027556"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Min=31</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70" name="Straight Arrow Connector 69"/>
          <p:cNvCxnSpPr/>
          <p:nvPr/>
        </p:nvCxnSpPr>
        <p:spPr>
          <a:xfrm flipH="1">
            <a:off x="6152721" y="1668328"/>
            <a:ext cx="373049" cy="833042"/>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endCxn id="133" idx="1"/>
          </p:cNvCxnSpPr>
          <p:nvPr/>
        </p:nvCxnSpPr>
        <p:spPr>
          <a:xfrm>
            <a:off x="1594715" y="3952481"/>
            <a:ext cx="596255" cy="616748"/>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140" idx="7"/>
          </p:cNvCxnSpPr>
          <p:nvPr/>
        </p:nvCxnSpPr>
        <p:spPr>
          <a:xfrm flipH="1">
            <a:off x="4027520" y="3069596"/>
            <a:ext cx="1022748" cy="2548373"/>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2019749" y="5418625"/>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Max=22</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78" name="TextBox 77"/>
          <p:cNvSpPr txBox="1"/>
          <p:nvPr/>
        </p:nvSpPr>
        <p:spPr>
          <a:xfrm>
            <a:off x="1983142" y="5628001"/>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Min=-8</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84" name="TextBox 83"/>
          <p:cNvSpPr txBox="1"/>
          <p:nvPr/>
        </p:nvSpPr>
        <p:spPr>
          <a:xfrm>
            <a:off x="8392583" y="1815923"/>
            <a:ext cx="958459"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Max=47</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96" name="TextBox 95"/>
          <p:cNvSpPr txBox="1"/>
          <p:nvPr/>
        </p:nvSpPr>
        <p:spPr>
          <a:xfrm>
            <a:off x="5786464" y="4434596"/>
            <a:ext cx="1027556"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Min=17</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97" name="TextBox 96"/>
          <p:cNvSpPr txBox="1"/>
          <p:nvPr/>
        </p:nvSpPr>
        <p:spPr>
          <a:xfrm>
            <a:off x="6201700" y="2234402"/>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Max=60</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cxnSp>
        <p:nvCxnSpPr>
          <p:cNvPr id="98" name="Straight Arrow Connector 97"/>
          <p:cNvCxnSpPr/>
          <p:nvPr/>
        </p:nvCxnSpPr>
        <p:spPr>
          <a:xfrm>
            <a:off x="4162896" y="5732247"/>
            <a:ext cx="1692750" cy="626782"/>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flipH="1">
            <a:off x="3244954" y="3738831"/>
            <a:ext cx="735451" cy="877915"/>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5349580" y="5675801"/>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Max=60</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cxnSp>
        <p:nvCxnSpPr>
          <p:cNvPr id="107" name="Straight Connector 106"/>
          <p:cNvCxnSpPr/>
          <p:nvPr/>
        </p:nvCxnSpPr>
        <p:spPr>
          <a:xfrm flipV="1">
            <a:off x="382686" y="4125366"/>
            <a:ext cx="11081960" cy="44885"/>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3" name="TextBox 112"/>
          <p:cNvSpPr txBox="1"/>
          <p:nvPr/>
        </p:nvSpPr>
        <p:spPr>
          <a:xfrm>
            <a:off x="390870" y="5556938"/>
            <a:ext cx="1094729"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Merging </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14" name="Oval 113"/>
          <p:cNvSpPr/>
          <p:nvPr/>
        </p:nvSpPr>
        <p:spPr>
          <a:xfrm>
            <a:off x="4858466" y="692265"/>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0, 8</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15" name="Oval 114"/>
          <p:cNvSpPr/>
          <p:nvPr/>
        </p:nvSpPr>
        <p:spPr>
          <a:xfrm>
            <a:off x="3317822" y="1469099"/>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17" name="Oval 116"/>
          <p:cNvSpPr/>
          <p:nvPr/>
        </p:nvSpPr>
        <p:spPr>
          <a:xfrm>
            <a:off x="6546470" y="1291876"/>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5, 8</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18" name="Oval 117"/>
          <p:cNvSpPr/>
          <p:nvPr/>
        </p:nvSpPr>
        <p:spPr>
          <a:xfrm>
            <a:off x="4365991" y="2439235"/>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3, 4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19" name="Oval 118"/>
          <p:cNvSpPr/>
          <p:nvPr/>
        </p:nvSpPr>
        <p:spPr>
          <a:xfrm>
            <a:off x="2250999" y="2301314"/>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0, 2</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20" name="Oval 119"/>
          <p:cNvSpPr/>
          <p:nvPr/>
        </p:nvSpPr>
        <p:spPr>
          <a:xfrm>
            <a:off x="7907366" y="2339340"/>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7, 8</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21" name="Oval 120"/>
          <p:cNvSpPr/>
          <p:nvPr/>
        </p:nvSpPr>
        <p:spPr>
          <a:xfrm>
            <a:off x="5855646" y="2501370"/>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5, 6</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24" name="Oval 123"/>
          <p:cNvSpPr/>
          <p:nvPr/>
        </p:nvSpPr>
        <p:spPr>
          <a:xfrm>
            <a:off x="3123157" y="3319476"/>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2, 2</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25" name="Oval 124"/>
          <p:cNvSpPr/>
          <p:nvPr/>
        </p:nvSpPr>
        <p:spPr>
          <a:xfrm>
            <a:off x="1332999" y="3306331"/>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0, 1</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29" name="TextBox 128"/>
          <p:cNvSpPr txBox="1"/>
          <p:nvPr/>
        </p:nvSpPr>
        <p:spPr>
          <a:xfrm>
            <a:off x="4823203" y="1779235"/>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Max=15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133" name="Oval 132"/>
          <p:cNvSpPr/>
          <p:nvPr/>
        </p:nvSpPr>
        <p:spPr>
          <a:xfrm>
            <a:off x="2000548" y="4462285"/>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0, 2</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35" name="TextBox 134"/>
          <p:cNvSpPr txBox="1"/>
          <p:nvPr/>
        </p:nvSpPr>
        <p:spPr>
          <a:xfrm>
            <a:off x="1172546" y="4450181"/>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Max=22</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136" name="TextBox 135"/>
          <p:cNvSpPr txBox="1"/>
          <p:nvPr/>
        </p:nvSpPr>
        <p:spPr>
          <a:xfrm>
            <a:off x="1079761" y="4663376"/>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137" name="Oval 136"/>
          <p:cNvSpPr/>
          <p:nvPr/>
        </p:nvSpPr>
        <p:spPr>
          <a:xfrm>
            <a:off x="6700658" y="4420680"/>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5, 8</a:t>
            </a:r>
            <a:endParaRPr lang="en-IN" b="1" dirty="0">
              <a:solidFill>
                <a:srgbClr val="002060"/>
              </a:solidFill>
              <a:latin typeface="Times New Roman" panose="02020603050405020304" pitchFamily="18" charset="0"/>
              <a:cs typeface="Times New Roman" panose="02020603050405020304" pitchFamily="18" charset="0"/>
            </a:endParaRPr>
          </a:p>
        </p:txBody>
      </p:sp>
      <p:cxnSp>
        <p:nvCxnSpPr>
          <p:cNvPr id="138" name="Straight Arrow Connector 137"/>
          <p:cNvCxnSpPr/>
          <p:nvPr/>
        </p:nvCxnSpPr>
        <p:spPr>
          <a:xfrm>
            <a:off x="2681680" y="5204645"/>
            <a:ext cx="441477" cy="457528"/>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40" name="Oval 139"/>
          <p:cNvSpPr/>
          <p:nvPr/>
        </p:nvSpPr>
        <p:spPr>
          <a:xfrm>
            <a:off x="2917656" y="5511025"/>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45" name="Oval 144"/>
          <p:cNvSpPr/>
          <p:nvPr/>
        </p:nvSpPr>
        <p:spPr>
          <a:xfrm>
            <a:off x="5798621" y="6144300"/>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0, 8</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47" name="TextBox 146"/>
          <p:cNvSpPr txBox="1"/>
          <p:nvPr/>
        </p:nvSpPr>
        <p:spPr>
          <a:xfrm>
            <a:off x="5286242" y="5896071"/>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Min=-8</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graphicFrame>
        <p:nvGraphicFramePr>
          <p:cNvPr id="59" name="Table 58"/>
          <p:cNvGraphicFramePr>
            <a:graphicFrameLocks noGrp="1"/>
          </p:cNvGraphicFramePr>
          <p:nvPr>
            <p:extLst>
              <p:ext uri="{D42A27DB-BD31-4B8C-83A1-F6EECF244321}">
                <p14:modId xmlns:p14="http://schemas.microsoft.com/office/powerpoint/2010/main" val="2633342151"/>
              </p:ext>
            </p:extLst>
          </p:nvPr>
        </p:nvGraphicFramePr>
        <p:xfrm>
          <a:off x="5998449" y="17300"/>
          <a:ext cx="5610843" cy="731520"/>
        </p:xfrm>
        <a:graphic>
          <a:graphicData uri="http://schemas.openxmlformats.org/drawingml/2006/table">
            <a:tbl>
              <a:tblPr firstRow="1" bandRow="1">
                <a:tableStyleId>{5C22544A-7EE6-4342-B048-85BDC9FD1C3A}</a:tableStyleId>
              </a:tblPr>
              <a:tblGrid>
                <a:gridCol w="623427"/>
                <a:gridCol w="623427"/>
                <a:gridCol w="623427"/>
                <a:gridCol w="623427"/>
                <a:gridCol w="623427"/>
                <a:gridCol w="623427"/>
                <a:gridCol w="623427"/>
                <a:gridCol w="623427"/>
                <a:gridCol w="623427"/>
              </a:tblGrid>
              <a:tr h="294536">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8</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294536">
                <a:tc>
                  <a:txBody>
                    <a:bodyPr/>
                    <a:lstStyle/>
                    <a:p>
                      <a:pPr algn="ctr"/>
                      <a:r>
                        <a:rPr lang="en-IN" b="1" dirty="0" smtClean="0">
                          <a:solidFill>
                            <a:srgbClr val="002060"/>
                          </a:solidFill>
                        </a:rPr>
                        <a:t>22</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13</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60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17</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31</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47</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6" name="Date Placeholder 5"/>
          <p:cNvSpPr>
            <a:spLocks noGrp="1"/>
          </p:cNvSpPr>
          <p:nvPr>
            <p:ph type="dt" sz="half" idx="10"/>
          </p:nvPr>
        </p:nvSpPr>
        <p:spPr/>
        <p:txBody>
          <a:bodyPr/>
          <a:lstStyle/>
          <a:p>
            <a:fld id="{F8AD38D6-F941-4A78-ABA5-E3E6D8B895C4}" type="datetime1">
              <a:rPr lang="en-IN" smtClean="0"/>
              <a:t>21-03-2026</a:t>
            </a:fld>
            <a:endParaRPr lang="en-IN"/>
          </a:p>
        </p:txBody>
      </p:sp>
    </p:spTree>
    <p:extLst>
      <p:ext uri="{BB962C8B-B14F-4D97-AF65-F5344CB8AC3E}">
        <p14:creationId xmlns:p14="http://schemas.microsoft.com/office/powerpoint/2010/main" val="1290621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2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2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2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6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0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0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3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35"/>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3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75"/>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3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4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77"/>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7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43"/>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48"/>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37"/>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6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96"/>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98"/>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29"/>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104"/>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147"/>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P spid="57" grpId="0"/>
      <p:bldP spid="60" grpId="0"/>
      <p:bldP spid="61" grpId="0"/>
      <p:bldP spid="62" grpId="0"/>
      <p:bldP spid="63" grpId="0"/>
      <p:bldP spid="65" grpId="0"/>
      <p:bldP spid="77" grpId="0"/>
      <p:bldP spid="78" grpId="0"/>
      <p:bldP spid="84" grpId="0"/>
      <p:bldP spid="96" grpId="0"/>
      <p:bldP spid="97" grpId="0"/>
      <p:bldP spid="104" grpId="0"/>
      <p:bldP spid="114" grpId="0" animBg="1"/>
      <p:bldP spid="115" grpId="0" animBg="1"/>
      <p:bldP spid="117" grpId="0" animBg="1"/>
      <p:bldP spid="118" grpId="0" animBg="1"/>
      <p:bldP spid="119" grpId="0" animBg="1"/>
      <p:bldP spid="120" grpId="0" animBg="1"/>
      <p:bldP spid="121" grpId="0" animBg="1"/>
      <p:bldP spid="124" grpId="0" animBg="1"/>
      <p:bldP spid="125" grpId="0" animBg="1"/>
      <p:bldP spid="129" grpId="0"/>
      <p:bldP spid="133" grpId="0" animBg="1"/>
      <p:bldP spid="135" grpId="0"/>
      <p:bldP spid="136" grpId="0"/>
      <p:bldP spid="137" grpId="0" animBg="1"/>
      <p:bldP spid="140" grpId="0" animBg="1"/>
      <p:bldP spid="145" grpId="0" animBg="1"/>
      <p:bldP spid="147"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Maxmin</a:t>
            </a:r>
            <a:r>
              <a:rPr lang="en-IN" sz="2000" b="1" dirty="0" smtClean="0">
                <a:solidFill>
                  <a:srgbClr val="002060"/>
                </a:solidFill>
                <a:latin typeface="Times New Roman" panose="02020603050405020304" pitchFamily="18" charset="0"/>
                <a:cs typeface="Times New Roman" panose="02020603050405020304" pitchFamily="18" charset="0"/>
              </a:rPr>
              <a:t> algorithm </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err="1">
                <a:solidFill>
                  <a:srgbClr val="002060"/>
                </a:solidFill>
                <a:latin typeface="Times New Roman" panose="02020603050405020304" pitchFamily="18" charset="0"/>
                <a:cs typeface="Times New Roman" panose="02020603050405020304" pitchFamily="18" charset="0"/>
              </a:rPr>
              <a:t>Maxmin</a:t>
            </a:r>
            <a:r>
              <a:rPr lang="en-IN" b="1" dirty="0">
                <a:solidFill>
                  <a:srgbClr val="002060"/>
                </a:solidFill>
                <a:latin typeface="Times New Roman" panose="02020603050405020304" pitchFamily="18" charset="0"/>
                <a:cs typeface="Times New Roman" panose="02020603050405020304" pitchFamily="18" charset="0"/>
              </a:rPr>
              <a:t> algorithm Example</a:t>
            </a:r>
            <a:endParaRPr lang="en-IN"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Trace the </a:t>
            </a:r>
            <a:r>
              <a:rPr lang="en-IN" sz="2000" b="1" dirty="0" err="1">
                <a:solidFill>
                  <a:srgbClr val="002060"/>
                </a:solidFill>
                <a:latin typeface="Times New Roman" panose="02020603050405020304" pitchFamily="18" charset="0"/>
                <a:cs typeface="Times New Roman" panose="02020603050405020304" pitchFamily="18" charset="0"/>
              </a:rPr>
              <a:t>Maxmin</a:t>
            </a:r>
            <a:r>
              <a:rPr lang="en-IN" sz="2000" b="1" dirty="0">
                <a:solidFill>
                  <a:srgbClr val="002060"/>
                </a:solidFill>
                <a:latin typeface="Times New Roman" panose="02020603050405020304" pitchFamily="18" charset="0"/>
                <a:cs typeface="Times New Roman" panose="02020603050405020304" pitchFamily="18" charset="0"/>
              </a:rPr>
              <a:t> algorithm </a:t>
            </a:r>
            <a:r>
              <a:rPr lang="en-IN" sz="2000" b="1" dirty="0" smtClean="0">
                <a:solidFill>
                  <a:srgbClr val="002060"/>
                </a:solidFill>
                <a:latin typeface="Times New Roman" panose="02020603050405020304" pitchFamily="18" charset="0"/>
                <a:cs typeface="Times New Roman" panose="02020603050405020304" pitchFamily="18" charset="0"/>
              </a:rPr>
              <a:t>for a given list of elements and also construct the recursive calls tree</a:t>
            </a:r>
          </a:p>
          <a:p>
            <a:r>
              <a:rPr lang="en-US" sz="2000" b="1" dirty="0">
                <a:solidFill>
                  <a:srgbClr val="C00000"/>
                </a:solidFill>
                <a:latin typeface="Times New Roman" panose="02020603050405020304" pitchFamily="18" charset="0"/>
                <a:cs typeface="Times New Roman" panose="02020603050405020304" pitchFamily="18" charset="0"/>
              </a:rPr>
              <a:t>65, 70, 75, 80, 85, 60, 55, 50, 45. </a:t>
            </a:r>
            <a:endParaRPr lang="en-IN" sz="2000" b="1" dirty="0">
              <a:solidFill>
                <a:srgbClr val="C00000"/>
              </a:solidFill>
              <a:latin typeface="Times New Roman" panose="02020603050405020304" pitchFamily="18" charset="0"/>
              <a:cs typeface="Times New Roman" panose="02020603050405020304" pitchFamily="18" charset="0"/>
            </a:endParaRPr>
          </a:p>
          <a:p>
            <a:pPr algn="just"/>
            <a:r>
              <a:rPr lang="en-IN" sz="2000" b="1" dirty="0" smtClean="0">
                <a:solidFill>
                  <a:srgbClr val="C00000"/>
                </a:solidFill>
                <a:latin typeface="Times New Roman" panose="02020603050405020304" pitchFamily="18" charset="0"/>
                <a:cs typeface="Times New Roman" panose="02020603050405020304" pitchFamily="18" charset="0"/>
              </a:rPr>
              <a:t>Solution:</a:t>
            </a: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smtClean="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r>
              <a:rPr lang="en-IN" sz="2000" b="1" dirty="0" smtClean="0">
                <a:solidFill>
                  <a:srgbClr val="C00000"/>
                </a:solidFill>
                <a:latin typeface="Times New Roman" panose="02020603050405020304" pitchFamily="18" charset="0"/>
                <a:cs typeface="Times New Roman" panose="02020603050405020304" pitchFamily="18" charset="0"/>
              </a:rPr>
              <a:t>Array size is n=9</a:t>
            </a:r>
          </a:p>
          <a:p>
            <a:pPr algn="just"/>
            <a:endParaRPr lang="en-IN" sz="20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95</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787942794"/>
              </p:ext>
            </p:extLst>
          </p:nvPr>
        </p:nvGraphicFramePr>
        <p:xfrm>
          <a:off x="2081591" y="2746262"/>
          <a:ext cx="6502401" cy="741680"/>
        </p:xfrm>
        <a:graphic>
          <a:graphicData uri="http://schemas.openxmlformats.org/drawingml/2006/table">
            <a:tbl>
              <a:tblPr firstRow="1" bandRow="1">
                <a:tableStyleId>{5C22544A-7EE6-4342-B048-85BDC9FD1C3A}</a:tableStyleId>
              </a:tblPr>
              <a:tblGrid>
                <a:gridCol w="722489"/>
                <a:gridCol w="722489"/>
                <a:gridCol w="722489"/>
                <a:gridCol w="722489"/>
                <a:gridCol w="722489"/>
                <a:gridCol w="722489"/>
                <a:gridCol w="722489"/>
                <a:gridCol w="722489"/>
                <a:gridCol w="722489"/>
              </a:tblGrid>
              <a:tr h="370840">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8</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pPr algn="ctr"/>
                      <a:r>
                        <a:rPr lang="en-IN" b="1" dirty="0" smtClean="0">
                          <a:solidFill>
                            <a:srgbClr val="002060"/>
                          </a:solidFill>
                        </a:rPr>
                        <a:t>65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70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75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60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50</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45</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9" name="TextBox 8"/>
          <p:cNvSpPr txBox="1"/>
          <p:nvPr/>
        </p:nvSpPr>
        <p:spPr>
          <a:xfrm>
            <a:off x="1032036" y="2640048"/>
            <a:ext cx="943583" cy="646331"/>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Index</a:t>
            </a:r>
          </a:p>
          <a:p>
            <a:endParaRPr lang="en-IN" dirty="0"/>
          </a:p>
        </p:txBody>
      </p:sp>
      <p:cxnSp>
        <p:nvCxnSpPr>
          <p:cNvPr id="11" name="Straight Arrow Connector 10"/>
          <p:cNvCxnSpPr/>
          <p:nvPr/>
        </p:nvCxnSpPr>
        <p:spPr>
          <a:xfrm flipV="1">
            <a:off x="1077789" y="2963213"/>
            <a:ext cx="852075" cy="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680546" y="2354599"/>
            <a:ext cx="943583"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A</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2" name="TextBox 11"/>
          <p:cNvSpPr txBox="1"/>
          <p:nvPr/>
        </p:nvSpPr>
        <p:spPr>
          <a:xfrm>
            <a:off x="1983142" y="5628001"/>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Min=-8</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10" name="Date Placeholder 9"/>
          <p:cNvSpPr>
            <a:spLocks noGrp="1"/>
          </p:cNvSpPr>
          <p:nvPr>
            <p:ph type="dt" sz="half" idx="10"/>
          </p:nvPr>
        </p:nvSpPr>
        <p:spPr/>
        <p:txBody>
          <a:bodyPr/>
          <a:lstStyle/>
          <a:p>
            <a:fld id="{50988287-1837-4A17-BDC9-C4D969C5A574}" type="datetime1">
              <a:rPr lang="en-IN" smtClean="0"/>
              <a:t>21-03-2026</a:t>
            </a:fld>
            <a:endParaRPr lang="en-IN"/>
          </a:p>
        </p:txBody>
      </p:sp>
    </p:spTree>
    <p:extLst>
      <p:ext uri="{BB962C8B-B14F-4D97-AF65-F5344CB8AC3E}">
        <p14:creationId xmlns:p14="http://schemas.microsoft.com/office/powerpoint/2010/main" val="3610466211"/>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Maxmin</a:t>
            </a:r>
            <a:r>
              <a:rPr lang="en-IN" sz="2000" b="1" dirty="0" smtClean="0">
                <a:solidFill>
                  <a:srgbClr val="002060"/>
                </a:solidFill>
                <a:latin typeface="Times New Roman" panose="02020603050405020304" pitchFamily="18" charset="0"/>
                <a:cs typeface="Times New Roman" panose="02020603050405020304" pitchFamily="18" charset="0"/>
              </a:rPr>
              <a:t> algorithm </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smtClean="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96</a:t>
            </a:fld>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11" name="Straight Arrow Connector 10"/>
          <p:cNvCxnSpPr/>
          <p:nvPr/>
        </p:nvCxnSpPr>
        <p:spPr>
          <a:xfrm flipH="1">
            <a:off x="4217942" y="978284"/>
            <a:ext cx="638640" cy="48421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17" idx="1"/>
          </p:cNvCxnSpPr>
          <p:nvPr/>
        </p:nvCxnSpPr>
        <p:spPr>
          <a:xfrm>
            <a:off x="6160636" y="942520"/>
            <a:ext cx="576256" cy="456300"/>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4529463" y="1852415"/>
            <a:ext cx="402492" cy="556911"/>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119" idx="0"/>
          </p:cNvCxnSpPr>
          <p:nvPr/>
        </p:nvCxnSpPr>
        <p:spPr>
          <a:xfrm flipH="1">
            <a:off x="2901142" y="1821426"/>
            <a:ext cx="366655" cy="479888"/>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7773710" y="1800578"/>
            <a:ext cx="646390" cy="56063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546470" y="5157770"/>
            <a:ext cx="794815" cy="986530"/>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124" idx="7"/>
          </p:cNvCxnSpPr>
          <p:nvPr/>
        </p:nvCxnSpPr>
        <p:spPr>
          <a:xfrm>
            <a:off x="3497588" y="2593741"/>
            <a:ext cx="735433" cy="832679"/>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125" idx="1"/>
          </p:cNvCxnSpPr>
          <p:nvPr/>
        </p:nvCxnSpPr>
        <p:spPr>
          <a:xfrm flipH="1">
            <a:off x="1523421" y="2625378"/>
            <a:ext cx="754507" cy="787897"/>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6164524" y="2936002"/>
            <a:ext cx="629770" cy="1574507"/>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H="1">
            <a:off x="7977788" y="2963836"/>
            <a:ext cx="936496" cy="1635266"/>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728460" y="2799158"/>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Max=70</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51" name="TextBox 50"/>
          <p:cNvSpPr txBox="1"/>
          <p:nvPr/>
        </p:nvSpPr>
        <p:spPr>
          <a:xfrm>
            <a:off x="498810" y="1806495"/>
            <a:ext cx="1094729"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Dividing</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52" name="TextBox 51"/>
          <p:cNvSpPr txBox="1"/>
          <p:nvPr/>
        </p:nvSpPr>
        <p:spPr>
          <a:xfrm>
            <a:off x="708081" y="3041483"/>
            <a:ext cx="1027556"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Min=65</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57" name="TextBox 56"/>
          <p:cNvSpPr txBox="1"/>
          <p:nvPr/>
        </p:nvSpPr>
        <p:spPr>
          <a:xfrm>
            <a:off x="4007364" y="3116800"/>
            <a:ext cx="1027556"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Min=75</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58" name="TextBox 57"/>
          <p:cNvSpPr txBox="1"/>
          <p:nvPr/>
        </p:nvSpPr>
        <p:spPr>
          <a:xfrm>
            <a:off x="4430670" y="2489008"/>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60" name="TextBox 59"/>
          <p:cNvSpPr txBox="1"/>
          <p:nvPr/>
        </p:nvSpPr>
        <p:spPr>
          <a:xfrm>
            <a:off x="2979808" y="3026330"/>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Max=75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61" name="TextBox 60"/>
          <p:cNvSpPr txBox="1"/>
          <p:nvPr/>
        </p:nvSpPr>
        <p:spPr>
          <a:xfrm>
            <a:off x="4852987" y="2133843"/>
            <a:ext cx="1027556"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Min=80</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62" name="TextBox 61"/>
          <p:cNvSpPr txBox="1"/>
          <p:nvPr/>
        </p:nvSpPr>
        <p:spPr>
          <a:xfrm>
            <a:off x="5759872" y="4208214"/>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Max=60</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63" name="TextBox 62"/>
          <p:cNvSpPr txBox="1"/>
          <p:nvPr/>
        </p:nvSpPr>
        <p:spPr>
          <a:xfrm>
            <a:off x="6262032" y="2017891"/>
            <a:ext cx="1027556"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Min=55</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65" name="TextBox 64"/>
          <p:cNvSpPr txBox="1"/>
          <p:nvPr/>
        </p:nvSpPr>
        <p:spPr>
          <a:xfrm>
            <a:off x="8420100" y="2070236"/>
            <a:ext cx="1027556"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Min=45</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cxnSp>
        <p:nvCxnSpPr>
          <p:cNvPr id="70" name="Straight Arrow Connector 69"/>
          <p:cNvCxnSpPr/>
          <p:nvPr/>
        </p:nvCxnSpPr>
        <p:spPr>
          <a:xfrm flipH="1">
            <a:off x="6152721" y="1668328"/>
            <a:ext cx="373049" cy="833042"/>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endCxn id="133" idx="1"/>
          </p:cNvCxnSpPr>
          <p:nvPr/>
        </p:nvCxnSpPr>
        <p:spPr>
          <a:xfrm>
            <a:off x="1594715" y="3952481"/>
            <a:ext cx="596255" cy="616748"/>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140" idx="7"/>
          </p:cNvCxnSpPr>
          <p:nvPr/>
        </p:nvCxnSpPr>
        <p:spPr>
          <a:xfrm flipH="1">
            <a:off x="4027520" y="3069596"/>
            <a:ext cx="1022748" cy="2548373"/>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2019749" y="5418625"/>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Max=85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78" name="TextBox 77"/>
          <p:cNvSpPr txBox="1"/>
          <p:nvPr/>
        </p:nvSpPr>
        <p:spPr>
          <a:xfrm>
            <a:off x="1983142" y="5628001"/>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Min=65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84" name="TextBox 83"/>
          <p:cNvSpPr txBox="1"/>
          <p:nvPr/>
        </p:nvSpPr>
        <p:spPr>
          <a:xfrm>
            <a:off x="8424992" y="1796523"/>
            <a:ext cx="958459"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Max=50</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96" name="TextBox 95"/>
          <p:cNvSpPr txBox="1"/>
          <p:nvPr/>
        </p:nvSpPr>
        <p:spPr>
          <a:xfrm>
            <a:off x="5786464" y="4434596"/>
            <a:ext cx="1027556" cy="615553"/>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Min=45</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97" name="TextBox 96"/>
          <p:cNvSpPr txBox="1"/>
          <p:nvPr/>
        </p:nvSpPr>
        <p:spPr>
          <a:xfrm>
            <a:off x="6201700" y="2234402"/>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Max=60</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cxnSp>
        <p:nvCxnSpPr>
          <p:cNvPr id="98" name="Straight Arrow Connector 97"/>
          <p:cNvCxnSpPr/>
          <p:nvPr/>
        </p:nvCxnSpPr>
        <p:spPr>
          <a:xfrm>
            <a:off x="4162896" y="5732247"/>
            <a:ext cx="1692750" cy="626782"/>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flipH="1">
            <a:off x="3244954" y="3738831"/>
            <a:ext cx="735451" cy="877915"/>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5349580" y="5675801"/>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Max=85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cxnSp>
        <p:nvCxnSpPr>
          <p:cNvPr id="107" name="Straight Connector 106"/>
          <p:cNvCxnSpPr/>
          <p:nvPr/>
        </p:nvCxnSpPr>
        <p:spPr>
          <a:xfrm flipV="1">
            <a:off x="382686" y="4125366"/>
            <a:ext cx="11081960" cy="44885"/>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3" name="TextBox 112"/>
          <p:cNvSpPr txBox="1"/>
          <p:nvPr/>
        </p:nvSpPr>
        <p:spPr>
          <a:xfrm>
            <a:off x="390870" y="5556938"/>
            <a:ext cx="1094729" cy="646331"/>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Merging </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14" name="Oval 113"/>
          <p:cNvSpPr/>
          <p:nvPr/>
        </p:nvSpPr>
        <p:spPr>
          <a:xfrm>
            <a:off x="4858466" y="692265"/>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0, 8</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15" name="Oval 114"/>
          <p:cNvSpPr/>
          <p:nvPr/>
        </p:nvSpPr>
        <p:spPr>
          <a:xfrm>
            <a:off x="3317822" y="1469099"/>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17" name="Oval 116"/>
          <p:cNvSpPr/>
          <p:nvPr/>
        </p:nvSpPr>
        <p:spPr>
          <a:xfrm>
            <a:off x="6546470" y="1291876"/>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5, 8</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18" name="Oval 117"/>
          <p:cNvSpPr/>
          <p:nvPr/>
        </p:nvSpPr>
        <p:spPr>
          <a:xfrm>
            <a:off x="4365991" y="2439235"/>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3, 4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19" name="Oval 118"/>
          <p:cNvSpPr/>
          <p:nvPr/>
        </p:nvSpPr>
        <p:spPr>
          <a:xfrm>
            <a:off x="2250999" y="2301314"/>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0, 2</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20" name="Oval 119"/>
          <p:cNvSpPr/>
          <p:nvPr/>
        </p:nvSpPr>
        <p:spPr>
          <a:xfrm>
            <a:off x="7907366" y="2339340"/>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7, 8</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21" name="Oval 120"/>
          <p:cNvSpPr/>
          <p:nvPr/>
        </p:nvSpPr>
        <p:spPr>
          <a:xfrm>
            <a:off x="5855646" y="2501370"/>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5, 6</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24" name="Oval 123"/>
          <p:cNvSpPr/>
          <p:nvPr/>
        </p:nvSpPr>
        <p:spPr>
          <a:xfrm>
            <a:off x="3123157" y="3319476"/>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2, 2</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25" name="Oval 124"/>
          <p:cNvSpPr/>
          <p:nvPr/>
        </p:nvSpPr>
        <p:spPr>
          <a:xfrm>
            <a:off x="1332999" y="3306331"/>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0, 1</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29" name="TextBox 128"/>
          <p:cNvSpPr txBox="1"/>
          <p:nvPr/>
        </p:nvSpPr>
        <p:spPr>
          <a:xfrm>
            <a:off x="4831150" y="1888372"/>
            <a:ext cx="1098995"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Max=85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133" name="Oval 132"/>
          <p:cNvSpPr/>
          <p:nvPr/>
        </p:nvSpPr>
        <p:spPr>
          <a:xfrm>
            <a:off x="2000548" y="4462285"/>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0, 2</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35" name="TextBox 134"/>
          <p:cNvSpPr txBox="1"/>
          <p:nvPr/>
        </p:nvSpPr>
        <p:spPr>
          <a:xfrm>
            <a:off x="1172546" y="4450181"/>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Max=75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136" name="TextBox 135"/>
          <p:cNvSpPr txBox="1"/>
          <p:nvPr/>
        </p:nvSpPr>
        <p:spPr>
          <a:xfrm>
            <a:off x="1079761" y="4663376"/>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Min=65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sp>
        <p:nvSpPr>
          <p:cNvPr id="137" name="Oval 136"/>
          <p:cNvSpPr/>
          <p:nvPr/>
        </p:nvSpPr>
        <p:spPr>
          <a:xfrm>
            <a:off x="6700658" y="4420680"/>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5, 8</a:t>
            </a:r>
            <a:endParaRPr lang="en-IN" b="1" dirty="0">
              <a:solidFill>
                <a:srgbClr val="002060"/>
              </a:solidFill>
              <a:latin typeface="Times New Roman" panose="02020603050405020304" pitchFamily="18" charset="0"/>
              <a:cs typeface="Times New Roman" panose="02020603050405020304" pitchFamily="18" charset="0"/>
            </a:endParaRPr>
          </a:p>
        </p:txBody>
      </p:sp>
      <p:cxnSp>
        <p:nvCxnSpPr>
          <p:cNvPr id="138" name="Straight Arrow Connector 137"/>
          <p:cNvCxnSpPr/>
          <p:nvPr/>
        </p:nvCxnSpPr>
        <p:spPr>
          <a:xfrm>
            <a:off x="2681680" y="5204645"/>
            <a:ext cx="441477" cy="457528"/>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40" name="Oval 139"/>
          <p:cNvSpPr/>
          <p:nvPr/>
        </p:nvSpPr>
        <p:spPr>
          <a:xfrm>
            <a:off x="2917656" y="5511025"/>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0, 4</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45" name="Oval 144"/>
          <p:cNvSpPr/>
          <p:nvPr/>
        </p:nvSpPr>
        <p:spPr>
          <a:xfrm>
            <a:off x="5798621" y="6144300"/>
            <a:ext cx="1300286" cy="730256"/>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002060"/>
                </a:solidFill>
                <a:latin typeface="Times New Roman" panose="02020603050405020304" pitchFamily="18" charset="0"/>
                <a:cs typeface="Times New Roman" panose="02020603050405020304" pitchFamily="18" charset="0"/>
              </a:rPr>
              <a:t>0, 8</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47" name="TextBox 146"/>
          <p:cNvSpPr txBox="1"/>
          <p:nvPr/>
        </p:nvSpPr>
        <p:spPr>
          <a:xfrm>
            <a:off x="5286242" y="5896071"/>
            <a:ext cx="1027556" cy="584775"/>
          </a:xfrm>
          <a:prstGeom prst="rect">
            <a:avLst/>
          </a:prstGeom>
          <a:noFill/>
        </p:spPr>
        <p:txBody>
          <a:bodyPr wrap="square" rtlCol="0">
            <a:spAutoFit/>
          </a:bodyP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Min=45</a:t>
            </a:r>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dirty="0"/>
          </a:p>
        </p:txBody>
      </p:sp>
      <p:graphicFrame>
        <p:nvGraphicFramePr>
          <p:cNvPr id="59" name="Table 58"/>
          <p:cNvGraphicFramePr>
            <a:graphicFrameLocks noGrp="1"/>
          </p:cNvGraphicFramePr>
          <p:nvPr>
            <p:extLst>
              <p:ext uri="{D42A27DB-BD31-4B8C-83A1-F6EECF244321}">
                <p14:modId xmlns:p14="http://schemas.microsoft.com/office/powerpoint/2010/main" val="1851122417"/>
              </p:ext>
            </p:extLst>
          </p:nvPr>
        </p:nvGraphicFramePr>
        <p:xfrm>
          <a:off x="6369851" y="170174"/>
          <a:ext cx="5368077" cy="741680"/>
        </p:xfrm>
        <a:graphic>
          <a:graphicData uri="http://schemas.openxmlformats.org/drawingml/2006/table">
            <a:tbl>
              <a:tblPr firstRow="1" bandRow="1">
                <a:tableStyleId>{5C22544A-7EE6-4342-B048-85BDC9FD1C3A}</a:tableStyleId>
              </a:tblPr>
              <a:tblGrid>
                <a:gridCol w="596453"/>
                <a:gridCol w="596453"/>
                <a:gridCol w="596453"/>
                <a:gridCol w="596453"/>
                <a:gridCol w="596453"/>
                <a:gridCol w="596453"/>
                <a:gridCol w="596453"/>
                <a:gridCol w="596453"/>
                <a:gridCol w="596453"/>
              </a:tblGrid>
              <a:tr h="370840">
                <a:tc>
                  <a:txBody>
                    <a:bodyPr/>
                    <a:lstStyle/>
                    <a:p>
                      <a:pPr algn="ctr"/>
                      <a:r>
                        <a:rPr lang="en-IN" dirty="0" smtClean="0">
                          <a:solidFill>
                            <a:srgbClr val="FF0000"/>
                          </a:solidFill>
                        </a:rPr>
                        <a:t>0</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1</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2</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3</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4</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5</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6</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7</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dirty="0" smtClean="0">
                          <a:solidFill>
                            <a:srgbClr val="FF0000"/>
                          </a:solidFill>
                        </a:rPr>
                        <a:t>8</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pPr algn="ctr"/>
                      <a:r>
                        <a:rPr lang="en-IN" b="1" dirty="0" smtClean="0">
                          <a:solidFill>
                            <a:srgbClr val="002060"/>
                          </a:solidFill>
                        </a:rPr>
                        <a:t>65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70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75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85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60</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IN" b="1" dirty="0" smtClean="0">
                          <a:solidFill>
                            <a:srgbClr val="002060"/>
                          </a:solidFill>
                        </a:rPr>
                        <a:t>55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50</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IN" sz="1800" b="1" kern="1200" dirty="0" smtClean="0">
                          <a:solidFill>
                            <a:srgbClr val="002060"/>
                          </a:solidFill>
                          <a:latin typeface="+mn-lt"/>
                          <a:ea typeface="+mn-ea"/>
                          <a:cs typeface="+mn-cs"/>
                        </a:rPr>
                        <a:t>45</a:t>
                      </a:r>
                      <a:endParaRPr lang="en-IN" sz="1800" b="1" kern="1200" dirty="0">
                        <a:solidFill>
                          <a:srgbClr val="00206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6" name="Date Placeholder 5"/>
          <p:cNvSpPr>
            <a:spLocks noGrp="1"/>
          </p:cNvSpPr>
          <p:nvPr>
            <p:ph type="dt" sz="half" idx="10"/>
          </p:nvPr>
        </p:nvSpPr>
        <p:spPr/>
        <p:txBody>
          <a:bodyPr/>
          <a:lstStyle/>
          <a:p>
            <a:fld id="{0F3AB67B-BD88-4E29-A874-8FDF2D35A8F7}" type="datetime1">
              <a:rPr lang="en-IN" smtClean="0"/>
              <a:t>21-03-2026</a:t>
            </a:fld>
            <a:endParaRPr lang="en-IN"/>
          </a:p>
        </p:txBody>
      </p:sp>
    </p:spTree>
    <p:extLst>
      <p:ext uri="{BB962C8B-B14F-4D97-AF65-F5344CB8AC3E}">
        <p14:creationId xmlns:p14="http://schemas.microsoft.com/office/powerpoint/2010/main" val="382421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2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2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2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6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0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0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3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35"/>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3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75"/>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3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4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77"/>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7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43"/>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48"/>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37"/>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6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96"/>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98"/>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29"/>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104"/>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147"/>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P spid="57" grpId="0"/>
      <p:bldP spid="60" grpId="0"/>
      <p:bldP spid="61" grpId="0"/>
      <p:bldP spid="62" grpId="0"/>
      <p:bldP spid="63" grpId="0"/>
      <p:bldP spid="65" grpId="0"/>
      <p:bldP spid="77" grpId="0"/>
      <p:bldP spid="78" grpId="0"/>
      <p:bldP spid="84" grpId="0"/>
      <p:bldP spid="96" grpId="0"/>
      <p:bldP spid="97" grpId="0"/>
      <p:bldP spid="104" grpId="0"/>
      <p:bldP spid="114" grpId="0" animBg="1"/>
      <p:bldP spid="115" grpId="0" animBg="1"/>
      <p:bldP spid="117" grpId="0" animBg="1"/>
      <p:bldP spid="118" grpId="0" animBg="1"/>
      <p:bldP spid="119" grpId="0" animBg="1"/>
      <p:bldP spid="120" grpId="0" animBg="1"/>
      <p:bldP spid="121" grpId="0" animBg="1"/>
      <p:bldP spid="124" grpId="0" animBg="1"/>
      <p:bldP spid="125" grpId="0" animBg="1"/>
      <p:bldP spid="129" grpId="0"/>
      <p:bldP spid="133" grpId="0" animBg="1"/>
      <p:bldP spid="135" grpId="0"/>
      <p:bldP spid="136" grpId="0"/>
      <p:bldP spid="137" grpId="0" animBg="1"/>
      <p:bldP spid="140" grpId="0" animBg="1"/>
      <p:bldP spid="145" grpId="0" animBg="1"/>
      <p:bldP spid="14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Merge sort</a:t>
            </a:r>
            <a:endParaRPr lang="en-IN" sz="3200" b="1" dirty="0">
              <a:solidFill>
                <a:srgbClr val="002060"/>
              </a:solidFill>
            </a:endParaRPr>
          </a:p>
        </p:txBody>
      </p:sp>
      <p:sp>
        <p:nvSpPr>
          <p:cNvPr id="3" name="Subtitle 2"/>
          <p:cNvSpPr>
            <a:spLocks noGrp="1"/>
          </p:cNvSpPr>
          <p:nvPr>
            <p:ph type="subTitle" idx="1"/>
          </p:nvPr>
        </p:nvSpPr>
        <p:spPr>
          <a:xfrm>
            <a:off x="143437" y="862739"/>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Time complexity Analysis of </a:t>
            </a:r>
            <a:r>
              <a:rPr lang="en-IN" b="1" dirty="0" err="1" smtClean="0">
                <a:solidFill>
                  <a:srgbClr val="002060"/>
                </a:solidFill>
                <a:latin typeface="Times New Roman" panose="02020603050405020304" pitchFamily="18" charset="0"/>
                <a:cs typeface="Times New Roman" panose="02020603050405020304" pitchFamily="18" charset="0"/>
              </a:rPr>
              <a:t>Maxmin</a:t>
            </a:r>
            <a:endParaRPr lang="en-IN" b="1" dirty="0" smtClean="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Input size-</a:t>
            </a:r>
            <a:r>
              <a:rPr lang="en-IN" sz="2000" b="1" dirty="0" smtClean="0">
                <a:solidFill>
                  <a:srgbClr val="C00000"/>
                </a:solidFill>
                <a:latin typeface="Times New Roman" panose="02020603050405020304" pitchFamily="18" charset="0"/>
                <a:cs typeface="Times New Roman" panose="02020603050405020304" pitchFamily="18" charset="0"/>
              </a:rPr>
              <a:t> n</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Basic operation- </a:t>
            </a:r>
            <a:r>
              <a:rPr lang="en-IN" sz="2000" b="1" dirty="0">
                <a:solidFill>
                  <a:srgbClr val="C00000"/>
                </a:solidFill>
                <a:latin typeface="Times New Roman" panose="02020603050405020304" pitchFamily="18" charset="0"/>
                <a:cs typeface="Times New Roman" panose="02020603050405020304" pitchFamily="18" charset="0"/>
              </a:rPr>
              <a:t>Divide and merge of n elements</a:t>
            </a:r>
          </a:p>
          <a:p>
            <a:pPr marL="342900" indent="-342900" algn="just">
              <a:buFont typeface="Arial" panose="020B0604020202020204" pitchFamily="34" charset="0"/>
              <a:buChar char="•"/>
            </a:pPr>
            <a:r>
              <a:rPr lang="en-IN" sz="2000" b="1" dirty="0" smtClean="0">
                <a:solidFill>
                  <a:srgbClr val="002060"/>
                </a:solidFill>
                <a:latin typeface="Times New Roman" panose="02020603050405020304" pitchFamily="18" charset="0"/>
                <a:cs typeface="Times New Roman" panose="02020603050405020304" pitchFamily="18" charset="0"/>
              </a:rPr>
              <a:t>As basic operation depends only on input size</a:t>
            </a:r>
          </a:p>
          <a:p>
            <a:pPr algn="just"/>
            <a:r>
              <a:rPr lang="en-IN" sz="2000" b="1" dirty="0" smtClean="0">
                <a:solidFill>
                  <a:srgbClr val="002060"/>
                </a:solidFill>
                <a:latin typeface="Times New Roman" panose="02020603050405020304" pitchFamily="18" charset="0"/>
                <a:cs typeface="Times New Roman" panose="02020603050405020304" pitchFamily="18" charset="0"/>
              </a:rPr>
              <a:t>Case 1: when list has only one element, that element itself is max and min T(1)=0</a:t>
            </a:r>
          </a:p>
          <a:p>
            <a:pPr algn="just"/>
            <a:r>
              <a:rPr lang="en-IN" sz="2000" b="1" dirty="0">
                <a:solidFill>
                  <a:srgbClr val="002060"/>
                </a:solidFill>
                <a:latin typeface="Times New Roman" panose="02020603050405020304" pitchFamily="18" charset="0"/>
                <a:cs typeface="Times New Roman" panose="02020603050405020304" pitchFamily="18" charset="0"/>
              </a:rPr>
              <a:t>Case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when list has only </a:t>
            </a:r>
            <a:r>
              <a:rPr lang="en-IN" sz="2000" b="1" dirty="0" smtClean="0">
                <a:solidFill>
                  <a:srgbClr val="002060"/>
                </a:solidFill>
                <a:latin typeface="Times New Roman" panose="02020603050405020304" pitchFamily="18" charset="0"/>
                <a:cs typeface="Times New Roman" panose="02020603050405020304" pitchFamily="18" charset="0"/>
              </a:rPr>
              <a:t>two </a:t>
            </a:r>
            <a:r>
              <a:rPr lang="en-IN" sz="2000" b="1" dirty="0">
                <a:solidFill>
                  <a:srgbClr val="002060"/>
                </a:solidFill>
                <a:latin typeface="Times New Roman" panose="02020603050405020304" pitchFamily="18" charset="0"/>
                <a:cs typeface="Times New Roman" panose="02020603050405020304" pitchFamily="18" charset="0"/>
              </a:rPr>
              <a:t>element, that element </a:t>
            </a:r>
            <a:r>
              <a:rPr lang="en-IN" sz="2000" b="1" dirty="0" smtClean="0">
                <a:solidFill>
                  <a:srgbClr val="002060"/>
                </a:solidFill>
                <a:latin typeface="Times New Roman" panose="02020603050405020304" pitchFamily="18" charset="0"/>
                <a:cs typeface="Times New Roman" panose="02020603050405020304" pitchFamily="18" charset="0"/>
              </a:rPr>
              <a:t>one is max and other is  min and only comparison is required  T(2)=1</a:t>
            </a:r>
          </a:p>
          <a:p>
            <a:pPr algn="just"/>
            <a:r>
              <a:rPr lang="en-IN" sz="2000" b="1" dirty="0">
                <a:solidFill>
                  <a:srgbClr val="002060"/>
                </a:solidFill>
                <a:latin typeface="Times New Roman" panose="02020603050405020304" pitchFamily="18" charset="0"/>
                <a:cs typeface="Times New Roman" panose="02020603050405020304" pitchFamily="18" charset="0"/>
              </a:rPr>
              <a:t>Case 3</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when list has only </a:t>
            </a:r>
            <a:r>
              <a:rPr lang="en-IN" sz="2000" b="1" dirty="0" smtClean="0">
                <a:solidFill>
                  <a:srgbClr val="002060"/>
                </a:solidFill>
                <a:latin typeface="Times New Roman" panose="02020603050405020304" pitchFamily="18" charset="0"/>
                <a:cs typeface="Times New Roman" panose="02020603050405020304" pitchFamily="18" charset="0"/>
              </a:rPr>
              <a:t>more number of elements n&gt;2, </a:t>
            </a:r>
            <a:r>
              <a:rPr lang="en-IN" sz="2000" b="1" dirty="0">
                <a:solidFill>
                  <a:srgbClr val="002060"/>
                </a:solidFill>
                <a:latin typeface="Times New Roman" panose="02020603050405020304" pitchFamily="18" charset="0"/>
                <a:cs typeface="Times New Roman" panose="02020603050405020304" pitchFamily="18" charset="0"/>
              </a:rPr>
              <a:t>that </a:t>
            </a:r>
            <a:r>
              <a:rPr lang="en-IN" sz="2000" b="1" dirty="0" smtClean="0">
                <a:solidFill>
                  <a:srgbClr val="002060"/>
                </a:solidFill>
                <a:latin typeface="Times New Roman" panose="02020603050405020304" pitchFamily="18" charset="0"/>
                <a:cs typeface="Times New Roman" panose="02020603050405020304" pitchFamily="18" charset="0"/>
              </a:rPr>
              <a:t>list is divided into two parts of equal size, thus recurrence relation is </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97</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p:cNvSpPr txBox="1"/>
              <p:nvPr/>
            </p:nvSpPr>
            <p:spPr>
              <a:xfrm>
                <a:off x="1368559" y="4261329"/>
                <a:ext cx="9661947" cy="1074910"/>
              </a:xfrm>
              <a:prstGeom prst="rect">
                <a:avLst/>
              </a:prstGeom>
              <a:noFill/>
              <a:ln>
                <a:solidFill>
                  <a:schemeClr val="accent1"/>
                </a:solidFill>
              </a:ln>
            </p:spPr>
            <p:txBody>
              <a:bodyPr wrap="square" rtlCol="0">
                <a:spAutoFit/>
              </a:bodyPr>
              <a:lstStyle/>
              <a:p>
                <a:r>
                  <a:rPr lang="en-IN" sz="2000" b="1" dirty="0" smtClean="0">
                    <a:solidFill>
                      <a:srgbClr val="FF0000"/>
                    </a:solidFill>
                    <a:cs typeface="Times New Roman" panose="02020603050405020304" pitchFamily="18" charset="0"/>
                  </a:rPr>
                  <a:t>T</a:t>
                </a:r>
                <a14:m>
                  <m:oMath xmlns:m="http://schemas.openxmlformats.org/officeDocument/2006/math">
                    <m:r>
                      <a:rPr lang="en-IN" sz="2000" b="1" i="1" smtClean="0">
                        <a:solidFill>
                          <a:srgbClr val="FF0000"/>
                        </a:solidFill>
                        <a:latin typeface="Cambria Math" panose="02040503050406030204" pitchFamily="18" charset="0"/>
                        <a:cs typeface="Times New Roman" panose="02020603050405020304" pitchFamily="18" charset="0"/>
                      </a:rPr>
                      <m:t>(</m:t>
                    </m:r>
                    <m:r>
                      <a:rPr lang="en-IN" sz="2000" b="1" i="1" smtClean="0">
                        <a:solidFill>
                          <a:srgbClr val="FF0000"/>
                        </a:solidFill>
                        <a:latin typeface="Cambria Math" panose="02040503050406030204" pitchFamily="18" charset="0"/>
                        <a:cs typeface="Times New Roman" panose="02020603050405020304" pitchFamily="18" charset="0"/>
                      </a:rPr>
                      <m:t>𝒏</m:t>
                    </m:r>
                    <m:r>
                      <a:rPr lang="en-IN" sz="2000" b="1" i="1" smtClean="0">
                        <a:solidFill>
                          <a:srgbClr val="FF0000"/>
                        </a:solidFill>
                        <a:latin typeface="Cambria Math" panose="02040503050406030204" pitchFamily="18" charset="0"/>
                        <a:cs typeface="Times New Roman" panose="02020603050405020304" pitchFamily="18" charset="0"/>
                      </a:rPr>
                      <m:t>)=</m:t>
                    </m:r>
                    <m:d>
                      <m:dPr>
                        <m:begChr m:val="{"/>
                        <m:endChr m:val="}"/>
                        <m:ctrlPr>
                          <a:rPr lang="pt-BR" sz="2000" b="1" i="1" smtClean="0">
                            <a:solidFill>
                              <a:srgbClr val="002060"/>
                            </a:solidFill>
                            <a:latin typeface="Cambria Math"/>
                            <a:cs typeface="Times New Roman" panose="02020603050405020304" pitchFamily="18" charset="0"/>
                          </a:rPr>
                        </m:ctrlPr>
                      </m:dPr>
                      <m:e>
                        <m:r>
                          <a:rPr lang="en-IN" sz="2000" b="1" i="1" smtClean="0">
                            <a:solidFill>
                              <a:srgbClr val="002060"/>
                            </a:solidFill>
                            <a:latin typeface="Cambria Math" panose="02040503050406030204" pitchFamily="18" charset="0"/>
                            <a:cs typeface="Times New Roman" panose="02020603050405020304" pitchFamily="18" charset="0"/>
                          </a:rPr>
                          <m:t>𝟏</m:t>
                        </m:r>
                        <m:eqArr>
                          <m:eqArrPr>
                            <m:ctrlPr>
                              <a:rPr lang="en-IN" sz="2000" b="1" i="1" smtClean="0">
                                <a:solidFill>
                                  <a:srgbClr val="002060"/>
                                </a:solidFill>
                                <a:latin typeface="Cambria Math"/>
                                <a:cs typeface="Times New Roman" panose="02020603050405020304" pitchFamily="18" charset="0"/>
                              </a:rPr>
                            </m:ctrlPr>
                          </m:eqArrPr>
                          <m:e>
                            <m:r>
                              <a:rPr lang="en-IN" sz="2000" b="1" i="1" smtClean="0">
                                <a:solidFill>
                                  <a:srgbClr val="002060"/>
                                </a:solidFill>
                                <a:latin typeface="Cambria Math" panose="02040503050406030204" pitchFamily="18" charset="0"/>
                                <a:cs typeface="Times New Roman" panose="02020603050405020304" pitchFamily="18" charset="0"/>
                              </a:rPr>
                              <m:t>𝟎</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𝒊𝒇</m:t>
                            </m:r>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𝟐</m:t>
                            </m:r>
                          </m:e>
                          <m:e>
                            <m:r>
                              <a:rPr lang="en-IN" sz="2000" b="1" i="1" smtClean="0">
                                <a:solidFill>
                                  <a:srgbClr val="002060"/>
                                </a:solidFill>
                                <a:latin typeface="Cambria Math" panose="02040503050406030204" pitchFamily="18" charset="0"/>
                                <a:cs typeface="Times New Roman" panose="02020603050405020304" pitchFamily="18" charset="0"/>
                              </a:rPr>
                              <m:t>𝑻</m:t>
                            </m:r>
                            <m:d>
                              <m:dPr>
                                <m:ctrlPr>
                                  <a:rPr lang="en-IN" sz="2000" b="1" i="1" smtClean="0">
                                    <a:solidFill>
                                      <a:srgbClr val="002060"/>
                                    </a:solidFill>
                                    <a:latin typeface="Cambria Math"/>
                                    <a:cs typeface="Times New Roman" panose="02020603050405020304" pitchFamily="18" charset="0"/>
                                  </a:rPr>
                                </m:ctrlPr>
                              </m:dPr>
                              <m:e>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𝟐</m:t>
                                </m:r>
                              </m:e>
                            </m:d>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𝑻</m:t>
                            </m:r>
                            <m:d>
                              <m:dPr>
                                <m:ctrlPr>
                                  <a:rPr lang="en-IN" sz="2000" b="1" i="1">
                                    <a:solidFill>
                                      <a:srgbClr val="002060"/>
                                    </a:solidFill>
                                    <a:latin typeface="Cambria Math"/>
                                    <a:cs typeface="Times New Roman" panose="02020603050405020304" pitchFamily="18" charset="0"/>
                                  </a:rPr>
                                </m:ctrlPr>
                              </m:dPr>
                              <m:e>
                                <m:r>
                                  <a:rPr lang="en-IN" sz="2000" b="1" i="1">
                                    <a:solidFill>
                                      <a:srgbClr val="002060"/>
                                    </a:solidFill>
                                    <a:latin typeface="Cambria Math" panose="02040503050406030204" pitchFamily="18" charset="0"/>
                                    <a:cs typeface="Times New Roman" panose="02020603050405020304" pitchFamily="18" charset="0"/>
                                  </a:rPr>
                                  <m:t>𝒏</m:t>
                                </m:r>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𝟐</m:t>
                                </m:r>
                              </m:e>
                            </m:d>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𝟐</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𝒊𝒇</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𝒏</m:t>
                            </m:r>
                            <m:r>
                              <a:rPr lang="en-IN" sz="2000" b="1" i="1" smtClean="0">
                                <a:solidFill>
                                  <a:srgbClr val="002060"/>
                                </a:solidFill>
                                <a:latin typeface="Cambria Math" panose="02040503050406030204" pitchFamily="18" charset="0"/>
                                <a:cs typeface="Times New Roman" panose="02020603050405020304" pitchFamily="18" charset="0"/>
                              </a:rPr>
                              <m:t>&gt;</m:t>
                            </m:r>
                            <m:r>
                              <a:rPr lang="en-IN" sz="2000" b="1" i="1" smtClean="0">
                                <a:solidFill>
                                  <a:srgbClr val="002060"/>
                                </a:solidFill>
                                <a:latin typeface="Cambria Math" panose="02040503050406030204" pitchFamily="18" charset="0"/>
                                <a:cs typeface="Times New Roman" panose="02020603050405020304" pitchFamily="18" charset="0"/>
                              </a:rPr>
                              <m:t>𝟐</m:t>
                            </m:r>
                          </m:e>
                        </m:eqArr>
                      </m:e>
                    </m:d>
                  </m:oMath>
                </a14:m>
                <a:endParaRPr lang="en-IN" sz="28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368559" y="4261329"/>
                <a:ext cx="9661947" cy="1074910"/>
              </a:xfrm>
              <a:prstGeom prst="rect">
                <a:avLst/>
              </a:prstGeom>
              <a:blipFill rotWithShape="0">
                <a:blip r:embed="rId5"/>
                <a:stretch>
                  <a:fillRect l="-631"/>
                </a:stretch>
              </a:blipFill>
              <a:ln>
                <a:solidFill>
                  <a:schemeClr val="accent1"/>
                </a:solidFill>
              </a:ln>
            </p:spPr>
            <p:txBody>
              <a:bodyPr/>
              <a:lstStyle/>
              <a:p>
                <a:r>
                  <a:rPr lang="en-IN">
                    <a:noFill/>
                  </a:rPr>
                  <a:t> </a:t>
                </a:r>
              </a:p>
            </p:txBody>
          </p:sp>
        </mc:Fallback>
      </mc:AlternateContent>
      <p:sp>
        <p:nvSpPr>
          <p:cNvPr id="11" name="TextBox 10"/>
          <p:cNvSpPr txBox="1"/>
          <p:nvPr/>
        </p:nvSpPr>
        <p:spPr>
          <a:xfrm>
            <a:off x="143437" y="5910814"/>
            <a:ext cx="2414936" cy="923330"/>
          </a:xfrm>
          <a:prstGeom prst="rect">
            <a:avLst/>
          </a:prstGeom>
          <a:noFill/>
        </p:spPr>
        <p:txBody>
          <a:bodyPr wrap="square" rtlCol="0">
            <a:spAutoFit/>
          </a:bodyPr>
          <a:lstStyle/>
          <a:p>
            <a:pPr algn="ctr"/>
            <a:r>
              <a:rPr lang="en-IN" b="1" dirty="0" smtClean="0">
                <a:solidFill>
                  <a:srgbClr val="FF0000"/>
                </a:solidFill>
                <a:latin typeface="Times New Roman" panose="02020603050405020304" pitchFamily="18" charset="0"/>
                <a:cs typeface="Times New Roman" panose="02020603050405020304" pitchFamily="18" charset="0"/>
              </a:rPr>
              <a:t>Time required to sort left part of the array</a:t>
            </a:r>
            <a:endParaRPr lang="en-IN"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2" name="TextBox 11"/>
          <p:cNvSpPr txBox="1"/>
          <p:nvPr/>
        </p:nvSpPr>
        <p:spPr>
          <a:xfrm>
            <a:off x="3317119" y="5904219"/>
            <a:ext cx="2537011" cy="923330"/>
          </a:xfrm>
          <a:prstGeom prst="rect">
            <a:avLst/>
          </a:prstGeom>
          <a:noFill/>
        </p:spPr>
        <p:txBody>
          <a:bodyPr wrap="square" rtlCol="0">
            <a:spAutoFit/>
          </a:bodyPr>
          <a:lstStyle/>
          <a:p>
            <a:pPr algn="ctr"/>
            <a:r>
              <a:rPr lang="en-IN" b="1" dirty="0">
                <a:solidFill>
                  <a:srgbClr val="FF0000"/>
                </a:solidFill>
                <a:latin typeface="Times New Roman" panose="02020603050405020304" pitchFamily="18" charset="0"/>
                <a:cs typeface="Times New Roman" panose="02020603050405020304" pitchFamily="18" charset="0"/>
              </a:rPr>
              <a:t>Time required to sort </a:t>
            </a:r>
            <a:r>
              <a:rPr lang="en-IN" b="1" dirty="0" smtClean="0">
                <a:solidFill>
                  <a:srgbClr val="FF0000"/>
                </a:solidFill>
                <a:latin typeface="Times New Roman" panose="02020603050405020304" pitchFamily="18" charset="0"/>
                <a:cs typeface="Times New Roman" panose="02020603050405020304" pitchFamily="18" charset="0"/>
              </a:rPr>
              <a:t>right </a:t>
            </a:r>
            <a:r>
              <a:rPr lang="en-IN" b="1" dirty="0">
                <a:solidFill>
                  <a:srgbClr val="FF0000"/>
                </a:solidFill>
                <a:latin typeface="Times New Roman" panose="02020603050405020304" pitchFamily="18" charset="0"/>
                <a:cs typeface="Times New Roman" panose="02020603050405020304" pitchFamily="18" charset="0"/>
              </a:rPr>
              <a:t>part of the array</a:t>
            </a:r>
          </a:p>
          <a:p>
            <a:endParaRPr lang="en-IN" dirty="0"/>
          </a:p>
        </p:txBody>
      </p:sp>
      <p:cxnSp>
        <p:nvCxnSpPr>
          <p:cNvPr id="14" name="Straight Arrow Connector 13"/>
          <p:cNvCxnSpPr/>
          <p:nvPr/>
        </p:nvCxnSpPr>
        <p:spPr>
          <a:xfrm flipH="1">
            <a:off x="960639" y="5241837"/>
            <a:ext cx="1404742" cy="800494"/>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741679" y="5250579"/>
            <a:ext cx="33782" cy="783011"/>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10"/>
          </p:nvPr>
        </p:nvSpPr>
        <p:spPr/>
        <p:txBody>
          <a:bodyPr/>
          <a:lstStyle/>
          <a:p>
            <a:fld id="{4026485A-A178-4A8E-944D-6F7F6E306E4A}" type="datetime1">
              <a:rPr lang="en-IN" smtClean="0"/>
              <a:t>21-03-2026</a:t>
            </a:fld>
            <a:endParaRPr lang="en-IN"/>
          </a:p>
        </p:txBody>
      </p:sp>
    </p:spTree>
    <p:extLst>
      <p:ext uri="{BB962C8B-B14F-4D97-AF65-F5344CB8AC3E}">
        <p14:creationId xmlns:p14="http://schemas.microsoft.com/office/powerpoint/2010/main" val="322718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Quick sort</a:t>
            </a:r>
            <a:endParaRPr lang="en-IN" sz="3200" b="1" dirty="0">
              <a:solidFill>
                <a:srgbClr val="002060"/>
              </a:solidFill>
            </a:endParaRPr>
          </a:p>
        </p:txBody>
      </p:sp>
      <p:sp>
        <p:nvSpPr>
          <p:cNvPr id="3" name="Subtitle 2"/>
          <p:cNvSpPr>
            <a:spLocks noGrp="1"/>
          </p:cNvSpPr>
          <p:nvPr>
            <p:ph type="subTitle" idx="1"/>
          </p:nvPr>
        </p:nvSpPr>
        <p:spPr>
          <a:xfrm>
            <a:off x="177051" y="732885"/>
            <a:ext cx="11797552" cy="5627707"/>
          </a:xfrm>
        </p:spPr>
        <p:txBody>
          <a:bodyPr>
            <a:norm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Time complexity Analysis </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The above recurrence relation can be rewritten as   </a:t>
            </a:r>
          </a:p>
          <a:p>
            <a:pPr algn="just"/>
            <a:r>
              <a:rPr lang="en-IN" sz="2000" b="1" dirty="0" smtClean="0">
                <a:solidFill>
                  <a:srgbClr val="C00000"/>
                </a:solidFill>
                <a:latin typeface="Times New Roman" panose="02020603050405020304" pitchFamily="18" charset="0"/>
                <a:cs typeface="Times New Roman" panose="02020603050405020304" pitchFamily="18" charset="0"/>
              </a:rPr>
              <a:t>Apply substitution method </a:t>
            </a:r>
          </a:p>
          <a:p>
            <a:pPr algn="just"/>
            <a:r>
              <a:rPr lang="en-IN" sz="2000" b="1" dirty="0" smtClean="0">
                <a:solidFill>
                  <a:srgbClr val="002060"/>
                </a:solidFill>
                <a:latin typeface="Times New Roman" panose="02020603050405020304" pitchFamily="18" charset="0"/>
                <a:cs typeface="Times New Roman" panose="02020603050405020304" pitchFamily="18" charset="0"/>
              </a:rPr>
              <a:t>T(n)=2T(n/2)+2       replace T(n/2) by 2T(n/4)+2</a:t>
            </a:r>
          </a:p>
          <a:p>
            <a:pPr algn="just"/>
            <a:r>
              <a:rPr lang="en-IN" sz="2000" b="1" dirty="0" smtClean="0">
                <a:solidFill>
                  <a:srgbClr val="002060"/>
                </a:solidFill>
                <a:latin typeface="Times New Roman" panose="02020603050405020304" pitchFamily="18" charset="0"/>
                <a:cs typeface="Times New Roman" panose="02020603050405020304" pitchFamily="18" charset="0"/>
              </a:rPr>
              <a:t>T(n</a:t>
            </a:r>
            <a:r>
              <a:rPr lang="en-IN" sz="2000" b="1" dirty="0">
                <a:solidFill>
                  <a:srgbClr val="002060"/>
                </a:solidFill>
                <a:latin typeface="Times New Roman" panose="02020603050405020304" pitchFamily="18" charset="0"/>
                <a:cs typeface="Times New Roman" panose="02020603050405020304" pitchFamily="18" charset="0"/>
              </a:rPr>
              <a:t>)=2[2T(n/4</a:t>
            </a:r>
            <a:r>
              <a:rPr lang="en-IN" sz="2000" b="1" dirty="0" smtClean="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replace </a:t>
            </a:r>
            <a:r>
              <a:rPr lang="en-IN" sz="2000" b="1" dirty="0" smtClean="0">
                <a:solidFill>
                  <a:srgbClr val="002060"/>
                </a:solidFill>
                <a:latin typeface="Times New Roman" panose="02020603050405020304" pitchFamily="18" charset="0"/>
                <a:cs typeface="Times New Roman" panose="02020603050405020304" pitchFamily="18" charset="0"/>
              </a:rPr>
              <a:t>T(n/4) </a:t>
            </a:r>
            <a:r>
              <a:rPr lang="en-IN" sz="2000" b="1" dirty="0">
                <a:solidFill>
                  <a:srgbClr val="002060"/>
                </a:solidFill>
                <a:latin typeface="Times New Roman" panose="02020603050405020304" pitchFamily="18" charset="0"/>
                <a:cs typeface="Times New Roman" panose="02020603050405020304" pitchFamily="18" charset="0"/>
              </a:rPr>
              <a:t>by </a:t>
            </a:r>
            <a:r>
              <a:rPr lang="en-IN" sz="2000" b="1" dirty="0" smtClean="0">
                <a:solidFill>
                  <a:srgbClr val="002060"/>
                </a:solidFill>
                <a:latin typeface="Times New Roman" panose="02020603050405020304" pitchFamily="18" charset="0"/>
                <a:cs typeface="Times New Roman" panose="02020603050405020304" pitchFamily="18" charset="0"/>
              </a:rPr>
              <a:t>2T(n/8)+</a:t>
            </a:r>
            <a:r>
              <a:rPr lang="en-IN" sz="2000" b="1" dirty="0">
                <a:solidFill>
                  <a:srgbClr val="002060"/>
                </a:solidFill>
                <a:latin typeface="Times New Roman" panose="02020603050405020304" pitchFamily="18" charset="0"/>
                <a:cs typeface="Times New Roman" panose="02020603050405020304" pitchFamily="18" charset="0"/>
              </a:rPr>
              <a:t>2</a:t>
            </a:r>
          </a:p>
          <a:p>
            <a:pPr algn="just"/>
            <a:r>
              <a:rPr lang="en-IN" sz="2000" b="1" dirty="0" smtClean="0">
                <a:solidFill>
                  <a:srgbClr val="002060"/>
                </a:solidFill>
                <a:latin typeface="Times New Roman" panose="02020603050405020304" pitchFamily="18" charset="0"/>
                <a:cs typeface="Times New Roman" panose="02020603050405020304" pitchFamily="18" charset="0"/>
              </a:rPr>
              <a:t>T(n)=4[2T(n/8</a:t>
            </a:r>
            <a:r>
              <a:rPr lang="en-IN" sz="2000" b="1" dirty="0">
                <a:solidFill>
                  <a:srgbClr val="002060"/>
                </a:solidFill>
                <a:latin typeface="Times New Roman" panose="02020603050405020304" pitchFamily="18" charset="0"/>
                <a:cs typeface="Times New Roman" panose="02020603050405020304" pitchFamily="18" charset="0"/>
              </a:rPr>
              <a:t>)+</a:t>
            </a:r>
            <a:r>
              <a:rPr lang="en-IN" sz="2000" b="1" dirty="0" smtClean="0">
                <a:solidFill>
                  <a:srgbClr val="002060"/>
                </a:solidFill>
                <a:latin typeface="Times New Roman" panose="02020603050405020304" pitchFamily="18" charset="0"/>
                <a:cs typeface="Times New Roman" panose="02020603050405020304" pitchFamily="18" charset="0"/>
              </a:rPr>
              <a:t>2]+4+2</a:t>
            </a:r>
          </a:p>
          <a:p>
            <a:pPr algn="just"/>
            <a:r>
              <a:rPr lang="en-IN" sz="2000" b="1" dirty="0" smtClean="0">
                <a:solidFill>
                  <a:srgbClr val="002060"/>
                </a:solidFill>
                <a:latin typeface="Times New Roman" panose="02020603050405020304" pitchFamily="18" charset="0"/>
                <a:cs typeface="Times New Roman" panose="02020603050405020304" pitchFamily="18" charset="0"/>
              </a:rPr>
              <a:t>T(n)=2</a:t>
            </a:r>
            <a:r>
              <a:rPr lang="en-IN" sz="2000" b="1" baseline="30000" dirty="0" smtClean="0">
                <a:solidFill>
                  <a:srgbClr val="002060"/>
                </a:solidFill>
                <a:latin typeface="Times New Roman" panose="02020603050405020304" pitchFamily="18" charset="0"/>
                <a:cs typeface="Times New Roman" panose="02020603050405020304" pitchFamily="18" charset="0"/>
              </a:rPr>
              <a:t>3 </a:t>
            </a:r>
            <a:r>
              <a:rPr lang="en-IN" sz="2000" b="1" dirty="0" smtClean="0">
                <a:solidFill>
                  <a:srgbClr val="002060"/>
                </a:solidFill>
                <a:latin typeface="Times New Roman" panose="02020603050405020304" pitchFamily="18" charset="0"/>
                <a:cs typeface="Times New Roman" panose="02020603050405020304" pitchFamily="18" charset="0"/>
              </a:rPr>
              <a:t>T(n/2</a:t>
            </a:r>
            <a:r>
              <a:rPr lang="en-IN" sz="2000" b="1" baseline="30000" dirty="0">
                <a:solidFill>
                  <a:srgbClr val="002060"/>
                </a:solidFill>
                <a:latin typeface="Times New Roman" panose="02020603050405020304" pitchFamily="18" charset="0"/>
                <a:cs typeface="Times New Roman" panose="02020603050405020304" pitchFamily="18" charset="0"/>
              </a:rPr>
              <a:t>3</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30000" dirty="0" smtClean="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30000"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+2</a:t>
            </a:r>
          </a:p>
          <a:p>
            <a:pPr algn="just"/>
            <a:endParaRPr lang="en-IN" sz="2000" b="1" baseline="30000" dirty="0" smtClean="0">
              <a:solidFill>
                <a:srgbClr val="002060"/>
              </a:solidFill>
              <a:latin typeface="Times New Roman" panose="02020603050405020304" pitchFamily="18" charset="0"/>
              <a:cs typeface="Times New Roman" panose="02020603050405020304" pitchFamily="18" charset="0"/>
            </a:endParaRPr>
          </a:p>
          <a:p>
            <a:pPr algn="just"/>
            <a:r>
              <a:rPr lang="en-IN" sz="2000" b="1" baseline="30000" dirty="0" smtClean="0">
                <a:solidFill>
                  <a:srgbClr val="002060"/>
                </a:solidFill>
                <a:latin typeface="Times New Roman" panose="02020603050405020304" pitchFamily="18" charset="0"/>
                <a:cs typeface="Times New Roman" panose="02020603050405020304" pitchFamily="18" charset="0"/>
              </a:rPr>
              <a:t>;</a:t>
            </a:r>
          </a:p>
          <a:p>
            <a:pPr algn="just"/>
            <a:r>
              <a:rPr lang="en-IN" sz="2000" b="1" baseline="30000" dirty="0">
                <a:solidFill>
                  <a:srgbClr val="002060"/>
                </a:solidFill>
                <a:latin typeface="Times New Roman" panose="02020603050405020304" pitchFamily="18" charset="0"/>
                <a:cs typeface="Times New Roman" panose="02020603050405020304" pitchFamily="18" charset="0"/>
              </a:rPr>
              <a:t>;</a:t>
            </a:r>
          </a:p>
          <a:p>
            <a:pPr algn="just"/>
            <a:r>
              <a:rPr lang="en-IN" sz="2000" b="1" dirty="0">
                <a:solidFill>
                  <a:srgbClr val="002060"/>
                </a:solidFill>
                <a:latin typeface="Times New Roman" panose="02020603050405020304" pitchFamily="18" charset="0"/>
                <a:cs typeface="Times New Roman" panose="02020603050405020304" pitchFamily="18" charset="0"/>
              </a:rPr>
              <a:t>T(n)=</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30000" dirty="0" smtClean="0">
                <a:solidFill>
                  <a:srgbClr val="002060"/>
                </a:solidFill>
                <a:latin typeface="Times New Roman" panose="02020603050405020304" pitchFamily="18" charset="0"/>
                <a:cs typeface="Times New Roman" panose="02020603050405020304" pitchFamily="18" charset="0"/>
              </a:rPr>
              <a:t>i-1 </a:t>
            </a:r>
            <a:r>
              <a:rPr lang="en-IN" sz="2000" b="1" dirty="0" smtClean="0">
                <a:solidFill>
                  <a:srgbClr val="002060"/>
                </a:solidFill>
                <a:latin typeface="Times New Roman" panose="02020603050405020304" pitchFamily="18" charset="0"/>
                <a:cs typeface="Times New Roman" panose="02020603050405020304" pitchFamily="18" charset="0"/>
              </a:rPr>
              <a:t>T(n/2</a:t>
            </a:r>
            <a:r>
              <a:rPr lang="en-IN" sz="2000" b="1" baseline="30000" dirty="0" smtClean="0">
                <a:solidFill>
                  <a:srgbClr val="002060"/>
                </a:solidFill>
                <a:latin typeface="Times New Roman" panose="02020603050405020304" pitchFamily="18" charset="0"/>
                <a:cs typeface="Times New Roman" panose="02020603050405020304" pitchFamily="18" charset="0"/>
              </a:rPr>
              <a:t>i-1</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30000" dirty="0" smtClean="0">
                <a:solidFill>
                  <a:srgbClr val="002060"/>
                </a:solidFill>
                <a:latin typeface="Times New Roman" panose="02020603050405020304" pitchFamily="18" charset="0"/>
                <a:cs typeface="Times New Roman" panose="02020603050405020304" pitchFamily="18" charset="0"/>
              </a:rPr>
              <a:t>i-1 </a:t>
            </a:r>
            <a:r>
              <a:rPr lang="en-IN" sz="2000" b="1" dirty="0">
                <a:solidFill>
                  <a:srgbClr val="002060"/>
                </a:solidFill>
                <a:latin typeface="Times New Roman" panose="02020603050405020304" pitchFamily="18" charset="0"/>
                <a:cs typeface="Times New Roman" panose="02020603050405020304" pitchFamily="18" charset="0"/>
              </a:rPr>
              <a:t>+</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30000" dirty="0" smtClean="0">
                <a:solidFill>
                  <a:srgbClr val="002060"/>
                </a:solidFill>
                <a:latin typeface="Times New Roman" panose="02020603050405020304" pitchFamily="18" charset="0"/>
                <a:cs typeface="Times New Roman" panose="02020603050405020304" pitchFamily="18" charset="0"/>
              </a:rPr>
              <a:t>i-2 </a:t>
            </a:r>
            <a:r>
              <a:rPr lang="en-IN" sz="2000" b="1" dirty="0" smtClean="0">
                <a:solidFill>
                  <a:srgbClr val="002060"/>
                </a:solidFill>
                <a:latin typeface="Times New Roman" panose="02020603050405020304" pitchFamily="18" charset="0"/>
                <a:cs typeface="Times New Roman" panose="02020603050405020304" pitchFamily="18" charset="0"/>
              </a:rPr>
              <a:t>+……+</a:t>
            </a:r>
            <a:r>
              <a:rPr lang="en-IN" sz="2000" b="1" dirty="0">
                <a:solidFill>
                  <a:srgbClr val="002060"/>
                </a:solidFill>
                <a:latin typeface="Times New Roman" panose="02020603050405020304" pitchFamily="18" charset="0"/>
                <a:cs typeface="Times New Roman" panose="02020603050405020304" pitchFamily="18" charset="0"/>
              </a:rPr>
              <a:t>2</a:t>
            </a:r>
            <a:r>
              <a:rPr lang="en-IN" sz="2000" b="1" baseline="30000" dirty="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+2</a:t>
            </a:r>
            <a:r>
              <a:rPr lang="en-IN" sz="2000" b="1" baseline="30000" dirty="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+2</a:t>
            </a:r>
          </a:p>
          <a:p>
            <a:pPr algn="just"/>
            <a:r>
              <a:rPr lang="en-IN" sz="2000" b="1" dirty="0">
                <a:solidFill>
                  <a:srgbClr val="002060"/>
                </a:solidFill>
                <a:latin typeface="Times New Roman" panose="02020603050405020304" pitchFamily="18" charset="0"/>
                <a:cs typeface="Times New Roman" panose="02020603050405020304" pitchFamily="18" charset="0"/>
              </a:rPr>
              <a:t>Let us assume </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30000" dirty="0" smtClean="0">
                <a:solidFill>
                  <a:srgbClr val="002060"/>
                </a:solidFill>
                <a:latin typeface="Times New Roman" panose="02020603050405020304" pitchFamily="18" charset="0"/>
                <a:cs typeface="Times New Roman" panose="02020603050405020304" pitchFamily="18" charset="0"/>
              </a:rPr>
              <a:t>i </a:t>
            </a:r>
            <a:r>
              <a:rPr lang="en-IN" sz="2000" b="1" dirty="0" smtClean="0">
                <a:solidFill>
                  <a:srgbClr val="002060"/>
                </a:solidFill>
                <a:latin typeface="Times New Roman" panose="02020603050405020304" pitchFamily="18" charset="0"/>
                <a:cs typeface="Times New Roman" panose="02020603050405020304" pitchFamily="18" charset="0"/>
              </a:rPr>
              <a:t>= n, take log on both sides </a:t>
            </a:r>
          </a:p>
          <a:p>
            <a:pPr algn="just"/>
            <a:r>
              <a:rPr lang="en-IN" sz="2000" b="1" dirty="0" smtClean="0">
                <a:solidFill>
                  <a:srgbClr val="002060"/>
                </a:solidFill>
                <a:latin typeface="Times New Roman" panose="02020603050405020304" pitchFamily="18" charset="0"/>
                <a:cs typeface="Times New Roman" panose="02020603050405020304" pitchFamily="18" charset="0"/>
              </a:rPr>
              <a:t>Log</a:t>
            </a:r>
            <a:r>
              <a:rPr lang="en-IN" sz="2000" b="1" baseline="-25000" dirty="0" smtClean="0">
                <a:solidFill>
                  <a:srgbClr val="002060"/>
                </a:solidFill>
                <a:latin typeface="Times New Roman" panose="02020603050405020304" pitchFamily="18" charset="0"/>
                <a:cs typeface="Times New Roman" panose="02020603050405020304" pitchFamily="18" charset="0"/>
              </a:rPr>
              <a:t>2</a:t>
            </a:r>
            <a:r>
              <a:rPr lang="en-IN" sz="2000" b="1" dirty="0" smtClean="0">
                <a:solidFill>
                  <a:srgbClr val="002060"/>
                </a:solidFill>
                <a:latin typeface="Times New Roman" panose="02020603050405020304" pitchFamily="18" charset="0"/>
                <a:cs typeface="Times New Roman" panose="02020603050405020304" pitchFamily="18" charset="0"/>
              </a:rPr>
              <a:t>2 = log</a:t>
            </a:r>
            <a:r>
              <a:rPr lang="en-IN" sz="2000" b="1" baseline="-25000" dirty="0">
                <a:solidFill>
                  <a:srgbClr val="002060"/>
                </a:solidFill>
                <a:latin typeface="Times New Roman" panose="02020603050405020304" pitchFamily="18" charset="0"/>
                <a:cs typeface="Times New Roman" panose="02020603050405020304" pitchFamily="18" charset="0"/>
              </a:rPr>
              <a:t>2</a:t>
            </a:r>
            <a:r>
              <a:rPr lang="en-IN" sz="2000" b="1" dirty="0" smtClean="0">
                <a:solidFill>
                  <a:srgbClr val="002060"/>
                </a:solidFill>
                <a:latin typeface="Times New Roman" panose="02020603050405020304" pitchFamily="18" charset="0"/>
                <a:cs typeface="Times New Roman" panose="02020603050405020304" pitchFamily="18" charset="0"/>
              </a:rPr>
              <a:t>n</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err="1">
                <a:solidFill>
                  <a:srgbClr val="002060"/>
                </a:solidFill>
                <a:latin typeface="Times New Roman" panose="02020603050405020304" pitchFamily="18" charset="0"/>
                <a:cs typeface="Times New Roman" panose="02020603050405020304" pitchFamily="18" charset="0"/>
              </a:rPr>
              <a:t>i</a:t>
            </a:r>
            <a:r>
              <a:rPr lang="en-IN" sz="2000" b="1" dirty="0">
                <a:solidFill>
                  <a:srgbClr val="002060"/>
                </a:solidFill>
                <a:latin typeface="Times New Roman" panose="02020603050405020304" pitchFamily="18" charset="0"/>
                <a:cs typeface="Times New Roman" panose="02020603050405020304" pitchFamily="18" charset="0"/>
              </a:rPr>
              <a:t>=log</a:t>
            </a:r>
            <a:r>
              <a:rPr lang="en-IN" sz="2000" b="1" baseline="-25000" dirty="0">
                <a:solidFill>
                  <a:srgbClr val="002060"/>
                </a:solidFill>
                <a:latin typeface="Times New Roman" panose="02020603050405020304" pitchFamily="18" charset="0"/>
                <a:cs typeface="Times New Roman" panose="02020603050405020304" pitchFamily="18" charset="0"/>
              </a:rPr>
              <a:t>2</a:t>
            </a:r>
            <a:r>
              <a:rPr lang="en-IN" sz="2000" b="1" dirty="0">
                <a:solidFill>
                  <a:srgbClr val="002060"/>
                </a:solidFill>
                <a:latin typeface="Times New Roman" panose="02020603050405020304" pitchFamily="18" charset="0"/>
                <a:cs typeface="Times New Roman" panose="02020603050405020304" pitchFamily="18" charset="0"/>
              </a:rPr>
              <a:t>n</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98</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TextBox 15"/>
              <p:cNvSpPr txBox="1"/>
              <p:nvPr/>
            </p:nvSpPr>
            <p:spPr>
              <a:xfrm>
                <a:off x="5300953" y="4476698"/>
                <a:ext cx="6052847" cy="1045158"/>
              </a:xfrm>
              <a:prstGeom prst="rect">
                <a:avLst/>
              </a:prstGeom>
              <a:noFill/>
              <a:ln>
                <a:solidFill>
                  <a:schemeClr val="accent1"/>
                </a:solidFill>
              </a:ln>
            </p:spPr>
            <p:txBody>
              <a:bodyPr wrap="square" rtlCol="0">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The time complexity is   T(n) </a:t>
                </a:r>
                <a:r>
                  <a:rPr lang="en-IN"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b="1" i="1">
                            <a:solidFill>
                              <a:srgbClr val="002060"/>
                            </a:solidFill>
                            <a:latin typeface="Cambria Math"/>
                            <a:cs typeface="Times New Roman" panose="02020603050405020304" pitchFamily="18" charset="0"/>
                          </a:rPr>
                        </m:ctrlPr>
                      </m:fPr>
                      <m:num>
                        <m:r>
                          <a:rPr lang="en-IN" b="1" i="1">
                            <a:solidFill>
                              <a:srgbClr val="002060"/>
                            </a:solidFill>
                            <a:latin typeface="Cambria Math" panose="02040503050406030204" pitchFamily="18" charset="0"/>
                            <a:cs typeface="Times New Roman" panose="02020603050405020304" pitchFamily="18" charset="0"/>
                          </a:rPr>
                          <m:t>𝟑</m:t>
                        </m:r>
                        <m:r>
                          <a:rPr lang="en-IN" b="1" i="1">
                            <a:solidFill>
                              <a:srgbClr val="002060"/>
                            </a:solidFill>
                            <a:latin typeface="Cambria Math" panose="02040503050406030204" pitchFamily="18" charset="0"/>
                            <a:cs typeface="Times New Roman" panose="02020603050405020304" pitchFamily="18" charset="0"/>
                          </a:rPr>
                          <m:t>𝒏</m:t>
                        </m:r>
                      </m:num>
                      <m:den>
                        <m:r>
                          <a:rPr lang="en-IN" b="1" i="1">
                            <a:solidFill>
                              <a:srgbClr val="002060"/>
                            </a:solidFill>
                            <a:latin typeface="Cambria Math" panose="02040503050406030204" pitchFamily="18" charset="0"/>
                            <a:cs typeface="Times New Roman" panose="02020603050405020304" pitchFamily="18" charset="0"/>
                          </a:rPr>
                          <m:t>  </m:t>
                        </m:r>
                        <m:r>
                          <a:rPr lang="en-IN" b="1" i="1">
                            <a:solidFill>
                              <a:srgbClr val="002060"/>
                            </a:solidFill>
                            <a:latin typeface="Cambria Math" panose="02040503050406030204" pitchFamily="18" charset="0"/>
                            <a:cs typeface="Times New Roman" panose="02020603050405020304" pitchFamily="18" charset="0"/>
                          </a:rPr>
                          <m:t>𝟐</m:t>
                        </m:r>
                      </m:den>
                    </m:f>
                  </m:oMath>
                </a14:m>
                <a:r>
                  <a:rPr lang="en-IN" b="1" dirty="0">
                    <a:solidFill>
                      <a:srgbClr val="002060"/>
                    </a:solidFill>
                    <a:latin typeface="Times New Roman" panose="02020603050405020304" pitchFamily="18" charset="0"/>
                    <a:cs typeface="Times New Roman" panose="02020603050405020304" pitchFamily="18" charset="0"/>
                  </a:rPr>
                  <a:t> - 2</a:t>
                </a:r>
              </a:p>
              <a:p>
                <a:pPr algn="just"/>
                <a:endParaRPr lang="en-IN" b="1" dirty="0">
                  <a:solidFill>
                    <a:srgbClr val="C00000"/>
                  </a:solidFill>
                  <a:latin typeface="Times New Roman" panose="02020603050405020304" pitchFamily="18" charset="0"/>
                  <a:cs typeface="Times New Roman" panose="02020603050405020304" pitchFamily="18" charset="0"/>
                </a:endParaRPr>
              </a:p>
              <a:p>
                <a:pPr algn="just"/>
                <a:endParaRPr lang="en-IN"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5300953" y="4476698"/>
                <a:ext cx="6052847" cy="1045158"/>
              </a:xfrm>
              <a:prstGeom prst="rect">
                <a:avLst/>
              </a:prstGeom>
              <a:blipFill rotWithShape="0">
                <a:blip r:embed="rId5"/>
                <a:stretch>
                  <a:fillRect l="-804"/>
                </a:stretch>
              </a:blipFill>
              <a:ln>
                <a:solidFill>
                  <a:schemeClr val="accent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6180065" y="1400720"/>
                <a:ext cx="4861070" cy="2918684"/>
              </a:xfrm>
              <a:prstGeom prst="rect">
                <a:avLst/>
              </a:prstGeom>
              <a:noFill/>
              <a:ln>
                <a:solidFill>
                  <a:schemeClr val="accent1"/>
                </a:solidFill>
              </a:ln>
            </p:spPr>
            <p:txBody>
              <a:bodyPr wrap="square" rtlCol="0">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T(n)=</a:t>
                </a:r>
                <a14:m>
                  <m:oMath xmlns:m="http://schemas.openxmlformats.org/officeDocument/2006/math">
                    <m:f>
                      <m:fPr>
                        <m:ctrlPr>
                          <a:rPr lang="en-IN" b="1" i="1">
                            <a:solidFill>
                              <a:srgbClr val="002060"/>
                            </a:solidFill>
                            <a:latin typeface="Cambria Math"/>
                            <a:cs typeface="Times New Roman" panose="02020603050405020304" pitchFamily="18" charset="0"/>
                          </a:rPr>
                        </m:ctrlPr>
                      </m:fPr>
                      <m:num>
                        <m:r>
                          <a:rPr lang="en-IN" b="1" i="1">
                            <a:solidFill>
                              <a:srgbClr val="002060"/>
                            </a:solidFill>
                            <a:latin typeface="Cambria Math" panose="02040503050406030204" pitchFamily="18" charset="0"/>
                            <a:cs typeface="Times New Roman" panose="02020603050405020304" pitchFamily="18" charset="0"/>
                          </a:rPr>
                          <m:t>𝟐</m:t>
                        </m:r>
                        <m:r>
                          <a:rPr lang="en-IN" b="1" i="1" baseline="30000">
                            <a:solidFill>
                              <a:srgbClr val="002060"/>
                            </a:solidFill>
                            <a:latin typeface="Cambria Math" panose="02040503050406030204" pitchFamily="18" charset="0"/>
                            <a:cs typeface="Times New Roman" panose="02020603050405020304" pitchFamily="18" charset="0"/>
                          </a:rPr>
                          <m:t>𝒊</m:t>
                        </m:r>
                      </m:num>
                      <m:den>
                        <m:r>
                          <a:rPr lang="en-IN" b="1" i="1">
                            <a:solidFill>
                              <a:srgbClr val="002060"/>
                            </a:solidFill>
                            <a:latin typeface="Cambria Math" panose="02040503050406030204" pitchFamily="18" charset="0"/>
                            <a:cs typeface="Times New Roman" panose="02020603050405020304" pitchFamily="18" charset="0"/>
                          </a:rPr>
                          <m:t>𝟐</m:t>
                        </m:r>
                      </m:den>
                    </m:f>
                  </m:oMath>
                </a14:m>
                <a:r>
                  <a:rPr lang="en-IN" b="1" baseline="30000" dirty="0" smtClean="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T(n/</a:t>
                </a:r>
                <a14:m>
                  <m:oMath xmlns:m="http://schemas.openxmlformats.org/officeDocument/2006/math">
                    <m:f>
                      <m:fPr>
                        <m:ctrlPr>
                          <a:rPr lang="en-IN" b="1" i="1">
                            <a:solidFill>
                              <a:srgbClr val="002060"/>
                            </a:solidFill>
                            <a:latin typeface="Cambria Math"/>
                            <a:cs typeface="Times New Roman" panose="02020603050405020304" pitchFamily="18" charset="0"/>
                          </a:rPr>
                        </m:ctrlPr>
                      </m:fPr>
                      <m:num>
                        <m:r>
                          <a:rPr lang="en-IN" b="1" i="1">
                            <a:solidFill>
                              <a:srgbClr val="002060"/>
                            </a:solidFill>
                            <a:latin typeface="Cambria Math" panose="02040503050406030204" pitchFamily="18" charset="0"/>
                            <a:cs typeface="Times New Roman" panose="02020603050405020304" pitchFamily="18" charset="0"/>
                          </a:rPr>
                          <m:t>𝟐</m:t>
                        </m:r>
                        <m:r>
                          <a:rPr lang="en-IN" b="1" i="1" baseline="30000">
                            <a:solidFill>
                              <a:srgbClr val="002060"/>
                            </a:solidFill>
                            <a:latin typeface="Cambria Math" panose="02040503050406030204" pitchFamily="18" charset="0"/>
                            <a:cs typeface="Times New Roman" panose="02020603050405020304" pitchFamily="18" charset="0"/>
                          </a:rPr>
                          <m:t>𝒊</m:t>
                        </m:r>
                      </m:num>
                      <m:den>
                        <m:r>
                          <a:rPr lang="en-IN" b="1" i="1">
                            <a:solidFill>
                              <a:srgbClr val="002060"/>
                            </a:solidFill>
                            <a:latin typeface="Cambria Math" panose="02040503050406030204" pitchFamily="18" charset="0"/>
                            <a:cs typeface="Times New Roman" panose="02020603050405020304" pitchFamily="18" charset="0"/>
                          </a:rPr>
                          <m:t>𝟐</m:t>
                        </m:r>
                      </m:den>
                    </m:f>
                  </m:oMath>
                </a14:m>
                <a:r>
                  <a:rPr lang="en-IN" b="1" dirty="0" smtClean="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nary>
                      <m:naryPr>
                        <m:chr m:val="∑"/>
                        <m:ctrlPr>
                          <a:rPr lang="pt-BR" b="1" i="1" dirty="0" smtClean="0">
                            <a:solidFill>
                              <a:srgbClr val="002060"/>
                            </a:solidFill>
                            <a:latin typeface="Cambria Math"/>
                            <a:cs typeface="Times New Roman" panose="02020603050405020304" pitchFamily="18" charset="0"/>
                          </a:rPr>
                        </m:ctrlPr>
                      </m:naryPr>
                      <m:sub>
                        <m:r>
                          <m:rPr>
                            <m:brk m:alnAt="23"/>
                          </m:rPr>
                          <a:rPr lang="en-IN" b="1" i="1" dirty="0" smtClean="0">
                            <a:solidFill>
                              <a:srgbClr val="002060"/>
                            </a:solidFill>
                            <a:latin typeface="Cambria Math" panose="02040503050406030204" pitchFamily="18" charset="0"/>
                            <a:cs typeface="Times New Roman" panose="02020603050405020304" pitchFamily="18" charset="0"/>
                          </a:rPr>
                          <m:t>𝒊</m:t>
                        </m:r>
                        <m:r>
                          <a:rPr lang="en-IN" b="1" i="1" dirty="0" smtClean="0">
                            <a:solidFill>
                              <a:srgbClr val="002060"/>
                            </a:solidFill>
                            <a:latin typeface="Cambria Math" panose="02040503050406030204" pitchFamily="18" charset="0"/>
                            <a:cs typeface="Times New Roman" panose="02020603050405020304" pitchFamily="18" charset="0"/>
                          </a:rPr>
                          <m:t>=</m:t>
                        </m:r>
                        <m:r>
                          <a:rPr lang="en-IN" b="1" i="1" dirty="0" smtClean="0">
                            <a:solidFill>
                              <a:srgbClr val="002060"/>
                            </a:solidFill>
                            <a:latin typeface="Cambria Math" panose="02040503050406030204" pitchFamily="18" charset="0"/>
                            <a:cs typeface="Times New Roman" panose="02020603050405020304" pitchFamily="18" charset="0"/>
                          </a:rPr>
                          <m:t>𝟏</m:t>
                        </m:r>
                      </m:sub>
                      <m:sup>
                        <m:r>
                          <a:rPr lang="en-IN" b="1" i="1" dirty="0" smtClean="0">
                            <a:solidFill>
                              <a:srgbClr val="002060"/>
                            </a:solidFill>
                            <a:latin typeface="Cambria Math" panose="02040503050406030204" pitchFamily="18" charset="0"/>
                            <a:cs typeface="Times New Roman" panose="02020603050405020304" pitchFamily="18" charset="0"/>
                          </a:rPr>
                          <m:t>𝒊</m:t>
                        </m:r>
                        <m:r>
                          <a:rPr lang="en-IN" b="1" i="1" dirty="0" smtClean="0">
                            <a:solidFill>
                              <a:srgbClr val="002060"/>
                            </a:solidFill>
                            <a:latin typeface="Cambria Math" panose="02040503050406030204" pitchFamily="18" charset="0"/>
                            <a:cs typeface="Times New Roman" panose="02020603050405020304" pitchFamily="18" charset="0"/>
                          </a:rPr>
                          <m:t>−</m:t>
                        </m:r>
                        <m:r>
                          <a:rPr lang="en-IN" b="1" i="1" dirty="0" smtClean="0">
                            <a:solidFill>
                              <a:srgbClr val="002060"/>
                            </a:solidFill>
                            <a:latin typeface="Cambria Math" panose="02040503050406030204" pitchFamily="18" charset="0"/>
                            <a:cs typeface="Times New Roman" panose="02020603050405020304" pitchFamily="18" charset="0"/>
                          </a:rPr>
                          <m:t>𝟏</m:t>
                        </m:r>
                      </m:sup>
                      <m:e>
                        <m:r>
                          <m:rPr>
                            <m:nor/>
                          </m:rPr>
                          <a:rPr lang="en-IN" b="1" dirty="0">
                            <a:solidFill>
                              <a:srgbClr val="002060"/>
                            </a:solidFill>
                            <a:latin typeface="Times New Roman" panose="02020603050405020304" pitchFamily="18" charset="0"/>
                            <a:cs typeface="Times New Roman" panose="02020603050405020304" pitchFamily="18" charset="0"/>
                          </a:rPr>
                          <m:t>2</m:t>
                        </m:r>
                        <m:r>
                          <m:rPr>
                            <m:nor/>
                          </m:rPr>
                          <a:rPr lang="en-IN" b="1" baseline="30000" dirty="0">
                            <a:solidFill>
                              <a:srgbClr val="002060"/>
                            </a:solidFill>
                            <a:latin typeface="Times New Roman" panose="02020603050405020304" pitchFamily="18" charset="0"/>
                            <a:cs typeface="Times New Roman" panose="02020603050405020304" pitchFamily="18" charset="0"/>
                          </a:rPr>
                          <m:t>i</m:t>
                        </m:r>
                      </m:e>
                    </m:nary>
                  </m:oMath>
                </a14:m>
                <a:r>
                  <a:rPr lang="en-IN" b="1" baseline="30000" dirty="0" smtClean="0">
                    <a:solidFill>
                      <a:srgbClr val="002060"/>
                    </a:solidFill>
                    <a:latin typeface="Times New Roman" panose="02020603050405020304" pitchFamily="18" charset="0"/>
                    <a:cs typeface="Times New Roman" panose="02020603050405020304" pitchFamily="18" charset="0"/>
                  </a:rPr>
                  <a:t> </a:t>
                </a:r>
                <a:endParaRPr lang="en-IN" b="1" dirty="0">
                  <a:solidFill>
                    <a:srgbClr val="002060"/>
                  </a:solidFill>
                  <a:latin typeface="Times New Roman" panose="02020603050405020304" pitchFamily="18" charset="0"/>
                  <a:cs typeface="Times New Roman" panose="02020603050405020304" pitchFamily="18" charset="0"/>
                </a:endParaRPr>
              </a:p>
              <a:p>
                <a:pPr algn="just"/>
                <a:endParaRPr lang="en-IN" b="1" dirty="0" smtClean="0">
                  <a:solidFill>
                    <a:srgbClr val="C00000"/>
                  </a:solidFill>
                  <a:latin typeface="Times New Roman" panose="02020603050405020304" pitchFamily="18" charset="0"/>
                  <a:cs typeface="Times New Roman" panose="02020603050405020304" pitchFamily="18" charset="0"/>
                </a:endParaRPr>
              </a:p>
              <a:p>
                <a:pPr algn="just"/>
                <a:endParaRPr lang="en-IN" b="1" dirty="0">
                  <a:solidFill>
                    <a:srgbClr val="C0000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T(n</a:t>
                </a:r>
                <a:r>
                  <a:rPr lang="en-IN" b="1" dirty="0" smtClean="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IN" b="1" i="1">
                            <a:solidFill>
                              <a:srgbClr val="002060"/>
                            </a:solidFill>
                            <a:latin typeface="Cambria Math"/>
                            <a:cs typeface="Times New Roman" panose="02020603050405020304" pitchFamily="18" charset="0"/>
                          </a:rPr>
                        </m:ctrlPr>
                      </m:fPr>
                      <m:num>
                        <m:r>
                          <a:rPr lang="en-IN" b="1" i="1" smtClean="0">
                            <a:solidFill>
                              <a:srgbClr val="002060"/>
                            </a:solidFill>
                            <a:latin typeface="Cambria Math" panose="02040503050406030204" pitchFamily="18" charset="0"/>
                            <a:cs typeface="Times New Roman" panose="02020603050405020304" pitchFamily="18" charset="0"/>
                          </a:rPr>
                          <m:t>𝒏</m:t>
                        </m:r>
                      </m:num>
                      <m:den>
                        <m:r>
                          <a:rPr lang="en-IN" b="1" i="1">
                            <a:solidFill>
                              <a:srgbClr val="002060"/>
                            </a:solidFill>
                            <a:latin typeface="Cambria Math" panose="02040503050406030204" pitchFamily="18" charset="0"/>
                            <a:cs typeface="Times New Roman" panose="02020603050405020304" pitchFamily="18" charset="0"/>
                          </a:rPr>
                          <m:t>𝟐</m:t>
                        </m:r>
                      </m:den>
                    </m:f>
                  </m:oMath>
                </a14:m>
                <a:r>
                  <a:rPr lang="en-IN" b="1" baseline="30000"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T(2)+</a:t>
                </a:r>
                <a:r>
                  <a:rPr lang="en-IN" b="1" dirty="0">
                    <a:solidFill>
                      <a:srgbClr val="002060"/>
                    </a:solidFill>
                    <a:cs typeface="Times New Roman" panose="02020603050405020304" pitchFamily="18" charset="0"/>
                  </a:rPr>
                  <a:t> </a:t>
                </a:r>
                <a14:m>
                  <m:oMath xmlns:m="http://schemas.openxmlformats.org/officeDocument/2006/math">
                    <m:r>
                      <m:rPr>
                        <m:nor/>
                      </m:rPr>
                      <a:rPr lang="en-IN" b="1" dirty="0">
                        <a:solidFill>
                          <a:srgbClr val="002060"/>
                        </a:solidFill>
                        <a:latin typeface="Times New Roman" panose="02020603050405020304" pitchFamily="18" charset="0"/>
                        <a:cs typeface="Times New Roman" panose="02020603050405020304" pitchFamily="18" charset="0"/>
                      </a:rPr>
                      <m:t>2</m:t>
                    </m:r>
                    <m:r>
                      <m:rPr>
                        <m:nor/>
                      </m:rPr>
                      <a:rPr lang="en-IN" b="1" baseline="30000" dirty="0">
                        <a:solidFill>
                          <a:srgbClr val="002060"/>
                        </a:solidFill>
                        <a:latin typeface="Times New Roman" panose="02020603050405020304" pitchFamily="18" charset="0"/>
                        <a:cs typeface="Times New Roman" panose="02020603050405020304" pitchFamily="18" charset="0"/>
                      </a:rPr>
                      <m:t>i</m:t>
                    </m:r>
                  </m:oMath>
                </a14:m>
                <a:r>
                  <a:rPr lang="en-IN" b="1" dirty="0" smtClean="0">
                    <a:solidFill>
                      <a:srgbClr val="002060"/>
                    </a:solidFill>
                    <a:latin typeface="Times New Roman" panose="02020603050405020304" pitchFamily="18" charset="0"/>
                    <a:cs typeface="Times New Roman" panose="02020603050405020304" pitchFamily="18" charset="0"/>
                  </a:rPr>
                  <a:t> - 2 </a:t>
                </a:r>
              </a:p>
              <a:p>
                <a:pPr algn="just"/>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T(n</a:t>
                </a:r>
                <a:r>
                  <a:rPr lang="en-IN" b="1" dirty="0" smtClean="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IN" b="1" i="1">
                            <a:solidFill>
                              <a:srgbClr val="002060"/>
                            </a:solidFill>
                            <a:latin typeface="Cambria Math"/>
                            <a:cs typeface="Times New Roman" panose="02020603050405020304" pitchFamily="18" charset="0"/>
                          </a:rPr>
                        </m:ctrlPr>
                      </m:fPr>
                      <m:num>
                        <m:r>
                          <a:rPr lang="en-IN" b="1" i="1">
                            <a:solidFill>
                              <a:srgbClr val="002060"/>
                            </a:solidFill>
                            <a:latin typeface="Cambria Math" panose="02040503050406030204" pitchFamily="18" charset="0"/>
                            <a:cs typeface="Times New Roman" panose="02020603050405020304" pitchFamily="18" charset="0"/>
                          </a:rPr>
                          <m:t>𝒏</m:t>
                        </m:r>
                      </m:num>
                      <m:den>
                        <m:r>
                          <a:rPr lang="en-IN" b="1" i="1">
                            <a:solidFill>
                              <a:srgbClr val="002060"/>
                            </a:solidFill>
                            <a:latin typeface="Cambria Math" panose="02040503050406030204" pitchFamily="18" charset="0"/>
                            <a:cs typeface="Times New Roman" panose="02020603050405020304" pitchFamily="18" charset="0"/>
                          </a:rPr>
                          <m:t>𝟐</m:t>
                        </m:r>
                      </m:den>
                    </m:f>
                  </m:oMath>
                </a14:m>
                <a:r>
                  <a:rPr lang="en-IN" b="1" baseline="30000" dirty="0">
                    <a:solidFill>
                      <a:srgbClr val="002060"/>
                    </a:solidFill>
                    <a:latin typeface="Times New Roman" panose="02020603050405020304" pitchFamily="18" charset="0"/>
                    <a:cs typeface="Times New Roman" panose="02020603050405020304" pitchFamily="18" charset="0"/>
                  </a:rPr>
                  <a:t> </a:t>
                </a:r>
                <a:r>
                  <a:rPr lang="en-IN" b="1" baseline="30000" dirty="0" smtClean="0">
                    <a:solidFill>
                      <a:srgbClr val="002060"/>
                    </a:solidFill>
                    <a:latin typeface="Times New Roman" panose="02020603050405020304" pitchFamily="18" charset="0"/>
                    <a:cs typeface="Times New Roman" panose="02020603050405020304" pitchFamily="18" charset="0"/>
                  </a:rPr>
                  <a:t>  </a:t>
                </a:r>
                <a:r>
                  <a:rPr lang="en-IN" b="1" baseline="30000" dirty="0">
                    <a:solidFill>
                      <a:srgbClr val="002060"/>
                    </a:solidFill>
                    <a:latin typeface="Times New Roman" panose="02020603050405020304" pitchFamily="18" charset="0"/>
                    <a:cs typeface="Times New Roman" panose="02020603050405020304" pitchFamily="18" charset="0"/>
                  </a:rPr>
                  <a:t>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n </a:t>
                </a:r>
                <a:r>
                  <a:rPr lang="en-IN" b="1" dirty="0">
                    <a:solidFill>
                      <a:srgbClr val="002060"/>
                    </a:solidFill>
                    <a:latin typeface="Times New Roman" panose="02020603050405020304" pitchFamily="18" charset="0"/>
                    <a:cs typeface="Times New Roman" panose="02020603050405020304" pitchFamily="18" charset="0"/>
                  </a:rPr>
                  <a:t>- 2 </a:t>
                </a:r>
                <a:endParaRPr lang="en-IN" b="1" dirty="0" smtClean="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IN" b="1" i="1">
                            <a:solidFill>
                              <a:srgbClr val="002060"/>
                            </a:solidFill>
                            <a:latin typeface="Cambria Math"/>
                            <a:cs typeface="Times New Roman" panose="02020603050405020304" pitchFamily="18" charset="0"/>
                          </a:rPr>
                        </m:ctrlPr>
                      </m:fPr>
                      <m:num>
                        <m:r>
                          <a:rPr lang="en-IN" b="1" i="1" smtClean="0">
                            <a:solidFill>
                              <a:srgbClr val="002060"/>
                            </a:solidFill>
                            <a:latin typeface="Cambria Math" panose="02040503050406030204" pitchFamily="18" charset="0"/>
                            <a:cs typeface="Times New Roman" panose="02020603050405020304" pitchFamily="18" charset="0"/>
                          </a:rPr>
                          <m:t>𝟑</m:t>
                        </m:r>
                        <m:r>
                          <a:rPr lang="en-IN" b="1" i="1">
                            <a:solidFill>
                              <a:srgbClr val="002060"/>
                            </a:solidFill>
                            <a:latin typeface="Cambria Math" panose="02040503050406030204" pitchFamily="18" charset="0"/>
                            <a:cs typeface="Times New Roman" panose="02020603050405020304" pitchFamily="18" charset="0"/>
                          </a:rPr>
                          <m:t>𝒏</m:t>
                        </m:r>
                      </m:num>
                      <m:den>
                        <m:r>
                          <a:rPr lang="en-IN" b="1" i="1" smtClean="0">
                            <a:solidFill>
                              <a:srgbClr val="002060"/>
                            </a:solidFill>
                            <a:latin typeface="Cambria Math" panose="02040503050406030204" pitchFamily="18" charset="0"/>
                            <a:cs typeface="Times New Roman" panose="02020603050405020304" pitchFamily="18" charset="0"/>
                          </a:rPr>
                          <m:t>  </m:t>
                        </m:r>
                        <m:r>
                          <a:rPr lang="en-IN" b="1" i="1">
                            <a:solidFill>
                              <a:srgbClr val="002060"/>
                            </a:solidFill>
                            <a:latin typeface="Cambria Math" panose="02040503050406030204" pitchFamily="18" charset="0"/>
                            <a:cs typeface="Times New Roman" panose="02020603050405020304" pitchFamily="18" charset="0"/>
                          </a:rPr>
                          <m:t>𝟐</m:t>
                        </m:r>
                      </m:den>
                    </m:f>
                  </m:oMath>
                </a14:m>
                <a:r>
                  <a:rPr lang="en-IN" b="1" dirty="0" smtClean="0">
                    <a:solidFill>
                      <a:srgbClr val="002060"/>
                    </a:solidFill>
                    <a:latin typeface="Times New Roman" panose="02020603050405020304" pitchFamily="18" charset="0"/>
                    <a:cs typeface="Times New Roman" panose="02020603050405020304" pitchFamily="18" charset="0"/>
                  </a:rPr>
                  <a:t> - 2</a:t>
                </a:r>
                <a:endParaRPr lang="en-IN" b="1" dirty="0">
                  <a:solidFill>
                    <a:srgbClr val="002060"/>
                  </a:solidFill>
                  <a:latin typeface="Times New Roman" panose="02020603050405020304" pitchFamily="18" charset="0"/>
                  <a:cs typeface="Times New Roman" panose="02020603050405020304" pitchFamily="18" charset="0"/>
                </a:endParaRPr>
              </a:p>
              <a:p>
                <a:pPr algn="just"/>
                <a:endParaRPr lang="en-IN" b="1" baseline="30000" dirty="0">
                  <a:solidFill>
                    <a:srgbClr val="002060"/>
                  </a:solidFill>
                  <a:latin typeface="Times New Roman" panose="02020603050405020304" pitchFamily="18" charset="0"/>
                  <a:cs typeface="Times New Roman" panose="02020603050405020304" pitchFamily="18" charset="0"/>
                </a:endParaRPr>
              </a:p>
              <a:p>
                <a:pPr algn="just"/>
                <a:endParaRPr lang="en-IN"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6180065" y="1400720"/>
                <a:ext cx="4861070" cy="2918684"/>
              </a:xfrm>
              <a:prstGeom prst="rect">
                <a:avLst/>
              </a:prstGeom>
              <a:blipFill rotWithShape="0">
                <a:blip r:embed="rId6"/>
                <a:stretch>
                  <a:fillRect l="-1001" t="-12682"/>
                </a:stretch>
              </a:blipFill>
              <a:ln>
                <a:solidFill>
                  <a:schemeClr val="accent1"/>
                </a:solidFill>
              </a:ln>
            </p:spPr>
            <p:txBody>
              <a:bodyPr/>
              <a:lstStyle/>
              <a:p>
                <a:r>
                  <a:rPr lang="en-IN">
                    <a:noFill/>
                  </a:rPr>
                  <a:t> </a:t>
                </a:r>
              </a:p>
            </p:txBody>
          </p:sp>
        </mc:Fallback>
      </mc:AlternateContent>
      <p:sp>
        <p:nvSpPr>
          <p:cNvPr id="6" name="Date Placeholder 5"/>
          <p:cNvSpPr>
            <a:spLocks noGrp="1"/>
          </p:cNvSpPr>
          <p:nvPr>
            <p:ph type="dt" sz="half" idx="10"/>
          </p:nvPr>
        </p:nvSpPr>
        <p:spPr/>
        <p:txBody>
          <a:bodyPr/>
          <a:lstStyle/>
          <a:p>
            <a:fld id="{6B7D6091-F181-4CB1-882B-F86555C0E929}" type="datetime1">
              <a:rPr lang="en-IN" smtClean="0"/>
              <a:t>21-03-2026</a:t>
            </a:fld>
            <a:endParaRPr lang="en-IN"/>
          </a:p>
        </p:txBody>
      </p:sp>
    </p:spTree>
    <p:extLst>
      <p:ext uri="{BB962C8B-B14F-4D97-AF65-F5344CB8AC3E}">
        <p14:creationId xmlns:p14="http://schemas.microsoft.com/office/powerpoint/2010/main" val="3424424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4"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p:sp>
        <p:nvSpPr>
          <p:cNvPr id="3" name="Subtitle 2"/>
          <p:cNvSpPr>
            <a:spLocks noGrp="1"/>
          </p:cNvSpPr>
          <p:nvPr>
            <p:ph type="subTitle" idx="1"/>
          </p:nvPr>
        </p:nvSpPr>
        <p:spPr>
          <a:xfrm>
            <a:off x="177051" y="732885"/>
            <a:ext cx="11797552" cy="5627707"/>
          </a:xfrm>
        </p:spPr>
        <p:txBody>
          <a:bodyPr>
            <a:normAutofit/>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Traditional matrix multiplication algorithm </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f</a:t>
            </a:r>
            <a:r>
              <a:rPr lang="en-IN" sz="2000" b="1" dirty="0" smtClean="0">
                <a:solidFill>
                  <a:srgbClr val="002060"/>
                </a:solidFill>
                <a:latin typeface="Times New Roman" panose="02020603050405020304" pitchFamily="18" charset="0"/>
                <a:cs typeface="Times New Roman" panose="02020603050405020304" pitchFamily="18" charset="0"/>
              </a:rPr>
              <a:t>or   </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1  to </a:t>
            </a:r>
            <a:r>
              <a:rPr lang="en-IN" sz="2000" b="1" dirty="0" smtClean="0">
                <a:solidFill>
                  <a:srgbClr val="002060"/>
                </a:solidFill>
                <a:latin typeface="Times New Roman" panose="02020603050405020304" pitchFamily="18" charset="0"/>
                <a:cs typeface="Times New Roman" panose="02020603050405020304" pitchFamily="18" charset="0"/>
              </a:rPr>
              <a:t>n do</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for   </a:t>
            </a:r>
            <a:r>
              <a:rPr lang="en-IN" sz="2000" b="1" dirty="0" smtClean="0">
                <a:solidFill>
                  <a:srgbClr val="002060"/>
                </a:solidFill>
                <a:latin typeface="Times New Roman" panose="02020603050405020304" pitchFamily="18" charset="0"/>
                <a:cs typeface="Times New Roman" panose="02020603050405020304" pitchFamily="18" charset="0"/>
              </a:rPr>
              <a:t>j</a:t>
            </a:r>
            <a:r>
              <a:rPr lang="en-IN" sz="2000" b="1" dirty="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a:t>
            </a:r>
            <a:r>
              <a:rPr lang="en-IN" sz="2000" b="1" dirty="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1  to </a:t>
            </a:r>
            <a:r>
              <a:rPr lang="en-IN" sz="2000" b="1" dirty="0">
                <a:solidFill>
                  <a:srgbClr val="002060"/>
                </a:solidFill>
                <a:latin typeface="Times New Roman" panose="02020603050405020304" pitchFamily="18" charset="0"/>
                <a:cs typeface="Times New Roman" panose="02020603050405020304" pitchFamily="18" charset="0"/>
              </a:rPr>
              <a:t>n </a:t>
            </a:r>
            <a:r>
              <a:rPr lang="en-IN" sz="2000" b="1" dirty="0" smtClean="0">
                <a:solidFill>
                  <a:srgbClr val="002060"/>
                </a:solidFill>
                <a:latin typeface="Times New Roman" panose="02020603050405020304" pitchFamily="18" charset="0"/>
                <a:cs typeface="Times New Roman" panose="02020603050405020304" pitchFamily="18" charset="0"/>
              </a:rPr>
              <a:t>do</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C(</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j) = 0</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for   </a:t>
            </a:r>
            <a:r>
              <a:rPr lang="en-IN" sz="2000" b="1" dirty="0" smtClean="0">
                <a:solidFill>
                  <a:srgbClr val="002060"/>
                </a:solidFill>
                <a:latin typeface="Times New Roman" panose="02020603050405020304" pitchFamily="18" charset="0"/>
                <a:cs typeface="Times New Roman" panose="02020603050405020304" pitchFamily="18" charset="0"/>
              </a:rPr>
              <a:t>k</a:t>
            </a:r>
            <a:r>
              <a:rPr lang="en-IN" sz="2000" b="1" dirty="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a:t>
            </a:r>
            <a:r>
              <a:rPr lang="en-IN" sz="2000" b="1" dirty="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1  to </a:t>
            </a:r>
            <a:r>
              <a:rPr lang="en-IN" sz="2000" b="1" dirty="0">
                <a:solidFill>
                  <a:srgbClr val="002060"/>
                </a:solidFill>
                <a:latin typeface="Times New Roman" panose="02020603050405020304" pitchFamily="18" charset="0"/>
                <a:cs typeface="Times New Roman" panose="02020603050405020304" pitchFamily="18" charset="0"/>
              </a:rPr>
              <a:t>n </a:t>
            </a:r>
            <a:r>
              <a:rPr lang="en-IN" sz="2000" b="1" dirty="0" smtClean="0">
                <a:solidFill>
                  <a:srgbClr val="002060"/>
                </a:solidFill>
                <a:latin typeface="Times New Roman" panose="02020603050405020304" pitchFamily="18" charset="0"/>
                <a:cs typeface="Times New Roman" panose="02020603050405020304" pitchFamily="18" charset="0"/>
              </a:rPr>
              <a:t>do</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C(</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j) = C(</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j) + A (</a:t>
            </a:r>
            <a:r>
              <a:rPr lang="en-IN" sz="2000" b="1" dirty="0" err="1"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k)*B(k, j)</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repeat</a:t>
            </a:r>
          </a:p>
          <a:p>
            <a:pPr algn="just"/>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repeat</a:t>
            </a:r>
          </a:p>
          <a:p>
            <a:pPr algn="just"/>
            <a:r>
              <a:rPr lang="en-IN" sz="2000" b="1" dirty="0">
                <a:solidFill>
                  <a:srgbClr val="002060"/>
                </a:solidFill>
                <a:latin typeface="Times New Roman" panose="02020603050405020304" pitchFamily="18" charset="0"/>
                <a:cs typeface="Times New Roman" panose="02020603050405020304" pitchFamily="18" charset="0"/>
              </a:rPr>
              <a:t> repeat</a:t>
            </a:r>
          </a:p>
          <a:p>
            <a:pPr algn="just"/>
            <a:r>
              <a:rPr lang="en-IN" sz="2000" b="1" dirty="0" smtClean="0">
                <a:solidFill>
                  <a:srgbClr val="002060"/>
                </a:solidFill>
                <a:latin typeface="Times New Roman" panose="02020603050405020304" pitchFamily="18" charset="0"/>
                <a:cs typeface="Times New Roman" panose="02020603050405020304" pitchFamily="18" charset="0"/>
              </a:rPr>
              <a:t>Time complexity of above algorithm is </a:t>
            </a:r>
            <a:r>
              <a:rPr lang="el-GR" sz="2000" b="1" dirty="0" smtClean="0">
                <a:solidFill>
                  <a:srgbClr val="002060"/>
                </a:solidFill>
                <a:latin typeface="Times New Roman" panose="02020603050405020304" pitchFamily="18" charset="0"/>
                <a:cs typeface="Times New Roman" panose="02020603050405020304" pitchFamily="18" charset="0"/>
              </a:rPr>
              <a:t>Θ</a:t>
            </a:r>
            <a:r>
              <a:rPr lang="en-IN" sz="2000" b="1" dirty="0" smtClean="0">
                <a:solidFill>
                  <a:srgbClr val="002060"/>
                </a:solidFill>
                <a:latin typeface="Times New Roman" panose="02020603050405020304" pitchFamily="18" charset="0"/>
                <a:cs typeface="Times New Roman" panose="02020603050405020304" pitchFamily="18" charset="0"/>
              </a:rPr>
              <a:t>(n</a:t>
            </a:r>
            <a:r>
              <a:rPr lang="en-IN" sz="2000" b="1" baseline="30000" dirty="0" smtClean="0">
                <a:solidFill>
                  <a:srgbClr val="002060"/>
                </a:solidFill>
                <a:latin typeface="Times New Roman" panose="02020603050405020304" pitchFamily="18" charset="0"/>
                <a:cs typeface="Times New Roman" panose="02020603050405020304" pitchFamily="18" charset="0"/>
              </a:rPr>
              <a:t>3</a:t>
            </a:r>
            <a:r>
              <a:rPr lang="en-IN" sz="2000" b="1" dirty="0" smtClean="0">
                <a:solidFill>
                  <a:srgbClr val="002060"/>
                </a:solidFill>
                <a:latin typeface="Times New Roman" panose="02020603050405020304" pitchFamily="18" charset="0"/>
                <a:cs typeface="Times New Roman" panose="02020603050405020304" pitchFamily="18" charset="0"/>
              </a:rPr>
              <a:t>) (three for loops). </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99</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84EDE8B6-8C29-46E1-82AD-AA5934D2ED1E}" type="datetime1">
              <a:rPr lang="en-IN" smtClean="0"/>
              <a:t>21-03-2026</a:t>
            </a:fld>
            <a:endParaRPr lang="en-IN"/>
          </a:p>
        </p:txBody>
      </p:sp>
    </p:spTree>
    <p:extLst>
      <p:ext uri="{BB962C8B-B14F-4D97-AF65-F5344CB8AC3E}">
        <p14:creationId xmlns:p14="http://schemas.microsoft.com/office/powerpoint/2010/main" val="102073214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77051" y="732885"/>
                <a:ext cx="11797552" cy="5627707"/>
              </a:xfrm>
            </p:spPr>
            <p:txBody>
              <a:bodyPr>
                <a:normAutofit fontScale="77500" lnSpcReduction="20000"/>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Strassens</a:t>
                </a:r>
                <a:r>
                  <a:rPr lang="en-IN" sz="2000" b="1" dirty="0">
                    <a:solidFill>
                      <a:srgbClr val="002060"/>
                    </a:solidFill>
                    <a:latin typeface="Times New Roman" panose="02020603050405020304" pitchFamily="18" charset="0"/>
                    <a:cs typeface="Times New Roman" panose="02020603050405020304" pitchFamily="18" charset="0"/>
                  </a:rPr>
                  <a:t> matrix </a:t>
                </a:r>
                <a:r>
                  <a:rPr lang="en-IN" sz="2000" b="1" dirty="0" smtClean="0">
                    <a:solidFill>
                      <a:srgbClr val="002060"/>
                    </a:solidFill>
                    <a:latin typeface="Times New Roman" panose="02020603050405020304" pitchFamily="18" charset="0"/>
                    <a:cs typeface="Times New Roman" panose="02020603050405020304" pitchFamily="18" charset="0"/>
                  </a:rPr>
                  <a:t>multiplication algorithm </a:t>
                </a:r>
              </a:p>
              <a:p>
                <a:pPr algn="just"/>
                <a:r>
                  <a:rPr lang="en-IN" sz="2000" b="1" dirty="0" smtClean="0">
                    <a:solidFill>
                      <a:srgbClr val="002060"/>
                    </a:solidFill>
                    <a:latin typeface="Times New Roman" panose="02020603050405020304" pitchFamily="18" charset="0"/>
                    <a:cs typeface="Times New Roman" panose="02020603050405020304" pitchFamily="18" charset="0"/>
                  </a:rPr>
                  <a:t>It is algorithm used find the multiplication of two matrices with less number multiplication operation</a:t>
                </a:r>
              </a:p>
              <a:p>
                <a:pPr algn="just"/>
                <a:r>
                  <a:rPr lang="en-IN" sz="2000" b="1" dirty="0" smtClean="0">
                    <a:solidFill>
                      <a:srgbClr val="002060"/>
                    </a:solidFill>
                    <a:latin typeface="Times New Roman" panose="02020603050405020304" pitchFamily="18" charset="0"/>
                    <a:cs typeface="Times New Roman" panose="02020603050405020304" pitchFamily="18" charset="0"/>
                  </a:rPr>
                  <a:t>Let us Consider two matrix A and B, C = A * B</a:t>
                </a: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14:m>
                  <m:oMath xmlns:m="http://schemas.openxmlformats.org/officeDocument/2006/math">
                    <m:d>
                      <m:dPr>
                        <m:begChr m:val="["/>
                        <m:endChr m:val="]"/>
                        <m:ctrlPr>
                          <a:rPr lang="en-IN" sz="2000" b="1" i="1" smtClean="0">
                            <a:solidFill>
                              <a:srgbClr val="002060"/>
                            </a:solidFill>
                            <a:latin typeface="Cambria Math"/>
                            <a:cs typeface="Times New Roman" panose="02020603050405020304" pitchFamily="18" charset="0"/>
                          </a:rPr>
                        </m:ctrlPr>
                      </m:dPr>
                      <m:e>
                        <m:eqArr>
                          <m:eqArrPr>
                            <m:ctrlPr>
                              <a:rPr lang="en-IN" sz="2000" b="1" i="1" smtClean="0">
                                <a:solidFill>
                                  <a:srgbClr val="002060"/>
                                </a:solidFill>
                                <a:latin typeface="Cambria Math"/>
                                <a:cs typeface="Times New Roman" panose="02020603050405020304" pitchFamily="18" charset="0"/>
                              </a:rPr>
                            </m:ctrlPr>
                          </m:eqArrPr>
                          <m:e>
                            <m:m>
                              <m:mPr>
                                <m:mcs>
                                  <m:mc>
                                    <m:mcPr>
                                      <m:count m:val="2"/>
                                      <m:mcJc m:val="center"/>
                                    </m:mcPr>
                                  </m:mc>
                                </m:mcs>
                                <m:ctrlPr>
                                  <a:rPr lang="en-IN" sz="2000" b="1" i="1" smtClean="0">
                                    <a:solidFill>
                                      <a:srgbClr val="002060"/>
                                    </a:solidFill>
                                    <a:latin typeface="Cambria Math"/>
                                    <a:cs typeface="Times New Roman" panose="02020603050405020304" pitchFamily="18" charset="0"/>
                                  </a:rPr>
                                </m:ctrlPr>
                              </m:mPr>
                              <m:mr>
                                <m:e>
                                  <m:r>
                                    <m:rPr>
                                      <m:brk m:alnAt="7"/>
                                    </m:rPr>
                                    <a:rPr lang="en-IN" sz="2000" b="1" i="1" smtClean="0">
                                      <a:solidFill>
                                        <a:srgbClr val="002060"/>
                                      </a:solidFill>
                                      <a:latin typeface="Cambria Math" panose="02040503050406030204" pitchFamily="18" charset="0"/>
                                      <a:cs typeface="Times New Roman" panose="02020603050405020304" pitchFamily="18" charset="0"/>
                                    </a:rPr>
                                    <m:t>𝑪</m:t>
                                  </m:r>
                                  <m:r>
                                    <a:rPr lang="en-IN" sz="2000" b="1" i="1" baseline="-25000" smtClean="0">
                                      <a:solidFill>
                                        <a:srgbClr val="002060"/>
                                      </a:solidFill>
                                      <a:latin typeface="Cambria Math" panose="02040503050406030204" pitchFamily="18" charset="0"/>
                                      <a:cs typeface="Times New Roman" panose="02020603050405020304" pitchFamily="18" charset="0"/>
                                    </a:rPr>
                                    <m:t>𝟏𝟏</m:t>
                                  </m:r>
                                </m:e>
                                <m:e>
                                  <m:r>
                                    <a:rPr lang="en-IN" sz="2000" b="1" i="1" smtClean="0">
                                      <a:solidFill>
                                        <a:srgbClr val="002060"/>
                                      </a:solidFill>
                                      <a:latin typeface="Cambria Math" panose="02040503050406030204" pitchFamily="18" charset="0"/>
                                      <a:cs typeface="Times New Roman" panose="02020603050405020304" pitchFamily="18" charset="0"/>
                                    </a:rPr>
                                    <m:t>𝑪</m:t>
                                  </m:r>
                                  <m:r>
                                    <a:rPr lang="en-IN" sz="2000" b="1" i="1" baseline="-25000" smtClean="0">
                                      <a:solidFill>
                                        <a:srgbClr val="002060"/>
                                      </a:solidFill>
                                      <a:latin typeface="Cambria Math" panose="02040503050406030204" pitchFamily="18" charset="0"/>
                                      <a:cs typeface="Times New Roman" panose="02020603050405020304" pitchFamily="18" charset="0"/>
                                    </a:rPr>
                                    <m:t>𝟏𝟐</m:t>
                                  </m:r>
                                </m:e>
                              </m:mr>
                              <m:mr>
                                <m:e>
                                  <m:eqArr>
                                    <m:eqArrPr>
                                      <m:ctrlPr>
                                        <a:rPr lang="en-IN" sz="2000" b="1" i="1" smtClean="0">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𝑪</m:t>
                                      </m:r>
                                      <m:r>
                                        <a:rPr lang="en-IN" sz="2000" b="1" i="1" baseline="-25000" smtClean="0">
                                          <a:solidFill>
                                            <a:srgbClr val="002060"/>
                                          </a:solidFill>
                                          <a:latin typeface="Cambria Math" panose="02040503050406030204" pitchFamily="18" charset="0"/>
                                          <a:cs typeface="Times New Roman" panose="02020603050405020304" pitchFamily="18" charset="0"/>
                                        </a:rPr>
                                        <m:t>𝟐𝟏</m:t>
                                      </m:r>
                                    </m:e>
                                  </m:eqArr>
                                </m:e>
                                <m:e>
                                  <m:eqArr>
                                    <m:eqArrPr>
                                      <m:ctrlPr>
                                        <a:rPr lang="en-IN" sz="2000" b="1" i="1" smtClean="0">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𝑪</m:t>
                                      </m:r>
                                      <m:r>
                                        <a:rPr lang="en-IN" sz="2000" b="1" i="1" baseline="-25000" smtClean="0">
                                          <a:solidFill>
                                            <a:srgbClr val="002060"/>
                                          </a:solidFill>
                                          <a:latin typeface="Cambria Math" panose="02040503050406030204" pitchFamily="18" charset="0"/>
                                          <a:cs typeface="Times New Roman" panose="02020603050405020304" pitchFamily="18" charset="0"/>
                                        </a:rPr>
                                        <m:t>𝟐𝟐</m:t>
                                      </m:r>
                                    </m:e>
                                  </m:eqArr>
                                </m:e>
                              </m:mr>
                            </m:m>
                          </m:e>
                          <m:e/>
                        </m:eqArr>
                      </m:e>
                    </m:d>
                  </m:oMath>
                </a14:m>
                <a:r>
                  <a:rPr lang="en-IN" sz="2000" b="1" dirty="0" smtClean="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IN" sz="2000" b="1" i="1" dirty="0" smtClean="0">
                            <a:solidFill>
                              <a:srgbClr val="002060"/>
                            </a:solidFill>
                            <a:latin typeface="Cambria Math"/>
                            <a:cs typeface="Times New Roman" panose="02020603050405020304" pitchFamily="18" charset="0"/>
                          </a:rPr>
                        </m:ctrlPr>
                      </m:dPr>
                      <m:e>
                        <m:m>
                          <m:mPr>
                            <m:mcs>
                              <m:mc>
                                <m:mcPr>
                                  <m:count m:val="4"/>
                                  <m:mcJc m:val="center"/>
                                </m:mcPr>
                              </m:mc>
                            </m:mcs>
                            <m:ctrlPr>
                              <a:rPr lang="en-IN" sz="2000" b="1" i="1" dirty="0" smtClean="0">
                                <a:solidFill>
                                  <a:srgbClr val="002060"/>
                                </a:solidFill>
                                <a:latin typeface="Cambria Math"/>
                                <a:cs typeface="Times New Roman" panose="02020603050405020304" pitchFamily="18" charset="0"/>
                              </a:rPr>
                            </m:ctrlPr>
                          </m:mPr>
                          <m:mr>
                            <m:e>
                              <m:r>
                                <m:rPr>
                                  <m:brk m:alnAt="7"/>
                                </m:rP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𝟏𝟏</m:t>
                              </m: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𝟏𝟐</m:t>
                              </m: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𝟏𝟑</m:t>
                              </m: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𝟏𝟒</m:t>
                              </m:r>
                            </m:e>
                          </m:mr>
                          <m:mr>
                            <m:e>
                              <m:eqArr>
                                <m:eqArrPr>
                                  <m:ctrlPr>
                                    <a:rPr lang="en-IN" sz="2000" b="1" i="1" dirty="0" smtClean="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𝟐𝟏</m:t>
                                  </m:r>
                                </m:e>
                              </m:eqArr>
                            </m:e>
                            <m:e>
                              <m:eqArr>
                                <m:eqArrPr>
                                  <m:ctrlPr>
                                    <a:rPr lang="en-IN" sz="2000" b="1" i="1" dirty="0" smtClean="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𝟐𝟐</m:t>
                                  </m:r>
                                </m:e>
                              </m:eqArr>
                            </m:e>
                            <m:e>
                              <m:eqArr>
                                <m:eqArrPr>
                                  <m:ctrlPr>
                                    <a:rPr lang="en-IN" sz="2000" b="1" i="1" dirty="0" smtClean="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𝟐𝟑</m:t>
                                  </m:r>
                                </m:e>
                              </m:eqArr>
                            </m:e>
                            <m:e>
                              <m:eqArr>
                                <m:eqArrPr>
                                  <m:ctrlPr>
                                    <a:rPr lang="en-IN" sz="2000" b="1" i="1" dirty="0" smtClean="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𝟐𝟒</m:t>
                                  </m:r>
                                </m:e>
                              </m:eqArr>
                            </m:e>
                          </m:mr>
                          <m:mr>
                            <m:e>
                              <m:eqArr>
                                <m:eqArrPr>
                                  <m:ctrlPr>
                                    <a:rPr lang="en-IN" sz="2000" b="1" i="1" dirty="0" smtClean="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𝟑𝟏</m:t>
                                  </m:r>
                                </m:e>
                              </m:eqArr>
                            </m:e>
                            <m:e>
                              <m:eqArr>
                                <m:eqArrPr>
                                  <m:ctrlPr>
                                    <a:rPr lang="en-IN" sz="2000" b="1" i="1" dirty="0" smtClean="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𝟑𝟐</m:t>
                                  </m:r>
                                </m:e>
                              </m:eqArr>
                            </m:e>
                            <m:e>
                              <m:eqArr>
                                <m:eqArrPr>
                                  <m:ctrlPr>
                                    <a:rPr lang="en-IN" sz="2000" b="1" i="1" dirty="0" smtClean="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𝟑𝟑</m:t>
                                  </m:r>
                                </m:e>
                              </m:eqArr>
                            </m:e>
                            <m:e>
                              <m:eqArr>
                                <m:eqArrPr>
                                  <m:ctrlPr>
                                    <a:rPr lang="en-IN" sz="2000" b="1" i="1" dirty="0" smtClean="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𝟑𝟒</m:t>
                                  </m:r>
                                </m:e>
                              </m:eqArr>
                            </m:e>
                          </m:mr>
                          <m:mr>
                            <m:e>
                              <m:eqArr>
                                <m:eqArrPr>
                                  <m:ctrlPr>
                                    <a:rPr lang="en-IN" sz="2000" b="1" i="1" dirty="0" smtClean="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𝟒𝟏</m:t>
                                  </m:r>
                                </m:e>
                              </m:eqArr>
                            </m:e>
                            <m:e>
                              <m:eqArr>
                                <m:eqArrPr>
                                  <m:ctrlPr>
                                    <a:rPr lang="en-IN" sz="2000" b="1" i="1" dirty="0" smtClean="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𝟒𝟐</m:t>
                                  </m:r>
                                </m:e>
                              </m:eqArr>
                            </m:e>
                            <m:e>
                              <m:eqArr>
                                <m:eqArrPr>
                                  <m:ctrlPr>
                                    <a:rPr lang="en-IN" sz="2000" b="1" i="1" dirty="0" smtClean="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𝟒𝟑</m:t>
                                  </m:r>
                                </m:e>
                              </m:eqArr>
                            </m:e>
                            <m:e>
                              <m:eqArr>
                                <m:eqArrPr>
                                  <m:ctrlPr>
                                    <a:rPr lang="en-IN" sz="2000" b="1" i="1" dirty="0" smtClean="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𝑨</m:t>
                                  </m:r>
                                  <m:r>
                                    <a:rPr lang="en-IN" sz="2000" b="1" i="1" baseline="-25000" dirty="0" smtClean="0">
                                      <a:solidFill>
                                        <a:srgbClr val="002060"/>
                                      </a:solidFill>
                                      <a:latin typeface="Cambria Math" panose="02040503050406030204" pitchFamily="18" charset="0"/>
                                      <a:cs typeface="Times New Roman" panose="02020603050405020304" pitchFamily="18" charset="0"/>
                                    </a:rPr>
                                    <m:t>𝟒𝟒</m:t>
                                  </m:r>
                                </m:e>
                              </m:eqArr>
                            </m:e>
                          </m:mr>
                        </m:m>
                      </m:e>
                    </m:d>
                  </m:oMath>
                </a14:m>
                <a:r>
                  <a:rPr lang="en-IN" sz="2000" b="1" dirty="0" smtClean="0">
                    <a:solidFill>
                      <a:srgbClr val="002060"/>
                    </a:solidFill>
                    <a:latin typeface="Times New Roman" panose="02020603050405020304" pitchFamily="18" charset="0"/>
                    <a:cs typeface="Times New Roman" panose="02020603050405020304" pitchFamily="18" charset="0"/>
                  </a:rPr>
                  <a:t>    </a:t>
                </a:r>
                <a:r>
                  <a:rPr lang="en-IN" sz="32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sz="2000" b="1" i="1" dirty="0">
                            <a:solidFill>
                              <a:srgbClr val="002060"/>
                            </a:solidFill>
                            <a:latin typeface="Cambria Math"/>
                            <a:cs typeface="Times New Roman" panose="02020603050405020304" pitchFamily="18" charset="0"/>
                          </a:rPr>
                        </m:ctrlPr>
                      </m:dPr>
                      <m:e>
                        <m:m>
                          <m:mPr>
                            <m:mcs>
                              <m:mc>
                                <m:mcPr>
                                  <m:count m:val="4"/>
                                  <m:mcJc m:val="center"/>
                                </m:mcPr>
                              </m:mc>
                            </m:mcs>
                            <m:ctrlPr>
                              <a:rPr lang="en-IN" sz="2000" b="1" i="1" dirty="0">
                                <a:solidFill>
                                  <a:srgbClr val="002060"/>
                                </a:solidFill>
                                <a:latin typeface="Cambria Math"/>
                                <a:cs typeface="Times New Roman" panose="02020603050405020304" pitchFamily="18" charset="0"/>
                              </a:rPr>
                            </m:ctrlPr>
                          </m:mPr>
                          <m:mr>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𝟏𝟏</m:t>
                              </m: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𝟏𝟐</m:t>
                              </m: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𝟏𝟑</m:t>
                              </m: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𝟏𝟒</m:t>
                              </m:r>
                            </m:e>
                          </m:mr>
                          <m:mr>
                            <m:e>
                              <m:eqArr>
                                <m:eqArrPr>
                                  <m:ctrlPr>
                                    <a:rPr lang="en-IN" sz="2000" b="1" i="1" dirty="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𝟐𝟏</m:t>
                                  </m:r>
                                </m:e>
                              </m:eqArr>
                            </m:e>
                            <m:e>
                              <m:eqArr>
                                <m:eqArrPr>
                                  <m:ctrlPr>
                                    <a:rPr lang="en-IN" sz="2000" b="1" i="1" dirty="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𝟐𝟐</m:t>
                                  </m:r>
                                </m:e>
                              </m:eqArr>
                            </m:e>
                            <m:e>
                              <m:eqArr>
                                <m:eqArrPr>
                                  <m:ctrlPr>
                                    <a:rPr lang="en-IN" sz="2000" b="1" i="1" dirty="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𝟐𝟑</m:t>
                                  </m:r>
                                </m:e>
                              </m:eqArr>
                            </m:e>
                            <m:e>
                              <m:eqArr>
                                <m:eqArrPr>
                                  <m:ctrlPr>
                                    <a:rPr lang="en-IN" sz="2000" b="1" i="1" dirty="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𝟐𝟒</m:t>
                                  </m:r>
                                </m:e>
                              </m:eqArr>
                            </m:e>
                          </m:mr>
                          <m:mr>
                            <m:e>
                              <m:eqArr>
                                <m:eqArrPr>
                                  <m:ctrlPr>
                                    <a:rPr lang="en-IN" sz="2000" b="1" i="1" dirty="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𝟑𝟏</m:t>
                                  </m:r>
                                </m:e>
                              </m:eqArr>
                            </m:e>
                            <m:e>
                              <m:eqArr>
                                <m:eqArrPr>
                                  <m:ctrlPr>
                                    <a:rPr lang="en-IN" sz="2000" b="1" i="1" dirty="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𝟑𝟐</m:t>
                                  </m:r>
                                </m:e>
                              </m:eqArr>
                            </m:e>
                            <m:e>
                              <m:eqArr>
                                <m:eqArrPr>
                                  <m:ctrlPr>
                                    <a:rPr lang="en-IN" sz="2000" b="1" i="1" dirty="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𝟑𝟑</m:t>
                                  </m:r>
                                </m:e>
                              </m:eqArr>
                            </m:e>
                            <m:e>
                              <m:eqArr>
                                <m:eqArrPr>
                                  <m:ctrlPr>
                                    <a:rPr lang="en-IN" sz="2000" b="1" i="1" dirty="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𝟑𝟒</m:t>
                                  </m:r>
                                </m:e>
                              </m:eqArr>
                            </m:e>
                          </m:mr>
                          <m:mr>
                            <m:e>
                              <m:eqArr>
                                <m:eqArrPr>
                                  <m:ctrlPr>
                                    <a:rPr lang="en-IN" sz="2000" b="1" i="1" dirty="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𝟒𝟏</m:t>
                                  </m:r>
                                </m:e>
                              </m:eqArr>
                            </m:e>
                            <m:e>
                              <m:eqArr>
                                <m:eqArrPr>
                                  <m:ctrlPr>
                                    <a:rPr lang="en-IN" sz="2000" b="1" i="1" dirty="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𝟒𝟐</m:t>
                                  </m:r>
                                </m:e>
                              </m:eqArr>
                            </m:e>
                            <m:e>
                              <m:eqArr>
                                <m:eqArrPr>
                                  <m:ctrlPr>
                                    <a:rPr lang="en-IN" sz="2000" b="1" i="1" dirty="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𝟒𝟑</m:t>
                                  </m:r>
                                </m:e>
                              </m:eqArr>
                            </m:e>
                            <m:e>
                              <m:eqArr>
                                <m:eqArrPr>
                                  <m:ctrlPr>
                                    <a:rPr lang="en-IN" sz="2000" b="1" i="1" dirty="0">
                                      <a:solidFill>
                                        <a:srgbClr val="002060"/>
                                      </a:solidFill>
                                      <a:latin typeface="Cambria Math"/>
                                      <a:cs typeface="Times New Roman" panose="02020603050405020304" pitchFamily="18" charset="0"/>
                                    </a:rPr>
                                  </m:ctrlPr>
                                </m:eqArrPr>
                                <m:e/>
                                <m:e>
                                  <m:r>
                                    <a:rPr lang="en-IN" sz="2000" b="1" i="1" dirty="0" smtClean="0">
                                      <a:solidFill>
                                        <a:srgbClr val="002060"/>
                                      </a:solidFill>
                                      <a:latin typeface="Cambria Math" panose="02040503050406030204" pitchFamily="18" charset="0"/>
                                      <a:cs typeface="Times New Roman" panose="02020603050405020304" pitchFamily="18" charset="0"/>
                                    </a:rPr>
                                    <m:t>𝑩</m:t>
                                  </m:r>
                                  <m:r>
                                    <a:rPr lang="en-IN" sz="2000" b="1" i="1" baseline="-25000" dirty="0">
                                      <a:solidFill>
                                        <a:srgbClr val="002060"/>
                                      </a:solidFill>
                                      <a:latin typeface="Cambria Math" panose="02040503050406030204" pitchFamily="18" charset="0"/>
                                      <a:cs typeface="Times New Roman" panose="02020603050405020304" pitchFamily="18" charset="0"/>
                                    </a:rPr>
                                    <m:t>𝟒𝟒</m:t>
                                  </m:r>
                                </m:e>
                              </m:eqArr>
                            </m:e>
                          </m:mr>
                        </m:m>
                      </m:e>
                    </m:d>
                  </m:oMath>
                </a14:m>
                <a:endParaRPr lang="en-IN" sz="3200" b="1" dirty="0" smtClean="0">
                  <a:solidFill>
                    <a:srgbClr val="002060"/>
                  </a:solidFill>
                  <a:latin typeface="Times New Roman" panose="02020603050405020304" pitchFamily="18" charset="0"/>
                  <a:cs typeface="Times New Roman" panose="02020603050405020304" pitchFamily="18" charset="0"/>
                </a:endParaRPr>
              </a:p>
              <a:p>
                <a:pPr algn="just"/>
                <a:endParaRPr lang="en-IN" sz="32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C</a:t>
                </a:r>
                <a:r>
                  <a:rPr lang="en-IN" sz="2000" b="1" baseline="-25000" dirty="0" smtClean="0">
                    <a:solidFill>
                      <a:srgbClr val="002060"/>
                    </a:solidFill>
                    <a:latin typeface="Times New Roman" panose="02020603050405020304" pitchFamily="18" charset="0"/>
                    <a:cs typeface="Times New Roman" panose="02020603050405020304" pitchFamily="18" charset="0"/>
                  </a:rPr>
                  <a:t>11</a:t>
                </a:r>
                <a:r>
                  <a:rPr lang="en-IN" sz="2000" b="1" dirty="0" smtClean="0">
                    <a:solidFill>
                      <a:srgbClr val="002060"/>
                    </a:solidFill>
                    <a:latin typeface="Times New Roman" panose="02020603050405020304" pitchFamily="18" charset="0"/>
                    <a:cs typeface="Times New Roman" panose="02020603050405020304" pitchFamily="18" charset="0"/>
                  </a:rPr>
                  <a:t> = </a:t>
                </a:r>
                <a:r>
                  <a:rPr lang="en-IN" sz="2000" b="1" dirty="0">
                    <a:solidFill>
                      <a:srgbClr val="002060"/>
                    </a:solidFill>
                    <a:latin typeface="Times New Roman" panose="02020603050405020304" pitchFamily="18" charset="0"/>
                    <a:cs typeface="Times New Roman" panose="02020603050405020304" pitchFamily="18" charset="0"/>
                  </a:rPr>
                  <a:t>A</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smtClean="0">
                    <a:solidFill>
                      <a:srgbClr val="002060"/>
                    </a:solidFill>
                    <a:latin typeface="Times New Roman" panose="02020603050405020304" pitchFamily="18" charset="0"/>
                    <a:cs typeface="Times New Roman" panose="02020603050405020304" pitchFamily="18" charset="0"/>
                  </a:rPr>
                  <a:t>  + A</a:t>
                </a:r>
                <a:r>
                  <a:rPr lang="en-IN" sz="2000" b="1" baseline="-25000" dirty="0" smtClean="0">
                    <a:solidFill>
                      <a:srgbClr val="002060"/>
                    </a:solidFill>
                    <a:latin typeface="Times New Roman" panose="02020603050405020304" pitchFamily="18" charset="0"/>
                    <a:cs typeface="Times New Roman" panose="02020603050405020304" pitchFamily="18" charset="0"/>
                  </a:rPr>
                  <a:t>12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21</a:t>
                </a:r>
                <a:r>
                  <a:rPr lang="en-IN" sz="2000" b="1" dirty="0" smtClean="0">
                    <a:solidFill>
                      <a:srgbClr val="002060"/>
                    </a:solidFill>
                    <a:latin typeface="Times New Roman" panose="02020603050405020304" pitchFamily="18" charset="0"/>
                    <a:cs typeface="Times New Roman" panose="02020603050405020304" pitchFamily="18" charset="0"/>
                  </a:rPr>
                  <a:t> </a:t>
                </a:r>
              </a:p>
              <a:p>
                <a:pPr algn="just"/>
                <a:r>
                  <a:rPr lang="en-IN" sz="2000" b="1" dirty="0" smtClean="0">
                    <a:solidFill>
                      <a:srgbClr val="002060"/>
                    </a:solidFill>
                    <a:latin typeface="Times New Roman" panose="02020603050405020304" pitchFamily="18" charset="0"/>
                    <a:cs typeface="Times New Roman" panose="02020603050405020304" pitchFamily="18" charset="0"/>
                  </a:rPr>
                  <a:t>C</a:t>
                </a:r>
                <a:r>
                  <a:rPr lang="en-IN" sz="2000" b="1" baseline="-25000" dirty="0" smtClean="0">
                    <a:solidFill>
                      <a:srgbClr val="002060"/>
                    </a:solidFill>
                    <a:latin typeface="Times New Roman" panose="02020603050405020304" pitchFamily="18" charset="0"/>
                    <a:cs typeface="Times New Roman" panose="02020603050405020304" pitchFamily="18" charset="0"/>
                  </a:rPr>
                  <a:t>12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12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22</a:t>
                </a:r>
              </a:p>
              <a:p>
                <a:pPr algn="just"/>
                <a:r>
                  <a:rPr lang="en-IN" sz="2000" b="1" dirty="0" smtClean="0">
                    <a:solidFill>
                      <a:srgbClr val="002060"/>
                    </a:solidFill>
                    <a:latin typeface="Times New Roman" panose="02020603050405020304" pitchFamily="18" charset="0"/>
                    <a:cs typeface="Times New Roman" panose="02020603050405020304" pitchFamily="18" charset="0"/>
                  </a:rPr>
                  <a:t>C</a:t>
                </a:r>
                <a:r>
                  <a:rPr lang="en-IN" sz="2000" b="1" baseline="-25000" dirty="0" smtClean="0">
                    <a:solidFill>
                      <a:srgbClr val="002060"/>
                    </a:solidFill>
                    <a:latin typeface="Times New Roman" panose="02020603050405020304" pitchFamily="18" charset="0"/>
                    <a:cs typeface="Times New Roman" panose="02020603050405020304" pitchFamily="18" charset="0"/>
                  </a:rPr>
                  <a:t>21</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a:solidFill>
                      <a:srgbClr val="002060"/>
                    </a:solidFill>
                    <a:latin typeface="Times New Roman" panose="02020603050405020304" pitchFamily="18" charset="0"/>
                    <a:cs typeface="Times New Roman" panose="02020603050405020304" pitchFamily="18" charset="0"/>
                  </a:rPr>
                  <a:t>2</a:t>
                </a:r>
                <a:r>
                  <a:rPr lang="en-IN" sz="2000" b="1" baseline="-25000" dirty="0" smtClean="0">
                    <a:solidFill>
                      <a:srgbClr val="002060"/>
                    </a:solidFill>
                    <a:latin typeface="Times New Roman" panose="02020603050405020304" pitchFamily="18" charset="0"/>
                    <a:cs typeface="Times New Roman" panose="02020603050405020304" pitchFamily="18" charset="0"/>
                  </a:rPr>
                  <a:t>1</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22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a:t>
                </a:r>
                <a:r>
                  <a:rPr lang="en-IN" sz="2000" b="1" dirty="0">
                    <a:solidFill>
                      <a:srgbClr val="002060"/>
                    </a:solidFill>
                    <a:latin typeface="Times New Roman" panose="02020603050405020304" pitchFamily="18" charset="0"/>
                    <a:cs typeface="Times New Roman" panose="02020603050405020304" pitchFamily="18" charset="0"/>
                  </a:rPr>
                  <a:t> </a:t>
                </a: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C</a:t>
                </a:r>
                <a:r>
                  <a:rPr lang="en-IN" sz="2000" b="1" baseline="-25000" dirty="0" smtClean="0">
                    <a:solidFill>
                      <a:srgbClr val="002060"/>
                    </a:solidFill>
                    <a:latin typeface="Times New Roman" panose="02020603050405020304" pitchFamily="18" charset="0"/>
                    <a:cs typeface="Times New Roman" panose="02020603050405020304" pitchFamily="18" charset="0"/>
                  </a:rPr>
                  <a:t>22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21</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12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22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22</a:t>
                </a:r>
                <a:r>
                  <a:rPr lang="en-IN" sz="2000" b="1" dirty="0" smtClean="0">
                    <a:solidFill>
                      <a:srgbClr val="002060"/>
                    </a:solidFill>
                    <a:latin typeface="Times New Roman" panose="02020603050405020304" pitchFamily="18" charset="0"/>
                    <a:cs typeface="Times New Roman" panose="02020603050405020304" pitchFamily="18" charset="0"/>
                  </a:rPr>
                  <a:t> </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77051" y="732885"/>
                <a:ext cx="11797552" cy="5627707"/>
              </a:xfrm>
              <a:blipFill rotWithShape="0">
                <a:blip r:embed="rId3"/>
                <a:stretch>
                  <a:fillRect l="-258" t="-1517"/>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100</a:t>
            </a:fld>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9" name="Straight Connector 8"/>
          <p:cNvCxnSpPr/>
          <p:nvPr/>
        </p:nvCxnSpPr>
        <p:spPr>
          <a:xfrm>
            <a:off x="2371165" y="1810871"/>
            <a:ext cx="0" cy="2026211"/>
          </a:xfrm>
          <a:prstGeom prst="line">
            <a:avLst/>
          </a:prstGeom>
          <a:ln w="28575">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290918" y="2805953"/>
            <a:ext cx="2160494" cy="17929"/>
          </a:xfrm>
          <a:prstGeom prst="line">
            <a:avLst/>
          </a:prstGeom>
          <a:ln w="28575">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91953" y="1837029"/>
            <a:ext cx="0" cy="2000053"/>
          </a:xfrm>
          <a:prstGeom prst="line">
            <a:avLst/>
          </a:prstGeom>
          <a:ln w="28575">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4049806" y="2805953"/>
            <a:ext cx="2084294" cy="8965"/>
          </a:xfrm>
          <a:prstGeom prst="line">
            <a:avLst/>
          </a:prstGeom>
          <a:ln w="28575">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451413" y="4216721"/>
            <a:ext cx="3612776" cy="646331"/>
          </a:xfrm>
          <a:prstGeom prst="rect">
            <a:avLst/>
          </a:prstGeom>
          <a:noFill/>
          <a:ln>
            <a:solidFill>
              <a:schemeClr val="accent1"/>
            </a:solidFill>
          </a:ln>
        </p:spPr>
        <p:txBody>
          <a:bodyPr wrap="square" rtlCol="0">
            <a:spAutoFit/>
          </a:bodyPr>
          <a:lstStyle/>
          <a:p>
            <a:pPr algn="just"/>
            <a:r>
              <a:rPr lang="en-IN" b="1" dirty="0" smtClean="0">
                <a:solidFill>
                  <a:srgbClr val="C00000"/>
                </a:solidFill>
                <a:latin typeface="Times New Roman" panose="02020603050405020304" pitchFamily="18" charset="0"/>
                <a:cs typeface="Times New Roman" panose="02020603050405020304" pitchFamily="18" charset="0"/>
              </a:rPr>
              <a:t>This requires eight multiplications</a:t>
            </a:r>
            <a:endParaRPr lang="en-IN" b="1" dirty="0">
              <a:solidFill>
                <a:srgbClr val="C00000"/>
              </a:solidFill>
              <a:latin typeface="Times New Roman" panose="02020603050405020304" pitchFamily="18" charset="0"/>
              <a:cs typeface="Times New Roman" panose="02020603050405020304" pitchFamily="18" charset="0"/>
            </a:endParaRPr>
          </a:p>
          <a:p>
            <a:pPr algn="just"/>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6598025" y="2068889"/>
            <a:ext cx="3612776" cy="923330"/>
          </a:xfrm>
          <a:prstGeom prst="rect">
            <a:avLst/>
          </a:prstGeom>
          <a:noFill/>
          <a:ln>
            <a:solidFill>
              <a:schemeClr val="accent1"/>
            </a:solidFill>
          </a:ln>
        </p:spPr>
        <p:txBody>
          <a:bodyPr wrap="square" rtlCol="0">
            <a:spAutoFit/>
          </a:bodyPr>
          <a:lstStyle/>
          <a:p>
            <a:pPr algn="just"/>
            <a:r>
              <a:rPr lang="en-IN" b="1" dirty="0" smtClean="0">
                <a:solidFill>
                  <a:srgbClr val="C00000"/>
                </a:solidFill>
                <a:latin typeface="Times New Roman" panose="02020603050405020304" pitchFamily="18" charset="0"/>
                <a:cs typeface="Times New Roman" panose="02020603050405020304" pitchFamily="18" charset="0"/>
              </a:rPr>
              <a:t>Apply divide and conquer method on the matrices, </a:t>
            </a:r>
            <a:r>
              <a:rPr lang="en-IN" b="1" dirty="0" err="1" smtClean="0">
                <a:solidFill>
                  <a:srgbClr val="C00000"/>
                </a:solidFill>
                <a:latin typeface="Times New Roman" panose="02020603050405020304" pitchFamily="18" charset="0"/>
                <a:cs typeface="Times New Roman" panose="02020603050405020304" pitchFamily="18" charset="0"/>
              </a:rPr>
              <a:t>ie</a:t>
            </a:r>
            <a:r>
              <a:rPr lang="en-IN" b="1" dirty="0" smtClean="0">
                <a:solidFill>
                  <a:srgbClr val="C00000"/>
                </a:solidFill>
                <a:latin typeface="Times New Roman" panose="02020603050405020304" pitchFamily="18" charset="0"/>
                <a:cs typeface="Times New Roman" panose="02020603050405020304" pitchFamily="18" charset="0"/>
              </a:rPr>
              <a:t> divide the matrix into small equal size matrix</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349C35DB-F7FF-451F-BC48-5B6812B5FAFF}" type="datetime1">
              <a:rPr lang="en-IN" smtClean="0"/>
              <a:t>21-03-2026</a:t>
            </a:fld>
            <a:endParaRPr lang="en-IN"/>
          </a:p>
        </p:txBody>
      </p:sp>
    </p:spTree>
    <p:extLst>
      <p:ext uri="{BB962C8B-B14F-4D97-AF65-F5344CB8AC3E}">
        <p14:creationId xmlns:p14="http://schemas.microsoft.com/office/powerpoint/2010/main" val="1469866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p:sp>
        <p:nvSpPr>
          <p:cNvPr id="3" name="Subtitle 2"/>
          <p:cNvSpPr>
            <a:spLocks noGrp="1"/>
          </p:cNvSpPr>
          <p:nvPr>
            <p:ph type="subTitle" idx="1"/>
          </p:nvPr>
        </p:nvSpPr>
        <p:spPr>
          <a:xfrm>
            <a:off x="177051" y="732885"/>
            <a:ext cx="11797552" cy="5627707"/>
          </a:xfrm>
        </p:spPr>
        <p:txBody>
          <a:bodyPr>
            <a:normAutofit/>
          </a:bodyPr>
          <a:lstStyle/>
          <a:p>
            <a:pPr algn="just"/>
            <a:r>
              <a:rPr lang="en-IN" sz="2000" b="1" dirty="0" err="1">
                <a:solidFill>
                  <a:srgbClr val="002060"/>
                </a:solidFill>
                <a:latin typeface="Times New Roman" panose="02020603050405020304" pitchFamily="18" charset="0"/>
                <a:cs typeface="Times New Roman" panose="02020603050405020304" pitchFamily="18" charset="0"/>
              </a:rPr>
              <a:t>Strassens</a:t>
            </a:r>
            <a:r>
              <a:rPr lang="en-IN" sz="2000" b="1" dirty="0">
                <a:solidFill>
                  <a:srgbClr val="002060"/>
                </a:solidFill>
                <a:latin typeface="Times New Roman" panose="02020603050405020304" pitchFamily="18" charset="0"/>
                <a:cs typeface="Times New Roman" panose="02020603050405020304" pitchFamily="18" charset="0"/>
              </a:rPr>
              <a:t> Matrix </a:t>
            </a:r>
            <a:r>
              <a:rPr lang="en-IN" sz="2000" b="1" dirty="0" smtClean="0">
                <a:solidFill>
                  <a:srgbClr val="002060"/>
                </a:solidFill>
                <a:latin typeface="Times New Roman" panose="02020603050405020304" pitchFamily="18" charset="0"/>
                <a:cs typeface="Times New Roman" panose="02020603050405020304" pitchFamily="18" charset="0"/>
              </a:rPr>
              <a:t>Multiplication</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P + S – T + V</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R + T</a:t>
            </a:r>
            <a:endParaRPr lang="en-IN" sz="2000" b="1" baseline="-25000"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21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Q + S</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P + R – Q + U</a:t>
            </a:r>
          </a:p>
          <a:p>
            <a:pPr algn="just"/>
            <a:r>
              <a:rPr lang="en-IN" sz="2000" b="1" dirty="0" smtClean="0">
                <a:solidFill>
                  <a:srgbClr val="002060"/>
                </a:solidFill>
                <a:latin typeface="Times New Roman" panose="02020603050405020304" pitchFamily="18" charset="0"/>
                <a:cs typeface="Times New Roman" panose="02020603050405020304" pitchFamily="18" charset="0"/>
              </a:rPr>
              <a:t>Where</a:t>
            </a:r>
          </a:p>
          <a:p>
            <a:pPr algn="just"/>
            <a:r>
              <a:rPr lang="en-IN" sz="2000" b="1" dirty="0" smtClean="0">
                <a:solidFill>
                  <a:srgbClr val="002060"/>
                </a:solidFill>
                <a:latin typeface="Times New Roman" panose="02020603050405020304" pitchFamily="18" charset="0"/>
                <a:cs typeface="Times New Roman" panose="02020603050405020304" pitchFamily="18" charset="0"/>
              </a:rPr>
              <a:t>P = ( A</a:t>
            </a:r>
            <a:r>
              <a:rPr lang="en-IN" sz="2000" b="1" baseline="-25000" dirty="0" smtClean="0">
                <a:solidFill>
                  <a:srgbClr val="002060"/>
                </a:solidFill>
                <a:latin typeface="Times New Roman" panose="02020603050405020304" pitchFamily="18" charset="0"/>
                <a:cs typeface="Times New Roman" panose="02020603050405020304" pitchFamily="18" charset="0"/>
              </a:rPr>
              <a:t>11 </a:t>
            </a:r>
            <a:r>
              <a:rPr lang="en-IN" sz="2000" b="1" dirty="0" smtClean="0">
                <a:solidFill>
                  <a:srgbClr val="002060"/>
                </a:solidFill>
                <a:latin typeface="Times New Roman" panose="02020603050405020304" pitchFamily="18" charset="0"/>
                <a:cs typeface="Times New Roman" panose="02020603050405020304" pitchFamily="18" charset="0"/>
              </a:rPr>
              <a:t>+ A</a:t>
            </a:r>
            <a:r>
              <a:rPr lang="en-IN" sz="2000" b="1" baseline="-25000" dirty="0" smtClean="0">
                <a:solidFill>
                  <a:srgbClr val="002060"/>
                </a:solidFill>
                <a:latin typeface="Times New Roman" panose="02020603050405020304" pitchFamily="18" charset="0"/>
                <a:cs typeface="Times New Roman" panose="02020603050405020304" pitchFamily="18" charset="0"/>
              </a:rPr>
              <a:t>22 </a:t>
            </a:r>
            <a:r>
              <a:rPr lang="en-IN" sz="2000" b="1" dirty="0" smtClean="0">
                <a:solidFill>
                  <a:srgbClr val="002060"/>
                </a:solidFill>
                <a:latin typeface="Times New Roman" panose="02020603050405020304" pitchFamily="18" charset="0"/>
                <a:cs typeface="Times New Roman" panose="02020603050405020304" pitchFamily="18" charset="0"/>
              </a:rPr>
              <a:t>) (B</a:t>
            </a:r>
            <a:r>
              <a:rPr lang="en-IN" sz="2000" b="1" baseline="-25000" dirty="0" smtClean="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a:t>
            </a:r>
          </a:p>
          <a:p>
            <a:pPr algn="just"/>
            <a:r>
              <a:rPr lang="en-IN" sz="2000" b="1" dirty="0" smtClean="0">
                <a:solidFill>
                  <a:srgbClr val="002060"/>
                </a:solidFill>
                <a:latin typeface="Times New Roman" panose="02020603050405020304" pitchFamily="18" charset="0"/>
                <a:cs typeface="Times New Roman" panose="02020603050405020304" pitchFamily="18" charset="0"/>
              </a:rPr>
              <a:t>Q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11</a:t>
            </a: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r>
              <a:rPr lang="en-IN" sz="2000" b="1" dirty="0" smtClean="0">
                <a:solidFill>
                  <a:srgbClr val="002060"/>
                </a:solidFill>
                <a:latin typeface="Times New Roman" panose="02020603050405020304" pitchFamily="18" charset="0"/>
                <a:cs typeface="Times New Roman" panose="02020603050405020304" pitchFamily="18" charset="0"/>
              </a:rPr>
              <a:t>R </a:t>
            </a:r>
            <a:r>
              <a:rPr lang="en-IN" sz="2000" b="1" dirty="0">
                <a:solidFill>
                  <a:srgbClr val="002060"/>
                </a:solidFill>
                <a:latin typeface="Times New Roman" panose="02020603050405020304" pitchFamily="18" charset="0"/>
                <a:cs typeface="Times New Roman" panose="02020603050405020304" pitchFamily="18" charset="0"/>
              </a:rPr>
              <a:t>=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12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a:t>
            </a:r>
          </a:p>
          <a:p>
            <a:pPr algn="just"/>
            <a:r>
              <a:rPr lang="en-IN" sz="2000" b="1" dirty="0" smtClean="0">
                <a:solidFill>
                  <a:srgbClr val="002060"/>
                </a:solidFill>
                <a:latin typeface="Times New Roman" panose="02020603050405020304" pitchFamily="18" charset="0"/>
                <a:cs typeface="Times New Roman" panose="02020603050405020304" pitchFamily="18" charset="0"/>
              </a:rPr>
              <a:t>S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11</a:t>
            </a: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r>
              <a:rPr lang="en-IN" sz="2000" b="1" dirty="0" smtClean="0">
                <a:solidFill>
                  <a:srgbClr val="002060"/>
                </a:solidFill>
                <a:latin typeface="Times New Roman" panose="02020603050405020304" pitchFamily="18" charset="0"/>
                <a:cs typeface="Times New Roman" panose="02020603050405020304" pitchFamily="18" charset="0"/>
              </a:rPr>
              <a:t>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22</a:t>
            </a: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r>
              <a:rPr lang="en-IN" sz="2000" b="1" dirty="0" smtClean="0">
                <a:solidFill>
                  <a:srgbClr val="002060"/>
                </a:solidFill>
                <a:latin typeface="Times New Roman" panose="02020603050405020304" pitchFamily="18" charset="0"/>
                <a:cs typeface="Times New Roman" panose="02020603050405020304" pitchFamily="18" charset="0"/>
              </a:rPr>
              <a:t>U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21 </a:t>
            </a:r>
            <a:r>
              <a:rPr lang="en-IN" sz="2000" b="1" dirty="0" smtClean="0">
                <a:solidFill>
                  <a:srgbClr val="002060"/>
                </a:solidFill>
                <a:latin typeface="Times New Roman" panose="02020603050405020304" pitchFamily="18" charset="0"/>
                <a:cs typeface="Times New Roman" panose="02020603050405020304" pitchFamily="18" charset="0"/>
              </a:rPr>
              <a:t>– A</a:t>
            </a:r>
            <a:r>
              <a:rPr lang="en-IN" sz="2000" b="1" baseline="-25000" dirty="0" smtClean="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12</a:t>
            </a: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r>
              <a:rPr lang="en-IN" sz="2000" b="1" dirty="0" smtClean="0">
                <a:solidFill>
                  <a:srgbClr val="002060"/>
                </a:solidFill>
                <a:latin typeface="Times New Roman" panose="02020603050405020304" pitchFamily="18" charset="0"/>
                <a:cs typeface="Times New Roman" panose="02020603050405020304" pitchFamily="18" charset="0"/>
              </a:rPr>
              <a:t>V =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12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101</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3812100" y="4521521"/>
            <a:ext cx="6835728" cy="830997"/>
          </a:xfrm>
          <a:prstGeom prst="rect">
            <a:avLst/>
          </a:prstGeom>
          <a:noFill/>
          <a:ln>
            <a:solidFill>
              <a:schemeClr val="accent1"/>
            </a:solidFill>
          </a:ln>
        </p:spPr>
        <p:txBody>
          <a:bodyPr wrap="square" rtlCol="0">
            <a:spAutoFit/>
          </a:bodyPr>
          <a:lstStyle/>
          <a:p>
            <a:pPr algn="just"/>
            <a:r>
              <a:rPr lang="en-IN" sz="2400" b="1" dirty="0" smtClean="0">
                <a:solidFill>
                  <a:srgbClr val="C00000"/>
                </a:solidFill>
                <a:latin typeface="Times New Roman" panose="02020603050405020304" pitchFamily="18" charset="0"/>
                <a:cs typeface="Times New Roman" panose="02020603050405020304" pitchFamily="18" charset="0"/>
              </a:rPr>
              <a:t>From the </a:t>
            </a:r>
            <a:r>
              <a:rPr lang="en-IN" sz="2400" b="1" dirty="0" err="1" smtClean="0">
                <a:solidFill>
                  <a:srgbClr val="C00000"/>
                </a:solidFill>
                <a:latin typeface="Times New Roman" panose="02020603050405020304" pitchFamily="18" charset="0"/>
                <a:cs typeface="Times New Roman" panose="02020603050405020304" pitchFamily="18" charset="0"/>
              </a:rPr>
              <a:t>Strassens</a:t>
            </a:r>
            <a:r>
              <a:rPr lang="en-IN" sz="2400" b="1" dirty="0" smtClean="0">
                <a:solidFill>
                  <a:srgbClr val="C00000"/>
                </a:solidFill>
                <a:latin typeface="Times New Roman" panose="02020603050405020304" pitchFamily="18" charset="0"/>
                <a:cs typeface="Times New Roman" panose="02020603050405020304" pitchFamily="18" charset="0"/>
              </a:rPr>
              <a:t> matrix multiplication we need to perform only </a:t>
            </a:r>
            <a:r>
              <a:rPr lang="en-IN" sz="2400" b="1" dirty="0" smtClean="0">
                <a:solidFill>
                  <a:srgbClr val="0070C0"/>
                </a:solidFill>
                <a:latin typeface="Times New Roman" panose="02020603050405020304" pitchFamily="18" charset="0"/>
                <a:cs typeface="Times New Roman" panose="02020603050405020304" pitchFamily="18" charset="0"/>
              </a:rPr>
              <a:t>SEVEN</a:t>
            </a:r>
            <a:r>
              <a:rPr lang="en-IN" sz="2400" b="1" dirty="0" smtClean="0">
                <a:solidFill>
                  <a:srgbClr val="C00000"/>
                </a:solidFill>
                <a:latin typeface="Times New Roman" panose="02020603050405020304" pitchFamily="18" charset="0"/>
                <a:cs typeface="Times New Roman" panose="02020603050405020304" pitchFamily="18" charset="0"/>
              </a:rPr>
              <a:t> multiplication operations</a:t>
            </a:r>
            <a:endParaRPr lang="en-IN" sz="2400" b="1" dirty="0">
              <a:solidFill>
                <a:srgbClr val="C0000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0DA8BE0E-DFF8-4012-B041-D327AA89B059}" type="datetime1">
              <a:rPr lang="en-IN" smtClean="0"/>
              <a:t>21-03-2026</a:t>
            </a:fld>
            <a:endParaRPr lang="en-IN"/>
          </a:p>
        </p:txBody>
      </p:sp>
    </p:spTree>
    <p:extLst>
      <p:ext uri="{BB962C8B-B14F-4D97-AF65-F5344CB8AC3E}">
        <p14:creationId xmlns:p14="http://schemas.microsoft.com/office/powerpoint/2010/main" val="206766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77051" y="732885"/>
                <a:ext cx="11797552" cy="5627707"/>
              </a:xfrm>
            </p:spPr>
            <p:txBody>
              <a:bodyPr>
                <a:normAutofit/>
              </a:bodyPr>
              <a:lstStyle/>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Ex: using the divide and conquer method multiply the following two </a:t>
                </a:r>
                <a:r>
                  <a:rPr lang="en-IN" sz="2000" b="1" dirty="0">
                    <a:solidFill>
                      <a:srgbClr val="002060"/>
                    </a:solidFill>
                    <a:latin typeface="Times New Roman" panose="02020603050405020304" pitchFamily="18" charset="0"/>
                    <a:cs typeface="Times New Roman" panose="02020603050405020304" pitchFamily="18" charset="0"/>
                  </a:rPr>
                  <a:t>matrix </a:t>
                </a:r>
                <a:r>
                  <a:rPr lang="en-IN" sz="2000" b="1" dirty="0" smtClean="0">
                    <a:solidFill>
                      <a:srgbClr val="002060"/>
                    </a:solidFill>
                    <a:latin typeface="Times New Roman" panose="02020603050405020304" pitchFamily="18" charset="0"/>
                    <a:cs typeface="Times New Roman" panose="02020603050405020304" pitchFamily="18" charset="0"/>
                  </a:rPr>
                  <a:t>with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Matrix Multiplication </a:t>
                </a:r>
                <a:r>
                  <a:rPr lang="en-IN" sz="2000" b="1" dirty="0" err="1">
                    <a:solidFill>
                      <a:srgbClr val="002060"/>
                    </a:solidFill>
                    <a:latin typeface="Times New Roman" panose="02020603050405020304" pitchFamily="18" charset="0"/>
                    <a:cs typeface="Times New Roman" panose="02020603050405020304" pitchFamily="18" charset="0"/>
                  </a:rPr>
                  <a:t>multiplication</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algorithm </a:t>
                </a:r>
              </a:p>
              <a:p>
                <a:pPr algn="just"/>
                <a:r>
                  <a:rPr lang="en-IN" sz="2000" b="1" dirty="0" smtClean="0">
                    <a:solidFill>
                      <a:srgbClr val="002060"/>
                    </a:solidFill>
                    <a:latin typeface="Times New Roman" panose="02020603050405020304" pitchFamily="18" charset="0"/>
                    <a:cs typeface="Times New Roman" panose="02020603050405020304" pitchFamily="18" charset="0"/>
                  </a:rPr>
                  <a:t>Let us Consider two matrix A and B, C = A * B</a:t>
                </a:r>
              </a:p>
              <a:p>
                <a:pPr algn="just"/>
                <a14:m>
                  <m:oMath xmlns:m="http://schemas.openxmlformats.org/officeDocument/2006/math">
                    <m:d>
                      <m:dPr>
                        <m:begChr m:val="["/>
                        <m:endChr m:val="]"/>
                        <m:ctrlPr>
                          <a:rPr lang="en-IN" sz="2000" b="1" i="1" smtClean="0">
                            <a:solidFill>
                              <a:schemeClr val="tx1"/>
                            </a:solidFill>
                            <a:latin typeface="Cambria Math"/>
                            <a:cs typeface="Times New Roman" panose="02020603050405020304" pitchFamily="18" charset="0"/>
                          </a:rPr>
                        </m:ctrlPr>
                      </m:dPr>
                      <m:e>
                        <m:m>
                          <m:mPr>
                            <m:mcs>
                              <m:mc>
                                <m:mcPr>
                                  <m:count m:val="2"/>
                                  <m:mcJc m:val="center"/>
                                </m:mcPr>
                              </m:mc>
                            </m:mcs>
                            <m:ctrlPr>
                              <a:rPr lang="en-IN" sz="2000" b="1" i="1" smtClean="0">
                                <a:solidFill>
                                  <a:schemeClr val="tx1"/>
                                </a:solidFill>
                                <a:latin typeface="Cambria Math"/>
                                <a:cs typeface="Times New Roman" panose="02020603050405020304" pitchFamily="18" charset="0"/>
                              </a:rPr>
                            </m:ctrlPr>
                          </m:mPr>
                          <m:mr>
                            <m:e>
                              <m:r>
                                <m:rPr>
                                  <m:brk m:alnAt="7"/>
                                </m:rPr>
                                <a:rPr lang="en-IN" sz="2000" b="1" i="1" smtClean="0">
                                  <a:solidFill>
                                    <a:schemeClr val="tx1"/>
                                  </a:solidFill>
                                  <a:latin typeface="Cambria Math" panose="02040503050406030204" pitchFamily="18" charset="0"/>
                                  <a:cs typeface="Times New Roman" panose="02020603050405020304" pitchFamily="18" charset="0"/>
                                </a:rPr>
                                <m:t>𝟏</m:t>
                              </m:r>
                            </m:e>
                            <m:e>
                              <m:r>
                                <a:rPr lang="en-IN" sz="2000" b="1" i="1" smtClean="0">
                                  <a:solidFill>
                                    <a:schemeClr val="tx1"/>
                                  </a:solidFill>
                                  <a:latin typeface="Cambria Math" panose="02040503050406030204" pitchFamily="18" charset="0"/>
                                  <a:cs typeface="Times New Roman" panose="02020603050405020304" pitchFamily="18" charset="0"/>
                                </a:rPr>
                                <m:t>𝟐</m:t>
                              </m:r>
                            </m:e>
                          </m:mr>
                          <m:mr>
                            <m:e>
                              <m:r>
                                <a:rPr lang="en-IN" sz="2000" b="1" i="1" smtClean="0">
                                  <a:solidFill>
                                    <a:schemeClr val="tx1"/>
                                  </a:solidFill>
                                  <a:latin typeface="Cambria Math" panose="02040503050406030204" pitchFamily="18" charset="0"/>
                                  <a:cs typeface="Times New Roman" panose="02020603050405020304" pitchFamily="18" charset="0"/>
                                </a:rPr>
                                <m:t>𝟓</m:t>
                              </m:r>
                            </m:e>
                            <m:e>
                              <m:r>
                                <a:rPr lang="en-IN" sz="2000" b="1" i="1" smtClean="0">
                                  <a:solidFill>
                                    <a:schemeClr val="tx1"/>
                                  </a:solidFill>
                                  <a:latin typeface="Cambria Math" panose="02040503050406030204" pitchFamily="18" charset="0"/>
                                  <a:cs typeface="Times New Roman" panose="02020603050405020304" pitchFamily="18" charset="0"/>
                                </a:rPr>
                                <m:t>𝟔</m:t>
                              </m:r>
                            </m:e>
                          </m:mr>
                        </m:m>
                      </m:e>
                    </m:d>
                  </m:oMath>
                </a14:m>
                <a:r>
                  <a:rPr lang="en-IN" sz="2000" b="1" dirty="0">
                    <a:solidFill>
                      <a:schemeClr val="tx1"/>
                    </a:solidFill>
                    <a:latin typeface="Times New Roman" panose="02020603050405020304" pitchFamily="18" charset="0"/>
                    <a:cs typeface="Times New Roman" panose="02020603050405020304" pitchFamily="18" charset="0"/>
                  </a:rPr>
                  <a:t> </a:t>
                </a:r>
                <a:r>
                  <a:rPr lang="en-IN" sz="2000" b="1" dirty="0" smtClean="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sz="2000" b="1" i="1">
                            <a:solidFill>
                              <a:schemeClr val="tx1"/>
                            </a:solidFill>
                            <a:latin typeface="Cambria Math"/>
                            <a:cs typeface="Times New Roman" panose="02020603050405020304" pitchFamily="18" charset="0"/>
                          </a:rPr>
                        </m:ctrlPr>
                      </m:dPr>
                      <m:e>
                        <m:m>
                          <m:mPr>
                            <m:mcs>
                              <m:mc>
                                <m:mcPr>
                                  <m:count m:val="2"/>
                                  <m:mcJc m:val="center"/>
                                </m:mcPr>
                              </m:mc>
                            </m:mcs>
                            <m:ctrlPr>
                              <a:rPr lang="en-IN" sz="2000" b="1" i="1">
                                <a:solidFill>
                                  <a:schemeClr val="tx1"/>
                                </a:solidFill>
                                <a:latin typeface="Cambria Math"/>
                                <a:cs typeface="Times New Roman" panose="02020603050405020304" pitchFamily="18" charset="0"/>
                              </a:rPr>
                            </m:ctrlPr>
                          </m:mPr>
                          <m:mr>
                            <m:e>
                              <m:r>
                                <a:rPr lang="en-IN" sz="2000" b="1" i="1" smtClean="0">
                                  <a:solidFill>
                                    <a:schemeClr val="tx1"/>
                                  </a:solidFill>
                                  <a:latin typeface="Cambria Math" panose="02040503050406030204" pitchFamily="18" charset="0"/>
                                  <a:cs typeface="Times New Roman" panose="02020603050405020304" pitchFamily="18" charset="0"/>
                                </a:rPr>
                                <m:t>𝟖</m:t>
                              </m:r>
                            </m:e>
                            <m:e>
                              <m:r>
                                <a:rPr lang="en-IN" sz="2000" b="1" i="1" smtClean="0">
                                  <a:solidFill>
                                    <a:schemeClr val="tx1"/>
                                  </a:solidFill>
                                  <a:latin typeface="Cambria Math" panose="02040503050406030204" pitchFamily="18" charset="0"/>
                                  <a:cs typeface="Times New Roman" panose="02020603050405020304" pitchFamily="18" charset="0"/>
                                </a:rPr>
                                <m:t>𝟕</m:t>
                              </m:r>
                            </m:e>
                          </m:mr>
                          <m:mr>
                            <m:e>
                              <m:r>
                                <a:rPr lang="en-IN" sz="2000" b="1" i="1" smtClean="0">
                                  <a:solidFill>
                                    <a:schemeClr val="tx1"/>
                                  </a:solidFill>
                                  <a:latin typeface="Cambria Math" panose="02040503050406030204" pitchFamily="18" charset="0"/>
                                  <a:cs typeface="Times New Roman" panose="02020603050405020304" pitchFamily="18" charset="0"/>
                                </a:rPr>
                                <m:t>𝟏</m:t>
                              </m:r>
                            </m:e>
                            <m:e>
                              <m:r>
                                <a:rPr lang="en-IN" sz="2000" b="1" i="1" smtClean="0">
                                  <a:solidFill>
                                    <a:schemeClr val="tx1"/>
                                  </a:solidFill>
                                  <a:latin typeface="Cambria Math" panose="02040503050406030204" pitchFamily="18" charset="0"/>
                                  <a:cs typeface="Times New Roman" panose="02020603050405020304" pitchFamily="18" charset="0"/>
                                </a:rPr>
                                <m:t>𝟐</m:t>
                              </m:r>
                            </m:e>
                          </m:mr>
                        </m:m>
                      </m:e>
                    </m:d>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Solution:</a:t>
                </a:r>
              </a:p>
              <a:p>
                <a:pPr algn="just"/>
                <a:r>
                  <a:rPr lang="en-IN" sz="2000" b="1" dirty="0">
                    <a:solidFill>
                      <a:srgbClr val="002060"/>
                    </a:solidFill>
                    <a:latin typeface="Times New Roman" panose="02020603050405020304" pitchFamily="18" charset="0"/>
                    <a:cs typeface="Times New Roman" panose="02020603050405020304" pitchFamily="18" charset="0"/>
                  </a:rPr>
                  <a:t>Let  A = </a:t>
                </a:r>
                <a14:m>
                  <m:oMath xmlns:m="http://schemas.openxmlformats.org/officeDocument/2006/math">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m:rPr>
                                      <m:brk m:alnAt="7"/>
                                    </m:rPr>
                                    <a:rPr lang="en-IN" sz="2000" b="1">
                                      <a:solidFill>
                                        <a:srgbClr val="002060"/>
                                      </a:solidFill>
                                      <a:latin typeface="Cambria Math" panose="02040503050406030204" pitchFamily="18" charset="0"/>
                                      <a:cs typeface="Times New Roman" panose="02020603050405020304" pitchFamily="18" charset="0"/>
                                    </a:rPr>
                                    <m:t>𝑨</m:t>
                                  </m:r>
                                  <m:r>
                                    <a:rPr lang="en-IN" sz="2000" b="1" baseline="-25000">
                                      <a:solidFill>
                                        <a:srgbClr val="002060"/>
                                      </a:solidFill>
                                      <a:latin typeface="Cambria Math" panose="02040503050406030204" pitchFamily="18" charset="0"/>
                                      <a:cs typeface="Times New Roman" panose="02020603050405020304" pitchFamily="18" charset="0"/>
                                    </a:rPr>
                                    <m:t>𝟏𝟏</m:t>
                                  </m:r>
                                </m:e>
                                <m:e>
                                  <m:r>
                                    <a:rPr lang="en-IN" sz="2000" b="1">
                                      <a:solidFill>
                                        <a:srgbClr val="002060"/>
                                      </a:solidFill>
                                      <a:latin typeface="Cambria Math" panose="02040503050406030204" pitchFamily="18" charset="0"/>
                                      <a:cs typeface="Times New Roman" panose="02020603050405020304" pitchFamily="18" charset="0"/>
                                    </a:rPr>
                                    <m:t>𝑨</m:t>
                                  </m:r>
                                  <m:r>
                                    <a:rPr lang="en-IN" sz="2000" b="1" baseline="-25000">
                                      <a:solidFill>
                                        <a:srgbClr val="002060"/>
                                      </a:solidFill>
                                      <a:latin typeface="Cambria Math" panose="02040503050406030204" pitchFamily="18" charset="0"/>
                                      <a:cs typeface="Times New Roman" panose="02020603050405020304" pitchFamily="18" charset="0"/>
                                    </a:rPr>
                                    <m:t>𝟏𝟐</m:t>
                                  </m:r>
                                </m:e>
                              </m:mr>
                              <m:mr>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𝑨</m:t>
                                      </m:r>
                                      <m:r>
                                        <a:rPr lang="en-IN" sz="2000" b="1" baseline="-25000">
                                          <a:solidFill>
                                            <a:srgbClr val="002060"/>
                                          </a:solidFill>
                                          <a:latin typeface="Cambria Math" panose="02040503050406030204" pitchFamily="18" charset="0"/>
                                          <a:cs typeface="Times New Roman" panose="02020603050405020304" pitchFamily="18" charset="0"/>
                                        </a:rPr>
                                        <m:t>𝟐𝟏</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𝑨</m:t>
                                      </m:r>
                                      <m:r>
                                        <a:rPr lang="en-IN" sz="2000" b="1" baseline="-25000">
                                          <a:solidFill>
                                            <a:srgbClr val="002060"/>
                                          </a:solidFill>
                                          <a:latin typeface="Cambria Math" panose="02040503050406030204" pitchFamily="18" charset="0"/>
                                          <a:cs typeface="Times New Roman" panose="02020603050405020304" pitchFamily="18" charset="0"/>
                                        </a:rPr>
                                        <m:t>𝟐𝟐</m:t>
                                      </m:r>
                                    </m:e>
                                  </m:eqArr>
                                </m:e>
                              </m:mr>
                            </m:m>
                          </m:e>
                          <m:e/>
                        </m:eqArr>
                      </m:e>
                    </m:d>
                    <m:r>
                      <a:rPr lang="en-IN" sz="2000" b="1">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m:rPr>
                                      <m:brk m:alnAt="7"/>
                                    </m:rPr>
                                    <a:rPr lang="en-IN" sz="2000" b="1">
                                      <a:solidFill>
                                        <a:srgbClr val="002060"/>
                                      </a:solidFill>
                                      <a:latin typeface="Cambria Math" panose="02040503050406030204" pitchFamily="18" charset="0"/>
                                      <a:cs typeface="Times New Roman" panose="02020603050405020304" pitchFamily="18" charset="0"/>
                                    </a:rPr>
                                    <m:t>𝟏</m:t>
                                  </m:r>
                                </m:e>
                                <m:e>
                                  <m:r>
                                    <a:rPr lang="en-IN" sz="2000" b="1">
                                      <a:solidFill>
                                        <a:srgbClr val="002060"/>
                                      </a:solidFill>
                                      <a:latin typeface="Cambria Math" panose="02040503050406030204" pitchFamily="18" charset="0"/>
                                      <a:cs typeface="Times New Roman" panose="02020603050405020304" pitchFamily="18" charset="0"/>
                                    </a:rPr>
                                    <m:t>𝟐</m:t>
                                  </m:r>
                                </m:e>
                              </m:mr>
                              <m:mr>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𝟔</m:t>
                                      </m:r>
                                    </m:e>
                                  </m:eqArr>
                                </m:e>
                              </m:mr>
                            </m:m>
                          </m:e>
                          <m:e/>
                        </m:eqArr>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B = </a:t>
                </a:r>
                <a14:m>
                  <m:oMath xmlns:m="http://schemas.openxmlformats.org/officeDocument/2006/math">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m:rPr>
                                      <m:brk m:alnAt="7"/>
                                    </m:rPr>
                                    <a:rPr lang="en-IN" sz="2000" b="1" i="0" smtClean="0">
                                      <a:solidFill>
                                        <a:srgbClr val="002060"/>
                                      </a:solidFill>
                                      <a:latin typeface="Cambria Math" panose="02040503050406030204" pitchFamily="18" charset="0"/>
                                      <a:cs typeface="Times New Roman" panose="02020603050405020304" pitchFamily="18" charset="0"/>
                                    </a:rPr>
                                    <m:t>𝐁</m:t>
                                  </m:r>
                                  <m:r>
                                    <a:rPr lang="en-IN" sz="2000" b="1" baseline="-25000">
                                      <a:solidFill>
                                        <a:srgbClr val="002060"/>
                                      </a:solidFill>
                                      <a:latin typeface="Cambria Math" panose="02040503050406030204" pitchFamily="18" charset="0"/>
                                      <a:cs typeface="Times New Roman" panose="02020603050405020304" pitchFamily="18" charset="0"/>
                                    </a:rPr>
                                    <m:t>𝟏𝟏</m:t>
                                  </m:r>
                                </m:e>
                                <m:e>
                                  <m:r>
                                    <a:rPr lang="en-IN" sz="2000" b="1" i="0" smtClean="0">
                                      <a:solidFill>
                                        <a:srgbClr val="002060"/>
                                      </a:solidFill>
                                      <a:latin typeface="Cambria Math" panose="02040503050406030204" pitchFamily="18" charset="0"/>
                                      <a:cs typeface="Times New Roman" panose="02020603050405020304" pitchFamily="18" charset="0"/>
                                    </a:rPr>
                                    <m:t>𝐁</m:t>
                                  </m:r>
                                  <m:r>
                                    <a:rPr lang="en-IN" sz="2000" b="1" baseline="-25000">
                                      <a:solidFill>
                                        <a:srgbClr val="002060"/>
                                      </a:solidFill>
                                      <a:latin typeface="Cambria Math" panose="02040503050406030204" pitchFamily="18" charset="0"/>
                                      <a:cs typeface="Times New Roman" panose="02020603050405020304" pitchFamily="18" charset="0"/>
                                    </a:rPr>
                                    <m:t>𝟏𝟐</m:t>
                                  </m:r>
                                </m:e>
                              </m:mr>
                              <m:mr>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𝐁</m:t>
                                      </m:r>
                                      <m:r>
                                        <a:rPr lang="en-IN" sz="2000" b="1" baseline="-25000">
                                          <a:solidFill>
                                            <a:srgbClr val="002060"/>
                                          </a:solidFill>
                                          <a:latin typeface="Cambria Math" panose="02040503050406030204" pitchFamily="18" charset="0"/>
                                          <a:cs typeface="Times New Roman" panose="02020603050405020304" pitchFamily="18" charset="0"/>
                                        </a:rPr>
                                        <m:t>𝟐𝟏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𝐁</m:t>
                                      </m:r>
                                      <m:r>
                                        <a:rPr lang="en-IN" sz="2000" b="1" baseline="-25000">
                                          <a:solidFill>
                                            <a:srgbClr val="002060"/>
                                          </a:solidFill>
                                          <a:latin typeface="Cambria Math" panose="02040503050406030204" pitchFamily="18" charset="0"/>
                                          <a:cs typeface="Times New Roman" panose="02020603050405020304" pitchFamily="18" charset="0"/>
                                        </a:rPr>
                                        <m:t>𝟐𝟐</m:t>
                                      </m:r>
                                    </m:e>
                                  </m:eqArr>
                                </m:e>
                              </m:mr>
                            </m:m>
                          </m:e>
                          <m:e/>
                        </m:eqArr>
                      </m:e>
                    </m:d>
                    <m:r>
                      <a:rPr lang="en-IN" sz="2000" b="1">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smtClean="0">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𝟖</m:t>
                                  </m:r>
                                </m:e>
                                <m:e>
                                  <m:r>
                                    <a:rPr lang="en-IN" sz="2000" b="1" i="0" smtClean="0">
                                      <a:solidFill>
                                        <a:srgbClr val="002060"/>
                                      </a:solidFill>
                                      <a:latin typeface="Cambria Math" panose="02040503050406030204" pitchFamily="18" charset="0"/>
                                      <a:cs typeface="Times New Roman" panose="02020603050405020304" pitchFamily="18" charset="0"/>
                                    </a:rPr>
                                    <m:t>𝟕</m:t>
                                  </m:r>
                                </m:e>
                              </m:mr>
                              <m:mr>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𝟐</m:t>
                                      </m:r>
                                    </m:e>
                                  </m:eqArr>
                                </m:e>
                              </m:mr>
                            </m:m>
                          </m:e>
                          <m:e/>
                        </m:eqArr>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77051" y="732885"/>
                <a:ext cx="11797552" cy="5627707"/>
              </a:xfrm>
              <a:blipFill rotWithShape="0">
                <a:blip r:embed="rId3"/>
                <a:stretch>
                  <a:fillRect l="-517" r="-56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102</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8B8B4969-CC07-427A-B527-212D47BD7F6D}" type="datetime1">
              <a:rPr lang="en-IN" smtClean="0"/>
              <a:t>21-03-2026</a:t>
            </a:fld>
            <a:endParaRPr lang="en-IN"/>
          </a:p>
        </p:txBody>
      </p:sp>
    </p:spTree>
    <p:extLst>
      <p:ext uri="{BB962C8B-B14F-4D97-AF65-F5344CB8AC3E}">
        <p14:creationId xmlns:p14="http://schemas.microsoft.com/office/powerpoint/2010/main" val="330432677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p:sp>
        <p:nvSpPr>
          <p:cNvPr id="3" name="Subtitle 2"/>
          <p:cNvSpPr>
            <a:spLocks noGrp="1"/>
          </p:cNvSpPr>
          <p:nvPr>
            <p:ph type="subTitle" idx="1"/>
          </p:nvPr>
        </p:nvSpPr>
        <p:spPr>
          <a:xfrm>
            <a:off x="217768" y="750228"/>
            <a:ext cx="11797552" cy="5627707"/>
          </a:xfrm>
        </p:spPr>
        <p:txBody>
          <a:bodyPr>
            <a:normAutofit/>
          </a:bodyPr>
          <a:lstStyle/>
          <a:p>
            <a:pPr algn="just"/>
            <a:r>
              <a:rPr lang="en-IN" sz="2000" b="1" dirty="0" err="1">
                <a:solidFill>
                  <a:srgbClr val="002060"/>
                </a:solidFill>
                <a:latin typeface="Times New Roman" panose="02020603050405020304" pitchFamily="18" charset="0"/>
                <a:cs typeface="Times New Roman" panose="02020603050405020304" pitchFamily="18" charset="0"/>
              </a:rPr>
              <a:t>Strassens</a:t>
            </a:r>
            <a:r>
              <a:rPr lang="en-IN" sz="2000" b="1" dirty="0">
                <a:solidFill>
                  <a:srgbClr val="002060"/>
                </a:solidFill>
                <a:latin typeface="Times New Roman" panose="02020603050405020304" pitchFamily="18" charset="0"/>
                <a:cs typeface="Times New Roman" panose="02020603050405020304" pitchFamily="18" charset="0"/>
              </a:rPr>
              <a:t> Matrix </a:t>
            </a:r>
            <a:r>
              <a:rPr lang="en-IN" sz="2000" b="1" dirty="0" smtClean="0">
                <a:solidFill>
                  <a:srgbClr val="002060"/>
                </a:solidFill>
                <a:latin typeface="Times New Roman" panose="02020603050405020304" pitchFamily="18" charset="0"/>
                <a:cs typeface="Times New Roman" panose="02020603050405020304" pitchFamily="18" charset="0"/>
              </a:rPr>
              <a:t>Multiplication</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P = ( A</a:t>
            </a:r>
            <a:r>
              <a:rPr lang="en-IN" sz="2000" b="1" baseline="-25000" dirty="0" smtClean="0">
                <a:solidFill>
                  <a:srgbClr val="002060"/>
                </a:solidFill>
                <a:latin typeface="Times New Roman" panose="02020603050405020304" pitchFamily="18" charset="0"/>
                <a:cs typeface="Times New Roman" panose="02020603050405020304" pitchFamily="18" charset="0"/>
              </a:rPr>
              <a:t>11 </a:t>
            </a:r>
            <a:r>
              <a:rPr lang="en-IN" sz="2000" b="1" dirty="0" smtClean="0">
                <a:solidFill>
                  <a:srgbClr val="002060"/>
                </a:solidFill>
                <a:latin typeface="Times New Roman" panose="02020603050405020304" pitchFamily="18" charset="0"/>
                <a:cs typeface="Times New Roman" panose="02020603050405020304" pitchFamily="18" charset="0"/>
              </a:rPr>
              <a:t>+ A</a:t>
            </a:r>
            <a:r>
              <a:rPr lang="en-IN" sz="2000" b="1" baseline="-25000" dirty="0" smtClean="0">
                <a:solidFill>
                  <a:srgbClr val="002060"/>
                </a:solidFill>
                <a:latin typeface="Times New Roman" panose="02020603050405020304" pitchFamily="18" charset="0"/>
                <a:cs typeface="Times New Roman" panose="02020603050405020304" pitchFamily="18" charset="0"/>
              </a:rPr>
              <a:t>22 </a:t>
            </a:r>
            <a:r>
              <a:rPr lang="en-IN" sz="2000" b="1" dirty="0" smtClean="0">
                <a:solidFill>
                  <a:srgbClr val="002060"/>
                </a:solidFill>
                <a:latin typeface="Times New Roman" panose="02020603050405020304" pitchFamily="18" charset="0"/>
                <a:cs typeface="Times New Roman" panose="02020603050405020304" pitchFamily="18" charset="0"/>
              </a:rPr>
              <a:t>) (B</a:t>
            </a:r>
            <a:r>
              <a:rPr lang="en-IN" sz="2000" b="1" baseline="-25000" dirty="0" smtClean="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22</a:t>
            </a:r>
            <a:r>
              <a:rPr lang="en-IN" sz="2000" b="1" dirty="0" smtClean="0">
                <a:solidFill>
                  <a:srgbClr val="002060"/>
                </a:solidFill>
                <a:latin typeface="Times New Roman" panose="02020603050405020304" pitchFamily="18" charset="0"/>
                <a:cs typeface="Times New Roman" panose="02020603050405020304" pitchFamily="18" charset="0"/>
              </a:rPr>
              <a:t>)  = (1 + </a:t>
            </a:r>
            <a:r>
              <a:rPr lang="en-IN" sz="2000" b="1" dirty="0">
                <a:solidFill>
                  <a:srgbClr val="002060"/>
                </a:solidFill>
                <a:latin typeface="Times New Roman" panose="02020603050405020304" pitchFamily="18" charset="0"/>
                <a:cs typeface="Times New Roman" panose="02020603050405020304" pitchFamily="18" charset="0"/>
              </a:rPr>
              <a:t>6) × </a:t>
            </a:r>
            <a:r>
              <a:rPr lang="en-IN" sz="2000" b="1" dirty="0" smtClean="0">
                <a:solidFill>
                  <a:srgbClr val="002060"/>
                </a:solidFill>
                <a:latin typeface="Times New Roman" panose="02020603050405020304" pitchFamily="18" charset="0"/>
                <a:cs typeface="Times New Roman" panose="02020603050405020304" pitchFamily="18" charset="0"/>
              </a:rPr>
              <a:t>(8 + 2) = 7 × 10 = 70	</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Q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11</a:t>
            </a:r>
            <a:r>
              <a:rPr lang="en-IN" sz="2000" b="1" dirty="0" smtClean="0">
                <a:solidFill>
                  <a:srgbClr val="002060"/>
                </a:solidFill>
                <a:latin typeface="Times New Roman" panose="02020603050405020304" pitchFamily="18" charset="0"/>
                <a:cs typeface="Times New Roman" panose="02020603050405020304" pitchFamily="18" charset="0"/>
              </a:rPr>
              <a:t>) = (5 + 6</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8 = 11 </a:t>
            </a:r>
            <a:r>
              <a:rPr lang="en-IN" sz="2000" b="1" dirty="0">
                <a:solidFill>
                  <a:srgbClr val="002060"/>
                </a:solidFill>
                <a:latin typeface="Times New Roman" panose="02020603050405020304" pitchFamily="18" charset="0"/>
                <a:cs typeface="Times New Roman" panose="02020603050405020304" pitchFamily="18" charset="0"/>
              </a:rPr>
              <a:t>× 8 </a:t>
            </a:r>
            <a:r>
              <a:rPr lang="en-IN" sz="2000" b="1" dirty="0" smtClean="0">
                <a:solidFill>
                  <a:srgbClr val="002060"/>
                </a:solidFill>
                <a:latin typeface="Times New Roman" panose="02020603050405020304" pitchFamily="18" charset="0"/>
                <a:cs typeface="Times New Roman" panose="02020603050405020304" pitchFamily="18" charset="0"/>
              </a:rPr>
              <a:t>= 88</a:t>
            </a:r>
          </a:p>
          <a:p>
            <a:pPr algn="just"/>
            <a:r>
              <a:rPr lang="en-IN" sz="2000" b="1" dirty="0" smtClean="0">
                <a:solidFill>
                  <a:srgbClr val="002060"/>
                </a:solidFill>
                <a:latin typeface="Times New Roman" panose="02020603050405020304" pitchFamily="18" charset="0"/>
                <a:cs typeface="Times New Roman" panose="02020603050405020304" pitchFamily="18" charset="0"/>
              </a:rPr>
              <a:t>R </a:t>
            </a:r>
            <a:r>
              <a:rPr lang="en-IN" sz="2000" b="1" dirty="0">
                <a:solidFill>
                  <a:srgbClr val="002060"/>
                </a:solidFill>
                <a:latin typeface="Times New Roman" panose="02020603050405020304" pitchFamily="18" charset="0"/>
                <a:cs typeface="Times New Roman" panose="02020603050405020304" pitchFamily="18" charset="0"/>
              </a:rPr>
              <a:t>=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12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smtClean="0">
                <a:solidFill>
                  <a:srgbClr val="002060"/>
                </a:solidFill>
                <a:latin typeface="Times New Roman" panose="02020603050405020304" pitchFamily="18" charset="0"/>
                <a:cs typeface="Times New Roman" panose="02020603050405020304" pitchFamily="18" charset="0"/>
              </a:rPr>
              <a:t>) = </a:t>
            </a:r>
            <a:r>
              <a:rPr lang="en-IN" sz="2000" b="1" dirty="0">
                <a:solidFill>
                  <a:srgbClr val="002060"/>
                </a:solidFill>
                <a:latin typeface="Times New Roman" panose="02020603050405020304" pitchFamily="18" charset="0"/>
                <a:cs typeface="Times New Roman" panose="02020603050405020304" pitchFamily="18" charset="0"/>
              </a:rPr>
              <a:t>1 × </a:t>
            </a:r>
            <a:r>
              <a:rPr lang="en-IN" sz="2000" b="1" dirty="0" smtClean="0">
                <a:solidFill>
                  <a:srgbClr val="002060"/>
                </a:solidFill>
                <a:latin typeface="Times New Roman" panose="02020603050405020304" pitchFamily="18" charset="0"/>
                <a:cs typeface="Times New Roman" panose="02020603050405020304" pitchFamily="18" charset="0"/>
              </a:rPr>
              <a:t>(7 – 2) = 1</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5 = 5</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S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11</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6</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 (1 -  8) =6</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-7 = -42</a:t>
            </a:r>
          </a:p>
          <a:p>
            <a:pPr algn="just"/>
            <a:r>
              <a:rPr lang="en-IN" sz="2000" b="1" dirty="0" smtClean="0">
                <a:solidFill>
                  <a:srgbClr val="002060"/>
                </a:solidFill>
                <a:latin typeface="Times New Roman" panose="02020603050405020304" pitchFamily="18" charset="0"/>
                <a:cs typeface="Times New Roman" panose="02020603050405020304" pitchFamily="18" charset="0"/>
              </a:rPr>
              <a:t>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22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a:t>
            </a:r>
            <a:r>
              <a:rPr lang="en-IN" sz="2000" b="1" dirty="0" smtClean="0">
                <a:solidFill>
                  <a:srgbClr val="002060"/>
                </a:solidFill>
                <a:latin typeface="Times New Roman" panose="02020603050405020304" pitchFamily="18" charset="0"/>
                <a:cs typeface="Times New Roman" panose="02020603050405020304" pitchFamily="18" charset="0"/>
              </a:rPr>
              <a:t> (2) = 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 6</a:t>
            </a:r>
          </a:p>
          <a:p>
            <a:pPr algn="just"/>
            <a:r>
              <a:rPr lang="en-IN" sz="2000" b="1" dirty="0" smtClean="0">
                <a:solidFill>
                  <a:srgbClr val="002060"/>
                </a:solidFill>
                <a:latin typeface="Times New Roman" panose="02020603050405020304" pitchFamily="18" charset="0"/>
                <a:cs typeface="Times New Roman" panose="02020603050405020304" pitchFamily="18" charset="0"/>
              </a:rPr>
              <a:t>U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A</a:t>
            </a:r>
            <a:r>
              <a:rPr lang="en-IN" sz="2000" b="1" baseline="-25000" dirty="0" smtClean="0">
                <a:solidFill>
                  <a:srgbClr val="002060"/>
                </a:solidFill>
                <a:latin typeface="Times New Roman" panose="02020603050405020304" pitchFamily="18" charset="0"/>
                <a:cs typeface="Times New Roman" panose="02020603050405020304" pitchFamily="18" charset="0"/>
              </a:rPr>
              <a:t>21 </a:t>
            </a:r>
            <a:r>
              <a:rPr lang="en-IN" sz="2000" b="1" dirty="0" smtClean="0">
                <a:solidFill>
                  <a:srgbClr val="002060"/>
                </a:solidFill>
                <a:latin typeface="Times New Roman" panose="02020603050405020304" pitchFamily="18" charset="0"/>
                <a:cs typeface="Times New Roman" panose="02020603050405020304" pitchFamily="18" charset="0"/>
              </a:rPr>
              <a:t>– A</a:t>
            </a:r>
            <a:r>
              <a:rPr lang="en-IN" sz="2000" b="1" baseline="-25000" dirty="0" smtClean="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5</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(8 + 7) = 4</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15 = 60</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V = ( A</a:t>
            </a:r>
            <a:r>
              <a:rPr lang="en-IN" sz="2000" b="1" baseline="-25000" dirty="0" smtClean="0">
                <a:solidFill>
                  <a:srgbClr val="002060"/>
                </a:solidFill>
                <a:latin typeface="Times New Roman" panose="02020603050405020304" pitchFamily="18" charset="0"/>
                <a:cs typeface="Times New Roman" panose="02020603050405020304" pitchFamily="18" charset="0"/>
              </a:rPr>
              <a:t>12 </a:t>
            </a:r>
            <a:r>
              <a:rPr lang="en-IN" sz="2000" b="1" dirty="0" smtClean="0">
                <a:solidFill>
                  <a:srgbClr val="002060"/>
                </a:solidFill>
                <a:latin typeface="Times New Roman" panose="02020603050405020304" pitchFamily="18" charset="0"/>
                <a:cs typeface="Times New Roman" panose="02020603050405020304" pitchFamily="18" charset="0"/>
              </a:rPr>
              <a:t>-  A</a:t>
            </a:r>
            <a:r>
              <a:rPr lang="en-IN" sz="2000" b="1" baseline="-25000" dirty="0" smtClean="0">
                <a:solidFill>
                  <a:srgbClr val="002060"/>
                </a:solidFill>
                <a:latin typeface="Times New Roman" panose="02020603050405020304" pitchFamily="18" charset="0"/>
                <a:cs typeface="Times New Roman" panose="02020603050405020304" pitchFamily="18" charset="0"/>
              </a:rPr>
              <a:t>22 </a:t>
            </a:r>
            <a:r>
              <a:rPr lang="en-IN" sz="2000" b="1" dirty="0" smtClean="0">
                <a:solidFill>
                  <a:srgbClr val="002060"/>
                </a:solidFill>
                <a:latin typeface="Times New Roman" panose="02020603050405020304" pitchFamily="18" charset="0"/>
                <a:cs typeface="Times New Roman" panose="02020603050405020304" pitchFamily="18" charset="0"/>
              </a:rPr>
              <a:t>) (B</a:t>
            </a:r>
            <a:r>
              <a:rPr lang="en-IN" sz="2000" b="1" baseline="-25000" dirty="0" smtClean="0">
                <a:solidFill>
                  <a:srgbClr val="002060"/>
                </a:solidFill>
                <a:latin typeface="Times New Roman" panose="02020603050405020304" pitchFamily="18" charset="0"/>
                <a:cs typeface="Times New Roman" panose="02020603050405020304" pitchFamily="18" charset="0"/>
              </a:rPr>
              <a:t>21 </a:t>
            </a:r>
            <a:r>
              <a:rPr lang="en-IN" sz="2000" b="1" dirty="0" smtClean="0">
                <a:solidFill>
                  <a:srgbClr val="002060"/>
                </a:solidFill>
                <a:latin typeface="Times New Roman" panose="02020603050405020304" pitchFamily="18" charset="0"/>
                <a:cs typeface="Times New Roman" panose="02020603050405020304" pitchFamily="18" charset="0"/>
              </a:rPr>
              <a:t>+ B</a:t>
            </a:r>
            <a:r>
              <a:rPr lang="en-IN" sz="2000" b="1" baseline="-25000" dirty="0" smtClean="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(2 -  6</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 -4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3 = -12</a:t>
            </a:r>
          </a:p>
          <a:p>
            <a:pPr algn="just"/>
            <a:r>
              <a:rPr lang="en-IN" sz="2000" b="1" dirty="0" smtClean="0">
                <a:solidFill>
                  <a:srgbClr val="FF0000"/>
                </a:solidFill>
                <a:latin typeface="Times New Roman" panose="02020603050405020304" pitchFamily="18" charset="0"/>
                <a:cs typeface="Times New Roman" panose="02020603050405020304" pitchFamily="18" charset="0"/>
              </a:rPr>
              <a:t>WKT</a:t>
            </a:r>
            <a:endParaRPr lang="en-IN" sz="2000" b="1" dirty="0">
              <a:solidFill>
                <a:srgbClr val="FF000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70 – 42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6 – 12 = 10</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5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6 = 11</a:t>
            </a:r>
            <a:endParaRPr lang="en-IN" sz="2000" b="1" baseline="-25000"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21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88 – 42 = 46</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70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5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88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60 = 47</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103</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Rectangle 5"/>
              <p:cNvSpPr/>
              <p:nvPr/>
            </p:nvSpPr>
            <p:spPr>
              <a:xfrm>
                <a:off x="4614133" y="4701684"/>
                <a:ext cx="3806427" cy="1112805"/>
              </a:xfrm>
              <a:prstGeom prst="rect">
                <a:avLst/>
              </a:prstGeom>
            </p:spPr>
            <p:txBody>
              <a:bodyPr wrap="none">
                <a:spAutoFit/>
              </a:bodyPr>
              <a:lstStyle/>
              <a:p>
                <a:pPr algn="just"/>
                <a:r>
                  <a:rPr lang="en-IN" b="1" dirty="0" smtClean="0">
                    <a:solidFill>
                      <a:srgbClr val="C00000"/>
                    </a:solidFill>
                    <a:latin typeface="Times New Roman" panose="02020603050405020304" pitchFamily="18" charset="0"/>
                    <a:cs typeface="Times New Roman" panose="02020603050405020304" pitchFamily="18" charset="0"/>
                  </a:rPr>
                  <a:t>Resultant matrix is    C =  </a:t>
                </a:r>
                <a14:m>
                  <m:oMath xmlns:m="http://schemas.openxmlformats.org/officeDocument/2006/math">
                    <m:d>
                      <m:dPr>
                        <m:begChr m:val="["/>
                        <m:endChr m:val="]"/>
                        <m:ctrlPr>
                          <a:rPr lang="en-IN" b="1" i="1">
                            <a:solidFill>
                              <a:srgbClr val="C00000"/>
                            </a:solidFill>
                            <a:latin typeface="Cambria Math"/>
                            <a:cs typeface="Times New Roman" panose="02020603050405020304" pitchFamily="18" charset="0"/>
                          </a:rPr>
                        </m:ctrlPr>
                      </m:dPr>
                      <m:e>
                        <m:eqArr>
                          <m:eqArrPr>
                            <m:ctrlPr>
                              <a:rPr lang="en-IN" b="1" i="1">
                                <a:solidFill>
                                  <a:srgbClr val="C00000"/>
                                </a:solidFill>
                                <a:latin typeface="Cambria Math"/>
                                <a:cs typeface="Times New Roman" panose="02020603050405020304" pitchFamily="18" charset="0"/>
                              </a:rPr>
                            </m:ctrlPr>
                          </m:eqArrPr>
                          <m:e>
                            <m:m>
                              <m:mPr>
                                <m:mcs>
                                  <m:mc>
                                    <m:mcPr>
                                      <m:count m:val="2"/>
                                      <m:mcJc m:val="center"/>
                                    </m:mcPr>
                                  </m:mc>
                                </m:mcs>
                                <m:ctrlPr>
                                  <a:rPr lang="en-IN" b="1" i="1">
                                    <a:solidFill>
                                      <a:srgbClr val="C00000"/>
                                    </a:solidFill>
                                    <a:latin typeface="Cambria Math"/>
                                    <a:cs typeface="Times New Roman" panose="02020603050405020304" pitchFamily="18" charset="0"/>
                                  </a:rPr>
                                </m:ctrlPr>
                              </m:mPr>
                              <m:mr>
                                <m:e>
                                  <m:r>
                                    <a:rPr lang="en-IN" b="1" i="1" smtClean="0">
                                      <a:solidFill>
                                        <a:srgbClr val="C00000"/>
                                      </a:solidFill>
                                      <a:latin typeface="Cambria Math" panose="02040503050406030204" pitchFamily="18" charset="0"/>
                                      <a:cs typeface="Times New Roman" panose="02020603050405020304" pitchFamily="18" charset="0"/>
                                    </a:rPr>
                                    <m:t>𝟏𝟎</m:t>
                                  </m:r>
                                </m:e>
                                <m:e>
                                  <m:r>
                                    <a:rPr lang="en-IN" b="1" i="1" smtClean="0">
                                      <a:solidFill>
                                        <a:srgbClr val="C00000"/>
                                      </a:solidFill>
                                      <a:latin typeface="Cambria Math" panose="02040503050406030204" pitchFamily="18" charset="0"/>
                                      <a:cs typeface="Times New Roman" panose="02020603050405020304" pitchFamily="18" charset="0"/>
                                    </a:rPr>
                                    <m:t>𝟏𝟏</m:t>
                                  </m:r>
                                </m:e>
                              </m:mr>
                              <m:mr>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𝟒𝟔</m:t>
                                      </m:r>
                                    </m:e>
                                  </m:eqArr>
                                </m:e>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𝟒𝟕</m:t>
                                      </m:r>
                                    </m:e>
                                  </m:eqArr>
                                </m:e>
                              </m:mr>
                            </m:m>
                          </m:e>
                          <m:e/>
                        </m:eqArr>
                      </m:e>
                    </m:d>
                  </m:oMath>
                </a14:m>
                <a:r>
                  <a:rPr lang="en-IN" b="1" dirty="0">
                    <a:solidFill>
                      <a:srgbClr val="C00000"/>
                    </a:solidFill>
                    <a:latin typeface="Times New Roman" panose="02020603050405020304" pitchFamily="18" charset="0"/>
                    <a:cs typeface="Times New Roman" panose="02020603050405020304" pitchFamily="18" charset="0"/>
                  </a:rPr>
                  <a:t> </a:t>
                </a:r>
                <a:endParaRPr lang="en-IN" sz="28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4614133" y="4701684"/>
                <a:ext cx="3806427" cy="1112805"/>
              </a:xfrm>
              <a:prstGeom prst="rect">
                <a:avLst/>
              </a:prstGeom>
              <a:blipFill rotWithShape="0">
                <a:blip r:embed="rId6"/>
                <a:stretch>
                  <a:fillRect l="-1442"/>
                </a:stretch>
              </a:blipFill>
            </p:spPr>
            <p:txBody>
              <a:bodyPr/>
              <a:lstStyle/>
              <a:p>
                <a:r>
                  <a:rPr lang="en-IN">
                    <a:noFill/>
                  </a:rPr>
                  <a:t> </a:t>
                </a:r>
              </a:p>
            </p:txBody>
          </p:sp>
        </mc:Fallback>
      </mc:AlternateContent>
      <p:sp>
        <p:nvSpPr>
          <p:cNvPr id="9" name="Date Placeholder 8"/>
          <p:cNvSpPr>
            <a:spLocks noGrp="1"/>
          </p:cNvSpPr>
          <p:nvPr>
            <p:ph type="dt" sz="half" idx="10"/>
          </p:nvPr>
        </p:nvSpPr>
        <p:spPr/>
        <p:txBody>
          <a:bodyPr/>
          <a:lstStyle/>
          <a:p>
            <a:fld id="{4F307F60-6D21-4FF1-A6AA-83D9854B5887}" type="datetime1">
              <a:rPr lang="en-IN" smtClean="0"/>
              <a:t>21-03-2026</a:t>
            </a:fld>
            <a:endParaRPr lang="en-IN"/>
          </a:p>
        </p:txBody>
      </p:sp>
    </p:spTree>
    <p:extLst>
      <p:ext uri="{BB962C8B-B14F-4D97-AF65-F5344CB8AC3E}">
        <p14:creationId xmlns:p14="http://schemas.microsoft.com/office/powerpoint/2010/main" val="260550807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251011" y="647512"/>
                <a:ext cx="11797552" cy="5816902"/>
              </a:xfrm>
            </p:spPr>
            <p:txBody>
              <a:bodyPr>
                <a:normAutofit/>
              </a:bodyPr>
              <a:lstStyle/>
              <a:p>
                <a:pPr algn="just">
                  <a:lnSpc>
                    <a:spcPct val="120000"/>
                  </a:lnSpc>
                </a:pPr>
                <a:r>
                  <a:rPr lang="en-IN" sz="2000" b="1" dirty="0" smtClean="0">
                    <a:solidFill>
                      <a:srgbClr val="002060"/>
                    </a:solidFill>
                    <a:latin typeface="Times New Roman" panose="02020603050405020304" pitchFamily="18" charset="0"/>
                    <a:cs typeface="Times New Roman" panose="02020603050405020304" pitchFamily="18" charset="0"/>
                  </a:rPr>
                  <a:t>Ex: using the divide and conquer method multiply the following two </a:t>
                </a:r>
                <a:r>
                  <a:rPr lang="en-IN" sz="2000" b="1" dirty="0">
                    <a:solidFill>
                      <a:srgbClr val="002060"/>
                    </a:solidFill>
                    <a:latin typeface="Times New Roman" panose="02020603050405020304" pitchFamily="18" charset="0"/>
                    <a:cs typeface="Times New Roman" panose="02020603050405020304" pitchFamily="18" charset="0"/>
                  </a:rPr>
                  <a:t>matrix </a:t>
                </a:r>
                <a:r>
                  <a:rPr lang="en-IN" sz="2000" b="1" dirty="0" smtClean="0">
                    <a:solidFill>
                      <a:srgbClr val="002060"/>
                    </a:solidFill>
                    <a:latin typeface="Times New Roman" panose="02020603050405020304" pitchFamily="18" charset="0"/>
                    <a:cs typeface="Times New Roman" panose="02020603050405020304" pitchFamily="18" charset="0"/>
                  </a:rPr>
                  <a:t>with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Matrix Multiplication </a:t>
                </a:r>
                <a:r>
                  <a:rPr lang="en-IN" sz="2000" b="1" dirty="0" smtClean="0">
                    <a:solidFill>
                      <a:srgbClr val="002060"/>
                    </a:solidFill>
                    <a:latin typeface="Times New Roman" panose="02020603050405020304" pitchFamily="18" charset="0"/>
                    <a:cs typeface="Times New Roman" panose="02020603050405020304" pitchFamily="18" charset="0"/>
                  </a:rPr>
                  <a:t>algorithm </a:t>
                </a:r>
              </a:p>
              <a:p>
                <a:pPr algn="just"/>
                <a14:m>
                  <m:oMath xmlns:m="http://schemas.openxmlformats.org/officeDocument/2006/math">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4"/>
                                      <m:mcJc m:val="center"/>
                                    </m:mcPr>
                                  </m:mc>
                                </m:mcs>
                                <m:ctrlPr>
                                  <a:rPr lang="en-IN" sz="2000" b="1" i="1">
                                    <a:solidFill>
                                      <a:srgbClr val="002060"/>
                                    </a:solidFill>
                                    <a:latin typeface="Cambria Math"/>
                                    <a:cs typeface="Times New Roman" panose="02020603050405020304" pitchFamily="18" charset="0"/>
                                  </a:rPr>
                                </m:ctrlPr>
                              </m:mPr>
                              <m:mr>
                                <m:e>
                                  <m:r>
                                    <m:rPr>
                                      <m:brk m:alnAt="7"/>
                                    </m:rPr>
                                    <a:rPr lang="en-IN" sz="2000" b="1" i="1" smtClean="0">
                                      <a:solidFill>
                                        <a:srgbClr val="002060"/>
                                      </a:solidFill>
                                      <a:latin typeface="Cambria Math" panose="02040503050406030204" pitchFamily="18" charset="0"/>
                                      <a:cs typeface="Times New Roman" panose="02020603050405020304" pitchFamily="18" charset="0"/>
                                    </a:rPr>
                                    <m:t>𝟏</m:t>
                                  </m:r>
                                </m:e>
                                <m:e>
                                  <m:r>
                                    <a:rPr lang="en-IN" sz="2000" b="1" i="1" smtClean="0">
                                      <a:solidFill>
                                        <a:srgbClr val="002060"/>
                                      </a:solidFill>
                                      <a:latin typeface="Cambria Math" panose="02040503050406030204" pitchFamily="18" charset="0"/>
                                      <a:cs typeface="Times New Roman" panose="02020603050405020304" pitchFamily="18" charset="0"/>
                                    </a:rPr>
                                    <m:t>𝟎</m:t>
                                  </m:r>
                                </m:e>
                                <m:e>
                                  <m:r>
                                    <a:rPr lang="en-IN" sz="2000" b="1" i="1" smtClean="0">
                                      <a:solidFill>
                                        <a:srgbClr val="002060"/>
                                      </a:solidFill>
                                      <a:latin typeface="Cambria Math" panose="02040503050406030204" pitchFamily="18" charset="0"/>
                                      <a:cs typeface="Times New Roman" panose="02020603050405020304" pitchFamily="18" charset="0"/>
                                    </a:rPr>
                                    <m:t>𝟐</m:t>
                                  </m:r>
                                </m:e>
                                <m:e>
                                  <m:r>
                                    <a:rPr lang="en-IN" sz="2000" b="1" i="1" smtClean="0">
                                      <a:solidFill>
                                        <a:srgbClr val="002060"/>
                                      </a:solidFill>
                                      <a:latin typeface="Cambria Math" panose="02040503050406030204" pitchFamily="18" charset="0"/>
                                      <a:cs typeface="Times New Roman" panose="02020603050405020304" pitchFamily="18" charset="0"/>
                                    </a:rPr>
                                    <m:t>𝟏</m:t>
                                  </m:r>
                                </m:e>
                              </m:mr>
                              <m:mr>
                                <m:e>
                                  <m:r>
                                    <a:rPr lang="en-IN" sz="2000" b="1" i="1" smtClean="0">
                                      <a:solidFill>
                                        <a:srgbClr val="002060"/>
                                      </a:solidFill>
                                      <a:latin typeface="Cambria Math" panose="02040503050406030204" pitchFamily="18" charset="0"/>
                                      <a:cs typeface="Times New Roman" panose="02020603050405020304" pitchFamily="18" charset="0"/>
                                    </a:rPr>
                                    <m:t>𝟒</m:t>
                                  </m:r>
                                </m:e>
                                <m:e>
                                  <m:r>
                                    <a:rPr lang="en-IN" sz="2000" b="1" i="1" smtClean="0">
                                      <a:solidFill>
                                        <a:srgbClr val="002060"/>
                                      </a:solidFill>
                                      <a:latin typeface="Cambria Math" panose="02040503050406030204" pitchFamily="18" charset="0"/>
                                      <a:cs typeface="Times New Roman" panose="02020603050405020304" pitchFamily="18" charset="0"/>
                                    </a:rPr>
                                    <m:t>𝟏</m:t>
                                  </m:r>
                                </m:e>
                                <m:e>
                                  <m:r>
                                    <a:rPr lang="en-IN" sz="2000" b="1" i="1" smtClean="0">
                                      <a:solidFill>
                                        <a:srgbClr val="002060"/>
                                      </a:solidFill>
                                      <a:latin typeface="Cambria Math" panose="02040503050406030204" pitchFamily="18" charset="0"/>
                                      <a:cs typeface="Times New Roman" panose="02020603050405020304" pitchFamily="18" charset="0"/>
                                    </a:rPr>
                                    <m:t>𝟏</m:t>
                                  </m:r>
                                </m:e>
                                <m:e>
                                  <m:r>
                                    <a:rPr lang="en-IN" sz="2000" b="1" i="1" smtClean="0">
                                      <a:solidFill>
                                        <a:srgbClr val="002060"/>
                                      </a:solidFill>
                                      <a:latin typeface="Cambria Math" panose="02040503050406030204" pitchFamily="18" charset="0"/>
                                      <a:cs typeface="Times New Roman" panose="02020603050405020304" pitchFamily="18" charset="0"/>
                                    </a:rPr>
                                    <m:t>𝟎</m:t>
                                  </m:r>
                                </m:e>
                              </m:mr>
                              <m:mr>
                                <m:e>
                                  <m:r>
                                    <a:rPr lang="en-IN" sz="2000" b="1" i="1" smtClean="0">
                                      <a:solidFill>
                                        <a:srgbClr val="002060"/>
                                      </a:solidFill>
                                      <a:latin typeface="Cambria Math" panose="02040503050406030204" pitchFamily="18" charset="0"/>
                                      <a:cs typeface="Times New Roman" panose="02020603050405020304" pitchFamily="18" charset="0"/>
                                    </a:rPr>
                                    <m:t>𝟎</m:t>
                                  </m:r>
                                </m:e>
                                <m:e>
                                  <m:r>
                                    <a:rPr lang="en-IN" sz="2000" b="1" i="1" smtClean="0">
                                      <a:solidFill>
                                        <a:srgbClr val="002060"/>
                                      </a:solidFill>
                                      <a:latin typeface="Cambria Math" panose="02040503050406030204" pitchFamily="18" charset="0"/>
                                      <a:cs typeface="Times New Roman" panose="02020603050405020304" pitchFamily="18" charset="0"/>
                                    </a:rPr>
                                    <m:t>𝟏</m:t>
                                  </m:r>
                                </m:e>
                                <m:e>
                                  <m:r>
                                    <a:rPr lang="en-IN" sz="2000" b="1" i="1" smtClean="0">
                                      <a:solidFill>
                                        <a:srgbClr val="002060"/>
                                      </a:solidFill>
                                      <a:latin typeface="Cambria Math" panose="02040503050406030204" pitchFamily="18" charset="0"/>
                                      <a:cs typeface="Times New Roman" panose="02020603050405020304" pitchFamily="18" charset="0"/>
                                    </a:rPr>
                                    <m:t>𝟑</m:t>
                                  </m:r>
                                </m:e>
                                <m:e>
                                  <m:r>
                                    <a:rPr lang="en-IN" sz="2000" b="1" i="1" smtClean="0">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r>
                                        <a:rPr lang="en-IN" sz="2000" b="1" i="1">
                                          <a:solidFill>
                                            <a:srgbClr val="002060"/>
                                          </a:solidFill>
                                          <a:latin typeface="Cambria Math" panose="02040503050406030204" pitchFamily="18" charset="0"/>
                                          <a:cs typeface="Times New Roman" panose="02020603050405020304" pitchFamily="18" charset="0"/>
                                        </a:rPr>
                                        <m:t>𝟓</m:t>
                                      </m:r>
                                    </m:e>
                                  </m:eqArr>
                                </m:e>
                                <m:e>
                                  <m:r>
                                    <a:rPr lang="en-IN" sz="2000" b="1" i="1" smtClean="0">
                                      <a:solidFill>
                                        <a:srgbClr val="002060"/>
                                      </a:solidFill>
                                      <a:latin typeface="Cambria Math" panose="02040503050406030204" pitchFamily="18" charset="0"/>
                                      <a:cs typeface="Times New Roman" panose="02020603050405020304" pitchFamily="18" charset="0"/>
                                    </a:rPr>
                                    <m:t>𝟎</m:t>
                                  </m:r>
                                </m:e>
                                <m:e>
                                  <m:r>
                                    <a:rPr lang="en-IN" sz="2000" b="1" i="1" smtClean="0">
                                      <a:solidFill>
                                        <a:srgbClr val="002060"/>
                                      </a:solidFill>
                                      <a:latin typeface="Cambria Math" panose="02040503050406030204" pitchFamily="18" charset="0"/>
                                      <a:cs typeface="Times New Roman" panose="02020603050405020304" pitchFamily="18" charset="0"/>
                                    </a:rPr>
                                    <m:t>𝟐</m:t>
                                  </m:r>
                                </m:e>
                                <m:e>
                                  <m:eqArr>
                                    <m:eqArrPr>
                                      <m:ctrlPr>
                                        <a:rPr lang="en-IN" sz="2000" b="1" i="1" smtClean="0">
                                          <a:solidFill>
                                            <a:srgbClr val="002060"/>
                                          </a:solidFill>
                                          <a:latin typeface="Cambria Math"/>
                                          <a:cs typeface="Times New Roman" panose="02020603050405020304" pitchFamily="18" charset="0"/>
                                        </a:rPr>
                                      </m:ctrlPr>
                                    </m:eqArrPr>
                                    <m:e>
                                      <m:r>
                                        <a:rPr lang="en-IN" sz="2000" b="1" i="1" smtClean="0">
                                          <a:solidFill>
                                            <a:srgbClr val="002060"/>
                                          </a:solidFill>
                                          <a:latin typeface="Cambria Math" panose="02040503050406030204" pitchFamily="18" charset="0"/>
                                          <a:cs typeface="Times New Roman" panose="02020603050405020304" pitchFamily="18" charset="0"/>
                                        </a:rPr>
                                        <m:t>𝟏</m:t>
                                      </m:r>
                                    </m:e>
                                  </m:eqArr>
                                </m:e>
                              </m:mr>
                            </m:m>
                          </m:e>
                          <m:e/>
                        </m:eqArr>
                      </m:e>
                    </m:d>
                  </m:oMath>
                </a14:m>
                <a:r>
                  <a:rPr lang="en-IN" sz="2000" b="1" dirty="0" smtClean="0">
                    <a:solidFill>
                      <a:srgbClr val="002060"/>
                    </a:solidFill>
                    <a:latin typeface="Times New Roman" panose="02020603050405020304" pitchFamily="18" charset="0"/>
                    <a:cs typeface="Times New Roman" panose="02020603050405020304" pitchFamily="18" charset="0"/>
                  </a:rPr>
                  <a:t> </a:t>
                </a:r>
                <a:r>
                  <a:rPr lang="en-IN" sz="32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4"/>
                                      <m:mcJc m:val="center"/>
                                    </m:mcPr>
                                  </m:mc>
                                </m:mcs>
                                <m:ctrlPr>
                                  <a:rPr lang="en-IN" sz="2000" b="1" i="1">
                                    <a:solidFill>
                                      <a:srgbClr val="002060"/>
                                    </a:solidFill>
                                    <a:latin typeface="Cambria Math"/>
                                    <a:cs typeface="Times New Roman" panose="02020603050405020304" pitchFamily="18" charset="0"/>
                                  </a:rPr>
                                </m:ctrlPr>
                              </m:mPr>
                              <m:mr>
                                <m:e>
                                  <m:r>
                                    <a:rPr lang="en-IN" sz="2000" b="1" i="1" smtClean="0">
                                      <a:solidFill>
                                        <a:srgbClr val="002060"/>
                                      </a:solidFill>
                                      <a:latin typeface="Cambria Math" panose="02040503050406030204" pitchFamily="18" charset="0"/>
                                      <a:cs typeface="Times New Roman" panose="02020603050405020304" pitchFamily="18" charset="0"/>
                                    </a:rPr>
                                    <m:t>𝟎</m:t>
                                  </m:r>
                                </m:e>
                                <m:e>
                                  <m:r>
                                    <a:rPr lang="en-IN" sz="2000" b="1" i="1" smtClean="0">
                                      <a:solidFill>
                                        <a:srgbClr val="002060"/>
                                      </a:solidFill>
                                      <a:latin typeface="Cambria Math" panose="02040503050406030204" pitchFamily="18" charset="0"/>
                                      <a:cs typeface="Times New Roman" panose="02020603050405020304" pitchFamily="18" charset="0"/>
                                    </a:rPr>
                                    <m:t>𝟏</m:t>
                                  </m:r>
                                </m:e>
                                <m:e>
                                  <m:r>
                                    <a:rPr lang="en-IN" sz="2000" b="1" i="1" smtClean="0">
                                      <a:solidFill>
                                        <a:srgbClr val="002060"/>
                                      </a:solidFill>
                                      <a:latin typeface="Cambria Math" panose="02040503050406030204" pitchFamily="18" charset="0"/>
                                      <a:cs typeface="Times New Roman" panose="02020603050405020304" pitchFamily="18" charset="0"/>
                                    </a:rPr>
                                    <m:t>𝟎</m:t>
                                  </m:r>
                                </m:e>
                                <m:e>
                                  <m:r>
                                    <a:rPr lang="en-IN" sz="2000" b="1" i="1">
                                      <a:solidFill>
                                        <a:srgbClr val="002060"/>
                                      </a:solidFill>
                                      <a:latin typeface="Cambria Math" panose="02040503050406030204" pitchFamily="18" charset="0"/>
                                      <a:cs typeface="Times New Roman" panose="02020603050405020304" pitchFamily="18" charset="0"/>
                                    </a:rPr>
                                    <m:t>𝟏</m:t>
                                  </m:r>
                                </m:e>
                              </m:mr>
                              <m:mr>
                                <m:e>
                                  <m:r>
                                    <a:rPr lang="en-IN" sz="2000" b="1" i="1" smtClean="0">
                                      <a:solidFill>
                                        <a:srgbClr val="002060"/>
                                      </a:solidFill>
                                      <a:latin typeface="Cambria Math" panose="02040503050406030204" pitchFamily="18" charset="0"/>
                                      <a:cs typeface="Times New Roman" panose="02020603050405020304" pitchFamily="18" charset="0"/>
                                    </a:rPr>
                                    <m:t>𝟐</m:t>
                                  </m:r>
                                </m:e>
                                <m:e>
                                  <m:r>
                                    <a:rPr lang="en-IN" sz="2000" b="1" i="1">
                                      <a:solidFill>
                                        <a:srgbClr val="002060"/>
                                      </a:solidFill>
                                      <a:latin typeface="Cambria Math" panose="02040503050406030204" pitchFamily="18" charset="0"/>
                                      <a:cs typeface="Times New Roman" panose="02020603050405020304" pitchFamily="18" charset="0"/>
                                    </a:rPr>
                                    <m:t>𝟏</m:t>
                                  </m:r>
                                </m:e>
                                <m:e>
                                  <m:r>
                                    <a:rPr lang="en-IN" sz="2000" b="1" i="1" smtClean="0">
                                      <a:solidFill>
                                        <a:srgbClr val="002060"/>
                                      </a:solidFill>
                                      <a:latin typeface="Cambria Math" panose="02040503050406030204" pitchFamily="18" charset="0"/>
                                      <a:cs typeface="Times New Roman" panose="02020603050405020304" pitchFamily="18" charset="0"/>
                                    </a:rPr>
                                    <m:t>𝟎</m:t>
                                  </m:r>
                                </m:e>
                                <m:e>
                                  <m:r>
                                    <a:rPr lang="en-IN" sz="2000" b="1" i="1" smtClean="0">
                                      <a:solidFill>
                                        <a:srgbClr val="002060"/>
                                      </a:solidFill>
                                      <a:latin typeface="Cambria Math" panose="02040503050406030204" pitchFamily="18" charset="0"/>
                                      <a:cs typeface="Times New Roman" panose="02020603050405020304" pitchFamily="18" charset="0"/>
                                    </a:rPr>
                                    <m:t>𝟒</m:t>
                                  </m:r>
                                </m:e>
                              </m:mr>
                              <m:mr>
                                <m:e>
                                  <m:r>
                                    <a:rPr lang="en-IN" sz="2000" b="1" i="1" smtClean="0">
                                      <a:solidFill>
                                        <a:srgbClr val="002060"/>
                                      </a:solidFill>
                                      <a:latin typeface="Cambria Math" panose="02040503050406030204" pitchFamily="18" charset="0"/>
                                      <a:cs typeface="Times New Roman" panose="02020603050405020304" pitchFamily="18" charset="0"/>
                                    </a:rPr>
                                    <m:t>𝟐</m:t>
                                  </m:r>
                                </m:e>
                                <m:e>
                                  <m:r>
                                    <a:rPr lang="en-IN" sz="2000" b="1" i="1" smtClean="0">
                                      <a:solidFill>
                                        <a:srgbClr val="002060"/>
                                      </a:solidFill>
                                      <a:latin typeface="Cambria Math" panose="02040503050406030204" pitchFamily="18" charset="0"/>
                                      <a:cs typeface="Times New Roman" panose="02020603050405020304" pitchFamily="18" charset="0"/>
                                    </a:rPr>
                                    <m:t>𝟎</m:t>
                                  </m:r>
                                </m:e>
                                <m:e>
                                  <m:r>
                                    <a:rPr lang="en-IN" sz="2000" b="1" i="1" smtClean="0">
                                      <a:solidFill>
                                        <a:srgbClr val="002060"/>
                                      </a:solidFill>
                                      <a:latin typeface="Cambria Math" panose="02040503050406030204" pitchFamily="18" charset="0"/>
                                      <a:cs typeface="Times New Roman" panose="02020603050405020304" pitchFamily="18" charset="0"/>
                                    </a:rPr>
                                    <m:t>𝟏</m:t>
                                  </m:r>
                                </m:e>
                                <m:e>
                                  <m:r>
                                    <a:rPr lang="en-IN" sz="2000" b="1" i="1"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r>
                                        <a:rPr lang="en-IN" sz="2000" b="1" i="1" smtClean="0">
                                          <a:solidFill>
                                            <a:srgbClr val="002060"/>
                                          </a:solidFill>
                                          <a:latin typeface="Cambria Math" panose="02040503050406030204" pitchFamily="18" charset="0"/>
                                          <a:cs typeface="Times New Roman" panose="02020603050405020304" pitchFamily="18" charset="0"/>
                                        </a:rPr>
                                        <m:t>𝟏</m:t>
                                      </m:r>
                                    </m:e>
                                  </m:eqArr>
                                </m:e>
                                <m:e>
                                  <m:r>
                                    <a:rPr lang="en-IN" sz="2000" b="1" i="1" smtClean="0">
                                      <a:solidFill>
                                        <a:srgbClr val="002060"/>
                                      </a:solidFill>
                                      <a:latin typeface="Cambria Math" panose="02040503050406030204" pitchFamily="18" charset="0"/>
                                      <a:cs typeface="Times New Roman" panose="02020603050405020304" pitchFamily="18" charset="0"/>
                                    </a:rPr>
                                    <m:t>𝟑</m:t>
                                  </m:r>
                                </m:e>
                                <m:e>
                                  <m:r>
                                    <a:rPr lang="en-IN" sz="2000" b="1" i="1" smtClean="0">
                                      <a:solidFill>
                                        <a:srgbClr val="002060"/>
                                      </a:solidFill>
                                      <a:latin typeface="Cambria Math" panose="02040503050406030204" pitchFamily="18" charset="0"/>
                                      <a:cs typeface="Times New Roman" panose="02020603050405020304" pitchFamily="18" charset="0"/>
                                    </a:rPr>
                                    <m:t>𝟓</m:t>
                                  </m:r>
                                </m:e>
                                <m:e>
                                  <m:eqArr>
                                    <m:eqArrPr>
                                      <m:ctrlPr>
                                        <a:rPr lang="en-IN" sz="2000" b="1" i="1">
                                          <a:solidFill>
                                            <a:srgbClr val="002060"/>
                                          </a:solidFill>
                                          <a:latin typeface="Cambria Math"/>
                                          <a:cs typeface="Times New Roman" panose="02020603050405020304" pitchFamily="18" charset="0"/>
                                        </a:rPr>
                                      </m:ctrlPr>
                                    </m:eqArrPr>
                                    <m:e>
                                      <m:r>
                                        <a:rPr lang="en-IN" sz="2000" b="1" i="1" smtClean="0">
                                          <a:solidFill>
                                            <a:srgbClr val="002060"/>
                                          </a:solidFill>
                                          <a:latin typeface="Cambria Math" panose="02040503050406030204" pitchFamily="18" charset="0"/>
                                          <a:cs typeface="Times New Roman" panose="02020603050405020304" pitchFamily="18" charset="0"/>
                                        </a:rPr>
                                        <m:t>𝟎</m:t>
                                      </m:r>
                                    </m:e>
                                  </m:eqArr>
                                </m:e>
                              </m:mr>
                            </m:m>
                          </m:e>
                          <m:e/>
                        </m:eqArr>
                      </m:e>
                    </m:d>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Solution:</a:t>
                </a: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sz="2000" b="1" i="1" dirty="0">
                            <a:solidFill>
                              <a:srgbClr val="002060"/>
                            </a:solidFill>
                            <a:latin typeface="Cambria Math"/>
                            <a:cs typeface="Times New Roman" panose="02020603050405020304" pitchFamily="18" charset="0"/>
                          </a:rPr>
                        </m:ctrlPr>
                      </m:dPr>
                      <m:e>
                        <m:m>
                          <m:mPr>
                            <m:mcs>
                              <m:mc>
                                <m:mcPr>
                                  <m:count m:val="4"/>
                                  <m:mcJc m:val="center"/>
                                </m:mcPr>
                              </m:mc>
                            </m:mcs>
                            <m:ctrlPr>
                              <a:rPr lang="en-IN" sz="2000" b="1" i="1" dirty="0">
                                <a:solidFill>
                                  <a:srgbClr val="002060"/>
                                </a:solidFill>
                                <a:latin typeface="Cambria Math"/>
                                <a:cs typeface="Times New Roman" panose="02020603050405020304" pitchFamily="18" charset="0"/>
                              </a:rPr>
                            </m:ctrlPr>
                          </m:mPr>
                          <m:mr>
                            <m:e>
                              <m:eqArr>
                                <m:eqArrPr>
                                  <m:ctrlPr>
                                    <a:rPr lang="en-IN" sz="2000" b="1" i="1" dirty="0">
                                      <a:solidFill>
                                        <a:srgbClr val="002060"/>
                                      </a:solidFill>
                                      <a:latin typeface="Cambria Math"/>
                                      <a:cs typeface="Times New Roman" panose="02020603050405020304" pitchFamily="18" charset="0"/>
                                    </a:rPr>
                                  </m:ctrlPr>
                                </m:eqArrPr>
                                <m:e>
                                  <m:r>
                                    <a:rPr lang="en-IN" sz="2000"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sz="2000" b="1" i="1" dirty="0">
                                      <a:solidFill>
                                        <a:srgbClr val="002060"/>
                                      </a:solidFill>
                                      <a:latin typeface="Cambria Math"/>
                                      <a:cs typeface="Times New Roman" panose="02020603050405020304" pitchFamily="18" charset="0"/>
                                    </a:rPr>
                                  </m:ctrlPr>
                                </m:eqArrPr>
                                <m:e>
                                  <m:r>
                                    <a:rPr lang="en-IN" sz="2000" b="1" i="1" dirty="0">
                                      <a:solidFill>
                                        <a:srgbClr val="002060"/>
                                      </a:solidFill>
                                      <a:latin typeface="Cambria Math" panose="02040503050406030204" pitchFamily="18" charset="0"/>
                                      <a:cs typeface="Times New Roman" panose="02020603050405020304" pitchFamily="18" charset="0"/>
                                    </a:rPr>
                                    <m:t>𝟎</m:t>
                                  </m:r>
                                </m:e>
                                <m:e/>
                              </m:eqArr>
                            </m:e>
                            <m:e>
                              <m:eqArr>
                                <m:eqArrPr>
                                  <m:ctrlPr>
                                    <a:rPr lang="en-IN" sz="2000" b="1" i="1" dirty="0">
                                      <a:solidFill>
                                        <a:srgbClr val="002060"/>
                                      </a:solidFill>
                                      <a:latin typeface="Cambria Math"/>
                                      <a:cs typeface="Times New Roman" panose="02020603050405020304" pitchFamily="18" charset="0"/>
                                    </a:rPr>
                                  </m:ctrlPr>
                                </m:eqArrPr>
                                <m:e>
                                  <m:r>
                                    <a:rPr lang="en-IN" sz="2000" b="1" i="1" dirty="0">
                                      <a:solidFill>
                                        <a:srgbClr val="002060"/>
                                      </a:solidFill>
                                      <a:latin typeface="Cambria Math" panose="02040503050406030204" pitchFamily="18" charset="0"/>
                                      <a:cs typeface="Times New Roman" panose="02020603050405020304" pitchFamily="18" charset="0"/>
                                    </a:rPr>
                                    <m:t>𝟐</m:t>
                                  </m:r>
                                </m:e>
                                <m:e/>
                              </m:eqArr>
                            </m:e>
                            <m:e>
                              <m:eqArr>
                                <m:eqArrPr>
                                  <m:ctrlPr>
                                    <a:rPr lang="en-IN" sz="2000" b="1" i="1" dirty="0">
                                      <a:solidFill>
                                        <a:srgbClr val="002060"/>
                                      </a:solidFill>
                                      <a:latin typeface="Cambria Math"/>
                                      <a:cs typeface="Times New Roman" panose="02020603050405020304" pitchFamily="18" charset="0"/>
                                    </a:rPr>
                                  </m:ctrlPr>
                                </m:eqArrPr>
                                <m:e>
                                  <m:r>
                                    <a:rPr lang="en-IN" sz="2000" b="1" i="1" dirty="0">
                                      <a:solidFill>
                                        <a:srgbClr val="002060"/>
                                      </a:solidFill>
                                      <a:latin typeface="Cambria Math" panose="02040503050406030204" pitchFamily="18" charset="0"/>
                                      <a:cs typeface="Times New Roman" panose="02020603050405020304" pitchFamily="18" charset="0"/>
                                    </a:rPr>
                                    <m:t>𝟏</m:t>
                                  </m:r>
                                </m:e>
                                <m:e/>
                              </m:eqArr>
                            </m:e>
                          </m:mr>
                          <m:mr>
                            <m:e>
                              <m:eqArr>
                                <m:eqArrPr>
                                  <m:ctrlPr>
                                    <a:rPr lang="en-IN" sz="2000" b="1" i="1" dirty="0">
                                      <a:solidFill>
                                        <a:srgbClr val="002060"/>
                                      </a:solidFill>
                                      <a:latin typeface="Cambria Math"/>
                                      <a:cs typeface="Times New Roman" panose="02020603050405020304" pitchFamily="18" charset="0"/>
                                    </a:rPr>
                                  </m:ctrlPr>
                                </m:eqArrPr>
                                <m:e>
                                  <m:r>
                                    <a:rPr lang="en-IN" sz="2000" b="1" i="1" dirty="0">
                                      <a:solidFill>
                                        <a:srgbClr val="002060"/>
                                      </a:solidFill>
                                      <a:latin typeface="Cambria Math" panose="02040503050406030204" pitchFamily="18" charset="0"/>
                                      <a:cs typeface="Times New Roman" panose="02020603050405020304" pitchFamily="18" charset="0"/>
                                    </a:rPr>
                                    <m:t>𝟒</m:t>
                                  </m:r>
                                </m:e>
                                <m:e/>
                              </m:eqArr>
                            </m:e>
                            <m:e>
                              <m:eqArr>
                                <m:eqArrPr>
                                  <m:ctrlPr>
                                    <a:rPr lang="en-IN" sz="2000" b="1" i="1" dirty="0">
                                      <a:solidFill>
                                        <a:srgbClr val="002060"/>
                                      </a:solidFill>
                                      <a:latin typeface="Cambria Math"/>
                                      <a:cs typeface="Times New Roman" panose="02020603050405020304" pitchFamily="18" charset="0"/>
                                    </a:rPr>
                                  </m:ctrlPr>
                                </m:eqArrPr>
                                <m:e>
                                  <m:r>
                                    <a:rPr lang="en-IN" sz="2000"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sz="2000" b="1" i="1" dirty="0">
                                      <a:solidFill>
                                        <a:srgbClr val="002060"/>
                                      </a:solidFill>
                                      <a:latin typeface="Cambria Math"/>
                                      <a:cs typeface="Times New Roman" panose="02020603050405020304" pitchFamily="18" charset="0"/>
                                    </a:rPr>
                                  </m:ctrlPr>
                                </m:eqArrPr>
                                <m:e>
                                  <m:r>
                                    <a:rPr lang="en-IN" sz="2000"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sz="2000" b="1" i="1" dirty="0">
                                      <a:solidFill>
                                        <a:srgbClr val="002060"/>
                                      </a:solidFill>
                                      <a:latin typeface="Cambria Math"/>
                                      <a:cs typeface="Times New Roman" panose="02020603050405020304" pitchFamily="18" charset="0"/>
                                    </a:rPr>
                                  </m:ctrlPr>
                                </m:eqArrPr>
                                <m:e>
                                  <m:r>
                                    <a:rPr lang="en-IN" sz="2000" b="1" i="1" dirty="0">
                                      <a:solidFill>
                                        <a:srgbClr val="002060"/>
                                      </a:solidFill>
                                      <a:latin typeface="Cambria Math" panose="02040503050406030204" pitchFamily="18" charset="0"/>
                                      <a:cs typeface="Times New Roman" panose="02020603050405020304" pitchFamily="18" charset="0"/>
                                    </a:rPr>
                                    <m:t>𝟎</m:t>
                                  </m:r>
                                </m:e>
                                <m:e/>
                              </m:eqArr>
                            </m:e>
                          </m:mr>
                          <m:mr>
                            <m:e>
                              <m:eqArr>
                                <m:eqArrPr>
                                  <m:ctrlPr>
                                    <a:rPr lang="en-IN" sz="2000" b="1" i="1" dirty="0">
                                      <a:solidFill>
                                        <a:srgbClr val="002060"/>
                                      </a:solidFill>
                                      <a:latin typeface="Cambria Math"/>
                                      <a:cs typeface="Times New Roman" panose="02020603050405020304" pitchFamily="18" charset="0"/>
                                    </a:rPr>
                                  </m:ctrlPr>
                                </m:eqArrPr>
                                <m:e>
                                  <m:r>
                                    <a:rPr lang="en-IN" sz="2000" b="1" i="1" dirty="0">
                                      <a:solidFill>
                                        <a:srgbClr val="002060"/>
                                      </a:solidFill>
                                      <a:latin typeface="Cambria Math" panose="02040503050406030204" pitchFamily="18" charset="0"/>
                                      <a:cs typeface="Times New Roman" panose="02020603050405020304" pitchFamily="18" charset="0"/>
                                    </a:rPr>
                                    <m:t>𝟎</m:t>
                                  </m:r>
                                </m:e>
                                <m:e/>
                                <m:e>
                                  <m:r>
                                    <a:rPr lang="en-IN" sz="2000" b="1" i="1" dirty="0">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dirty="0">
                                      <a:solidFill>
                                        <a:srgbClr val="002060"/>
                                      </a:solidFill>
                                      <a:latin typeface="Cambria Math"/>
                                      <a:cs typeface="Times New Roman" panose="02020603050405020304" pitchFamily="18" charset="0"/>
                                    </a:rPr>
                                  </m:ctrlPr>
                                </m:eqArrPr>
                                <m:e>
                                  <m:r>
                                    <a:rPr lang="en-IN" sz="2000" b="1" i="1" dirty="0">
                                      <a:solidFill>
                                        <a:srgbClr val="002060"/>
                                      </a:solidFill>
                                      <a:latin typeface="Cambria Math" panose="02040503050406030204" pitchFamily="18" charset="0"/>
                                      <a:cs typeface="Times New Roman" panose="02020603050405020304" pitchFamily="18" charset="0"/>
                                    </a:rPr>
                                    <m:t>𝟏</m:t>
                                  </m:r>
                                </m:e>
                                <m:e/>
                                <m:e>
                                  <m:r>
                                    <a:rPr lang="en-IN" sz="2000" b="1" i="1" dirty="0">
                                      <a:solidFill>
                                        <a:srgbClr val="002060"/>
                                      </a:solidFill>
                                      <a:latin typeface="Cambria Math" panose="02040503050406030204" pitchFamily="18" charset="0"/>
                                      <a:cs typeface="Times New Roman" panose="02020603050405020304" pitchFamily="18" charset="0"/>
                                    </a:rPr>
                                    <m:t>𝟎</m:t>
                                  </m:r>
                                </m:e>
                              </m:eqArr>
                            </m:e>
                            <m:e>
                              <m:eqArr>
                                <m:eqArrPr>
                                  <m:ctrlPr>
                                    <a:rPr lang="en-IN" sz="2000" b="1" i="1" dirty="0">
                                      <a:solidFill>
                                        <a:srgbClr val="002060"/>
                                      </a:solidFill>
                                      <a:latin typeface="Cambria Math"/>
                                      <a:cs typeface="Times New Roman" panose="02020603050405020304" pitchFamily="18" charset="0"/>
                                    </a:rPr>
                                  </m:ctrlPr>
                                </m:eqArrPr>
                                <m:e>
                                  <m:r>
                                    <a:rPr lang="en-IN" sz="2000" b="1" i="1" dirty="0">
                                      <a:solidFill>
                                        <a:srgbClr val="002060"/>
                                      </a:solidFill>
                                      <a:latin typeface="Cambria Math" panose="02040503050406030204" pitchFamily="18" charset="0"/>
                                      <a:cs typeface="Times New Roman" panose="02020603050405020304" pitchFamily="18" charset="0"/>
                                    </a:rPr>
                                    <m:t>𝟑</m:t>
                                  </m:r>
                                </m:e>
                                <m:e/>
                                <m:e>
                                  <m:r>
                                    <a:rPr lang="en-IN" sz="2000" b="1" i="1" dirty="0">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dirty="0">
                                      <a:solidFill>
                                        <a:srgbClr val="002060"/>
                                      </a:solidFill>
                                      <a:latin typeface="Cambria Math"/>
                                      <a:cs typeface="Times New Roman" panose="02020603050405020304" pitchFamily="18" charset="0"/>
                                    </a:rPr>
                                  </m:ctrlPr>
                                </m:eqArrPr>
                                <m:e>
                                  <m:r>
                                    <a:rPr lang="en-IN" sz="2000" b="1" i="1" dirty="0">
                                      <a:solidFill>
                                        <a:srgbClr val="002060"/>
                                      </a:solidFill>
                                      <a:latin typeface="Cambria Math" panose="02040503050406030204" pitchFamily="18" charset="0"/>
                                      <a:cs typeface="Times New Roman" panose="02020603050405020304" pitchFamily="18" charset="0"/>
                                    </a:rPr>
                                    <m:t>𝟎</m:t>
                                  </m:r>
                                </m:e>
                                <m:e/>
                                <m:e>
                                  <m:r>
                                    <a:rPr lang="en-IN" sz="2000" b="1" i="1" dirty="0">
                                      <a:solidFill>
                                        <a:srgbClr val="002060"/>
                                      </a:solidFill>
                                      <a:latin typeface="Cambria Math" panose="02040503050406030204" pitchFamily="18" charset="0"/>
                                      <a:cs typeface="Times New Roman" panose="02020603050405020304" pitchFamily="18" charset="0"/>
                                    </a:rPr>
                                    <m:t>𝟏</m:t>
                                  </m:r>
                                </m:e>
                              </m:eqArr>
                            </m:e>
                          </m:mr>
                        </m:m>
                      </m:e>
                    </m:d>
                  </m:oMath>
                </a14:m>
                <a:r>
                  <a:rPr lang="en-IN" sz="2000" b="1" dirty="0">
                    <a:solidFill>
                      <a:srgbClr val="002060"/>
                    </a:solidFill>
                    <a:latin typeface="Times New Roman" panose="02020603050405020304" pitchFamily="18" charset="0"/>
                    <a:cs typeface="Times New Roman" panose="02020603050405020304" pitchFamily="18" charset="0"/>
                  </a:rPr>
                  <a:t>    </a:t>
                </a:r>
                <a:r>
                  <a:rPr lang="en-IN" sz="3200" b="1"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d>
                      <m:dPr>
                        <m:begChr m:val="["/>
                        <m:endChr m:val="]"/>
                        <m:ctrlPr>
                          <a:rPr lang="en-IN" sz="2000" b="1" i="1" dirty="0">
                            <a:solidFill>
                              <a:srgbClr val="002060"/>
                            </a:solidFill>
                            <a:latin typeface="Cambria Math"/>
                            <a:cs typeface="Times New Roman" panose="02020603050405020304" pitchFamily="18" charset="0"/>
                          </a:rPr>
                        </m:ctrlPr>
                      </m:dPr>
                      <m:e>
                        <m:m>
                          <m:mPr>
                            <m:mcs>
                              <m:mc>
                                <m:mcPr>
                                  <m:count m:val="4"/>
                                  <m:mcJc m:val="center"/>
                                </m:mcPr>
                              </m:mc>
                            </m:mcs>
                            <m:ctrlPr>
                              <a:rPr lang="en-IN" sz="2000" b="1" i="1" dirty="0">
                                <a:solidFill>
                                  <a:srgbClr val="002060"/>
                                </a:solidFill>
                                <a:latin typeface="Cambria Math"/>
                                <a:cs typeface="Times New Roman" panose="02020603050405020304" pitchFamily="18" charset="0"/>
                              </a:rPr>
                            </m:ctrlPr>
                          </m:mPr>
                          <m:mr>
                            <m:e>
                              <m:r>
                                <m:rPr>
                                  <m:brk m:alnAt="7"/>
                                </m:rPr>
                                <a:rPr lang="en-IN" sz="2000" b="1" i="1" dirty="0">
                                  <a:solidFill>
                                    <a:srgbClr val="002060"/>
                                  </a:solidFill>
                                  <a:latin typeface="Cambria Math" panose="02040503050406030204" pitchFamily="18" charset="0"/>
                                  <a:cs typeface="Times New Roman" panose="02020603050405020304" pitchFamily="18" charset="0"/>
                                </a:rPr>
                                <m:t>𝟎</m:t>
                              </m:r>
                            </m:e>
                            <m:e>
                              <m:r>
                                <a:rPr lang="en-IN" sz="2000" b="1" i="1" dirty="0">
                                  <a:solidFill>
                                    <a:srgbClr val="002060"/>
                                  </a:solidFill>
                                  <a:latin typeface="Cambria Math" panose="02040503050406030204" pitchFamily="18" charset="0"/>
                                  <a:cs typeface="Times New Roman" panose="02020603050405020304" pitchFamily="18" charset="0"/>
                                </a:rPr>
                                <m:t>𝟏</m:t>
                              </m:r>
                            </m:e>
                            <m:e>
                              <m:r>
                                <a:rPr lang="en-IN" sz="2000" b="1" i="1" dirty="0">
                                  <a:solidFill>
                                    <a:srgbClr val="002060"/>
                                  </a:solidFill>
                                  <a:latin typeface="Cambria Math" panose="02040503050406030204" pitchFamily="18" charset="0"/>
                                  <a:cs typeface="Times New Roman" panose="02020603050405020304" pitchFamily="18" charset="0"/>
                                </a:rPr>
                                <m:t>𝟎</m:t>
                              </m:r>
                            </m:e>
                            <m:e>
                              <m:r>
                                <a:rPr lang="en-IN" sz="2000" b="1" i="1" dirty="0">
                                  <a:solidFill>
                                    <a:srgbClr val="002060"/>
                                  </a:solidFill>
                                  <a:latin typeface="Cambria Math" panose="02040503050406030204" pitchFamily="18" charset="0"/>
                                  <a:cs typeface="Times New Roman" panose="02020603050405020304" pitchFamily="18" charset="0"/>
                                </a:rPr>
                                <m:t>𝟏</m:t>
                              </m:r>
                            </m:e>
                          </m:mr>
                          <m:mr>
                            <m:e/>
                            <m:e/>
                            <m:e/>
                            <m:e/>
                          </m:mr>
                          <m:mr>
                            <m:e>
                              <m:r>
                                <a:rPr lang="en-IN" sz="2000" b="1" i="1" dirty="0">
                                  <a:solidFill>
                                    <a:srgbClr val="002060"/>
                                  </a:solidFill>
                                  <a:latin typeface="Cambria Math" panose="02040503050406030204" pitchFamily="18" charset="0"/>
                                  <a:cs typeface="Times New Roman" panose="02020603050405020304" pitchFamily="18" charset="0"/>
                                </a:rPr>
                                <m:t>𝟐</m:t>
                              </m:r>
                            </m:e>
                            <m:e>
                              <m:r>
                                <a:rPr lang="en-IN" sz="2000" b="1" i="1" dirty="0">
                                  <a:solidFill>
                                    <a:srgbClr val="002060"/>
                                  </a:solidFill>
                                  <a:latin typeface="Cambria Math" panose="02040503050406030204" pitchFamily="18" charset="0"/>
                                  <a:cs typeface="Times New Roman" panose="02020603050405020304" pitchFamily="18" charset="0"/>
                                </a:rPr>
                                <m:t>𝟏</m:t>
                              </m:r>
                            </m:e>
                            <m:e>
                              <m:r>
                                <a:rPr lang="en-IN" sz="2000" b="1" i="1" dirty="0">
                                  <a:solidFill>
                                    <a:srgbClr val="002060"/>
                                  </a:solidFill>
                                  <a:latin typeface="Cambria Math" panose="02040503050406030204" pitchFamily="18" charset="0"/>
                                  <a:cs typeface="Times New Roman" panose="02020603050405020304" pitchFamily="18" charset="0"/>
                                </a:rPr>
                                <m:t>𝟎</m:t>
                              </m:r>
                            </m:e>
                            <m:e>
                              <m:r>
                                <a:rPr lang="en-IN" sz="2000" b="1" i="1" dirty="0">
                                  <a:solidFill>
                                    <a:srgbClr val="002060"/>
                                  </a:solidFill>
                                  <a:latin typeface="Cambria Math" panose="02040503050406030204" pitchFamily="18" charset="0"/>
                                  <a:cs typeface="Times New Roman" panose="02020603050405020304" pitchFamily="18" charset="0"/>
                                </a:rPr>
                                <m:t>𝟒</m:t>
                              </m:r>
                            </m:e>
                          </m:mr>
                          <m:mr>
                            <m:e/>
                            <m:e/>
                            <m:e/>
                            <m:e/>
                          </m:mr>
                          <m:mr>
                            <m:e>
                              <m:r>
                                <a:rPr lang="en-IN" sz="2000" b="1" i="1" dirty="0">
                                  <a:solidFill>
                                    <a:srgbClr val="002060"/>
                                  </a:solidFill>
                                  <a:latin typeface="Cambria Math" panose="02040503050406030204" pitchFamily="18" charset="0"/>
                                  <a:cs typeface="Times New Roman" panose="02020603050405020304" pitchFamily="18" charset="0"/>
                                </a:rPr>
                                <m:t>𝟐</m:t>
                              </m:r>
                            </m:e>
                            <m:e>
                              <m:r>
                                <a:rPr lang="en-IN" sz="2000" b="1" i="1" dirty="0">
                                  <a:solidFill>
                                    <a:srgbClr val="002060"/>
                                  </a:solidFill>
                                  <a:latin typeface="Cambria Math" panose="02040503050406030204" pitchFamily="18" charset="0"/>
                                  <a:cs typeface="Times New Roman" panose="02020603050405020304" pitchFamily="18" charset="0"/>
                                </a:rPr>
                                <m:t>𝟎</m:t>
                              </m:r>
                            </m:e>
                            <m:e>
                              <m:r>
                                <a:rPr lang="en-IN" sz="2000" b="1" i="1" dirty="0">
                                  <a:solidFill>
                                    <a:srgbClr val="002060"/>
                                  </a:solidFill>
                                  <a:latin typeface="Cambria Math" panose="02040503050406030204" pitchFamily="18" charset="0"/>
                                  <a:cs typeface="Times New Roman" panose="02020603050405020304" pitchFamily="18" charset="0"/>
                                </a:rPr>
                                <m:t>𝟏</m:t>
                              </m:r>
                            </m:e>
                            <m:e>
                              <m:r>
                                <a:rPr lang="en-IN" sz="2000" b="1" i="1" dirty="0">
                                  <a:solidFill>
                                    <a:srgbClr val="002060"/>
                                  </a:solidFill>
                                  <a:latin typeface="Cambria Math" panose="02040503050406030204" pitchFamily="18" charset="0"/>
                                  <a:cs typeface="Times New Roman" panose="02020603050405020304" pitchFamily="18" charset="0"/>
                                </a:rPr>
                                <m:t>𝟏</m:t>
                              </m:r>
                            </m:e>
                          </m:mr>
                          <m:mr>
                            <m:e/>
                            <m:e/>
                            <m:e/>
                            <m:e/>
                          </m:mr>
                          <m:mr>
                            <m:e>
                              <m:r>
                                <a:rPr lang="en-IN" sz="2000" b="1" i="1" dirty="0">
                                  <a:solidFill>
                                    <a:srgbClr val="002060"/>
                                  </a:solidFill>
                                  <a:latin typeface="Cambria Math" panose="02040503050406030204" pitchFamily="18" charset="0"/>
                                  <a:cs typeface="Times New Roman" panose="02020603050405020304" pitchFamily="18" charset="0"/>
                                </a:rPr>
                                <m:t>𝟏</m:t>
                              </m:r>
                            </m:e>
                            <m:e>
                              <m:r>
                                <a:rPr lang="en-IN" sz="2000" b="1" i="1" dirty="0">
                                  <a:solidFill>
                                    <a:srgbClr val="002060"/>
                                  </a:solidFill>
                                  <a:latin typeface="Cambria Math" panose="02040503050406030204" pitchFamily="18" charset="0"/>
                                  <a:cs typeface="Times New Roman" panose="02020603050405020304" pitchFamily="18" charset="0"/>
                                </a:rPr>
                                <m:t>𝟑</m:t>
                              </m:r>
                            </m:e>
                            <m:e>
                              <m:r>
                                <a:rPr lang="en-IN" sz="2000" b="1" i="1" dirty="0">
                                  <a:solidFill>
                                    <a:srgbClr val="002060"/>
                                  </a:solidFill>
                                  <a:latin typeface="Cambria Math" panose="02040503050406030204" pitchFamily="18" charset="0"/>
                                  <a:cs typeface="Times New Roman" panose="02020603050405020304" pitchFamily="18" charset="0"/>
                                </a:rPr>
                                <m:t>𝟓</m:t>
                              </m:r>
                            </m:e>
                            <m:e>
                              <m:r>
                                <a:rPr lang="en-IN" sz="2000" b="1" i="1" dirty="0">
                                  <a:solidFill>
                                    <a:srgbClr val="002060"/>
                                  </a:solidFill>
                                  <a:latin typeface="Cambria Math" panose="02040503050406030204" pitchFamily="18" charset="0"/>
                                  <a:cs typeface="Times New Roman" panose="02020603050405020304" pitchFamily="18" charset="0"/>
                                </a:rPr>
                                <m:t>𝟎</m:t>
                              </m:r>
                            </m:e>
                          </m:mr>
                        </m:m>
                      </m:e>
                    </m:d>
                  </m:oMath>
                </a14:m>
                <a:endParaRPr lang="en-IN" sz="32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251011" y="647512"/>
                <a:ext cx="11797552" cy="5816902"/>
              </a:xfrm>
              <a:blipFill rotWithShape="0">
                <a:blip r:embed="rId3"/>
                <a:stretch>
                  <a:fillRect l="-517" r="-56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0" y="6545545"/>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104</a:t>
            </a:fld>
            <a:endParaRPr lang="en-IN" sz="1600" b="1" dirty="0">
              <a:solidFill>
                <a:srgbClr val="002060"/>
              </a:solidFill>
              <a:latin typeface="Times New Roman" panose="02020603050405020304" pitchFamily="18" charset="0"/>
              <a:cs typeface="Times New Roman" panose="02020603050405020304" pitchFamily="18" charset="0"/>
            </a:endParaRPr>
          </a:p>
        </p:txBody>
      </p:sp>
      <p:cxnSp>
        <p:nvCxnSpPr>
          <p:cNvPr id="9" name="Straight Connector 8"/>
          <p:cNvCxnSpPr/>
          <p:nvPr/>
        </p:nvCxnSpPr>
        <p:spPr>
          <a:xfrm flipH="1">
            <a:off x="1482845" y="3709952"/>
            <a:ext cx="1" cy="1928952"/>
          </a:xfrm>
          <a:prstGeom prst="line">
            <a:avLst/>
          </a:prstGeom>
          <a:ln w="28575">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618263" y="4582681"/>
            <a:ext cx="1864099" cy="11206"/>
          </a:xfrm>
          <a:prstGeom prst="line">
            <a:avLst/>
          </a:prstGeom>
          <a:ln w="28575">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97266" y="3167156"/>
            <a:ext cx="918096" cy="461665"/>
          </a:xfrm>
          <a:prstGeom prst="rect">
            <a:avLst/>
          </a:prstGeom>
          <a:noFill/>
          <a:ln>
            <a:noFill/>
          </a:ln>
        </p:spPr>
        <p:txBody>
          <a:bodyPr wrap="square" rtlCol="0">
            <a:spAutoFit/>
          </a:bodyPr>
          <a:lstStyle/>
          <a:p>
            <a:pPr algn="just"/>
            <a:r>
              <a:rPr lang="en-IN" sz="2400" b="1" dirty="0" smtClean="0">
                <a:solidFill>
                  <a:srgbClr val="C00000"/>
                </a:solidFill>
                <a:latin typeface="Times New Roman" panose="02020603050405020304" pitchFamily="18" charset="0"/>
                <a:cs typeface="Times New Roman" panose="02020603050405020304" pitchFamily="18" charset="0"/>
              </a:rPr>
              <a:t>A</a:t>
            </a:r>
            <a:r>
              <a:rPr lang="en-IN" sz="2400" b="1" baseline="-25000" dirty="0" smtClean="0">
                <a:solidFill>
                  <a:srgbClr val="C00000"/>
                </a:solidFill>
                <a:latin typeface="Times New Roman" panose="02020603050405020304" pitchFamily="18" charset="0"/>
                <a:cs typeface="Times New Roman" panose="02020603050405020304" pitchFamily="18" charset="0"/>
              </a:rPr>
              <a:t>11</a:t>
            </a:r>
            <a:endParaRPr lang="en-IN" sz="2400" b="1" baseline="-25000" dirty="0">
              <a:solidFill>
                <a:srgbClr val="C0000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750387" y="3123347"/>
            <a:ext cx="918096" cy="461665"/>
          </a:xfrm>
          <a:prstGeom prst="rect">
            <a:avLst/>
          </a:prstGeom>
          <a:noFill/>
          <a:ln>
            <a:noFill/>
          </a:ln>
        </p:spPr>
        <p:txBody>
          <a:bodyPr wrap="square" rtlCol="0">
            <a:spAutoFit/>
          </a:bodyPr>
          <a:lstStyle/>
          <a:p>
            <a:pPr algn="just"/>
            <a:r>
              <a:rPr lang="en-IN" sz="2400" b="1" dirty="0" smtClean="0">
                <a:solidFill>
                  <a:srgbClr val="C00000"/>
                </a:solidFill>
                <a:latin typeface="Times New Roman" panose="02020603050405020304" pitchFamily="18" charset="0"/>
                <a:cs typeface="Times New Roman" panose="02020603050405020304" pitchFamily="18" charset="0"/>
              </a:rPr>
              <a:t>A</a:t>
            </a:r>
            <a:r>
              <a:rPr lang="en-IN" sz="2400" b="1" baseline="-25000" dirty="0" smtClean="0">
                <a:solidFill>
                  <a:srgbClr val="C00000"/>
                </a:solidFill>
                <a:latin typeface="Times New Roman" panose="02020603050405020304" pitchFamily="18" charset="0"/>
                <a:cs typeface="Times New Roman" panose="02020603050405020304" pitchFamily="18" charset="0"/>
              </a:rPr>
              <a:t>12</a:t>
            </a:r>
            <a:endParaRPr lang="en-IN" sz="2400" b="1" baseline="-25000" dirty="0">
              <a:solidFill>
                <a:srgbClr val="C0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770392" y="5562500"/>
            <a:ext cx="918096" cy="461665"/>
          </a:xfrm>
          <a:prstGeom prst="rect">
            <a:avLst/>
          </a:prstGeom>
          <a:noFill/>
          <a:ln>
            <a:noFill/>
          </a:ln>
        </p:spPr>
        <p:txBody>
          <a:bodyPr wrap="square" rtlCol="0">
            <a:spAutoFit/>
          </a:bodyPr>
          <a:lstStyle/>
          <a:p>
            <a:pPr algn="just"/>
            <a:r>
              <a:rPr lang="en-IN" sz="2400" b="1" dirty="0" smtClean="0">
                <a:solidFill>
                  <a:srgbClr val="C00000"/>
                </a:solidFill>
                <a:latin typeface="Times New Roman" panose="02020603050405020304" pitchFamily="18" charset="0"/>
                <a:cs typeface="Times New Roman" panose="02020603050405020304" pitchFamily="18" charset="0"/>
              </a:rPr>
              <a:t>A</a:t>
            </a:r>
            <a:r>
              <a:rPr lang="en-IN" sz="2400" b="1" baseline="-25000" dirty="0" smtClean="0">
                <a:solidFill>
                  <a:srgbClr val="C00000"/>
                </a:solidFill>
                <a:latin typeface="Times New Roman" panose="02020603050405020304" pitchFamily="18" charset="0"/>
                <a:cs typeface="Times New Roman" panose="02020603050405020304" pitchFamily="18" charset="0"/>
              </a:rPr>
              <a:t>21</a:t>
            </a:r>
            <a:endParaRPr lang="en-IN" sz="2400" b="1" baseline="-25000" dirty="0">
              <a:solidFill>
                <a:srgbClr val="C00000"/>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1729198" y="5562499"/>
            <a:ext cx="918096" cy="461665"/>
          </a:xfrm>
          <a:prstGeom prst="rect">
            <a:avLst/>
          </a:prstGeom>
          <a:noFill/>
          <a:ln>
            <a:noFill/>
          </a:ln>
        </p:spPr>
        <p:txBody>
          <a:bodyPr wrap="square" rtlCol="0">
            <a:spAutoFit/>
          </a:bodyPr>
          <a:lstStyle/>
          <a:p>
            <a:pPr algn="just"/>
            <a:r>
              <a:rPr lang="en-IN" sz="2400" b="1" dirty="0" smtClean="0">
                <a:solidFill>
                  <a:srgbClr val="C00000"/>
                </a:solidFill>
                <a:latin typeface="Times New Roman" panose="02020603050405020304" pitchFamily="18" charset="0"/>
                <a:cs typeface="Times New Roman" panose="02020603050405020304" pitchFamily="18" charset="0"/>
              </a:rPr>
              <a:t>A</a:t>
            </a:r>
            <a:r>
              <a:rPr lang="en-IN" sz="2400" b="1" baseline="-25000" dirty="0" smtClean="0">
                <a:solidFill>
                  <a:srgbClr val="C00000"/>
                </a:solidFill>
                <a:latin typeface="Times New Roman" panose="02020603050405020304" pitchFamily="18" charset="0"/>
                <a:cs typeface="Times New Roman" panose="02020603050405020304" pitchFamily="18" charset="0"/>
              </a:rPr>
              <a:t>22</a:t>
            </a:r>
            <a:endParaRPr lang="en-IN" sz="2400" b="1" baseline="-25000" dirty="0">
              <a:solidFill>
                <a:srgbClr val="C00000"/>
              </a:solidFill>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flipH="1">
            <a:off x="2969114" y="4571475"/>
            <a:ext cx="1864099" cy="11206"/>
          </a:xfrm>
          <a:prstGeom prst="line">
            <a:avLst/>
          </a:prstGeom>
          <a:ln w="28575">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3862822" y="3709952"/>
            <a:ext cx="1" cy="1928952"/>
          </a:xfrm>
          <a:prstGeom prst="line">
            <a:avLst/>
          </a:prstGeom>
          <a:ln w="28575">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988835" y="3123347"/>
            <a:ext cx="918096" cy="461665"/>
          </a:xfrm>
          <a:prstGeom prst="rect">
            <a:avLst/>
          </a:prstGeom>
          <a:noFill/>
          <a:ln>
            <a:noFill/>
          </a:ln>
        </p:spPr>
        <p:txBody>
          <a:bodyPr wrap="square" rtlCol="0">
            <a:spAutoFit/>
          </a:bodyPr>
          <a:lstStyle/>
          <a:p>
            <a:pPr algn="just"/>
            <a:r>
              <a:rPr lang="en-IN" sz="2400" b="1" dirty="0">
                <a:solidFill>
                  <a:srgbClr val="C00000"/>
                </a:solidFill>
                <a:latin typeface="Times New Roman" panose="02020603050405020304" pitchFamily="18" charset="0"/>
                <a:cs typeface="Times New Roman" panose="02020603050405020304" pitchFamily="18" charset="0"/>
              </a:rPr>
              <a:t>B</a:t>
            </a:r>
            <a:r>
              <a:rPr lang="en-IN" sz="2400" b="1" baseline="-25000" dirty="0" smtClean="0">
                <a:solidFill>
                  <a:srgbClr val="C00000"/>
                </a:solidFill>
                <a:latin typeface="Times New Roman" panose="02020603050405020304" pitchFamily="18" charset="0"/>
                <a:cs typeface="Times New Roman" panose="02020603050405020304" pitchFamily="18" charset="0"/>
              </a:rPr>
              <a:t>11</a:t>
            </a:r>
            <a:endParaRPr lang="en-IN" sz="2400" b="1" baseline="-25000" dirty="0">
              <a:solidFill>
                <a:srgbClr val="C0000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4013689" y="3094298"/>
            <a:ext cx="918096" cy="461665"/>
          </a:xfrm>
          <a:prstGeom prst="rect">
            <a:avLst/>
          </a:prstGeom>
          <a:noFill/>
          <a:ln>
            <a:noFill/>
          </a:ln>
        </p:spPr>
        <p:txBody>
          <a:bodyPr wrap="square" rtlCol="0">
            <a:spAutoFit/>
          </a:bodyPr>
          <a:lstStyle/>
          <a:p>
            <a:pPr algn="just"/>
            <a:r>
              <a:rPr lang="en-IN" sz="2400" b="1" dirty="0">
                <a:solidFill>
                  <a:srgbClr val="C00000"/>
                </a:solidFill>
                <a:latin typeface="Times New Roman" panose="02020603050405020304" pitchFamily="18" charset="0"/>
                <a:cs typeface="Times New Roman" panose="02020603050405020304" pitchFamily="18" charset="0"/>
              </a:rPr>
              <a:t>B</a:t>
            </a:r>
            <a:r>
              <a:rPr lang="en-IN" sz="2400" b="1" baseline="-25000" dirty="0" smtClean="0">
                <a:solidFill>
                  <a:srgbClr val="C00000"/>
                </a:solidFill>
                <a:latin typeface="Times New Roman" panose="02020603050405020304" pitchFamily="18" charset="0"/>
                <a:cs typeface="Times New Roman" panose="02020603050405020304" pitchFamily="18" charset="0"/>
              </a:rPr>
              <a:t>12</a:t>
            </a:r>
            <a:endParaRPr lang="en-IN" sz="2400" b="1" baseline="-25000" dirty="0">
              <a:solidFill>
                <a:srgbClr val="C00000"/>
              </a:solidFill>
              <a:latin typeface="Times New Roman" panose="02020603050405020304" pitchFamily="18" charset="0"/>
              <a:cs typeface="Times New Roman" panose="02020603050405020304" pitchFamily="18" charset="0"/>
            </a:endParaRPr>
          </a:p>
        </p:txBody>
      </p:sp>
      <p:sp>
        <p:nvSpPr>
          <p:cNvPr id="20" name="TextBox 19"/>
          <p:cNvSpPr txBox="1"/>
          <p:nvPr/>
        </p:nvSpPr>
        <p:spPr>
          <a:xfrm>
            <a:off x="3160702" y="5634421"/>
            <a:ext cx="918096" cy="461665"/>
          </a:xfrm>
          <a:prstGeom prst="rect">
            <a:avLst/>
          </a:prstGeom>
          <a:noFill/>
          <a:ln>
            <a:noFill/>
          </a:ln>
        </p:spPr>
        <p:txBody>
          <a:bodyPr wrap="square" rtlCol="0">
            <a:spAutoFit/>
          </a:bodyPr>
          <a:lstStyle/>
          <a:p>
            <a:pPr algn="just"/>
            <a:r>
              <a:rPr lang="en-IN" sz="2400" b="1" dirty="0">
                <a:solidFill>
                  <a:srgbClr val="C00000"/>
                </a:solidFill>
                <a:latin typeface="Times New Roman" panose="02020603050405020304" pitchFamily="18" charset="0"/>
                <a:cs typeface="Times New Roman" panose="02020603050405020304" pitchFamily="18" charset="0"/>
              </a:rPr>
              <a:t>B</a:t>
            </a:r>
            <a:r>
              <a:rPr lang="en-IN" sz="2400" b="1" baseline="-25000" dirty="0" smtClean="0">
                <a:solidFill>
                  <a:srgbClr val="C00000"/>
                </a:solidFill>
                <a:latin typeface="Times New Roman" panose="02020603050405020304" pitchFamily="18" charset="0"/>
                <a:cs typeface="Times New Roman" panose="02020603050405020304" pitchFamily="18" charset="0"/>
              </a:rPr>
              <a:t>21</a:t>
            </a:r>
            <a:endParaRPr lang="en-IN" sz="2400" b="1" baseline="-25000" dirty="0">
              <a:solidFill>
                <a:srgbClr val="C00000"/>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4123074" y="5598193"/>
            <a:ext cx="918096" cy="461665"/>
          </a:xfrm>
          <a:prstGeom prst="rect">
            <a:avLst/>
          </a:prstGeom>
          <a:noFill/>
          <a:ln>
            <a:noFill/>
          </a:ln>
        </p:spPr>
        <p:txBody>
          <a:bodyPr wrap="square" rtlCol="0">
            <a:spAutoFit/>
          </a:bodyPr>
          <a:lstStyle/>
          <a:p>
            <a:pPr algn="just"/>
            <a:r>
              <a:rPr lang="en-IN" sz="2400" b="1" dirty="0">
                <a:solidFill>
                  <a:srgbClr val="C00000"/>
                </a:solidFill>
                <a:latin typeface="Times New Roman" panose="02020603050405020304" pitchFamily="18" charset="0"/>
                <a:cs typeface="Times New Roman" panose="02020603050405020304" pitchFamily="18" charset="0"/>
              </a:rPr>
              <a:t>B</a:t>
            </a:r>
            <a:r>
              <a:rPr lang="en-IN" sz="2400" b="1" baseline="-25000" dirty="0" smtClean="0">
                <a:solidFill>
                  <a:srgbClr val="C00000"/>
                </a:solidFill>
                <a:latin typeface="Times New Roman" panose="02020603050405020304" pitchFamily="18" charset="0"/>
                <a:cs typeface="Times New Roman" panose="02020603050405020304" pitchFamily="18" charset="0"/>
              </a:rPr>
              <a:t>22</a:t>
            </a:r>
            <a:endParaRPr lang="en-IN" sz="2400" b="1" baseline="-25000" dirty="0">
              <a:solidFill>
                <a:srgbClr val="C0000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90B62C5E-C658-4392-AD6C-C2D9E3BF7122}" type="datetime1">
              <a:rPr lang="en-IN" smtClean="0"/>
              <a:t>21-03-2026</a:t>
            </a:fld>
            <a:endParaRPr lang="en-IN"/>
          </a:p>
        </p:txBody>
      </p:sp>
    </p:spTree>
    <p:extLst>
      <p:ext uri="{BB962C8B-B14F-4D97-AF65-F5344CB8AC3E}">
        <p14:creationId xmlns:p14="http://schemas.microsoft.com/office/powerpoint/2010/main" val="1795414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8" grpId="0"/>
      <p:bldP spid="19" grpId="0"/>
      <p:bldP spid="20" grpId="0"/>
      <p:bldP spid="21"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77051" y="732885"/>
                <a:ext cx="11797552" cy="5627707"/>
              </a:xfrm>
            </p:spPr>
            <p:txBody>
              <a:bodyPr>
                <a:normAutofit/>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Strassens</a:t>
                </a:r>
                <a:r>
                  <a:rPr lang="en-IN" sz="2000" b="1" dirty="0">
                    <a:solidFill>
                      <a:srgbClr val="002060"/>
                    </a:solidFill>
                    <a:latin typeface="Times New Roman" panose="02020603050405020304" pitchFamily="18" charset="0"/>
                    <a:cs typeface="Times New Roman" panose="02020603050405020304" pitchFamily="18" charset="0"/>
                  </a:rPr>
                  <a:t> Matrix </a:t>
                </a:r>
                <a:r>
                  <a:rPr lang="en-IN" sz="2000" b="1" dirty="0" smtClean="0">
                    <a:solidFill>
                      <a:srgbClr val="002060"/>
                    </a:solidFill>
                    <a:latin typeface="Times New Roman" panose="02020603050405020304" pitchFamily="18" charset="0"/>
                    <a:cs typeface="Times New Roman" panose="02020603050405020304" pitchFamily="18" charset="0"/>
                  </a:rPr>
                  <a:t>Multiplication</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P = ( A</a:t>
                </a:r>
                <a:r>
                  <a:rPr lang="en-IN" sz="2000" b="1" baseline="-25000" dirty="0" smtClean="0">
                    <a:solidFill>
                      <a:srgbClr val="002060"/>
                    </a:solidFill>
                    <a:latin typeface="Times New Roman" panose="02020603050405020304" pitchFamily="18" charset="0"/>
                    <a:cs typeface="Times New Roman" panose="02020603050405020304" pitchFamily="18" charset="0"/>
                  </a:rPr>
                  <a:t>11 </a:t>
                </a:r>
                <a:r>
                  <a:rPr lang="en-IN" sz="2000" b="1" dirty="0" smtClean="0">
                    <a:solidFill>
                      <a:srgbClr val="002060"/>
                    </a:solidFill>
                    <a:latin typeface="Times New Roman" panose="02020603050405020304" pitchFamily="18" charset="0"/>
                    <a:cs typeface="Times New Roman" panose="02020603050405020304" pitchFamily="18" charset="0"/>
                  </a:rPr>
                  <a:t>+ A</a:t>
                </a:r>
                <a:r>
                  <a:rPr lang="en-IN" sz="2000" b="1" baseline="-25000" dirty="0" smtClean="0">
                    <a:solidFill>
                      <a:srgbClr val="002060"/>
                    </a:solidFill>
                    <a:latin typeface="Times New Roman" panose="02020603050405020304" pitchFamily="18" charset="0"/>
                    <a:cs typeface="Times New Roman" panose="02020603050405020304" pitchFamily="18" charset="0"/>
                  </a:rPr>
                  <a:t>22 </a:t>
                </a:r>
                <a:r>
                  <a:rPr lang="en-IN" sz="2000" b="1" dirty="0" smtClean="0">
                    <a:solidFill>
                      <a:srgbClr val="002060"/>
                    </a:solidFill>
                    <a:latin typeface="Times New Roman" panose="02020603050405020304" pitchFamily="18" charset="0"/>
                    <a:cs typeface="Times New Roman" panose="02020603050405020304" pitchFamily="18" charset="0"/>
                  </a:rPr>
                  <a:t>) (B</a:t>
                </a:r>
                <a:r>
                  <a:rPr lang="en-IN" sz="2000" b="1" baseline="-25000" dirty="0" smtClean="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a:t>
                </a:r>
                <a:r>
                  <a:rPr lang="en-IN" sz="2000" b="1" baseline="-25000" dirty="0" smtClean="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ctrlPr>
                          <a:rPr lang="en-IN" sz="2000" b="1" i="1" smtClean="0">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𝟏</m:t>
                                      </m:r>
                                    </m:e>
                                    <m:e>
                                      <m:r>
                                        <a:rPr lang="en-IN" sz="2000" b="1">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𝟒</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 + </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𝟑</m:t>
                                      </m:r>
                                    </m:e>
                                    <m:e>
                                      <m:r>
                                        <a:rPr lang="en-IN" sz="2000" b="1">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e>
                    </m:d>
                  </m:oMath>
                </a14:m>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𝟎</m:t>
                                      </m:r>
                                    </m:e>
                                    <m:e>
                                      <m:r>
                                        <a:rPr lang="en-IN" sz="2000" b="1" i="0"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 + </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𝟏</m:t>
                                      </m:r>
                                    </m:e>
                                    <m:e>
                                      <m:r>
                                        <a:rPr lang="en-IN" sz="2000" b="1" i="0"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𝟎</m:t>
                                          </m:r>
                                        </m:e>
                                      </m:eqArr>
                                    </m:e>
                                  </m:mr>
                                </m:m>
                              </m:e>
                              <m:e/>
                            </m:eqArr>
                          </m:e>
                        </m:d>
                      </m:e>
                    </m:d>
                  </m:oMath>
                </a14:m>
                <a:r>
                  <a:rPr lang="en-IN" sz="2000" b="1" dirty="0" smtClean="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𝟒</m:t>
                                      </m:r>
                                    </m:e>
                                    <m:e>
                                      <m:r>
                                        <a:rPr lang="en-IN" sz="2000" b="1">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𝟔</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𝟐</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𝟏</m:t>
                                      </m:r>
                                    </m:e>
                                    <m:e>
                                      <m:r>
                                        <a:rPr lang="en-IN" sz="2000" b="1" i="0" smtClean="0">
                                          <a:solidFill>
                                            <a:srgbClr val="002060"/>
                                          </a:solidFill>
                                          <a:latin typeface="Cambria Math" panose="02040503050406030204" pitchFamily="18" charset="0"/>
                                          <a:cs typeface="Times New Roman" panose="02020603050405020304" pitchFamily="18" charset="0"/>
                                        </a:rPr>
                                        <m:t>𝟐</m:t>
                                      </m:r>
                                    </m:e>
                                  </m:mr>
                                  <m:mr>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𝟕</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e>
                    </m:d>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cs typeface="Times New Roman" panose="02020603050405020304" pitchFamily="18" charset="0"/>
                  </a:rPr>
                  <a:t>LET C =</a:t>
                </a:r>
                <a14:m>
                  <m:oMath xmlns:m="http://schemas.openxmlformats.org/officeDocument/2006/math">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𝟒</m:t>
                                  </m:r>
                                </m:e>
                                <m:e>
                                  <m:r>
                                    <a:rPr lang="en-IN" sz="2000" b="1">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𝟔</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𝟐</m:t>
                                      </m:r>
                                    </m:e>
                                  </m:eqArr>
                                </m:e>
                              </m:mr>
                            </m:m>
                          </m:e>
                          <m:e/>
                        </m:eqArr>
                      </m:e>
                    </m:d>
                    <m:r>
                      <a:rPr lang="en-IN" sz="2000" b="1" i="1" smtClean="0">
                        <a:solidFill>
                          <a:srgbClr val="002060"/>
                        </a:solidFill>
                        <a:latin typeface="Cambria Math" panose="02040503050406030204" pitchFamily="18" charset="0"/>
                        <a:cs typeface="Times New Roman" panose="02020603050405020304" pitchFamily="18" charset="0"/>
                      </a:rPr>
                      <m:t>𝒂𝒏𝒅</m:t>
                    </m:r>
                    <m:r>
                      <a:rPr lang="en-IN" sz="2000" b="1" i="1" smtClean="0">
                        <a:solidFill>
                          <a:srgbClr val="002060"/>
                        </a:solidFill>
                        <a:latin typeface="Cambria Math" panose="02040503050406030204" pitchFamily="18" charset="0"/>
                        <a:cs typeface="Times New Roman" panose="02020603050405020304" pitchFamily="18" charset="0"/>
                      </a:rPr>
                      <m:t> </m:t>
                    </m:r>
                    <m:r>
                      <a:rPr lang="en-IN" sz="2000" b="1" i="1" smtClean="0">
                        <a:solidFill>
                          <a:srgbClr val="002060"/>
                        </a:solidFill>
                        <a:latin typeface="Cambria Math" panose="02040503050406030204" pitchFamily="18" charset="0"/>
                        <a:cs typeface="Times New Roman" panose="02020603050405020304" pitchFamily="18" charset="0"/>
                      </a:rPr>
                      <m:t>𝑫</m:t>
                    </m:r>
                    <m:r>
                      <a:rPr lang="en-IN" sz="2000" b="1" i="1" smtClean="0">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𝟏</m:t>
                                  </m:r>
                                </m:e>
                                <m:e>
                                  <m:r>
                                    <a:rPr lang="en-IN" sz="2000" b="1">
                                      <a:solidFill>
                                        <a:srgbClr val="002060"/>
                                      </a:solidFill>
                                      <a:latin typeface="Cambria Math" panose="02040503050406030204" pitchFamily="18" charset="0"/>
                                      <a:cs typeface="Times New Roman" panose="02020603050405020304" pitchFamily="18" charset="0"/>
                                    </a:rPr>
                                    <m:t>𝟐</m:t>
                                  </m:r>
                                </m:e>
                              </m:mr>
                              <m:mr>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𝟕</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77051" y="732885"/>
                <a:ext cx="11797552" cy="5627707"/>
              </a:xfrm>
              <a:blipFill rotWithShape="0">
                <a:blip r:embed="rId3"/>
                <a:stretch>
                  <a:fillRect l="-517" t="-1083"/>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105</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EF9995A1-5FB1-4E5F-A118-2612B46EC297}" type="datetime1">
              <a:rPr lang="en-IN" smtClean="0"/>
              <a:t>21-03-2026</a:t>
            </a:fld>
            <a:endParaRPr lang="en-IN"/>
          </a:p>
        </p:txBody>
      </p:sp>
    </p:spTree>
    <p:extLst>
      <p:ext uri="{BB962C8B-B14F-4D97-AF65-F5344CB8AC3E}">
        <p14:creationId xmlns:p14="http://schemas.microsoft.com/office/powerpoint/2010/main" val="158282838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77051" y="732885"/>
                <a:ext cx="11797552" cy="5627707"/>
              </a:xfrm>
            </p:spPr>
            <p:txBody>
              <a:bodyPr>
                <a:normAutofit fontScale="77500" lnSpcReduction="20000"/>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Strassens</a:t>
                </a:r>
                <a:r>
                  <a:rPr lang="en-IN" sz="2000" b="1" dirty="0">
                    <a:solidFill>
                      <a:srgbClr val="002060"/>
                    </a:solidFill>
                    <a:latin typeface="Times New Roman" panose="02020603050405020304" pitchFamily="18" charset="0"/>
                    <a:cs typeface="Times New Roman" panose="02020603050405020304" pitchFamily="18" charset="0"/>
                  </a:rPr>
                  <a:t> Matrix </a:t>
                </a:r>
                <a:r>
                  <a:rPr lang="en-IN" sz="2000" b="1" dirty="0" smtClean="0">
                    <a:solidFill>
                      <a:srgbClr val="002060"/>
                    </a:solidFill>
                    <a:latin typeface="Times New Roman" panose="02020603050405020304" pitchFamily="18" charset="0"/>
                    <a:cs typeface="Times New Roman" panose="02020603050405020304" pitchFamily="18" charset="0"/>
                  </a:rPr>
                  <a:t>Multiplication</a:t>
                </a:r>
              </a:p>
              <a:p>
                <a:pPr algn="just"/>
                <a:r>
                  <a:rPr lang="en-IN" sz="2000" b="1" dirty="0">
                    <a:solidFill>
                      <a:srgbClr val="002060"/>
                    </a:solidFill>
                    <a:latin typeface="Times New Roman" panose="02020603050405020304" pitchFamily="18" charset="0"/>
                    <a:cs typeface="Times New Roman" panose="02020603050405020304" pitchFamily="18" charset="0"/>
                  </a:rPr>
                  <a:t>P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(4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6</a:t>
                </a:r>
                <a:r>
                  <a:rPr lang="en-IN" sz="2000" b="1" dirty="0" smtClean="0">
                    <a:solidFill>
                      <a:srgbClr val="002060"/>
                    </a:solidFill>
                    <a:latin typeface="Times New Roman" panose="02020603050405020304" pitchFamily="18" charset="0"/>
                    <a:cs typeface="Times New Roman" panose="02020603050405020304" pitchFamily="18" charset="0"/>
                  </a:rPr>
                  <a:t>× 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a:t>
                </a:r>
              </a:p>
              <a:p>
                <a:pPr algn="just"/>
                <a:r>
                  <a:rPr lang="en-IN" sz="2000" b="1" dirty="0">
                    <a:solidFill>
                      <a:srgbClr val="002060"/>
                    </a:solidFill>
                    <a:latin typeface="Times New Roman" panose="02020603050405020304" pitchFamily="18" charset="0"/>
                    <a:cs typeface="Times New Roman" panose="02020603050405020304" pitchFamily="18" charset="0"/>
                  </a:rPr>
                  <a:t>Q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(6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8</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8</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R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4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S = (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(7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=2 </a:t>
                </a:r>
                <a:r>
                  <a:rPr lang="en-IN" sz="2000" b="1" dirty="0">
                    <a:solidFill>
                      <a:srgbClr val="002060"/>
                    </a:solidFill>
                    <a:latin typeface="Times New Roman" panose="02020603050405020304" pitchFamily="18" charset="0"/>
                    <a:cs typeface="Times New Roman" panose="02020603050405020304" pitchFamily="18" charset="0"/>
                  </a:rPr>
                  <a:t>× 6</a:t>
                </a:r>
                <a:r>
                  <a:rPr lang="en-IN" sz="2000" b="1" dirty="0" smtClean="0">
                    <a:solidFill>
                      <a:srgbClr val="002060"/>
                    </a:solidFill>
                    <a:latin typeface="Times New Roman" panose="02020603050405020304" pitchFamily="18" charset="0"/>
                    <a:cs typeface="Times New Roman" panose="02020603050405020304" pitchFamily="18" charset="0"/>
                  </a:rPr>
                  <a:t>= 12</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T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4</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4</a:t>
                </a:r>
                <a:r>
                  <a:rPr lang="en-IN" sz="2000" b="1" dirty="0" smtClean="0">
                    <a:solidFill>
                      <a:srgbClr val="002060"/>
                    </a:solidFill>
                    <a:latin typeface="Times New Roman" panose="02020603050405020304" pitchFamily="18" charset="0"/>
                    <a:cs typeface="Times New Roman" panose="02020603050405020304" pitchFamily="18" charset="0"/>
                  </a:rPr>
                  <a:t>×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U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6</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3</a:t>
                </a:r>
                <a:r>
                  <a:rPr lang="en-IN" sz="2000" b="1" dirty="0" smtClean="0">
                    <a:solidFill>
                      <a:srgbClr val="002060"/>
                    </a:solidFill>
                    <a:latin typeface="Times New Roman" panose="02020603050405020304" pitchFamily="18" charset="0"/>
                    <a:cs typeface="Times New Roman" panose="02020603050405020304" pitchFamily="18" charset="0"/>
                  </a:rPr>
                  <a:t>= 6</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V = (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(0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(7</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a:t>
                </a:r>
                <a:r>
                  <a:rPr lang="en-IN" sz="2000" b="1" dirty="0">
                    <a:solidFill>
                      <a:srgbClr val="002060"/>
                    </a:solidFill>
                    <a:latin typeface="Times New Roman" panose="02020603050405020304" pitchFamily="18" charset="0"/>
                    <a:cs typeface="Times New Roman" panose="02020603050405020304" pitchFamily="18" charset="0"/>
                  </a:rPr>
                  <a:t>2</a:t>
                </a:r>
                <a:r>
                  <a:rPr lang="en-IN" sz="2000" b="1" dirty="0" smtClean="0">
                    <a:solidFill>
                      <a:srgbClr val="002060"/>
                    </a:solidFill>
                    <a:latin typeface="Times New Roman" panose="02020603050405020304" pitchFamily="18" charset="0"/>
                    <a:cs typeface="Times New Roman" panose="02020603050405020304" pitchFamily="18" charset="0"/>
                  </a:rPr>
                  <a:t>×  8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16</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C</a:t>
                </a:r>
                <a:r>
                  <a:rPr lang="en-IN" sz="2000" b="1" baseline="-25000" dirty="0" smtClean="0">
                    <a:solidFill>
                      <a:srgbClr val="002060"/>
                    </a:solidFill>
                    <a:latin typeface="Times New Roman" panose="02020603050405020304" pitchFamily="18" charset="0"/>
                    <a:cs typeface="Times New Roman" panose="02020603050405020304" pitchFamily="18" charset="0"/>
                  </a:rPr>
                  <a:t>11</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P + S – T + </a:t>
                </a:r>
                <a:r>
                  <a:rPr lang="en-IN" sz="2000" b="1" dirty="0" smtClean="0">
                    <a:solidFill>
                      <a:srgbClr val="002060"/>
                    </a:solidFill>
                    <a:latin typeface="Times New Roman" panose="02020603050405020304" pitchFamily="18" charset="0"/>
                    <a:cs typeface="Times New Roman" panose="02020603050405020304" pitchFamily="18" charset="0"/>
                  </a:rPr>
                  <a:t>V = 12 +12  – 4 -16 = 4</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R + </a:t>
                </a:r>
                <a:r>
                  <a:rPr lang="en-IN" sz="2000" b="1" dirty="0" smtClean="0">
                    <a:solidFill>
                      <a:srgbClr val="002060"/>
                    </a:solidFill>
                    <a:latin typeface="Times New Roman" panose="02020603050405020304" pitchFamily="18" charset="0"/>
                    <a:cs typeface="Times New Roman" panose="02020603050405020304" pitchFamily="18" charset="0"/>
                  </a:rPr>
                  <a:t>T = 4 + 4 = 8</a:t>
                </a:r>
                <a:endParaRPr lang="en-IN" sz="2000" b="1" baseline="-25000"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21</a:t>
                </a:r>
                <a:r>
                  <a:rPr lang="en-IN" sz="2000" b="1" dirty="0">
                    <a:solidFill>
                      <a:srgbClr val="002060"/>
                    </a:solidFill>
                    <a:latin typeface="Times New Roman" panose="02020603050405020304" pitchFamily="18" charset="0"/>
                    <a:cs typeface="Times New Roman" panose="02020603050405020304" pitchFamily="18" charset="0"/>
                  </a:rPr>
                  <a:t> = Q + </a:t>
                </a:r>
                <a:r>
                  <a:rPr lang="en-IN" sz="2000" b="1" dirty="0" smtClean="0">
                    <a:solidFill>
                      <a:srgbClr val="002060"/>
                    </a:solidFill>
                    <a:latin typeface="Times New Roman" panose="02020603050405020304" pitchFamily="18" charset="0"/>
                    <a:cs typeface="Times New Roman" panose="02020603050405020304" pitchFamily="18" charset="0"/>
                  </a:rPr>
                  <a:t>S = 8 + 12 = 20</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P + R – Q + </a:t>
                </a:r>
                <a:r>
                  <a:rPr lang="en-IN" sz="2000" b="1" dirty="0" smtClean="0">
                    <a:solidFill>
                      <a:srgbClr val="002060"/>
                    </a:solidFill>
                    <a:latin typeface="Times New Roman" panose="02020603050405020304" pitchFamily="18" charset="0"/>
                    <a:cs typeface="Times New Roman" panose="02020603050405020304" pitchFamily="18" charset="0"/>
                  </a:rPr>
                  <a:t>U = 12 + 4 -8 + 6 = 14</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C00000"/>
                    </a:solidFill>
                    <a:latin typeface="Times New Roman" panose="02020603050405020304" pitchFamily="18" charset="0"/>
                    <a:cs typeface="Times New Roman" panose="02020603050405020304" pitchFamily="18" charset="0"/>
                  </a:rPr>
                  <a:t>P =  </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a:rPr lang="en-IN" sz="2000" b="1" i="1" smtClean="0">
                                      <a:solidFill>
                                        <a:srgbClr val="C00000"/>
                                      </a:solidFill>
                                      <a:latin typeface="Cambria Math" panose="02040503050406030204" pitchFamily="18" charset="0"/>
                                      <a:cs typeface="Times New Roman" panose="02020603050405020304" pitchFamily="18" charset="0"/>
                                    </a:rPr>
                                    <m:t>𝟒</m:t>
                                  </m:r>
                                </m:e>
                                <m:e>
                                  <m:r>
                                    <a:rPr lang="en-IN" sz="2000" b="1" i="1" smtClean="0">
                                      <a:solidFill>
                                        <a:srgbClr val="C00000"/>
                                      </a:solidFill>
                                      <a:latin typeface="Cambria Math" panose="02040503050406030204" pitchFamily="18" charset="0"/>
                                      <a:cs typeface="Times New Roman" panose="02020603050405020304" pitchFamily="18" charset="0"/>
                                    </a:rPr>
                                    <m:t>𝟖</m:t>
                                  </m:r>
                                </m:e>
                              </m:mr>
                              <m:mr>
                                <m:e>
                                  <m:eqArr>
                                    <m:eqArrPr>
                                      <m:ctrlPr>
                                        <a:rPr lang="en-IN" sz="2000" b="1" i="1">
                                          <a:solidFill>
                                            <a:srgbClr val="C00000"/>
                                          </a:solidFill>
                                          <a:latin typeface="Cambria Math"/>
                                          <a:cs typeface="Times New Roman" panose="02020603050405020304" pitchFamily="18" charset="0"/>
                                        </a:rPr>
                                      </m:ctrlPr>
                                    </m:eqArrPr>
                                    <m:e/>
                                    <m:e>
                                      <m:r>
                                        <a:rPr lang="en-IN" sz="2000" b="1" i="1" smtClean="0">
                                          <a:solidFill>
                                            <a:srgbClr val="C00000"/>
                                          </a:solidFill>
                                          <a:latin typeface="Cambria Math" panose="02040503050406030204" pitchFamily="18" charset="0"/>
                                          <a:cs typeface="Times New Roman" panose="02020603050405020304" pitchFamily="18" charset="0"/>
                                        </a:rPr>
                                        <m:t>𝟐𝟎</m:t>
                                      </m:r>
                                    </m:e>
                                  </m:eqArr>
                                </m:e>
                                <m:e>
                                  <m:eqArr>
                                    <m:eqArrPr>
                                      <m:ctrlPr>
                                        <a:rPr lang="en-IN" sz="2000" b="1" i="1">
                                          <a:solidFill>
                                            <a:srgbClr val="C00000"/>
                                          </a:solidFill>
                                          <a:latin typeface="Cambria Math"/>
                                          <a:cs typeface="Times New Roman" panose="02020603050405020304" pitchFamily="18" charset="0"/>
                                        </a:rPr>
                                      </m:ctrlPr>
                                    </m:eqArrPr>
                                    <m:e/>
                                    <m:e>
                                      <m:r>
                                        <a:rPr lang="en-IN" sz="2000" b="1" i="1" smtClean="0">
                                          <a:solidFill>
                                            <a:srgbClr val="C00000"/>
                                          </a:solidFill>
                                          <a:latin typeface="Cambria Math" panose="02040503050406030204" pitchFamily="18" charset="0"/>
                                          <a:cs typeface="Times New Roman" panose="02020603050405020304" pitchFamily="18" charset="0"/>
                                        </a:rPr>
                                        <m:t>𝟏𝟒</m:t>
                                      </m:r>
                                    </m:e>
                                  </m:eqArr>
                                </m:e>
                              </m:mr>
                            </m:m>
                          </m:e>
                          <m:e/>
                        </m:eqArr>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77051" y="732885"/>
                <a:ext cx="11797552" cy="5627707"/>
              </a:xfrm>
              <a:blipFill rotWithShape="0">
                <a:blip r:embed="rId3"/>
                <a:stretch>
                  <a:fillRect l="-258" t="-1517"/>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106</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Rectangle 5"/>
              <p:cNvSpPr/>
              <p:nvPr/>
            </p:nvSpPr>
            <p:spPr>
              <a:xfrm>
                <a:off x="7500560" y="1291176"/>
                <a:ext cx="2481640" cy="112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IN" b="1" i="1">
                              <a:solidFill>
                                <a:srgbClr val="002060"/>
                              </a:solidFill>
                              <a:latin typeface="Cambria Math"/>
                              <a:cs typeface="Times New Roman" panose="02020603050405020304" pitchFamily="18" charset="0"/>
                            </a:rPr>
                          </m:ctrlPr>
                        </m:dPr>
                        <m:e>
                          <m:d>
                            <m:dPr>
                              <m:begChr m:val="["/>
                              <m:endChr m:val="]"/>
                              <m:ctrlPr>
                                <a:rPr lang="en-IN" b="1" i="1">
                                  <a:solidFill>
                                    <a:srgbClr val="002060"/>
                                  </a:solidFill>
                                  <a:latin typeface="Cambria Math"/>
                                  <a:cs typeface="Times New Roman" panose="02020603050405020304" pitchFamily="18" charset="0"/>
                                </a:rPr>
                              </m:ctrlPr>
                            </m:dPr>
                            <m:e>
                              <m:eqArr>
                                <m:eqArrPr>
                                  <m:ctrlPr>
                                    <a:rPr lang="en-IN" b="1" i="1">
                                      <a:solidFill>
                                        <a:srgbClr val="002060"/>
                                      </a:solidFill>
                                      <a:latin typeface="Cambria Math"/>
                                      <a:cs typeface="Times New Roman" panose="02020603050405020304" pitchFamily="18" charset="0"/>
                                    </a:rPr>
                                  </m:ctrlPr>
                                </m:eqArrPr>
                                <m:e>
                                  <m:m>
                                    <m:mPr>
                                      <m:mcs>
                                        <m:mc>
                                          <m:mcPr>
                                            <m:count m:val="2"/>
                                            <m:mcJc m:val="center"/>
                                          </m:mcPr>
                                        </m:mc>
                                      </m:mcs>
                                      <m:ctrlPr>
                                        <a:rPr lang="en-IN" b="1" i="1">
                                          <a:solidFill>
                                            <a:srgbClr val="002060"/>
                                          </a:solidFill>
                                          <a:latin typeface="Cambria Math"/>
                                          <a:cs typeface="Times New Roman" panose="02020603050405020304" pitchFamily="18" charset="0"/>
                                        </a:rPr>
                                      </m:ctrlPr>
                                    </m:mPr>
                                    <m:mr>
                                      <m:e>
                                        <m:r>
                                          <a:rPr lang="en-IN" b="1">
                                            <a:solidFill>
                                              <a:srgbClr val="002060"/>
                                            </a:solidFill>
                                            <a:latin typeface="Cambria Math" panose="02040503050406030204" pitchFamily="18" charset="0"/>
                                            <a:cs typeface="Times New Roman" panose="02020603050405020304" pitchFamily="18" charset="0"/>
                                          </a:rPr>
                                          <m:t>𝟒</m:t>
                                        </m:r>
                                      </m:e>
                                      <m:e>
                                        <m:r>
                                          <a:rPr lang="en-IN" b="1">
                                            <a:solidFill>
                                              <a:srgbClr val="002060"/>
                                            </a:solidFill>
                                            <a:latin typeface="Cambria Math" panose="02040503050406030204" pitchFamily="18" charset="0"/>
                                            <a:cs typeface="Times New Roman" panose="02020603050405020304" pitchFamily="18" charset="0"/>
                                          </a:rPr>
                                          <m:t>𝟎</m:t>
                                        </m:r>
                                      </m:e>
                                    </m:mr>
                                    <m:mr>
                                      <m:e>
                                        <m:eqArr>
                                          <m:eqArrPr>
                                            <m:ctrlPr>
                                              <a:rPr lang="en-IN" b="1" i="1">
                                                <a:solidFill>
                                                  <a:srgbClr val="002060"/>
                                                </a:solidFill>
                                                <a:latin typeface="Cambria Math"/>
                                                <a:cs typeface="Times New Roman" panose="02020603050405020304" pitchFamily="18" charset="0"/>
                                              </a:rPr>
                                            </m:ctrlPr>
                                          </m:eqArrPr>
                                          <m:e/>
                                          <m:e>
                                            <m:r>
                                              <a:rPr lang="en-IN" b="1">
                                                <a:solidFill>
                                                  <a:srgbClr val="002060"/>
                                                </a:solidFill>
                                                <a:latin typeface="Cambria Math" panose="02040503050406030204" pitchFamily="18" charset="0"/>
                                                <a:cs typeface="Times New Roman" panose="02020603050405020304" pitchFamily="18" charset="0"/>
                                              </a:rPr>
                                              <m:t>𝟔</m:t>
                                            </m:r>
                                          </m:e>
                                        </m:eqArr>
                                      </m:e>
                                      <m:e>
                                        <m:eqArr>
                                          <m:eqArrPr>
                                            <m:ctrlPr>
                                              <a:rPr lang="en-IN" b="1" i="1">
                                                <a:solidFill>
                                                  <a:srgbClr val="002060"/>
                                                </a:solidFill>
                                                <a:latin typeface="Cambria Math"/>
                                                <a:cs typeface="Times New Roman" panose="02020603050405020304" pitchFamily="18" charset="0"/>
                                              </a:rPr>
                                            </m:ctrlPr>
                                          </m:eqArrPr>
                                          <m:e/>
                                          <m:e>
                                            <m:r>
                                              <a:rPr lang="en-IN" b="1">
                                                <a:solidFill>
                                                  <a:srgbClr val="002060"/>
                                                </a:solidFill>
                                                <a:latin typeface="Cambria Math" panose="02040503050406030204" pitchFamily="18" charset="0"/>
                                                <a:cs typeface="Times New Roman" panose="02020603050405020304" pitchFamily="18" charset="0"/>
                                              </a:rPr>
                                              <m:t>𝟐</m:t>
                                            </m:r>
                                          </m:e>
                                        </m:eqArr>
                                      </m:e>
                                    </m:mr>
                                  </m:m>
                                </m:e>
                                <m:e/>
                              </m:eqArr>
                            </m:e>
                          </m:d>
                          <m:r>
                            <m:rPr>
                              <m:nor/>
                            </m:rPr>
                            <a:rPr lang="en-IN" b="1" dirty="0">
                              <a:solidFill>
                                <a:srgbClr val="002060"/>
                              </a:solidFill>
                              <a:latin typeface="Times New Roman" panose="02020603050405020304" pitchFamily="18" charset="0"/>
                              <a:cs typeface="Times New Roman" panose="02020603050405020304" pitchFamily="18" charset="0"/>
                            </a:rPr>
                            <m:t>×</m:t>
                          </m:r>
                          <m:d>
                            <m:dPr>
                              <m:begChr m:val="["/>
                              <m:endChr m:val="]"/>
                              <m:ctrlPr>
                                <a:rPr lang="en-IN" b="1" i="1">
                                  <a:solidFill>
                                    <a:srgbClr val="002060"/>
                                  </a:solidFill>
                                  <a:latin typeface="Cambria Math"/>
                                  <a:cs typeface="Times New Roman" panose="02020603050405020304" pitchFamily="18" charset="0"/>
                                </a:rPr>
                              </m:ctrlPr>
                            </m:dPr>
                            <m:e>
                              <m:eqArr>
                                <m:eqArrPr>
                                  <m:ctrlPr>
                                    <a:rPr lang="en-IN" b="1" i="1">
                                      <a:solidFill>
                                        <a:srgbClr val="002060"/>
                                      </a:solidFill>
                                      <a:latin typeface="Cambria Math"/>
                                      <a:cs typeface="Times New Roman" panose="02020603050405020304" pitchFamily="18" charset="0"/>
                                    </a:rPr>
                                  </m:ctrlPr>
                                </m:eqArrPr>
                                <m:e>
                                  <m:m>
                                    <m:mPr>
                                      <m:mcs>
                                        <m:mc>
                                          <m:mcPr>
                                            <m:count m:val="2"/>
                                            <m:mcJc m:val="center"/>
                                          </m:mcPr>
                                        </m:mc>
                                      </m:mcs>
                                      <m:ctrlPr>
                                        <a:rPr lang="en-IN" b="1" i="1">
                                          <a:solidFill>
                                            <a:srgbClr val="002060"/>
                                          </a:solidFill>
                                          <a:latin typeface="Cambria Math"/>
                                          <a:cs typeface="Times New Roman" panose="02020603050405020304" pitchFamily="18" charset="0"/>
                                        </a:rPr>
                                      </m:ctrlPr>
                                    </m:mPr>
                                    <m:mr>
                                      <m:e>
                                        <m:r>
                                          <a:rPr lang="en-IN" b="1">
                                            <a:solidFill>
                                              <a:srgbClr val="002060"/>
                                            </a:solidFill>
                                            <a:latin typeface="Cambria Math" panose="02040503050406030204" pitchFamily="18" charset="0"/>
                                            <a:cs typeface="Times New Roman" panose="02020603050405020304" pitchFamily="18" charset="0"/>
                                          </a:rPr>
                                          <m:t>𝟏</m:t>
                                        </m:r>
                                      </m:e>
                                      <m:e>
                                        <m:r>
                                          <a:rPr lang="en-IN" b="1">
                                            <a:solidFill>
                                              <a:srgbClr val="002060"/>
                                            </a:solidFill>
                                            <a:latin typeface="Cambria Math" panose="02040503050406030204" pitchFamily="18" charset="0"/>
                                            <a:cs typeface="Times New Roman" panose="02020603050405020304" pitchFamily="18" charset="0"/>
                                          </a:rPr>
                                          <m:t>𝟐</m:t>
                                        </m:r>
                                      </m:e>
                                    </m:mr>
                                    <m:mr>
                                      <m:e>
                                        <m:eqArr>
                                          <m:eqArrPr>
                                            <m:ctrlPr>
                                              <a:rPr lang="en-IN" b="1" i="1">
                                                <a:solidFill>
                                                  <a:srgbClr val="002060"/>
                                                </a:solidFill>
                                                <a:latin typeface="Cambria Math"/>
                                                <a:cs typeface="Times New Roman" panose="02020603050405020304" pitchFamily="18" charset="0"/>
                                              </a:rPr>
                                            </m:ctrlPr>
                                          </m:eqArrPr>
                                          <m:e/>
                                          <m:e>
                                            <m:r>
                                              <a:rPr lang="en-IN" b="1">
                                                <a:solidFill>
                                                  <a:srgbClr val="002060"/>
                                                </a:solidFill>
                                                <a:latin typeface="Cambria Math" panose="02040503050406030204" pitchFamily="18" charset="0"/>
                                                <a:cs typeface="Times New Roman" panose="02020603050405020304" pitchFamily="18" charset="0"/>
                                              </a:rPr>
                                              <m:t>𝟕</m:t>
                                            </m:r>
                                          </m:e>
                                        </m:eqArr>
                                      </m:e>
                                      <m:e>
                                        <m:eqArr>
                                          <m:eqArrPr>
                                            <m:ctrlPr>
                                              <a:rPr lang="en-IN" b="1" i="1">
                                                <a:solidFill>
                                                  <a:srgbClr val="002060"/>
                                                </a:solidFill>
                                                <a:latin typeface="Cambria Math"/>
                                                <a:cs typeface="Times New Roman" panose="02020603050405020304" pitchFamily="18" charset="0"/>
                                              </a:rPr>
                                            </m:ctrlPr>
                                          </m:eqArrPr>
                                          <m:e/>
                                          <m:e>
                                            <m:r>
                                              <a:rPr lang="en-IN" b="1">
                                                <a:solidFill>
                                                  <a:srgbClr val="002060"/>
                                                </a:solidFill>
                                                <a:latin typeface="Cambria Math" panose="02040503050406030204" pitchFamily="18" charset="0"/>
                                                <a:cs typeface="Times New Roman" panose="02020603050405020304" pitchFamily="18" charset="0"/>
                                              </a:rPr>
                                              <m:t>𝟏</m:t>
                                            </m:r>
                                          </m:e>
                                        </m:eqArr>
                                      </m:e>
                                    </m:mr>
                                  </m:m>
                                </m:e>
                                <m:e/>
                              </m:eqArr>
                            </m:e>
                          </m:d>
                        </m:e>
                      </m:d>
                    </m:oMath>
                  </m:oMathPara>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7500560" y="1291176"/>
                <a:ext cx="2481640" cy="1126975"/>
              </a:xfrm>
              <a:prstGeom prst="rect">
                <a:avLst/>
              </a:prstGeom>
              <a:blipFill rotWithShape="0">
                <a:blip r:embed="rId6"/>
                <a:stretch>
                  <a:fillRect/>
                </a:stretch>
              </a:blipFill>
            </p:spPr>
            <p:txBody>
              <a:bodyPr/>
              <a:lstStyle/>
              <a:p>
                <a:r>
                  <a:rPr lang="en-IN">
                    <a:noFill/>
                  </a:rPr>
                  <a:t> </a:t>
                </a:r>
              </a:p>
            </p:txBody>
          </p:sp>
        </mc:Fallback>
      </mc:AlternateContent>
      <p:sp>
        <p:nvSpPr>
          <p:cNvPr id="9" name="Date Placeholder 8"/>
          <p:cNvSpPr>
            <a:spLocks noGrp="1"/>
          </p:cNvSpPr>
          <p:nvPr>
            <p:ph type="dt" sz="half" idx="10"/>
          </p:nvPr>
        </p:nvSpPr>
        <p:spPr/>
        <p:txBody>
          <a:bodyPr/>
          <a:lstStyle/>
          <a:p>
            <a:fld id="{CDB64DA1-F362-4F4C-B080-CD3F31C46884}" type="datetime1">
              <a:rPr lang="en-IN" smtClean="0"/>
              <a:t>21-03-2026</a:t>
            </a:fld>
            <a:endParaRPr lang="en-IN"/>
          </a:p>
        </p:txBody>
      </p:sp>
    </p:spTree>
    <p:extLst>
      <p:ext uri="{BB962C8B-B14F-4D97-AF65-F5344CB8AC3E}">
        <p14:creationId xmlns:p14="http://schemas.microsoft.com/office/powerpoint/2010/main" val="324087347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77051" y="732885"/>
                <a:ext cx="11797552" cy="5627707"/>
              </a:xfrm>
            </p:spPr>
            <p:txBody>
              <a:bodyPr>
                <a:normAutofit fontScale="92500" lnSpcReduction="20000"/>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Q </a:t>
                </a:r>
                <a:r>
                  <a:rPr lang="en-IN" sz="2000" b="1" dirty="0">
                    <a:solidFill>
                      <a:srgbClr val="002060"/>
                    </a:solidFill>
                    <a:latin typeface="Times New Roman" panose="02020603050405020304" pitchFamily="18" charset="0"/>
                    <a:cs typeface="Times New Roman" panose="02020603050405020304" pitchFamily="18" charset="0"/>
                  </a:rPr>
                  <a:t>=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𝟎</m:t>
                                      </m:r>
                                    </m:e>
                                    <m:e>
                                      <m:r>
                                        <a:rPr lang="en-IN" sz="2000" b="1" i="0"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𝟎</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 </m:t>
                        </m:r>
                        <m:r>
                          <m:rPr>
                            <m:nor/>
                          </m:rPr>
                          <a:rPr lang="en-IN" sz="2000" b="1" dirty="0" smtClean="0">
                            <a:solidFill>
                              <a:srgbClr val="002060"/>
                            </a:solidFill>
                            <a:latin typeface="Times New Roman" panose="02020603050405020304" pitchFamily="18" charset="0"/>
                            <a:cs typeface="Times New Roman" panose="02020603050405020304" pitchFamily="18" charset="0"/>
                          </a:rPr>
                          <m:t>+ </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𝟑</m:t>
                                      </m:r>
                                    </m:e>
                                    <m:e>
                                      <m:r>
                                        <a:rPr lang="en-IN" sz="2000" b="1">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e>
                    </m:d>
                  </m:oMath>
                </a14:m>
                <a:r>
                  <a:rPr lang="en-IN" sz="2000" b="1" dirty="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𝟎</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 </m:t>
                        </m:r>
                      </m:e>
                    </m:d>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𝟑</m:t>
                                      </m:r>
                                    </m:e>
                                    <m:e>
                                      <m:r>
                                        <a:rPr lang="en-IN" sz="2000" b="1" i="0"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𝟕</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𝟎</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cs typeface="Times New Roman" panose="02020603050405020304" pitchFamily="18" charset="0"/>
                  </a:rPr>
                  <a:t>LET C =</a:t>
                </a:r>
                <a14:m>
                  <m:oMath xmlns:m="http://schemas.openxmlformats.org/officeDocument/2006/math">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m:rPr>
                                      <m:brk m:alnAt="7"/>
                                    </m:rPr>
                                    <a:rPr lang="en-IN" sz="2000" b="1" i="1" smtClean="0">
                                      <a:solidFill>
                                        <a:srgbClr val="002060"/>
                                      </a:solidFill>
                                      <a:latin typeface="Cambria Math" panose="02040503050406030204" pitchFamily="18" charset="0"/>
                                      <a:cs typeface="Times New Roman" panose="02020603050405020304" pitchFamily="18" charset="0"/>
                                    </a:rPr>
                                    <m:t>𝟑</m:t>
                                  </m:r>
                                </m:e>
                                <m:e>
                                  <m:r>
                                    <a:rPr lang="en-IN" sz="2000" b="1" i="1"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𝟕</m:t>
                                      </m:r>
                                    </m:e>
                                  </m:eqArr>
                                </m:e>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𝟏</m:t>
                                      </m:r>
                                    </m:e>
                                  </m:eqArr>
                                </m:e>
                              </m:mr>
                            </m:m>
                          </m:e>
                          <m:e/>
                        </m:eqArr>
                      </m:e>
                    </m:d>
                    <m:r>
                      <a:rPr lang="en-IN" sz="2000" b="1" i="1">
                        <a:solidFill>
                          <a:srgbClr val="002060"/>
                        </a:solidFill>
                        <a:latin typeface="Cambria Math" panose="02040503050406030204" pitchFamily="18" charset="0"/>
                        <a:cs typeface="Times New Roman" panose="02020603050405020304" pitchFamily="18" charset="0"/>
                      </a:rPr>
                      <m:t>𝒂𝒏𝒅</m:t>
                    </m:r>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𝑫</m:t>
                    </m:r>
                    <m:r>
                      <a:rPr lang="en-IN" sz="2000" b="1" i="1">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m:rPr>
                                      <m:brk m:alnAt="7"/>
                                    </m:rPr>
                                    <a:rPr lang="en-IN" sz="2000" b="1" i="1" smtClean="0">
                                      <a:solidFill>
                                        <a:srgbClr val="002060"/>
                                      </a:solidFill>
                                      <a:latin typeface="Cambria Math" panose="02040503050406030204" pitchFamily="18" charset="0"/>
                                      <a:cs typeface="Times New Roman" panose="02020603050405020304" pitchFamily="18" charset="0"/>
                                    </a:rPr>
                                    <m:t>𝟎</m:t>
                                  </m:r>
                                </m:e>
                                <m:e>
                                  <m:r>
                                    <a:rPr lang="en-IN" sz="2000" b="1" i="1"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P </a:t>
                </a:r>
                <a:r>
                  <a:rPr lang="en-IN" sz="2000" b="1" dirty="0">
                    <a:solidFill>
                      <a:srgbClr val="002060"/>
                    </a:solidFill>
                    <a:latin typeface="Times New Roman" panose="02020603050405020304" pitchFamily="18" charset="0"/>
                    <a:cs typeface="Times New Roman" panose="02020603050405020304" pitchFamily="18" charset="0"/>
                  </a:rPr>
                  <a:t>=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 ×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a:t>
                </a:r>
                <a:r>
                  <a:rPr lang="en-IN" sz="2000" b="1" dirty="0">
                    <a:solidFill>
                      <a:srgbClr val="002060"/>
                    </a:solidFill>
                    <a:latin typeface="Times New Roman" panose="02020603050405020304" pitchFamily="18" charset="0"/>
                    <a:cs typeface="Times New Roman" panose="02020603050405020304" pitchFamily="18" charset="0"/>
                  </a:rPr>
                  <a:t>	</a:t>
                </a:r>
              </a:p>
              <a:p>
                <a:pPr algn="just"/>
                <a:r>
                  <a:rPr lang="en-IN" sz="2000" b="1" dirty="0">
                    <a:solidFill>
                      <a:srgbClr val="002060"/>
                    </a:solidFill>
                    <a:latin typeface="Times New Roman" panose="02020603050405020304" pitchFamily="18" charset="0"/>
                    <a:cs typeface="Times New Roman" panose="02020603050405020304" pitchFamily="18" charset="0"/>
                  </a:rPr>
                  <a:t>Q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(7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R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S = (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2</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T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3</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U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7</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(0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4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V = (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77051" y="732885"/>
                <a:ext cx="11797552" cy="5627707"/>
              </a:xfrm>
              <a:blipFill rotWithShape="0">
                <a:blip r:embed="rId3"/>
                <a:stretch>
                  <a:fillRect l="-465" t="-2925" b="-1083"/>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107</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6292323" y="3660825"/>
                <a:ext cx="3932551" cy="2220801"/>
              </a:xfrm>
              <a:prstGeom prst="rect">
                <a:avLst/>
              </a:prstGeom>
            </p:spPr>
            <p:txBody>
              <a:bodyPr wrap="none">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11</a:t>
                </a:r>
                <a:r>
                  <a:rPr lang="en-IN" b="1" dirty="0">
                    <a:solidFill>
                      <a:srgbClr val="002060"/>
                    </a:solidFill>
                    <a:latin typeface="Times New Roman" panose="02020603050405020304" pitchFamily="18" charset="0"/>
                    <a:cs typeface="Times New Roman" panose="02020603050405020304" pitchFamily="18" charset="0"/>
                  </a:rPr>
                  <a:t> = </a:t>
                </a:r>
                <a:r>
                  <a:rPr lang="en-IN" b="1" dirty="0" smtClean="0">
                    <a:solidFill>
                      <a:srgbClr val="002060"/>
                    </a:solidFill>
                    <a:latin typeface="Times New Roman" panose="02020603050405020304" pitchFamily="18" charset="0"/>
                    <a:cs typeface="Times New Roman" panose="02020603050405020304" pitchFamily="18" charset="0"/>
                  </a:rPr>
                  <a:t>P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S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V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4 +2  </a:t>
                </a:r>
                <a:r>
                  <a:rPr lang="en-IN" b="1" dirty="0">
                    <a:solidFill>
                      <a:srgbClr val="002060"/>
                    </a:solidFill>
                    <a:latin typeface="Times New Roman" panose="02020603050405020304" pitchFamily="18" charset="0"/>
                    <a:cs typeface="Times New Roman" panose="02020603050405020304" pitchFamily="18" charset="0"/>
                  </a:rPr>
                  <a:t>– 4 </a:t>
                </a:r>
                <a:r>
                  <a:rPr lang="en-IN" b="1" dirty="0" smtClean="0">
                    <a:solidFill>
                      <a:srgbClr val="002060"/>
                    </a:solidFill>
                    <a:latin typeface="Times New Roman" panose="02020603050405020304" pitchFamily="18" charset="0"/>
                    <a:cs typeface="Times New Roman" panose="02020603050405020304" pitchFamily="18" charset="0"/>
                  </a:rPr>
                  <a:t>+ 0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2</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12</a:t>
                </a:r>
                <a:r>
                  <a:rPr lang="en-IN" b="1" dirty="0">
                    <a:solidFill>
                      <a:srgbClr val="002060"/>
                    </a:solidFill>
                    <a:latin typeface="Times New Roman" panose="02020603050405020304" pitchFamily="18" charset="0"/>
                    <a:cs typeface="Times New Roman" panose="02020603050405020304" pitchFamily="18" charset="0"/>
                  </a:rPr>
                  <a:t> = R + T = </a:t>
                </a:r>
                <a:r>
                  <a:rPr lang="en-IN" b="1" dirty="0" smtClean="0">
                    <a:solidFill>
                      <a:srgbClr val="002060"/>
                    </a:solidFill>
                    <a:latin typeface="Times New Roman" panose="02020603050405020304" pitchFamily="18" charset="0"/>
                    <a:cs typeface="Times New Roman" panose="02020603050405020304" pitchFamily="18" charset="0"/>
                  </a:rPr>
                  <a:t>0 </a:t>
                </a:r>
                <a:r>
                  <a:rPr lang="en-IN" b="1" dirty="0">
                    <a:solidFill>
                      <a:srgbClr val="002060"/>
                    </a:solidFill>
                    <a:latin typeface="Times New Roman" panose="02020603050405020304" pitchFamily="18" charset="0"/>
                    <a:cs typeface="Times New Roman" panose="02020603050405020304" pitchFamily="18" charset="0"/>
                  </a:rPr>
                  <a:t>+ 4 = 4</a:t>
                </a:r>
                <a:endParaRPr lang="en-IN" b="1" baseline="-25000"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21</a:t>
                </a:r>
                <a:r>
                  <a:rPr lang="en-IN" b="1" dirty="0">
                    <a:solidFill>
                      <a:srgbClr val="002060"/>
                    </a:solidFill>
                    <a:latin typeface="Times New Roman" panose="02020603050405020304" pitchFamily="18" charset="0"/>
                    <a:cs typeface="Times New Roman" panose="02020603050405020304" pitchFamily="18" charset="0"/>
                  </a:rPr>
                  <a:t> = Q + S = </a:t>
                </a:r>
                <a:r>
                  <a:rPr lang="en-IN" b="1" dirty="0" smtClean="0">
                    <a:solidFill>
                      <a:srgbClr val="002060"/>
                    </a:solidFill>
                    <a:latin typeface="Times New Roman" panose="02020603050405020304" pitchFamily="18" charset="0"/>
                    <a:cs typeface="Times New Roman" panose="02020603050405020304" pitchFamily="18" charset="0"/>
                  </a:rPr>
                  <a:t>0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2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2</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22</a:t>
                </a:r>
                <a:r>
                  <a:rPr lang="en-IN" b="1" dirty="0">
                    <a:solidFill>
                      <a:srgbClr val="002060"/>
                    </a:solidFill>
                    <a:latin typeface="Times New Roman" panose="02020603050405020304" pitchFamily="18" charset="0"/>
                    <a:cs typeface="Times New Roman" panose="02020603050405020304" pitchFamily="18" charset="0"/>
                  </a:rPr>
                  <a:t> = P + R – Q + U = </a:t>
                </a:r>
                <a:r>
                  <a:rPr lang="en-IN" b="1" dirty="0" smtClean="0">
                    <a:solidFill>
                      <a:srgbClr val="002060"/>
                    </a:solidFill>
                    <a:latin typeface="Times New Roman" panose="02020603050405020304" pitchFamily="18" charset="0"/>
                    <a:cs typeface="Times New Roman" panose="02020603050405020304" pitchFamily="18" charset="0"/>
                  </a:rPr>
                  <a:t>4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0 -0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4 </a:t>
                </a:r>
                <a:r>
                  <a:rPr lang="en-IN" b="1" dirty="0">
                    <a:solidFill>
                      <a:srgbClr val="002060"/>
                    </a:solidFill>
                    <a:latin typeface="Times New Roman" panose="02020603050405020304" pitchFamily="18" charset="0"/>
                    <a:cs typeface="Times New Roman" panose="02020603050405020304" pitchFamily="18" charset="0"/>
                  </a:rPr>
                  <a:t>= 8</a:t>
                </a:r>
              </a:p>
              <a:p>
                <a:pPr algn="just"/>
                <a:r>
                  <a:rPr lang="en-IN" b="1" dirty="0" smtClean="0">
                    <a:solidFill>
                      <a:srgbClr val="C00000"/>
                    </a:solidFill>
                    <a:latin typeface="Times New Roman" panose="02020603050405020304" pitchFamily="18" charset="0"/>
                    <a:cs typeface="Times New Roman" panose="02020603050405020304" pitchFamily="18" charset="0"/>
                  </a:rPr>
                  <a:t>Resultant matrix is    Q =  </a:t>
                </a:r>
                <a14:m>
                  <m:oMath xmlns:m="http://schemas.openxmlformats.org/officeDocument/2006/math">
                    <m:d>
                      <m:dPr>
                        <m:begChr m:val="["/>
                        <m:endChr m:val="]"/>
                        <m:ctrlPr>
                          <a:rPr lang="en-IN" b="1" i="1">
                            <a:solidFill>
                              <a:srgbClr val="C00000"/>
                            </a:solidFill>
                            <a:latin typeface="Cambria Math"/>
                            <a:cs typeface="Times New Roman" panose="02020603050405020304" pitchFamily="18" charset="0"/>
                          </a:rPr>
                        </m:ctrlPr>
                      </m:dPr>
                      <m:e>
                        <m:eqArr>
                          <m:eqArrPr>
                            <m:ctrlPr>
                              <a:rPr lang="en-IN" b="1" i="1">
                                <a:solidFill>
                                  <a:srgbClr val="C00000"/>
                                </a:solidFill>
                                <a:latin typeface="Cambria Math"/>
                                <a:cs typeface="Times New Roman" panose="02020603050405020304" pitchFamily="18" charset="0"/>
                              </a:rPr>
                            </m:ctrlPr>
                          </m:eqArrPr>
                          <m:e>
                            <m:m>
                              <m:mPr>
                                <m:mcs>
                                  <m:mc>
                                    <m:mcPr>
                                      <m:count m:val="2"/>
                                      <m:mcJc m:val="center"/>
                                    </m:mcPr>
                                  </m:mc>
                                </m:mcs>
                                <m:ctrlPr>
                                  <a:rPr lang="en-IN" b="1" i="1">
                                    <a:solidFill>
                                      <a:srgbClr val="C00000"/>
                                    </a:solidFill>
                                    <a:latin typeface="Cambria Math"/>
                                    <a:cs typeface="Times New Roman" panose="02020603050405020304" pitchFamily="18" charset="0"/>
                                  </a:rPr>
                                </m:ctrlPr>
                              </m:mPr>
                              <m:mr>
                                <m:e>
                                  <m:r>
                                    <a:rPr lang="en-IN" b="1" i="1" smtClean="0">
                                      <a:solidFill>
                                        <a:srgbClr val="C00000"/>
                                      </a:solidFill>
                                      <a:latin typeface="Cambria Math" panose="02040503050406030204" pitchFamily="18" charset="0"/>
                                      <a:cs typeface="Times New Roman" panose="02020603050405020304" pitchFamily="18" charset="0"/>
                                    </a:rPr>
                                    <m:t>𝟐</m:t>
                                  </m:r>
                                </m:e>
                                <m:e>
                                  <m:r>
                                    <a:rPr lang="en-IN" b="1" i="1" smtClean="0">
                                      <a:solidFill>
                                        <a:srgbClr val="C00000"/>
                                      </a:solidFill>
                                      <a:latin typeface="Cambria Math" panose="02040503050406030204" pitchFamily="18" charset="0"/>
                                      <a:cs typeface="Times New Roman" panose="02020603050405020304" pitchFamily="18" charset="0"/>
                                    </a:rPr>
                                    <m:t>𝟒</m:t>
                                  </m:r>
                                </m:e>
                              </m:mr>
                              <m:mr>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𝟐</m:t>
                                      </m:r>
                                    </m:e>
                                  </m:eqArr>
                                </m:e>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𝟖</m:t>
                                      </m:r>
                                    </m:e>
                                  </m:eqArr>
                                </m:e>
                              </m:mr>
                            </m:m>
                          </m:e>
                          <m:e/>
                        </m:eqArr>
                      </m:e>
                    </m:d>
                  </m:oMath>
                </a14:m>
                <a:r>
                  <a:rPr lang="en-IN" b="1" dirty="0">
                    <a:solidFill>
                      <a:srgbClr val="C00000"/>
                    </a:solidFill>
                    <a:latin typeface="Times New Roman" panose="02020603050405020304" pitchFamily="18" charset="0"/>
                    <a:cs typeface="Times New Roman" panose="02020603050405020304" pitchFamily="18" charset="0"/>
                  </a:rPr>
                  <a:t> </a:t>
                </a:r>
                <a:endParaRPr lang="en-IN" sz="28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6292323" y="3660825"/>
                <a:ext cx="3932551" cy="2220801"/>
              </a:xfrm>
              <a:prstGeom prst="rect">
                <a:avLst/>
              </a:prstGeom>
              <a:blipFill rotWithShape="0">
                <a:blip r:embed="rId6"/>
                <a:stretch>
                  <a:fillRect l="-1240" t="-1648"/>
                </a:stretch>
              </a:blipFill>
            </p:spPr>
            <p:txBody>
              <a:bodyPr/>
              <a:lstStyle/>
              <a:p>
                <a:r>
                  <a:rPr lang="en-IN">
                    <a:noFill/>
                  </a:rPr>
                  <a:t> </a:t>
                </a:r>
              </a:p>
            </p:txBody>
          </p:sp>
        </mc:Fallback>
      </mc:AlternateContent>
      <p:sp>
        <p:nvSpPr>
          <p:cNvPr id="6" name="Date Placeholder 5"/>
          <p:cNvSpPr>
            <a:spLocks noGrp="1"/>
          </p:cNvSpPr>
          <p:nvPr>
            <p:ph type="dt" sz="half" idx="10"/>
          </p:nvPr>
        </p:nvSpPr>
        <p:spPr/>
        <p:txBody>
          <a:bodyPr/>
          <a:lstStyle/>
          <a:p>
            <a:fld id="{C254E5D1-BC3B-4875-9070-AD3592A4FEE2}" type="datetime1">
              <a:rPr lang="en-IN" smtClean="0"/>
              <a:t>21-03-2026</a:t>
            </a:fld>
            <a:endParaRPr lang="en-IN"/>
          </a:p>
        </p:txBody>
      </p:sp>
    </p:spTree>
    <p:extLst>
      <p:ext uri="{BB962C8B-B14F-4D97-AF65-F5344CB8AC3E}">
        <p14:creationId xmlns:p14="http://schemas.microsoft.com/office/powerpoint/2010/main" val="78879982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20544" y="924127"/>
                <a:ext cx="11797552" cy="5816121"/>
              </a:xfrm>
            </p:spPr>
            <p:txBody>
              <a:bodyPr>
                <a:normAutofit fontScale="70000" lnSpcReduction="20000"/>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R </a:t>
                </a:r>
                <a:r>
                  <a:rPr lang="en-IN" sz="2000" b="1" dirty="0">
                    <a:solidFill>
                      <a:srgbClr val="002060"/>
                    </a:solidFill>
                    <a:latin typeface="Times New Roman" panose="02020603050405020304" pitchFamily="18" charset="0"/>
                    <a:cs typeface="Times New Roman" panose="02020603050405020304" pitchFamily="18" charset="0"/>
                  </a:rPr>
                  <a:t>=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𝟏</m:t>
                                      </m:r>
                                    </m:e>
                                    <m:e>
                                      <m:r>
                                        <a:rPr lang="en-IN" sz="2000" b="1" i="0" smtClean="0">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𝟒</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 </m:t>
                        </m:r>
                      </m:e>
                    </m:d>
                  </m:oMath>
                </a14:m>
                <a:r>
                  <a:rPr lang="en-IN" sz="2000" b="1" dirty="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𝟎</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smtClean="0">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𝟎</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𝟒</m:t>
                                          </m:r>
                                        </m:e>
                                      </m:eqArr>
                                    </m:e>
                                  </m:mr>
                                </m:m>
                              </m:e>
                              <m:e/>
                            </m:eqArr>
                          </m:e>
                        </m:d>
                        <m:r>
                          <a:rPr lang="en-IN" sz="2000" b="1" i="1" smtClean="0">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𝟏</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𝟎</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 </m:t>
                        </m:r>
                      </m:e>
                    </m:d>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𝟏</m:t>
                                      </m:r>
                                    </m:e>
                                    <m:e>
                                      <m:r>
                                        <a:rPr lang="en-IN" sz="2000" b="1">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𝟒</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m:rPr>
                                          <m:brk m:alnAt="7"/>
                                        </m:rPr>
                                        <a:rPr lang="en-IN" sz="2000" b="1" i="0" smtClean="0">
                                          <a:solidFill>
                                            <a:srgbClr val="002060"/>
                                          </a:solidFill>
                                          <a:latin typeface="Cambria Math" panose="02040503050406030204" pitchFamily="18" charset="0"/>
                                          <a:cs typeface="Times New Roman" panose="02020603050405020304" pitchFamily="18" charset="0"/>
                                        </a:rPr>
                                        <m:t>−</m:t>
                                      </m:r>
                                      <m:r>
                                        <a:rPr lang="en-IN" sz="2000" b="1" i="0" smtClean="0">
                                          <a:solidFill>
                                            <a:srgbClr val="002060"/>
                                          </a:solidFill>
                                          <a:latin typeface="Cambria Math" panose="02040503050406030204" pitchFamily="18" charset="0"/>
                                          <a:cs typeface="Times New Roman" panose="02020603050405020304" pitchFamily="18" charset="0"/>
                                        </a:rPr>
                                        <m:t>𝟏</m:t>
                                      </m:r>
                                    </m:e>
                                    <m:e>
                                      <m:r>
                                        <a:rPr lang="en-IN" sz="2000" b="1" i="1" smtClean="0">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m:t>
                                          </m:r>
                                          <m:r>
                                            <a:rPr lang="en-IN" sz="2000" b="1" i="0" smtClean="0">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𝟒</m:t>
                                          </m:r>
                                        </m:e>
                                      </m:eqArr>
                                    </m:e>
                                  </m:mr>
                                </m:m>
                              </m:e>
                              <m:e/>
                            </m:eqArr>
                          </m:e>
                        </m:d>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cs typeface="Times New Roman" panose="02020603050405020304" pitchFamily="18" charset="0"/>
                  </a:rPr>
                  <a:t>LET C =</a:t>
                </a:r>
                <a14:m>
                  <m:oMath xmlns:m="http://schemas.openxmlformats.org/officeDocument/2006/math">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𝟏</m:t>
                                  </m:r>
                                </m:e>
                                <m:e>
                                  <m:r>
                                    <a:rPr lang="en-IN" sz="2000" b="1">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𝟒</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r>
                      <a:rPr lang="en-IN" sz="2000" b="1" i="1">
                        <a:solidFill>
                          <a:srgbClr val="002060"/>
                        </a:solidFill>
                        <a:latin typeface="Cambria Math" panose="02040503050406030204" pitchFamily="18" charset="0"/>
                        <a:cs typeface="Times New Roman" panose="02020603050405020304" pitchFamily="18" charset="0"/>
                      </a:rPr>
                      <m:t>𝒂𝒏𝒅</m:t>
                    </m:r>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𝑫</m:t>
                    </m:r>
                    <m:r>
                      <a:rPr lang="en-IN" sz="2000" b="1" i="1">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m:rPr>
                                      <m:brk m:alnAt="7"/>
                                    </m:rPr>
                                    <a:rPr lang="en-IN" sz="2000" b="1">
                                      <a:solidFill>
                                        <a:srgbClr val="002060"/>
                                      </a:solidFill>
                                      <a:latin typeface="Cambria Math" panose="02040503050406030204" pitchFamily="18" charset="0"/>
                                      <a:cs typeface="Times New Roman" panose="02020603050405020304" pitchFamily="18" charset="0"/>
                                    </a:rPr>
                                    <m:t>−</m:t>
                                  </m:r>
                                  <m:r>
                                    <a:rPr lang="en-IN" sz="2000" b="1">
                                      <a:solidFill>
                                        <a:srgbClr val="002060"/>
                                      </a:solidFill>
                                      <a:latin typeface="Cambria Math" panose="02040503050406030204" pitchFamily="18" charset="0"/>
                                      <a:cs typeface="Times New Roman" panose="02020603050405020304" pitchFamily="18" charset="0"/>
                                    </a:rPr>
                                    <m:t>𝟏</m:t>
                                  </m:r>
                                </m:e>
                                <m:e>
                                  <m:r>
                                    <a:rPr lang="en-IN" sz="2000" b="1" i="1">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m:t>
                                      </m:r>
                                      <m:r>
                                        <a:rPr lang="en-IN" sz="2000" b="1">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𝟒</m:t>
                                      </m:r>
                                    </m:e>
                                  </m:eqArr>
                                </m:e>
                              </m:mr>
                            </m:m>
                          </m:e>
                          <m:e/>
                        </m:eqArr>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P </a:t>
                </a:r>
                <a:r>
                  <a:rPr lang="en-IN" sz="2000" b="1" dirty="0">
                    <a:solidFill>
                      <a:srgbClr val="002060"/>
                    </a:solidFill>
                    <a:latin typeface="Times New Roman" panose="02020603050405020304" pitchFamily="18" charset="0"/>
                    <a:cs typeface="Times New Roman" panose="02020603050405020304" pitchFamily="18" charset="0"/>
                  </a:rPr>
                  <a:t>=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+ 4</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 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6</a:t>
                </a:r>
                <a:r>
                  <a:rPr lang="en-IN" sz="2000" b="1" dirty="0">
                    <a:solidFill>
                      <a:srgbClr val="002060"/>
                    </a:solidFill>
                    <a:latin typeface="Times New Roman" panose="02020603050405020304" pitchFamily="18" charset="0"/>
                    <a:cs typeface="Times New Roman" panose="02020603050405020304" pitchFamily="18" charset="0"/>
                  </a:rPr>
                  <a:t>	</a:t>
                </a:r>
              </a:p>
              <a:p>
                <a:pPr algn="just"/>
                <a:r>
                  <a:rPr lang="en-IN" sz="2000" b="1" dirty="0">
                    <a:solidFill>
                      <a:srgbClr val="002060"/>
                    </a:solidFill>
                    <a:latin typeface="Times New Roman" panose="02020603050405020304" pitchFamily="18" charset="0"/>
                    <a:cs typeface="Times New Roman" panose="02020603050405020304" pitchFamily="18" charset="0"/>
                  </a:rPr>
                  <a:t>Q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(4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 - </a:t>
                </a:r>
                <a:r>
                  <a:rPr lang="en-IN" sz="2000" b="1" dirty="0">
                    <a:solidFill>
                      <a:srgbClr val="002060"/>
                    </a:solidFill>
                    <a:latin typeface="Times New Roman" panose="02020603050405020304" pitchFamily="18" charset="0"/>
                    <a:cs typeface="Times New Roman" panose="02020603050405020304" pitchFamily="18" charset="0"/>
                  </a:rPr>
                  <a:t>5</a:t>
                </a:r>
              </a:p>
              <a:p>
                <a:pPr algn="just"/>
                <a:r>
                  <a:rPr lang="en-IN" sz="2000" b="1" dirty="0">
                    <a:solidFill>
                      <a:srgbClr val="002060"/>
                    </a:solidFill>
                    <a:latin typeface="Times New Roman" panose="02020603050405020304" pitchFamily="18" charset="0"/>
                    <a:cs typeface="Times New Roman" panose="02020603050405020304" pitchFamily="18" charset="0"/>
                  </a:rPr>
                  <a:t>R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1</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 </a:t>
                </a:r>
                <a:r>
                  <a:rPr lang="en-IN" sz="2000" b="1" dirty="0">
                    <a:solidFill>
                      <a:srgbClr val="002060"/>
                    </a:solidFill>
                    <a:latin typeface="Times New Roman" panose="02020603050405020304" pitchFamily="18" charset="0"/>
                    <a:cs typeface="Times New Roman" panose="02020603050405020304" pitchFamily="18" charset="0"/>
                  </a:rPr>
                  <a:t>– 4</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S = (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(-5 + </a:t>
                </a:r>
                <a:r>
                  <a:rPr lang="en-IN" sz="2000" b="1" dirty="0">
                    <a:solidFill>
                      <a:srgbClr val="002060"/>
                    </a:solidFill>
                    <a:latin typeface="Times New Roman" panose="02020603050405020304" pitchFamily="18" charset="0"/>
                    <a:cs typeface="Times New Roman" panose="02020603050405020304" pitchFamily="18" charset="0"/>
                  </a:rPr>
                  <a:t>1</a:t>
                </a:r>
                <a:r>
                  <a:rPr lang="en-IN" sz="2000" b="1" dirty="0" smtClean="0">
                    <a:solidFill>
                      <a:srgbClr val="002060"/>
                    </a:solidFill>
                    <a:latin typeface="Times New Roman" panose="02020603050405020304" pitchFamily="18" charset="0"/>
                    <a:cs typeface="Times New Roman" panose="02020603050405020304" pitchFamily="18" charset="0"/>
                  </a:rPr>
                  <a:t>)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 -4</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T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( 1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+ 0</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 </a:t>
                </a:r>
                <a:r>
                  <a:rPr lang="en-IN" sz="2000" b="1" dirty="0">
                    <a:solidFill>
                      <a:srgbClr val="002060"/>
                    </a:solidFill>
                    <a:latin typeface="Times New Roman" panose="02020603050405020304" pitchFamily="18" charset="0"/>
                    <a:cs typeface="Times New Roman" panose="02020603050405020304" pitchFamily="18" charset="0"/>
                  </a:rPr>
                  <a:t>= 1</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4</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U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( 4</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 ×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V = (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(0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(-5</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 1</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20544" y="924127"/>
                <a:ext cx="11797552" cy="5816121"/>
              </a:xfrm>
              <a:blipFill rotWithShape="0">
                <a:blip r:embed="rId3"/>
                <a:stretch>
                  <a:fillRect l="-155" t="-125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108</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6292323" y="3660825"/>
                <a:ext cx="3932551" cy="2220801"/>
              </a:xfrm>
              <a:prstGeom prst="rect">
                <a:avLst/>
              </a:prstGeom>
            </p:spPr>
            <p:txBody>
              <a:bodyPr wrap="none">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11</a:t>
                </a:r>
                <a:r>
                  <a:rPr lang="en-IN" b="1" dirty="0">
                    <a:solidFill>
                      <a:srgbClr val="002060"/>
                    </a:solidFill>
                    <a:latin typeface="Times New Roman" panose="02020603050405020304" pitchFamily="18" charset="0"/>
                    <a:cs typeface="Times New Roman" panose="02020603050405020304" pitchFamily="18" charset="0"/>
                  </a:rPr>
                  <a:t> = </a:t>
                </a:r>
                <a:r>
                  <a:rPr lang="en-IN" b="1" dirty="0" smtClean="0">
                    <a:solidFill>
                      <a:srgbClr val="002060"/>
                    </a:solidFill>
                    <a:latin typeface="Times New Roman" panose="02020603050405020304" pitchFamily="18" charset="0"/>
                    <a:cs typeface="Times New Roman" panose="02020603050405020304" pitchFamily="18" charset="0"/>
                  </a:rPr>
                  <a:t>P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S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V </a:t>
                </a:r>
                <a:r>
                  <a:rPr lang="en-IN" b="1" dirty="0">
                    <a:solidFill>
                      <a:srgbClr val="002060"/>
                    </a:solidFill>
                    <a:latin typeface="Times New Roman" panose="02020603050405020304" pitchFamily="18" charset="0"/>
                    <a:cs typeface="Times New Roman" panose="02020603050405020304" pitchFamily="18" charset="0"/>
                  </a:rPr>
                  <a:t>= 6</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a:solidFill>
                      <a:srgbClr val="002060"/>
                    </a:solidFill>
                    <a:latin typeface="Times New Roman" panose="02020603050405020304" pitchFamily="18" charset="0"/>
                    <a:cs typeface="Times New Roman" panose="02020603050405020304" pitchFamily="18" charset="0"/>
                  </a:rPr>
                  <a:t>-</a:t>
                </a:r>
                <a:r>
                  <a:rPr lang="en-IN" b="1" dirty="0" smtClean="0">
                    <a:solidFill>
                      <a:srgbClr val="002060"/>
                    </a:solidFill>
                    <a:latin typeface="Times New Roman" panose="02020603050405020304" pitchFamily="18" charset="0"/>
                    <a:cs typeface="Times New Roman" panose="02020603050405020304" pitchFamily="18" charset="0"/>
                  </a:rPr>
                  <a:t>4  </a:t>
                </a:r>
                <a:r>
                  <a:rPr lang="en-IN" b="1" dirty="0">
                    <a:solidFill>
                      <a:srgbClr val="002060"/>
                    </a:solidFill>
                    <a:latin typeface="Times New Roman" panose="02020603050405020304" pitchFamily="18" charset="0"/>
                    <a:cs typeface="Times New Roman" panose="02020603050405020304" pitchFamily="18" charset="0"/>
                  </a:rPr>
                  <a:t>– 4 </a:t>
                </a:r>
                <a:r>
                  <a:rPr lang="en-IN" b="1" dirty="0" smtClean="0">
                    <a:solidFill>
                      <a:srgbClr val="002060"/>
                    </a:solidFill>
                    <a:latin typeface="Times New Roman" panose="02020603050405020304" pitchFamily="18" charset="0"/>
                    <a:cs typeface="Times New Roman" panose="02020603050405020304" pitchFamily="18" charset="0"/>
                  </a:rPr>
                  <a:t>+1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-1</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12</a:t>
                </a:r>
                <a:r>
                  <a:rPr lang="en-IN" b="1" dirty="0">
                    <a:solidFill>
                      <a:srgbClr val="002060"/>
                    </a:solidFill>
                    <a:latin typeface="Times New Roman" panose="02020603050405020304" pitchFamily="18" charset="0"/>
                    <a:cs typeface="Times New Roman" panose="02020603050405020304" pitchFamily="18" charset="0"/>
                  </a:rPr>
                  <a:t> = R + T = </a:t>
                </a:r>
                <a:r>
                  <a:rPr lang="en-IN" b="1" dirty="0" smtClean="0">
                    <a:solidFill>
                      <a:srgbClr val="002060"/>
                    </a:solidFill>
                    <a:latin typeface="Times New Roman" panose="02020603050405020304" pitchFamily="18" charset="0"/>
                    <a:cs typeface="Times New Roman" panose="02020603050405020304" pitchFamily="18" charset="0"/>
                  </a:rPr>
                  <a:t>-4 </a:t>
                </a:r>
                <a:r>
                  <a:rPr lang="en-IN" b="1" dirty="0">
                    <a:solidFill>
                      <a:srgbClr val="002060"/>
                    </a:solidFill>
                    <a:latin typeface="Times New Roman" panose="02020603050405020304" pitchFamily="18" charset="0"/>
                    <a:cs typeface="Times New Roman" panose="02020603050405020304" pitchFamily="18" charset="0"/>
                  </a:rPr>
                  <a:t>+ 4 = 0</a:t>
                </a:r>
                <a:endParaRPr lang="en-IN" b="1" baseline="-25000"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21</a:t>
                </a:r>
                <a:r>
                  <a:rPr lang="en-IN" b="1" dirty="0">
                    <a:solidFill>
                      <a:srgbClr val="002060"/>
                    </a:solidFill>
                    <a:latin typeface="Times New Roman" panose="02020603050405020304" pitchFamily="18" charset="0"/>
                    <a:cs typeface="Times New Roman" panose="02020603050405020304" pitchFamily="18" charset="0"/>
                  </a:rPr>
                  <a:t> = Q + S = </a:t>
                </a:r>
                <a:r>
                  <a:rPr lang="en-IN" b="1" dirty="0" smtClean="0">
                    <a:solidFill>
                      <a:srgbClr val="002060"/>
                    </a:solidFill>
                    <a:latin typeface="Times New Roman" panose="02020603050405020304" pitchFamily="18" charset="0"/>
                    <a:cs typeface="Times New Roman" panose="02020603050405020304" pitchFamily="18" charset="0"/>
                  </a:rPr>
                  <a:t>-5 -4= -9</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22</a:t>
                </a:r>
                <a:r>
                  <a:rPr lang="en-IN" b="1" dirty="0">
                    <a:solidFill>
                      <a:srgbClr val="002060"/>
                    </a:solidFill>
                    <a:latin typeface="Times New Roman" panose="02020603050405020304" pitchFamily="18" charset="0"/>
                    <a:cs typeface="Times New Roman" panose="02020603050405020304" pitchFamily="18" charset="0"/>
                  </a:rPr>
                  <a:t> = P + R – Q + U = 6</a:t>
                </a:r>
                <a:r>
                  <a:rPr lang="en-IN" b="1" dirty="0" smtClean="0">
                    <a:solidFill>
                      <a:srgbClr val="002060"/>
                    </a:solidFill>
                    <a:latin typeface="Times New Roman" panose="02020603050405020304" pitchFamily="18" charset="0"/>
                    <a:cs typeface="Times New Roman" panose="02020603050405020304" pitchFamily="18" charset="0"/>
                  </a:rPr>
                  <a:t> -4+5 -3 </a:t>
                </a:r>
                <a:r>
                  <a:rPr lang="en-IN" b="1" dirty="0">
                    <a:solidFill>
                      <a:srgbClr val="002060"/>
                    </a:solidFill>
                    <a:latin typeface="Times New Roman" panose="02020603050405020304" pitchFamily="18" charset="0"/>
                    <a:cs typeface="Times New Roman" panose="02020603050405020304" pitchFamily="18" charset="0"/>
                  </a:rPr>
                  <a:t>= 4</a:t>
                </a:r>
              </a:p>
              <a:p>
                <a:pPr algn="just"/>
                <a:r>
                  <a:rPr lang="en-IN" b="1" dirty="0" smtClean="0">
                    <a:solidFill>
                      <a:srgbClr val="C00000"/>
                    </a:solidFill>
                    <a:latin typeface="Times New Roman" panose="02020603050405020304" pitchFamily="18" charset="0"/>
                    <a:cs typeface="Times New Roman" panose="02020603050405020304" pitchFamily="18" charset="0"/>
                  </a:rPr>
                  <a:t>Resultant matrix is    </a:t>
                </a:r>
                <a:r>
                  <a:rPr lang="en-IN" b="1" dirty="0">
                    <a:solidFill>
                      <a:srgbClr val="C00000"/>
                    </a:solidFill>
                    <a:latin typeface="Times New Roman" panose="02020603050405020304" pitchFamily="18" charset="0"/>
                    <a:cs typeface="Times New Roman" panose="02020603050405020304" pitchFamily="18" charset="0"/>
                  </a:rPr>
                  <a:t>R</a:t>
                </a:r>
                <a:r>
                  <a:rPr lang="en-IN" b="1" dirty="0" smtClean="0">
                    <a:solidFill>
                      <a:srgbClr val="C0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IN" b="1" i="1">
                            <a:solidFill>
                              <a:srgbClr val="C00000"/>
                            </a:solidFill>
                            <a:latin typeface="Cambria Math"/>
                            <a:cs typeface="Times New Roman" panose="02020603050405020304" pitchFamily="18" charset="0"/>
                          </a:rPr>
                        </m:ctrlPr>
                      </m:dPr>
                      <m:e>
                        <m:eqArr>
                          <m:eqArrPr>
                            <m:ctrlPr>
                              <a:rPr lang="en-IN" b="1" i="1">
                                <a:solidFill>
                                  <a:srgbClr val="C00000"/>
                                </a:solidFill>
                                <a:latin typeface="Cambria Math"/>
                                <a:cs typeface="Times New Roman" panose="02020603050405020304" pitchFamily="18" charset="0"/>
                              </a:rPr>
                            </m:ctrlPr>
                          </m:eqArrPr>
                          <m:e>
                            <m:m>
                              <m:mPr>
                                <m:mcs>
                                  <m:mc>
                                    <m:mcPr>
                                      <m:count m:val="2"/>
                                      <m:mcJc m:val="center"/>
                                    </m:mcPr>
                                  </m:mc>
                                </m:mcs>
                                <m:ctrlPr>
                                  <a:rPr lang="en-IN" b="1" i="1">
                                    <a:solidFill>
                                      <a:srgbClr val="C00000"/>
                                    </a:solidFill>
                                    <a:latin typeface="Cambria Math"/>
                                    <a:cs typeface="Times New Roman" panose="02020603050405020304" pitchFamily="18" charset="0"/>
                                  </a:rPr>
                                </m:ctrlPr>
                              </m:mPr>
                              <m:mr>
                                <m:e>
                                  <m:r>
                                    <m:rPr>
                                      <m:brk m:alnAt="7"/>
                                    </m:rPr>
                                    <a:rPr lang="en-IN" b="1" i="1" smtClean="0">
                                      <a:solidFill>
                                        <a:srgbClr val="C00000"/>
                                      </a:solidFill>
                                      <a:latin typeface="Cambria Math" panose="02040503050406030204" pitchFamily="18" charset="0"/>
                                      <a:cs typeface="Times New Roman" panose="02020603050405020304" pitchFamily="18" charset="0"/>
                                    </a:rPr>
                                    <m:t>−</m:t>
                                  </m:r>
                                  <m:r>
                                    <a:rPr lang="en-IN" b="1" i="1" smtClean="0">
                                      <a:solidFill>
                                        <a:srgbClr val="C00000"/>
                                      </a:solidFill>
                                      <a:latin typeface="Cambria Math" panose="02040503050406030204" pitchFamily="18" charset="0"/>
                                      <a:cs typeface="Times New Roman" panose="02020603050405020304" pitchFamily="18" charset="0"/>
                                    </a:rPr>
                                    <m:t>𝟏</m:t>
                                  </m:r>
                                </m:e>
                                <m:e>
                                  <m:r>
                                    <a:rPr lang="en-IN" b="1" i="1" smtClean="0">
                                      <a:solidFill>
                                        <a:srgbClr val="C00000"/>
                                      </a:solidFill>
                                      <a:latin typeface="Cambria Math" panose="02040503050406030204" pitchFamily="18" charset="0"/>
                                      <a:cs typeface="Times New Roman" panose="02020603050405020304" pitchFamily="18" charset="0"/>
                                    </a:rPr>
                                    <m:t>𝟎</m:t>
                                  </m:r>
                                </m:e>
                              </m:mr>
                              <m:mr>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m:t>
                                      </m:r>
                                      <m:r>
                                        <a:rPr lang="en-IN" b="1" i="1" smtClean="0">
                                          <a:solidFill>
                                            <a:srgbClr val="C00000"/>
                                          </a:solidFill>
                                          <a:latin typeface="Cambria Math" panose="02040503050406030204" pitchFamily="18" charset="0"/>
                                          <a:cs typeface="Times New Roman" panose="02020603050405020304" pitchFamily="18" charset="0"/>
                                        </a:rPr>
                                        <m:t>𝟗</m:t>
                                      </m:r>
                                    </m:e>
                                  </m:eqArr>
                                </m:e>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𝟒</m:t>
                                      </m:r>
                                    </m:e>
                                  </m:eqArr>
                                </m:e>
                              </m:mr>
                            </m:m>
                          </m:e>
                          <m:e/>
                        </m:eqArr>
                      </m:e>
                    </m:d>
                  </m:oMath>
                </a14:m>
                <a:r>
                  <a:rPr lang="en-IN" b="1" dirty="0">
                    <a:solidFill>
                      <a:srgbClr val="C00000"/>
                    </a:solidFill>
                    <a:latin typeface="Times New Roman" panose="02020603050405020304" pitchFamily="18" charset="0"/>
                    <a:cs typeface="Times New Roman" panose="02020603050405020304" pitchFamily="18" charset="0"/>
                  </a:rPr>
                  <a:t> </a:t>
                </a:r>
                <a:endParaRPr lang="en-IN" sz="28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6292323" y="3660825"/>
                <a:ext cx="3932551" cy="2220801"/>
              </a:xfrm>
              <a:prstGeom prst="rect">
                <a:avLst/>
              </a:prstGeom>
              <a:blipFill rotWithShape="0">
                <a:blip r:embed="rId6"/>
                <a:stretch>
                  <a:fillRect l="-1240" t="-164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775198" y="1243069"/>
                <a:ext cx="4210768" cy="1907573"/>
              </a:xfrm>
              <a:prstGeom prst="rect">
                <a:avLst/>
              </a:prstGeom>
            </p:spPr>
            <p:txBody>
              <a:bodyPr wrap="none">
                <a:spAutoFit/>
              </a:bodyPr>
              <a:lstStyle/>
              <a:p>
                <a:r>
                  <a:rPr lang="en-IN"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𝟐</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𝟒</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
                                  <m:r>
                                    <a:rPr lang="en-IN" b="1" i="1" dirty="0">
                                      <a:solidFill>
                                        <a:srgbClr val="002060"/>
                                      </a:solidFill>
                                      <a:latin typeface="Cambria Math" panose="02040503050406030204" pitchFamily="18" charset="0"/>
                                      <a:cs typeface="Times New Roman" panose="02020603050405020304" pitchFamily="18" charset="0"/>
                                    </a:rPr>
                                    <m:t>𝟓</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
                                  <m:r>
                                    <a:rPr lang="en-IN" b="1" i="1" dirty="0">
                                      <a:solidFill>
                                        <a:srgbClr val="002060"/>
                                      </a:solidFill>
                                      <a:latin typeface="Cambria Math" panose="02040503050406030204" pitchFamily="18" charset="0"/>
                                      <a:cs typeface="Times New Roman" panose="02020603050405020304" pitchFamily="18" charset="0"/>
                                    </a:rPr>
                                    <m:t>𝟎</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𝟑</m:t>
                                  </m:r>
                                </m:e>
                                <m:e/>
                                <m:e>
                                  <m:r>
                                    <a:rPr lang="en-IN" b="1" i="1" dirty="0">
                                      <a:solidFill>
                                        <a:srgbClr val="002060"/>
                                      </a:solidFill>
                                      <a:latin typeface="Cambria Math" panose="02040503050406030204" pitchFamily="18" charset="0"/>
                                      <a:cs typeface="Times New Roman" panose="02020603050405020304" pitchFamily="18" charset="0"/>
                                    </a:rPr>
                                    <m:t>𝟐</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
                                  <m:r>
                                    <a:rPr lang="en-IN" b="1" i="1" dirty="0">
                                      <a:solidFill>
                                        <a:srgbClr val="002060"/>
                                      </a:solidFill>
                                      <a:latin typeface="Cambria Math" panose="02040503050406030204" pitchFamily="18" charset="0"/>
                                      <a:cs typeface="Times New Roman" panose="02020603050405020304" pitchFamily="18" charset="0"/>
                                    </a:rPr>
                                    <m:t>𝟏</m:t>
                                  </m:r>
                                </m:e>
                              </m:eqArr>
                            </m:e>
                          </m:mr>
                        </m:m>
                      </m:e>
                    </m:d>
                  </m:oMath>
                </a14:m>
                <a:r>
                  <a:rPr lang="en-IN" b="1" dirty="0">
                    <a:solidFill>
                      <a:srgbClr val="002060"/>
                    </a:solidFill>
                    <a:latin typeface="Times New Roman" panose="02020603050405020304" pitchFamily="18" charset="0"/>
                    <a:cs typeface="Times New Roman" panose="02020603050405020304" pitchFamily="18" charset="0"/>
                  </a:rPr>
                  <a:t>    </a:t>
                </a:r>
                <a:r>
                  <a:rPr lang="en-IN" sz="2800" b="1"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r>
                                <m:rPr>
                                  <m:brk m:alnAt="7"/>
                                </m:rP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mr>
                          <m:mr>
                            <m:e/>
                            <m:e/>
                            <m:e/>
                            <m:e/>
                          </m:mr>
                          <m:mr>
                            <m:e>
                              <m:r>
                                <a:rPr lang="en-IN" b="1" i="1" dirty="0">
                                  <a:solidFill>
                                    <a:srgbClr val="002060"/>
                                  </a:solidFill>
                                  <a:latin typeface="Cambria Math" panose="02040503050406030204" pitchFamily="18" charset="0"/>
                                  <a:cs typeface="Times New Roman" panose="02020603050405020304" pitchFamily="18" charset="0"/>
                                </a:rPr>
                                <m:t>𝟐</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𝟒</m:t>
                              </m:r>
                            </m:e>
                          </m:mr>
                          <m:mr>
                            <m:e/>
                            <m:e/>
                            <m:e/>
                            <m:e/>
                          </m:mr>
                          <m:mr>
                            <m:e>
                              <m:r>
                                <a:rPr lang="en-IN" b="1" i="1" dirty="0">
                                  <a:solidFill>
                                    <a:srgbClr val="002060"/>
                                  </a:solidFill>
                                  <a:latin typeface="Cambria Math" panose="02040503050406030204" pitchFamily="18" charset="0"/>
                                  <a:cs typeface="Times New Roman" panose="02020603050405020304" pitchFamily="18" charset="0"/>
                                </a:rPr>
                                <m:t>𝟐</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𝟏</m:t>
                              </m:r>
                            </m:e>
                          </m:mr>
                          <m:mr>
                            <m:e/>
                            <m:e/>
                            <m:e/>
                            <m:e/>
                          </m:mr>
                          <m:mr>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𝟑</m:t>
                              </m:r>
                            </m:e>
                            <m:e>
                              <m:r>
                                <a:rPr lang="en-IN" b="1" i="1" dirty="0">
                                  <a:solidFill>
                                    <a:srgbClr val="002060"/>
                                  </a:solidFill>
                                  <a:latin typeface="Cambria Math" panose="02040503050406030204" pitchFamily="18" charset="0"/>
                                  <a:cs typeface="Times New Roman" panose="02020603050405020304" pitchFamily="18" charset="0"/>
                                </a:rPr>
                                <m:t>𝟓</m:t>
                              </m:r>
                            </m:e>
                            <m:e>
                              <m:r>
                                <a:rPr lang="en-IN" b="1" i="1" dirty="0">
                                  <a:solidFill>
                                    <a:srgbClr val="002060"/>
                                  </a:solidFill>
                                  <a:latin typeface="Cambria Math" panose="02040503050406030204" pitchFamily="18" charset="0"/>
                                  <a:cs typeface="Times New Roman" panose="02020603050405020304" pitchFamily="18" charset="0"/>
                                </a:rPr>
                                <m:t>𝟎</m:t>
                              </m:r>
                            </m:e>
                          </m:mr>
                        </m:m>
                      </m:e>
                    </m:d>
                  </m:oMath>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6775198" y="1243069"/>
                <a:ext cx="4210768" cy="1907573"/>
              </a:xfrm>
              <a:prstGeom prst="rect">
                <a:avLst/>
              </a:prstGeom>
              <a:blipFill rotWithShape="0">
                <a:blip r:embed="rId7"/>
                <a:stretch>
                  <a:fillRect l="-1158"/>
                </a:stretch>
              </a:blipFill>
            </p:spPr>
            <p:txBody>
              <a:bodyPr/>
              <a:lstStyle/>
              <a:p>
                <a:r>
                  <a:rPr lang="en-IN">
                    <a:noFill/>
                  </a:rPr>
                  <a:t> </a:t>
                </a:r>
              </a:p>
            </p:txBody>
          </p:sp>
        </mc:Fallback>
      </mc:AlternateContent>
      <p:sp>
        <p:nvSpPr>
          <p:cNvPr id="10" name="Date Placeholder 9"/>
          <p:cNvSpPr>
            <a:spLocks noGrp="1"/>
          </p:cNvSpPr>
          <p:nvPr>
            <p:ph type="dt" sz="half" idx="10"/>
          </p:nvPr>
        </p:nvSpPr>
        <p:spPr/>
        <p:txBody>
          <a:bodyPr/>
          <a:lstStyle/>
          <a:p>
            <a:fld id="{9FF782FB-B269-4B13-BA05-8D15FA57D8C9}" type="datetime1">
              <a:rPr lang="en-IN" smtClean="0"/>
              <a:t>21-03-2026</a:t>
            </a:fld>
            <a:endParaRPr lang="en-IN"/>
          </a:p>
        </p:txBody>
      </p:sp>
    </p:spTree>
    <p:extLst>
      <p:ext uri="{BB962C8B-B14F-4D97-AF65-F5344CB8AC3E}">
        <p14:creationId xmlns:p14="http://schemas.microsoft.com/office/powerpoint/2010/main" val="2489389044"/>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20544" y="924127"/>
                <a:ext cx="11797552" cy="5816121"/>
              </a:xfrm>
            </p:spPr>
            <p:txBody>
              <a:bodyPr>
                <a:normAutofit fontScale="70000" lnSpcReduction="20000"/>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S = (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𝟑</m:t>
                                      </m:r>
                                    </m:e>
                                    <m:e>
                                      <m:r>
                                        <a:rPr lang="en-IN" sz="2000" b="1" i="0" smtClean="0">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 </m:t>
                        </m:r>
                      </m:e>
                    </m:d>
                  </m:oMath>
                </a14:m>
                <a:r>
                  <a:rPr lang="en-IN" sz="2000" b="1" dirty="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𝟐</m:t>
                                      </m:r>
                                    </m:e>
                                    <m:e>
                                      <m:r>
                                        <a:rPr lang="en-IN" sz="2000" b="1" i="0" smtClean="0">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smtClean="0">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𝟑</m:t>
                                          </m:r>
                                        </m:e>
                                      </m:eqArr>
                                    </m:e>
                                  </m:mr>
                                </m:m>
                              </m:e>
                              <m:e/>
                            </m:eqArr>
                          </m:e>
                        </m:d>
                        <m:r>
                          <a:rPr lang="en-IN" sz="2000" b="1" i="1" smtClean="0">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𝟎</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 </m:t>
                        </m:r>
                      </m:e>
                    </m:d>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𝟑</m:t>
                                      </m:r>
                                    </m:e>
                                    <m:e>
                                      <m:r>
                                        <a:rPr lang="en-IN" sz="2000" b="1">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𝟐</m:t>
                                      </m:r>
                                    </m:e>
                                    <m:e>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𝟐</m:t>
                                          </m:r>
                                        </m:e>
                                      </m:eqArr>
                                    </m:e>
                                  </m:mr>
                                </m:m>
                              </m:e>
                              <m:e/>
                            </m:eqArr>
                          </m:e>
                        </m:d>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cs typeface="Times New Roman" panose="02020603050405020304" pitchFamily="18" charset="0"/>
                  </a:rPr>
                  <a:t>LET C =</a:t>
                </a:r>
                <a14:m>
                  <m:oMath xmlns:m="http://schemas.openxmlformats.org/officeDocument/2006/math">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𝟑</m:t>
                                  </m:r>
                                </m:e>
                                <m:e>
                                  <m:r>
                                    <a:rPr lang="en-IN" sz="2000" b="1">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r>
                      <a:rPr lang="en-IN" sz="2000" b="1" i="1">
                        <a:solidFill>
                          <a:srgbClr val="002060"/>
                        </a:solidFill>
                        <a:latin typeface="Cambria Math" panose="02040503050406030204" pitchFamily="18" charset="0"/>
                        <a:cs typeface="Times New Roman" panose="02020603050405020304" pitchFamily="18" charset="0"/>
                      </a:rPr>
                      <m:t>𝒂𝒏𝒅</m:t>
                    </m:r>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𝑫</m:t>
                    </m:r>
                    <m:r>
                      <a:rPr lang="en-IN" sz="2000" b="1" i="1">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𝟐</m:t>
                                  </m:r>
                                </m:e>
                                <m:e>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𝟐</m:t>
                                      </m:r>
                                    </m:e>
                                  </m:eqArr>
                                </m:e>
                              </m:mr>
                            </m:m>
                          </m:e>
                          <m:e/>
                        </m:eqArr>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P </a:t>
                </a:r>
                <a:r>
                  <a:rPr lang="en-IN" sz="2000" b="1" dirty="0">
                    <a:solidFill>
                      <a:srgbClr val="002060"/>
                    </a:solidFill>
                    <a:latin typeface="Times New Roman" panose="02020603050405020304" pitchFamily="18" charset="0"/>
                    <a:cs typeface="Times New Roman" panose="02020603050405020304" pitchFamily="18" charset="0"/>
                  </a:rPr>
                  <a:t>=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4</a:t>
                </a:r>
                <a:r>
                  <a:rPr lang="en-IN" sz="2000" b="1" dirty="0" smtClean="0">
                    <a:solidFill>
                      <a:srgbClr val="002060"/>
                    </a:solidFill>
                    <a:latin typeface="Times New Roman" panose="02020603050405020304" pitchFamily="18" charset="0"/>
                    <a:cs typeface="Times New Roman" panose="02020603050405020304" pitchFamily="18" charset="0"/>
                  </a:rPr>
                  <a:t> × 4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16</a:t>
                </a:r>
                <a:r>
                  <a:rPr lang="en-IN" sz="2000" b="1" dirty="0">
                    <a:solidFill>
                      <a:srgbClr val="002060"/>
                    </a:solidFill>
                    <a:latin typeface="Times New Roman" panose="02020603050405020304" pitchFamily="18" charset="0"/>
                    <a:cs typeface="Times New Roman" panose="02020603050405020304" pitchFamily="18" charset="0"/>
                  </a:rPr>
                  <a:t>	</a:t>
                </a:r>
              </a:p>
              <a:p>
                <a:pPr algn="just"/>
                <a:r>
                  <a:rPr lang="en-IN" sz="2000" b="1" dirty="0">
                    <a:solidFill>
                      <a:srgbClr val="002060"/>
                    </a:solidFill>
                    <a:latin typeface="Times New Roman" panose="02020603050405020304" pitchFamily="18" charset="0"/>
                    <a:cs typeface="Times New Roman" panose="02020603050405020304" pitchFamily="18" charset="0"/>
                  </a:rPr>
                  <a:t>Q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6</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R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-3 = -9</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S = (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(-1 - 2)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 -3</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T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3</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+ 0</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6</a:t>
                </a:r>
              </a:p>
              <a:p>
                <a:pPr algn="just"/>
                <a:r>
                  <a:rPr lang="en-IN" sz="2000" b="1" dirty="0">
                    <a:solidFill>
                      <a:srgbClr val="002060"/>
                    </a:solidFill>
                    <a:latin typeface="Times New Roman" panose="02020603050405020304" pitchFamily="18" charset="0"/>
                    <a:cs typeface="Times New Roman" panose="02020603050405020304" pitchFamily="18" charset="0"/>
                  </a:rPr>
                  <a:t>U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(2 -1)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V = (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(0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 -1</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20544" y="924127"/>
                <a:ext cx="11797552" cy="5816121"/>
              </a:xfrm>
              <a:blipFill rotWithShape="0">
                <a:blip r:embed="rId3"/>
                <a:stretch>
                  <a:fillRect l="-155" t="-125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109</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6372216" y="3660825"/>
                <a:ext cx="3772764" cy="2220801"/>
              </a:xfrm>
              <a:prstGeom prst="rect">
                <a:avLst/>
              </a:prstGeom>
            </p:spPr>
            <p:txBody>
              <a:bodyPr wrap="none">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11</a:t>
                </a:r>
                <a:r>
                  <a:rPr lang="en-IN" b="1" dirty="0">
                    <a:solidFill>
                      <a:srgbClr val="002060"/>
                    </a:solidFill>
                    <a:latin typeface="Times New Roman" panose="02020603050405020304" pitchFamily="18" charset="0"/>
                    <a:cs typeface="Times New Roman" panose="02020603050405020304" pitchFamily="18" charset="0"/>
                  </a:rPr>
                  <a:t> = </a:t>
                </a:r>
                <a:r>
                  <a:rPr lang="en-IN" b="1" dirty="0" smtClean="0">
                    <a:solidFill>
                      <a:srgbClr val="002060"/>
                    </a:solidFill>
                    <a:latin typeface="Times New Roman" panose="02020603050405020304" pitchFamily="18" charset="0"/>
                    <a:cs typeface="Times New Roman" panose="02020603050405020304" pitchFamily="18" charset="0"/>
                  </a:rPr>
                  <a:t>P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S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V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16 -3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6 </a:t>
                </a:r>
                <a:r>
                  <a:rPr lang="en-IN" b="1" dirty="0">
                    <a:solidFill>
                      <a:srgbClr val="002060"/>
                    </a:solidFill>
                    <a:latin typeface="Times New Roman" panose="02020603050405020304" pitchFamily="18" charset="0"/>
                    <a:cs typeface="Times New Roman" panose="02020603050405020304" pitchFamily="18" charset="0"/>
                  </a:rPr>
                  <a:t>-</a:t>
                </a:r>
                <a:r>
                  <a:rPr lang="en-IN" b="1" dirty="0" smtClean="0">
                    <a:solidFill>
                      <a:srgbClr val="002060"/>
                    </a:solidFill>
                    <a:latin typeface="Times New Roman" panose="02020603050405020304" pitchFamily="18" charset="0"/>
                    <a:cs typeface="Times New Roman" panose="02020603050405020304" pitchFamily="18" charset="0"/>
                  </a:rPr>
                  <a:t>1 </a:t>
                </a:r>
                <a:r>
                  <a:rPr lang="en-IN" b="1" dirty="0">
                    <a:solidFill>
                      <a:srgbClr val="002060"/>
                    </a:solidFill>
                    <a:latin typeface="Times New Roman" panose="02020603050405020304" pitchFamily="18" charset="0"/>
                    <a:cs typeface="Times New Roman" panose="02020603050405020304" pitchFamily="18" charset="0"/>
                  </a:rPr>
                  <a:t>= 6</a:t>
                </a: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12</a:t>
                </a:r>
                <a:r>
                  <a:rPr lang="en-IN" b="1" dirty="0">
                    <a:solidFill>
                      <a:srgbClr val="002060"/>
                    </a:solidFill>
                    <a:latin typeface="Times New Roman" panose="02020603050405020304" pitchFamily="18" charset="0"/>
                    <a:cs typeface="Times New Roman" panose="02020603050405020304" pitchFamily="18" charset="0"/>
                  </a:rPr>
                  <a:t> = R + T = </a:t>
                </a:r>
                <a:r>
                  <a:rPr lang="en-IN" b="1" dirty="0" smtClean="0">
                    <a:solidFill>
                      <a:srgbClr val="002060"/>
                    </a:solidFill>
                    <a:latin typeface="Times New Roman" panose="02020603050405020304" pitchFamily="18" charset="0"/>
                    <a:cs typeface="Times New Roman" panose="02020603050405020304" pitchFamily="18" charset="0"/>
                  </a:rPr>
                  <a:t>-9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6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-3</a:t>
                </a:r>
                <a:endParaRPr lang="en-IN" b="1" baseline="-25000"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21</a:t>
                </a:r>
                <a:r>
                  <a:rPr lang="en-IN" b="1" dirty="0">
                    <a:solidFill>
                      <a:srgbClr val="002060"/>
                    </a:solidFill>
                    <a:latin typeface="Times New Roman" panose="02020603050405020304" pitchFamily="18" charset="0"/>
                    <a:cs typeface="Times New Roman" panose="02020603050405020304" pitchFamily="18" charset="0"/>
                  </a:rPr>
                  <a:t> = Q + S = 6</a:t>
                </a:r>
                <a:r>
                  <a:rPr lang="en-IN" b="1" dirty="0" smtClean="0">
                    <a:solidFill>
                      <a:srgbClr val="002060"/>
                    </a:solidFill>
                    <a:latin typeface="Times New Roman" panose="02020603050405020304" pitchFamily="18" charset="0"/>
                    <a:cs typeface="Times New Roman" panose="02020603050405020304" pitchFamily="18" charset="0"/>
                  </a:rPr>
                  <a:t> -3= </a:t>
                </a:r>
                <a:r>
                  <a:rPr lang="en-IN" b="1" dirty="0">
                    <a:solidFill>
                      <a:srgbClr val="002060"/>
                    </a:solidFill>
                    <a:latin typeface="Times New Roman" panose="02020603050405020304" pitchFamily="18" charset="0"/>
                    <a:cs typeface="Times New Roman" panose="02020603050405020304" pitchFamily="18" charset="0"/>
                  </a:rPr>
                  <a:t>3</a:t>
                </a: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22</a:t>
                </a:r>
                <a:r>
                  <a:rPr lang="en-IN" b="1" dirty="0">
                    <a:solidFill>
                      <a:srgbClr val="002060"/>
                    </a:solidFill>
                    <a:latin typeface="Times New Roman" panose="02020603050405020304" pitchFamily="18" charset="0"/>
                    <a:cs typeface="Times New Roman" panose="02020603050405020304" pitchFamily="18" charset="0"/>
                  </a:rPr>
                  <a:t> = P + R – Q + U = </a:t>
                </a:r>
                <a:r>
                  <a:rPr lang="en-IN" b="1" dirty="0" smtClean="0">
                    <a:solidFill>
                      <a:srgbClr val="002060"/>
                    </a:solidFill>
                    <a:latin typeface="Times New Roman" panose="02020603050405020304" pitchFamily="18" charset="0"/>
                    <a:cs typeface="Times New Roman" panose="02020603050405020304" pitchFamily="18" charset="0"/>
                  </a:rPr>
                  <a:t>16 -9-6 -1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0</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smtClean="0">
                    <a:solidFill>
                      <a:srgbClr val="C00000"/>
                    </a:solidFill>
                    <a:latin typeface="Times New Roman" panose="02020603050405020304" pitchFamily="18" charset="0"/>
                    <a:cs typeface="Times New Roman" panose="02020603050405020304" pitchFamily="18" charset="0"/>
                  </a:rPr>
                  <a:t>Resultant matrix is    </a:t>
                </a:r>
                <a:r>
                  <a:rPr lang="en-IN" b="1" dirty="0">
                    <a:solidFill>
                      <a:srgbClr val="C00000"/>
                    </a:solidFill>
                    <a:latin typeface="Times New Roman" panose="02020603050405020304" pitchFamily="18" charset="0"/>
                    <a:cs typeface="Times New Roman" panose="02020603050405020304" pitchFamily="18" charset="0"/>
                  </a:rPr>
                  <a:t>S</a:t>
                </a:r>
                <a:r>
                  <a:rPr lang="en-IN" b="1" dirty="0" smtClean="0">
                    <a:solidFill>
                      <a:srgbClr val="C0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IN" b="1" i="1">
                            <a:solidFill>
                              <a:srgbClr val="C00000"/>
                            </a:solidFill>
                            <a:latin typeface="Cambria Math"/>
                            <a:cs typeface="Times New Roman" panose="02020603050405020304" pitchFamily="18" charset="0"/>
                          </a:rPr>
                        </m:ctrlPr>
                      </m:dPr>
                      <m:e>
                        <m:eqArr>
                          <m:eqArrPr>
                            <m:ctrlPr>
                              <a:rPr lang="en-IN" b="1" i="1">
                                <a:solidFill>
                                  <a:srgbClr val="C00000"/>
                                </a:solidFill>
                                <a:latin typeface="Cambria Math"/>
                                <a:cs typeface="Times New Roman" panose="02020603050405020304" pitchFamily="18" charset="0"/>
                              </a:rPr>
                            </m:ctrlPr>
                          </m:eqArrPr>
                          <m:e>
                            <m:m>
                              <m:mPr>
                                <m:mcs>
                                  <m:mc>
                                    <m:mcPr>
                                      <m:count m:val="2"/>
                                      <m:mcJc m:val="center"/>
                                    </m:mcPr>
                                  </m:mc>
                                </m:mcs>
                                <m:ctrlPr>
                                  <a:rPr lang="en-IN" b="1" i="1">
                                    <a:solidFill>
                                      <a:srgbClr val="C00000"/>
                                    </a:solidFill>
                                    <a:latin typeface="Cambria Math"/>
                                    <a:cs typeface="Times New Roman" panose="02020603050405020304" pitchFamily="18" charset="0"/>
                                  </a:rPr>
                                </m:ctrlPr>
                              </m:mPr>
                              <m:mr>
                                <m:e>
                                  <m:r>
                                    <a:rPr lang="en-IN" b="1" i="1" smtClean="0">
                                      <a:solidFill>
                                        <a:srgbClr val="C00000"/>
                                      </a:solidFill>
                                      <a:latin typeface="Cambria Math" panose="02040503050406030204" pitchFamily="18" charset="0"/>
                                      <a:cs typeface="Times New Roman" panose="02020603050405020304" pitchFamily="18" charset="0"/>
                                    </a:rPr>
                                    <m:t>𝟔</m:t>
                                  </m:r>
                                </m:e>
                                <m:e>
                                  <m:r>
                                    <a:rPr lang="en-IN" b="1" i="1" smtClean="0">
                                      <a:solidFill>
                                        <a:srgbClr val="C00000"/>
                                      </a:solidFill>
                                      <a:latin typeface="Cambria Math" panose="02040503050406030204" pitchFamily="18" charset="0"/>
                                      <a:cs typeface="Times New Roman" panose="02020603050405020304" pitchFamily="18" charset="0"/>
                                    </a:rPr>
                                    <m:t>−</m:t>
                                  </m:r>
                                  <m:r>
                                    <a:rPr lang="en-IN" b="1" i="1" smtClean="0">
                                      <a:solidFill>
                                        <a:srgbClr val="C00000"/>
                                      </a:solidFill>
                                      <a:latin typeface="Cambria Math" panose="02040503050406030204" pitchFamily="18" charset="0"/>
                                      <a:cs typeface="Times New Roman" panose="02020603050405020304" pitchFamily="18" charset="0"/>
                                    </a:rPr>
                                    <m:t>𝟑</m:t>
                                  </m:r>
                                </m:e>
                              </m:mr>
                              <m:mr>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𝟑</m:t>
                                      </m:r>
                                    </m:e>
                                  </m:eqArr>
                                </m:e>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𝟎</m:t>
                                      </m:r>
                                    </m:e>
                                  </m:eqArr>
                                </m:e>
                              </m:mr>
                            </m:m>
                          </m:e>
                          <m:e/>
                        </m:eqArr>
                      </m:e>
                    </m:d>
                  </m:oMath>
                </a14:m>
                <a:r>
                  <a:rPr lang="en-IN" b="1" dirty="0">
                    <a:solidFill>
                      <a:srgbClr val="C00000"/>
                    </a:solidFill>
                    <a:latin typeface="Times New Roman" panose="02020603050405020304" pitchFamily="18" charset="0"/>
                    <a:cs typeface="Times New Roman" panose="02020603050405020304" pitchFamily="18" charset="0"/>
                  </a:rPr>
                  <a:t> </a:t>
                </a:r>
                <a:endParaRPr lang="en-IN" sz="28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6372216" y="3660825"/>
                <a:ext cx="3772764" cy="2220801"/>
              </a:xfrm>
              <a:prstGeom prst="rect">
                <a:avLst/>
              </a:prstGeom>
              <a:blipFill rotWithShape="0">
                <a:blip r:embed="rId6"/>
                <a:stretch>
                  <a:fillRect l="-1292" t="-1648" r="-4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775198" y="1243069"/>
                <a:ext cx="4210768" cy="1907573"/>
              </a:xfrm>
              <a:prstGeom prst="rect">
                <a:avLst/>
              </a:prstGeom>
            </p:spPr>
            <p:txBody>
              <a:bodyPr wrap="none">
                <a:spAutoFit/>
              </a:bodyPr>
              <a:lstStyle/>
              <a:p>
                <a:r>
                  <a:rPr lang="en-IN"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𝟐</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𝟒</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
                                  <m:r>
                                    <a:rPr lang="en-IN" b="1" i="1" dirty="0">
                                      <a:solidFill>
                                        <a:srgbClr val="002060"/>
                                      </a:solidFill>
                                      <a:latin typeface="Cambria Math" panose="02040503050406030204" pitchFamily="18" charset="0"/>
                                      <a:cs typeface="Times New Roman" panose="02020603050405020304" pitchFamily="18" charset="0"/>
                                    </a:rPr>
                                    <m:t>𝟓</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
                                  <m:r>
                                    <a:rPr lang="en-IN" b="1" i="1" dirty="0">
                                      <a:solidFill>
                                        <a:srgbClr val="002060"/>
                                      </a:solidFill>
                                      <a:latin typeface="Cambria Math" panose="02040503050406030204" pitchFamily="18" charset="0"/>
                                      <a:cs typeface="Times New Roman" panose="02020603050405020304" pitchFamily="18" charset="0"/>
                                    </a:rPr>
                                    <m:t>𝟎</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𝟑</m:t>
                                  </m:r>
                                </m:e>
                                <m:e/>
                                <m:e>
                                  <m:r>
                                    <a:rPr lang="en-IN" b="1" i="1" dirty="0">
                                      <a:solidFill>
                                        <a:srgbClr val="002060"/>
                                      </a:solidFill>
                                      <a:latin typeface="Cambria Math" panose="02040503050406030204" pitchFamily="18" charset="0"/>
                                      <a:cs typeface="Times New Roman" panose="02020603050405020304" pitchFamily="18" charset="0"/>
                                    </a:rPr>
                                    <m:t>𝟐</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
                                  <m:r>
                                    <a:rPr lang="en-IN" b="1" i="1" dirty="0">
                                      <a:solidFill>
                                        <a:srgbClr val="002060"/>
                                      </a:solidFill>
                                      <a:latin typeface="Cambria Math" panose="02040503050406030204" pitchFamily="18" charset="0"/>
                                      <a:cs typeface="Times New Roman" panose="02020603050405020304" pitchFamily="18" charset="0"/>
                                    </a:rPr>
                                    <m:t>𝟏</m:t>
                                  </m:r>
                                </m:e>
                              </m:eqArr>
                            </m:e>
                          </m:mr>
                        </m:m>
                      </m:e>
                    </m:d>
                  </m:oMath>
                </a14:m>
                <a:r>
                  <a:rPr lang="en-IN" b="1" dirty="0">
                    <a:solidFill>
                      <a:srgbClr val="002060"/>
                    </a:solidFill>
                    <a:latin typeface="Times New Roman" panose="02020603050405020304" pitchFamily="18" charset="0"/>
                    <a:cs typeface="Times New Roman" panose="02020603050405020304" pitchFamily="18" charset="0"/>
                  </a:rPr>
                  <a:t>    </a:t>
                </a:r>
                <a:r>
                  <a:rPr lang="en-IN" sz="2800" b="1"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r>
                                <m:rPr>
                                  <m:brk m:alnAt="7"/>
                                </m:rP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mr>
                          <m:mr>
                            <m:e/>
                            <m:e/>
                            <m:e/>
                            <m:e/>
                          </m:mr>
                          <m:mr>
                            <m:e>
                              <m:r>
                                <a:rPr lang="en-IN" b="1" i="1" dirty="0">
                                  <a:solidFill>
                                    <a:srgbClr val="002060"/>
                                  </a:solidFill>
                                  <a:latin typeface="Cambria Math" panose="02040503050406030204" pitchFamily="18" charset="0"/>
                                  <a:cs typeface="Times New Roman" panose="02020603050405020304" pitchFamily="18" charset="0"/>
                                </a:rPr>
                                <m:t>𝟐</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𝟒</m:t>
                              </m:r>
                            </m:e>
                          </m:mr>
                          <m:mr>
                            <m:e/>
                            <m:e/>
                            <m:e/>
                            <m:e/>
                          </m:mr>
                          <m:mr>
                            <m:e>
                              <m:r>
                                <a:rPr lang="en-IN" b="1" i="1" dirty="0">
                                  <a:solidFill>
                                    <a:srgbClr val="002060"/>
                                  </a:solidFill>
                                  <a:latin typeface="Cambria Math" panose="02040503050406030204" pitchFamily="18" charset="0"/>
                                  <a:cs typeface="Times New Roman" panose="02020603050405020304" pitchFamily="18" charset="0"/>
                                </a:rPr>
                                <m:t>𝟐</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𝟏</m:t>
                              </m:r>
                            </m:e>
                          </m:mr>
                          <m:mr>
                            <m:e/>
                            <m:e/>
                            <m:e/>
                            <m:e/>
                          </m:mr>
                          <m:mr>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𝟑</m:t>
                              </m:r>
                            </m:e>
                            <m:e>
                              <m:r>
                                <a:rPr lang="en-IN" b="1" i="1" dirty="0">
                                  <a:solidFill>
                                    <a:srgbClr val="002060"/>
                                  </a:solidFill>
                                  <a:latin typeface="Cambria Math" panose="02040503050406030204" pitchFamily="18" charset="0"/>
                                  <a:cs typeface="Times New Roman" panose="02020603050405020304" pitchFamily="18" charset="0"/>
                                </a:rPr>
                                <m:t>𝟓</m:t>
                              </m:r>
                            </m:e>
                            <m:e>
                              <m:r>
                                <a:rPr lang="en-IN" b="1" i="1" dirty="0">
                                  <a:solidFill>
                                    <a:srgbClr val="002060"/>
                                  </a:solidFill>
                                  <a:latin typeface="Cambria Math" panose="02040503050406030204" pitchFamily="18" charset="0"/>
                                  <a:cs typeface="Times New Roman" panose="02020603050405020304" pitchFamily="18" charset="0"/>
                                </a:rPr>
                                <m:t>𝟎</m:t>
                              </m:r>
                            </m:e>
                          </m:mr>
                        </m:m>
                      </m:e>
                    </m:d>
                  </m:oMath>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6775198" y="1243069"/>
                <a:ext cx="4210768" cy="1907573"/>
              </a:xfrm>
              <a:prstGeom prst="rect">
                <a:avLst/>
              </a:prstGeom>
              <a:blipFill rotWithShape="0">
                <a:blip r:embed="rId7"/>
                <a:stretch>
                  <a:fillRect l="-1158"/>
                </a:stretch>
              </a:blipFill>
            </p:spPr>
            <p:txBody>
              <a:bodyPr/>
              <a:lstStyle/>
              <a:p>
                <a:r>
                  <a:rPr lang="en-IN">
                    <a:noFill/>
                  </a:rPr>
                  <a:t> </a:t>
                </a:r>
              </a:p>
            </p:txBody>
          </p:sp>
        </mc:Fallback>
      </mc:AlternateContent>
      <p:sp>
        <p:nvSpPr>
          <p:cNvPr id="10" name="Date Placeholder 9"/>
          <p:cNvSpPr>
            <a:spLocks noGrp="1"/>
          </p:cNvSpPr>
          <p:nvPr>
            <p:ph type="dt" sz="half" idx="10"/>
          </p:nvPr>
        </p:nvSpPr>
        <p:spPr/>
        <p:txBody>
          <a:bodyPr/>
          <a:lstStyle/>
          <a:p>
            <a:fld id="{40595401-A947-4C8D-9F86-94A78B853407}" type="datetime1">
              <a:rPr lang="en-IN" smtClean="0"/>
              <a:t>21-03-2026</a:t>
            </a:fld>
            <a:endParaRPr lang="en-IN"/>
          </a:p>
        </p:txBody>
      </p:sp>
    </p:spTree>
    <p:extLst>
      <p:ext uri="{BB962C8B-B14F-4D97-AF65-F5344CB8AC3E}">
        <p14:creationId xmlns:p14="http://schemas.microsoft.com/office/powerpoint/2010/main" val="600296850"/>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20544" y="924127"/>
                <a:ext cx="11797552" cy="5816121"/>
              </a:xfrm>
            </p:spPr>
            <p:txBody>
              <a:bodyPr>
                <a:normAutofit fontScale="70000" lnSpcReduction="20000"/>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S = (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𝟑</m:t>
                                      </m:r>
                                    </m:e>
                                    <m:e>
                                      <m:r>
                                        <a:rPr lang="en-IN" sz="2000" b="1" i="0" smtClean="0">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 </m:t>
                        </m:r>
                      </m:e>
                    </m:d>
                  </m:oMath>
                </a14:m>
                <a:r>
                  <a:rPr lang="en-IN" sz="2000" b="1" dirty="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𝟐</m:t>
                                      </m:r>
                                    </m:e>
                                    <m:e>
                                      <m:r>
                                        <a:rPr lang="en-IN" sz="2000" b="1" i="0" smtClean="0">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smtClean="0">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𝟑</m:t>
                                          </m:r>
                                        </m:e>
                                      </m:eqArr>
                                    </m:e>
                                  </m:mr>
                                </m:m>
                              </m:e>
                              <m:e/>
                            </m:eqArr>
                          </m:e>
                        </m:d>
                        <m:r>
                          <a:rPr lang="en-IN" sz="2000" b="1" i="1" smtClean="0">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𝟎</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 </m:t>
                        </m:r>
                      </m:e>
                    </m:d>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𝟑</m:t>
                                      </m:r>
                                    </m:e>
                                    <m:e>
                                      <m:r>
                                        <a:rPr lang="en-IN" sz="2000" b="1">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𝟐</m:t>
                                      </m:r>
                                    </m:e>
                                    <m:e>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𝟐</m:t>
                                          </m:r>
                                        </m:e>
                                      </m:eqArr>
                                    </m:e>
                                  </m:mr>
                                </m:m>
                              </m:e>
                              <m:e/>
                            </m:eqArr>
                          </m:e>
                        </m:d>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cs typeface="Times New Roman" panose="02020603050405020304" pitchFamily="18" charset="0"/>
                  </a:rPr>
                  <a:t>LET C =</a:t>
                </a:r>
                <a14:m>
                  <m:oMath xmlns:m="http://schemas.openxmlformats.org/officeDocument/2006/math">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𝟑</m:t>
                                  </m:r>
                                </m:e>
                                <m:e>
                                  <m:r>
                                    <a:rPr lang="en-IN" sz="2000" b="1">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r>
                      <a:rPr lang="en-IN" sz="2000" b="1" i="1">
                        <a:solidFill>
                          <a:srgbClr val="002060"/>
                        </a:solidFill>
                        <a:latin typeface="Cambria Math" panose="02040503050406030204" pitchFamily="18" charset="0"/>
                        <a:cs typeface="Times New Roman" panose="02020603050405020304" pitchFamily="18" charset="0"/>
                      </a:rPr>
                      <m:t>𝒂𝒏𝒅</m:t>
                    </m:r>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𝑫</m:t>
                    </m:r>
                    <m:r>
                      <a:rPr lang="en-IN" sz="2000" b="1" i="1">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𝟐</m:t>
                                  </m:r>
                                </m:e>
                                <m:e>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𝟐</m:t>
                                      </m:r>
                                    </m:e>
                                  </m:eqArr>
                                </m:e>
                              </m:mr>
                            </m:m>
                          </m:e>
                          <m:e/>
                        </m:eqArr>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P </a:t>
                </a:r>
                <a:r>
                  <a:rPr lang="en-IN" sz="2000" b="1" dirty="0">
                    <a:solidFill>
                      <a:srgbClr val="002060"/>
                    </a:solidFill>
                    <a:latin typeface="Times New Roman" panose="02020603050405020304" pitchFamily="18" charset="0"/>
                    <a:cs typeface="Times New Roman" panose="02020603050405020304" pitchFamily="18" charset="0"/>
                  </a:rPr>
                  <a:t>=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4</a:t>
                </a:r>
                <a:r>
                  <a:rPr lang="en-IN" sz="2000" b="1" dirty="0" smtClean="0">
                    <a:solidFill>
                      <a:srgbClr val="002060"/>
                    </a:solidFill>
                    <a:latin typeface="Times New Roman" panose="02020603050405020304" pitchFamily="18" charset="0"/>
                    <a:cs typeface="Times New Roman" panose="02020603050405020304" pitchFamily="18" charset="0"/>
                  </a:rPr>
                  <a:t> × 4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16</a:t>
                </a:r>
                <a:r>
                  <a:rPr lang="en-IN" sz="2000" b="1" dirty="0">
                    <a:solidFill>
                      <a:srgbClr val="002060"/>
                    </a:solidFill>
                    <a:latin typeface="Times New Roman" panose="02020603050405020304" pitchFamily="18" charset="0"/>
                    <a:cs typeface="Times New Roman" panose="02020603050405020304" pitchFamily="18" charset="0"/>
                  </a:rPr>
                  <a:t>	</a:t>
                </a:r>
              </a:p>
              <a:p>
                <a:pPr algn="just"/>
                <a:r>
                  <a:rPr lang="en-IN" sz="2000" b="1" dirty="0">
                    <a:solidFill>
                      <a:srgbClr val="002060"/>
                    </a:solidFill>
                    <a:latin typeface="Times New Roman" panose="02020603050405020304" pitchFamily="18" charset="0"/>
                    <a:cs typeface="Times New Roman" panose="02020603050405020304" pitchFamily="18" charset="0"/>
                  </a:rPr>
                  <a:t>Q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6</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R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-3 = -9</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S = (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(-1 - 2)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 -3</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T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3</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+ 0</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6</a:t>
                </a:r>
              </a:p>
              <a:p>
                <a:pPr algn="just"/>
                <a:r>
                  <a:rPr lang="en-IN" sz="2000" b="1" dirty="0">
                    <a:solidFill>
                      <a:srgbClr val="002060"/>
                    </a:solidFill>
                    <a:latin typeface="Times New Roman" panose="02020603050405020304" pitchFamily="18" charset="0"/>
                    <a:cs typeface="Times New Roman" panose="02020603050405020304" pitchFamily="18" charset="0"/>
                  </a:rPr>
                  <a:t>U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2</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(2 -1)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V = (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(0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 -1</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20544" y="924127"/>
                <a:ext cx="11797552" cy="5816121"/>
              </a:xfrm>
              <a:blipFill rotWithShape="0">
                <a:blip r:embed="rId3"/>
                <a:stretch>
                  <a:fillRect l="-155" t="-125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110</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6372216" y="3660825"/>
                <a:ext cx="3772764" cy="2220801"/>
              </a:xfrm>
              <a:prstGeom prst="rect">
                <a:avLst/>
              </a:prstGeom>
            </p:spPr>
            <p:txBody>
              <a:bodyPr wrap="none">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11</a:t>
                </a:r>
                <a:r>
                  <a:rPr lang="en-IN" b="1" dirty="0">
                    <a:solidFill>
                      <a:srgbClr val="002060"/>
                    </a:solidFill>
                    <a:latin typeface="Times New Roman" panose="02020603050405020304" pitchFamily="18" charset="0"/>
                    <a:cs typeface="Times New Roman" panose="02020603050405020304" pitchFamily="18" charset="0"/>
                  </a:rPr>
                  <a:t> = </a:t>
                </a:r>
                <a:r>
                  <a:rPr lang="en-IN" b="1" dirty="0" smtClean="0">
                    <a:solidFill>
                      <a:srgbClr val="002060"/>
                    </a:solidFill>
                    <a:latin typeface="Times New Roman" panose="02020603050405020304" pitchFamily="18" charset="0"/>
                    <a:cs typeface="Times New Roman" panose="02020603050405020304" pitchFamily="18" charset="0"/>
                  </a:rPr>
                  <a:t>P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S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V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16 -3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6 </a:t>
                </a:r>
                <a:r>
                  <a:rPr lang="en-IN" b="1" dirty="0">
                    <a:solidFill>
                      <a:srgbClr val="002060"/>
                    </a:solidFill>
                    <a:latin typeface="Times New Roman" panose="02020603050405020304" pitchFamily="18" charset="0"/>
                    <a:cs typeface="Times New Roman" panose="02020603050405020304" pitchFamily="18" charset="0"/>
                  </a:rPr>
                  <a:t>-</a:t>
                </a:r>
                <a:r>
                  <a:rPr lang="en-IN" b="1" dirty="0" smtClean="0">
                    <a:solidFill>
                      <a:srgbClr val="002060"/>
                    </a:solidFill>
                    <a:latin typeface="Times New Roman" panose="02020603050405020304" pitchFamily="18" charset="0"/>
                    <a:cs typeface="Times New Roman" panose="02020603050405020304" pitchFamily="18" charset="0"/>
                  </a:rPr>
                  <a:t>1 </a:t>
                </a:r>
                <a:r>
                  <a:rPr lang="en-IN" b="1" dirty="0">
                    <a:solidFill>
                      <a:srgbClr val="002060"/>
                    </a:solidFill>
                    <a:latin typeface="Times New Roman" panose="02020603050405020304" pitchFamily="18" charset="0"/>
                    <a:cs typeface="Times New Roman" panose="02020603050405020304" pitchFamily="18" charset="0"/>
                  </a:rPr>
                  <a:t>= 6</a:t>
                </a: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12</a:t>
                </a:r>
                <a:r>
                  <a:rPr lang="en-IN" b="1" dirty="0">
                    <a:solidFill>
                      <a:srgbClr val="002060"/>
                    </a:solidFill>
                    <a:latin typeface="Times New Roman" panose="02020603050405020304" pitchFamily="18" charset="0"/>
                    <a:cs typeface="Times New Roman" panose="02020603050405020304" pitchFamily="18" charset="0"/>
                  </a:rPr>
                  <a:t> = R + T = </a:t>
                </a:r>
                <a:r>
                  <a:rPr lang="en-IN" b="1" dirty="0" smtClean="0">
                    <a:solidFill>
                      <a:srgbClr val="002060"/>
                    </a:solidFill>
                    <a:latin typeface="Times New Roman" panose="02020603050405020304" pitchFamily="18" charset="0"/>
                    <a:cs typeface="Times New Roman" panose="02020603050405020304" pitchFamily="18" charset="0"/>
                  </a:rPr>
                  <a:t>-9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6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-3</a:t>
                </a:r>
                <a:endParaRPr lang="en-IN" b="1" baseline="-25000"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21</a:t>
                </a:r>
                <a:r>
                  <a:rPr lang="en-IN" b="1" dirty="0">
                    <a:solidFill>
                      <a:srgbClr val="002060"/>
                    </a:solidFill>
                    <a:latin typeface="Times New Roman" panose="02020603050405020304" pitchFamily="18" charset="0"/>
                    <a:cs typeface="Times New Roman" panose="02020603050405020304" pitchFamily="18" charset="0"/>
                  </a:rPr>
                  <a:t> = Q + S = 6</a:t>
                </a:r>
                <a:r>
                  <a:rPr lang="en-IN" b="1" dirty="0" smtClean="0">
                    <a:solidFill>
                      <a:srgbClr val="002060"/>
                    </a:solidFill>
                    <a:latin typeface="Times New Roman" panose="02020603050405020304" pitchFamily="18" charset="0"/>
                    <a:cs typeface="Times New Roman" panose="02020603050405020304" pitchFamily="18" charset="0"/>
                  </a:rPr>
                  <a:t> -3= </a:t>
                </a:r>
                <a:r>
                  <a:rPr lang="en-IN" b="1" dirty="0">
                    <a:solidFill>
                      <a:srgbClr val="002060"/>
                    </a:solidFill>
                    <a:latin typeface="Times New Roman" panose="02020603050405020304" pitchFamily="18" charset="0"/>
                    <a:cs typeface="Times New Roman" panose="02020603050405020304" pitchFamily="18" charset="0"/>
                  </a:rPr>
                  <a:t>3</a:t>
                </a: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22</a:t>
                </a:r>
                <a:r>
                  <a:rPr lang="en-IN" b="1" dirty="0">
                    <a:solidFill>
                      <a:srgbClr val="002060"/>
                    </a:solidFill>
                    <a:latin typeface="Times New Roman" panose="02020603050405020304" pitchFamily="18" charset="0"/>
                    <a:cs typeface="Times New Roman" panose="02020603050405020304" pitchFamily="18" charset="0"/>
                  </a:rPr>
                  <a:t> = P + R – Q + U = </a:t>
                </a:r>
                <a:r>
                  <a:rPr lang="en-IN" b="1" dirty="0" smtClean="0">
                    <a:solidFill>
                      <a:srgbClr val="002060"/>
                    </a:solidFill>
                    <a:latin typeface="Times New Roman" panose="02020603050405020304" pitchFamily="18" charset="0"/>
                    <a:cs typeface="Times New Roman" panose="02020603050405020304" pitchFamily="18" charset="0"/>
                  </a:rPr>
                  <a:t>16 -9-6 -1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0</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smtClean="0">
                    <a:solidFill>
                      <a:srgbClr val="C00000"/>
                    </a:solidFill>
                    <a:latin typeface="Times New Roman" panose="02020603050405020304" pitchFamily="18" charset="0"/>
                    <a:cs typeface="Times New Roman" panose="02020603050405020304" pitchFamily="18" charset="0"/>
                  </a:rPr>
                  <a:t>Resultant matrix is    </a:t>
                </a:r>
                <a:r>
                  <a:rPr lang="en-IN" b="1" dirty="0">
                    <a:solidFill>
                      <a:srgbClr val="C00000"/>
                    </a:solidFill>
                    <a:latin typeface="Times New Roman" panose="02020603050405020304" pitchFamily="18" charset="0"/>
                    <a:cs typeface="Times New Roman" panose="02020603050405020304" pitchFamily="18" charset="0"/>
                  </a:rPr>
                  <a:t>S</a:t>
                </a:r>
                <a:r>
                  <a:rPr lang="en-IN" b="1" dirty="0" smtClean="0">
                    <a:solidFill>
                      <a:srgbClr val="C0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IN" b="1" i="1">
                            <a:solidFill>
                              <a:srgbClr val="C00000"/>
                            </a:solidFill>
                            <a:latin typeface="Cambria Math"/>
                            <a:cs typeface="Times New Roman" panose="02020603050405020304" pitchFamily="18" charset="0"/>
                          </a:rPr>
                        </m:ctrlPr>
                      </m:dPr>
                      <m:e>
                        <m:eqArr>
                          <m:eqArrPr>
                            <m:ctrlPr>
                              <a:rPr lang="en-IN" b="1" i="1">
                                <a:solidFill>
                                  <a:srgbClr val="C00000"/>
                                </a:solidFill>
                                <a:latin typeface="Cambria Math"/>
                                <a:cs typeface="Times New Roman" panose="02020603050405020304" pitchFamily="18" charset="0"/>
                              </a:rPr>
                            </m:ctrlPr>
                          </m:eqArrPr>
                          <m:e>
                            <m:m>
                              <m:mPr>
                                <m:mcs>
                                  <m:mc>
                                    <m:mcPr>
                                      <m:count m:val="2"/>
                                      <m:mcJc m:val="center"/>
                                    </m:mcPr>
                                  </m:mc>
                                </m:mcs>
                                <m:ctrlPr>
                                  <a:rPr lang="en-IN" b="1" i="1">
                                    <a:solidFill>
                                      <a:srgbClr val="C00000"/>
                                    </a:solidFill>
                                    <a:latin typeface="Cambria Math"/>
                                    <a:cs typeface="Times New Roman" panose="02020603050405020304" pitchFamily="18" charset="0"/>
                                  </a:rPr>
                                </m:ctrlPr>
                              </m:mPr>
                              <m:mr>
                                <m:e>
                                  <m:r>
                                    <a:rPr lang="en-IN" b="1" i="1" smtClean="0">
                                      <a:solidFill>
                                        <a:srgbClr val="C00000"/>
                                      </a:solidFill>
                                      <a:latin typeface="Cambria Math" panose="02040503050406030204" pitchFamily="18" charset="0"/>
                                      <a:cs typeface="Times New Roman" panose="02020603050405020304" pitchFamily="18" charset="0"/>
                                    </a:rPr>
                                    <m:t>𝟔</m:t>
                                  </m:r>
                                </m:e>
                                <m:e>
                                  <m:r>
                                    <a:rPr lang="en-IN" b="1" i="1" smtClean="0">
                                      <a:solidFill>
                                        <a:srgbClr val="C00000"/>
                                      </a:solidFill>
                                      <a:latin typeface="Cambria Math" panose="02040503050406030204" pitchFamily="18" charset="0"/>
                                      <a:cs typeface="Times New Roman" panose="02020603050405020304" pitchFamily="18" charset="0"/>
                                    </a:rPr>
                                    <m:t>−</m:t>
                                  </m:r>
                                  <m:r>
                                    <a:rPr lang="en-IN" b="1" i="1" smtClean="0">
                                      <a:solidFill>
                                        <a:srgbClr val="C00000"/>
                                      </a:solidFill>
                                      <a:latin typeface="Cambria Math" panose="02040503050406030204" pitchFamily="18" charset="0"/>
                                      <a:cs typeface="Times New Roman" panose="02020603050405020304" pitchFamily="18" charset="0"/>
                                    </a:rPr>
                                    <m:t>𝟑</m:t>
                                  </m:r>
                                </m:e>
                              </m:mr>
                              <m:mr>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𝟑</m:t>
                                      </m:r>
                                    </m:e>
                                  </m:eqArr>
                                </m:e>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𝟎</m:t>
                                      </m:r>
                                    </m:e>
                                  </m:eqArr>
                                </m:e>
                              </m:mr>
                            </m:m>
                          </m:e>
                          <m:e/>
                        </m:eqArr>
                      </m:e>
                    </m:d>
                  </m:oMath>
                </a14:m>
                <a:r>
                  <a:rPr lang="en-IN" b="1" dirty="0">
                    <a:solidFill>
                      <a:srgbClr val="C00000"/>
                    </a:solidFill>
                    <a:latin typeface="Times New Roman" panose="02020603050405020304" pitchFamily="18" charset="0"/>
                    <a:cs typeface="Times New Roman" panose="02020603050405020304" pitchFamily="18" charset="0"/>
                  </a:rPr>
                  <a:t> </a:t>
                </a:r>
                <a:endParaRPr lang="en-IN" sz="28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6372216" y="3660825"/>
                <a:ext cx="3772764" cy="2220801"/>
              </a:xfrm>
              <a:prstGeom prst="rect">
                <a:avLst/>
              </a:prstGeom>
              <a:blipFill rotWithShape="0">
                <a:blip r:embed="rId6"/>
                <a:stretch>
                  <a:fillRect l="-1292" t="-1648" r="-4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775198" y="1243069"/>
                <a:ext cx="4210768" cy="1907573"/>
              </a:xfrm>
              <a:prstGeom prst="rect">
                <a:avLst/>
              </a:prstGeom>
            </p:spPr>
            <p:txBody>
              <a:bodyPr wrap="none">
                <a:spAutoFit/>
              </a:bodyPr>
              <a:lstStyle/>
              <a:p>
                <a:r>
                  <a:rPr lang="en-IN"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𝟐</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𝟒</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
                                  <m:r>
                                    <a:rPr lang="en-IN" b="1" i="1" dirty="0">
                                      <a:solidFill>
                                        <a:srgbClr val="002060"/>
                                      </a:solidFill>
                                      <a:latin typeface="Cambria Math" panose="02040503050406030204" pitchFamily="18" charset="0"/>
                                      <a:cs typeface="Times New Roman" panose="02020603050405020304" pitchFamily="18" charset="0"/>
                                    </a:rPr>
                                    <m:t>𝟓</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
                                  <m:r>
                                    <a:rPr lang="en-IN" b="1" i="1" dirty="0">
                                      <a:solidFill>
                                        <a:srgbClr val="002060"/>
                                      </a:solidFill>
                                      <a:latin typeface="Cambria Math" panose="02040503050406030204" pitchFamily="18" charset="0"/>
                                      <a:cs typeface="Times New Roman" panose="02020603050405020304" pitchFamily="18" charset="0"/>
                                    </a:rPr>
                                    <m:t>𝟎</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𝟑</m:t>
                                  </m:r>
                                </m:e>
                                <m:e/>
                                <m:e>
                                  <m:r>
                                    <a:rPr lang="en-IN" b="1" i="1" dirty="0">
                                      <a:solidFill>
                                        <a:srgbClr val="002060"/>
                                      </a:solidFill>
                                      <a:latin typeface="Cambria Math" panose="02040503050406030204" pitchFamily="18" charset="0"/>
                                      <a:cs typeface="Times New Roman" panose="02020603050405020304" pitchFamily="18" charset="0"/>
                                    </a:rPr>
                                    <m:t>𝟐</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
                                  <m:r>
                                    <a:rPr lang="en-IN" b="1" i="1" dirty="0">
                                      <a:solidFill>
                                        <a:srgbClr val="002060"/>
                                      </a:solidFill>
                                      <a:latin typeface="Cambria Math" panose="02040503050406030204" pitchFamily="18" charset="0"/>
                                      <a:cs typeface="Times New Roman" panose="02020603050405020304" pitchFamily="18" charset="0"/>
                                    </a:rPr>
                                    <m:t>𝟏</m:t>
                                  </m:r>
                                </m:e>
                              </m:eqArr>
                            </m:e>
                          </m:mr>
                        </m:m>
                      </m:e>
                    </m:d>
                  </m:oMath>
                </a14:m>
                <a:r>
                  <a:rPr lang="en-IN" b="1" dirty="0">
                    <a:solidFill>
                      <a:srgbClr val="002060"/>
                    </a:solidFill>
                    <a:latin typeface="Times New Roman" panose="02020603050405020304" pitchFamily="18" charset="0"/>
                    <a:cs typeface="Times New Roman" panose="02020603050405020304" pitchFamily="18" charset="0"/>
                  </a:rPr>
                  <a:t>    </a:t>
                </a:r>
                <a:r>
                  <a:rPr lang="en-IN" sz="2800" b="1"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r>
                                <m:rPr>
                                  <m:brk m:alnAt="7"/>
                                </m:rP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mr>
                          <m:mr>
                            <m:e/>
                            <m:e/>
                            <m:e/>
                            <m:e/>
                          </m:mr>
                          <m:mr>
                            <m:e>
                              <m:r>
                                <a:rPr lang="en-IN" b="1" i="1" dirty="0">
                                  <a:solidFill>
                                    <a:srgbClr val="002060"/>
                                  </a:solidFill>
                                  <a:latin typeface="Cambria Math" panose="02040503050406030204" pitchFamily="18" charset="0"/>
                                  <a:cs typeface="Times New Roman" panose="02020603050405020304" pitchFamily="18" charset="0"/>
                                </a:rPr>
                                <m:t>𝟐</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𝟒</m:t>
                              </m:r>
                            </m:e>
                          </m:mr>
                          <m:mr>
                            <m:e/>
                            <m:e/>
                            <m:e/>
                            <m:e/>
                          </m:mr>
                          <m:mr>
                            <m:e>
                              <m:r>
                                <a:rPr lang="en-IN" b="1" i="1" dirty="0">
                                  <a:solidFill>
                                    <a:srgbClr val="002060"/>
                                  </a:solidFill>
                                  <a:latin typeface="Cambria Math" panose="02040503050406030204" pitchFamily="18" charset="0"/>
                                  <a:cs typeface="Times New Roman" panose="02020603050405020304" pitchFamily="18" charset="0"/>
                                </a:rPr>
                                <m:t>𝟐</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𝟏</m:t>
                              </m:r>
                            </m:e>
                          </m:mr>
                          <m:mr>
                            <m:e/>
                            <m:e/>
                            <m:e/>
                            <m:e/>
                          </m:mr>
                          <m:mr>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𝟑</m:t>
                              </m:r>
                            </m:e>
                            <m:e>
                              <m:r>
                                <a:rPr lang="en-IN" b="1" i="1" dirty="0">
                                  <a:solidFill>
                                    <a:srgbClr val="002060"/>
                                  </a:solidFill>
                                  <a:latin typeface="Cambria Math" panose="02040503050406030204" pitchFamily="18" charset="0"/>
                                  <a:cs typeface="Times New Roman" panose="02020603050405020304" pitchFamily="18" charset="0"/>
                                </a:rPr>
                                <m:t>𝟓</m:t>
                              </m:r>
                            </m:e>
                            <m:e>
                              <m:r>
                                <a:rPr lang="en-IN" b="1" i="1" dirty="0">
                                  <a:solidFill>
                                    <a:srgbClr val="002060"/>
                                  </a:solidFill>
                                  <a:latin typeface="Cambria Math" panose="02040503050406030204" pitchFamily="18" charset="0"/>
                                  <a:cs typeface="Times New Roman" panose="02020603050405020304" pitchFamily="18" charset="0"/>
                                </a:rPr>
                                <m:t>𝟎</m:t>
                              </m:r>
                            </m:e>
                          </m:mr>
                        </m:m>
                      </m:e>
                    </m:d>
                  </m:oMath>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6775198" y="1243069"/>
                <a:ext cx="4210768" cy="1907573"/>
              </a:xfrm>
              <a:prstGeom prst="rect">
                <a:avLst/>
              </a:prstGeom>
              <a:blipFill rotWithShape="0">
                <a:blip r:embed="rId7"/>
                <a:stretch>
                  <a:fillRect l="-1158"/>
                </a:stretch>
              </a:blipFill>
            </p:spPr>
            <p:txBody>
              <a:bodyPr/>
              <a:lstStyle/>
              <a:p>
                <a:r>
                  <a:rPr lang="en-IN">
                    <a:noFill/>
                  </a:rPr>
                  <a:t> </a:t>
                </a:r>
              </a:p>
            </p:txBody>
          </p:sp>
        </mc:Fallback>
      </mc:AlternateContent>
      <p:sp>
        <p:nvSpPr>
          <p:cNvPr id="10" name="Date Placeholder 9"/>
          <p:cNvSpPr>
            <a:spLocks noGrp="1"/>
          </p:cNvSpPr>
          <p:nvPr>
            <p:ph type="dt" sz="half" idx="10"/>
          </p:nvPr>
        </p:nvSpPr>
        <p:spPr/>
        <p:txBody>
          <a:bodyPr/>
          <a:lstStyle/>
          <a:p>
            <a:fld id="{BA1E0B4B-D803-4647-A42E-7FC4C9C1735D}" type="datetime1">
              <a:rPr lang="en-IN" smtClean="0"/>
              <a:t>21-03-2026</a:t>
            </a:fld>
            <a:endParaRPr lang="en-IN"/>
          </a:p>
        </p:txBody>
      </p:sp>
    </p:spTree>
    <p:extLst>
      <p:ext uri="{BB962C8B-B14F-4D97-AF65-F5344CB8AC3E}">
        <p14:creationId xmlns:p14="http://schemas.microsoft.com/office/powerpoint/2010/main" val="173885376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20544" y="924127"/>
                <a:ext cx="11797552" cy="5816121"/>
              </a:xfrm>
            </p:spPr>
            <p:txBody>
              <a:bodyPr>
                <a:normAutofit fontScale="70000" lnSpcReduction="20000"/>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T= ( </a:t>
                </a:r>
                <a:r>
                  <a:rPr lang="en-IN" sz="2000" b="1" dirty="0">
                    <a:solidFill>
                      <a:srgbClr val="002060"/>
                    </a:solidFill>
                    <a:latin typeface="Times New Roman" panose="02020603050405020304" pitchFamily="18" charset="0"/>
                    <a:cs typeface="Times New Roman" panose="02020603050405020304" pitchFamily="18" charset="0"/>
                  </a:rPr>
                  <a:t>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𝟏</m:t>
                                      </m:r>
                                    </m:e>
                                    <m:e>
                                      <m:r>
                                        <a:rPr lang="en-IN" sz="2000" b="1" i="0" smtClean="0">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𝟒</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𝟏</m:t>
                                          </m:r>
                                        </m:e>
                                      </m:eqArr>
                                    </m:e>
                                  </m:mr>
                                </m:m>
                              </m:e>
                              <m:e/>
                            </m:eqArr>
                          </m:e>
                        </m:d>
                        <m:r>
                          <a:rPr lang="en-IN" sz="2000" b="1" i="1" smtClean="0">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m:rPr>
                                          <m:brk m:alnAt="7"/>
                                        </m:rPr>
                                        <a:rPr lang="en-IN" sz="2000" b="1" i="1" smtClean="0">
                                          <a:solidFill>
                                            <a:srgbClr val="002060"/>
                                          </a:solidFill>
                                          <a:latin typeface="Cambria Math" panose="02040503050406030204" pitchFamily="18" charset="0"/>
                                          <a:cs typeface="Times New Roman" panose="02020603050405020304" pitchFamily="18" charset="0"/>
                                        </a:rPr>
                                        <m:t>𝟐</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𝟎</m:t>
                                          </m:r>
                                        </m:e>
                                      </m:eqArr>
                                    </m:e>
                                  </m:mr>
                                </m:m>
                              </m:e>
                              <m:e/>
                            </m:eqArr>
                          </m:e>
                        </m:d>
                      </m:e>
                    </m:d>
                  </m:oMath>
                </a14:m>
                <a:r>
                  <a:rPr lang="en-IN" sz="2000" b="1" dirty="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𝟏</m:t>
                                      </m:r>
                                    </m:e>
                                    <m:e>
                                      <m:r>
                                        <a:rPr lang="en-IN" sz="2000" b="1" i="0"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smtClean="0">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𝟎</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 </m:t>
                        </m:r>
                      </m:e>
                    </m:d>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𝟑</m:t>
                                      </m:r>
                                    </m:e>
                                    <m:e>
                                      <m:r>
                                        <a:rPr lang="en-IN" sz="2000" b="1" i="0"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𝟏</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𝟎</m:t>
                                          </m:r>
                                        </m:e>
                                      </m:eqArr>
                                    </m:e>
                                  </m:mr>
                                </m:m>
                              </m:e>
                              <m:e/>
                            </m:eqArr>
                          </m:e>
                        </m:d>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cs typeface="Times New Roman" panose="02020603050405020304" pitchFamily="18" charset="0"/>
                  </a:rPr>
                  <a:t>LET </a:t>
                </a:r>
                <a:r>
                  <a:rPr lang="en-IN" sz="2000" b="1" dirty="0" smtClean="0">
                    <a:solidFill>
                      <a:srgbClr val="002060"/>
                    </a:solidFill>
                    <a:cs typeface="Times New Roman" panose="02020603050405020304" pitchFamily="18" charset="0"/>
                  </a:rPr>
                  <a:t>C = </a:t>
                </a:r>
                <a14:m>
                  <m:oMath xmlns:m="http://schemas.openxmlformats.org/officeDocument/2006/math">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𝟑</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𝟏</m:t>
                                      </m:r>
                                    </m:e>
                                  </m:eqArr>
                                </m:e>
                              </m:mr>
                            </m:m>
                          </m:e>
                          <m:e/>
                        </m:eqArr>
                      </m:e>
                    </m:d>
                    <m:r>
                      <a:rPr lang="en-IN" sz="2000" b="1" i="1">
                        <a:solidFill>
                          <a:srgbClr val="002060"/>
                        </a:solidFill>
                        <a:latin typeface="Cambria Math" panose="02040503050406030204" pitchFamily="18" charset="0"/>
                        <a:cs typeface="Times New Roman" panose="02020603050405020304" pitchFamily="18" charset="0"/>
                      </a:rPr>
                      <m:t>𝒂𝒏𝒅</m:t>
                    </m:r>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𝑫</m:t>
                    </m:r>
                    <m:r>
                      <a:rPr lang="en-IN" sz="2000" b="1" i="1">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𝟏</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𝟎</m:t>
                                      </m:r>
                                    </m:e>
                                  </m:eqArr>
                                </m:e>
                              </m:mr>
                            </m:m>
                          </m:e>
                          <m:e/>
                        </m:eqArr>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P </a:t>
                </a:r>
                <a:r>
                  <a:rPr lang="en-IN" sz="2000" b="1" dirty="0">
                    <a:solidFill>
                      <a:srgbClr val="002060"/>
                    </a:solidFill>
                    <a:latin typeface="Times New Roman" panose="02020603050405020304" pitchFamily="18" charset="0"/>
                    <a:cs typeface="Times New Roman" panose="02020603050405020304" pitchFamily="18" charset="0"/>
                  </a:rPr>
                  <a:t>=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+ 0</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4</a:t>
                </a:r>
                <a:r>
                  <a:rPr lang="en-IN" sz="2000" b="1" dirty="0" smtClean="0">
                    <a:solidFill>
                      <a:srgbClr val="002060"/>
                    </a:solidFill>
                    <a:latin typeface="Times New Roman" panose="02020603050405020304" pitchFamily="18" charset="0"/>
                    <a:cs typeface="Times New Roman" panose="02020603050405020304" pitchFamily="18" charset="0"/>
                  </a:rPr>
                  <a:t> ×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4</a:t>
                </a:r>
                <a:r>
                  <a:rPr lang="en-IN" sz="2000" b="1" dirty="0">
                    <a:solidFill>
                      <a:srgbClr val="002060"/>
                    </a:solidFill>
                    <a:latin typeface="Times New Roman" panose="02020603050405020304" pitchFamily="18" charset="0"/>
                    <a:cs typeface="Times New Roman" panose="02020603050405020304" pitchFamily="18" charset="0"/>
                  </a:rPr>
                  <a:t>	</a:t>
                </a:r>
              </a:p>
              <a:p>
                <a:pPr algn="just"/>
                <a:r>
                  <a:rPr lang="en-IN" sz="2000" b="1" dirty="0">
                    <a:solidFill>
                      <a:srgbClr val="002060"/>
                    </a:solidFill>
                    <a:latin typeface="Times New Roman" panose="02020603050405020304" pitchFamily="18" charset="0"/>
                    <a:cs typeface="Times New Roman" panose="02020603050405020304" pitchFamily="18" charset="0"/>
                  </a:rPr>
                  <a:t>Q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(5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1</a:t>
                </a:r>
                <a:r>
                  <a:rPr lang="en-IN" sz="2000" b="1" dirty="0" smtClean="0">
                    <a:solidFill>
                      <a:srgbClr val="002060"/>
                    </a:solidFill>
                    <a:latin typeface="Times New Roman" panose="02020603050405020304" pitchFamily="18" charset="0"/>
                    <a:cs typeface="Times New Roman" panose="02020603050405020304" pitchFamily="18" charset="0"/>
                  </a:rPr>
                  <a:t>= 6</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R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0</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a:t>
                </a:r>
                <a:r>
                  <a:rPr lang="en-IN" sz="2000" b="1" dirty="0">
                    <a:solidFill>
                      <a:srgbClr val="002060"/>
                    </a:solidFill>
                    <a:latin typeface="Times New Roman" panose="02020603050405020304" pitchFamily="18" charset="0"/>
                    <a:cs typeface="Times New Roman" panose="02020603050405020304" pitchFamily="18" charset="0"/>
                  </a:rPr>
                  <a:t> × 1</a:t>
                </a:r>
                <a:r>
                  <a:rPr lang="en-IN" sz="2000" b="1" dirty="0" smtClean="0">
                    <a:solidFill>
                      <a:srgbClr val="002060"/>
                    </a:solidFill>
                    <a:latin typeface="Times New Roman" panose="02020603050405020304" pitchFamily="18" charset="0"/>
                    <a:cs typeface="Times New Roman" panose="02020603050405020304" pitchFamily="18" charset="0"/>
                  </a:rPr>
                  <a:t>= 3</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S = (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(5- 1) =4</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T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3</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U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( 5</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+1) </a:t>
                </a:r>
                <a:r>
                  <a:rPr lang="en-IN" sz="2000" b="1" dirty="0">
                    <a:solidFill>
                      <a:srgbClr val="002060"/>
                    </a:solidFill>
                    <a:latin typeface="Times New Roman" panose="02020603050405020304" pitchFamily="18" charset="0"/>
                    <a:cs typeface="Times New Roman" panose="02020603050405020304" pitchFamily="18" charset="0"/>
                  </a:rPr>
                  <a:t>= 4</a:t>
                </a:r>
              </a:p>
              <a:p>
                <a:pPr algn="just"/>
                <a:r>
                  <a:rPr lang="en-IN" sz="2000" b="1" dirty="0">
                    <a:solidFill>
                      <a:srgbClr val="002060"/>
                    </a:solidFill>
                    <a:latin typeface="Times New Roman" panose="02020603050405020304" pitchFamily="18" charset="0"/>
                    <a:cs typeface="Times New Roman" panose="02020603050405020304" pitchFamily="18" charset="0"/>
                  </a:rPr>
                  <a:t>V = (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(5+ 0)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20544" y="924127"/>
                <a:ext cx="11797552" cy="5816121"/>
              </a:xfrm>
              <a:blipFill rotWithShape="0">
                <a:blip r:embed="rId3"/>
                <a:stretch>
                  <a:fillRect l="-155" t="-125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111</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6372216" y="3660825"/>
                <a:ext cx="3772764" cy="2220801"/>
              </a:xfrm>
              <a:prstGeom prst="rect">
                <a:avLst/>
              </a:prstGeom>
            </p:spPr>
            <p:txBody>
              <a:bodyPr wrap="none">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11</a:t>
                </a:r>
                <a:r>
                  <a:rPr lang="en-IN" b="1" dirty="0">
                    <a:solidFill>
                      <a:srgbClr val="002060"/>
                    </a:solidFill>
                    <a:latin typeface="Times New Roman" panose="02020603050405020304" pitchFamily="18" charset="0"/>
                    <a:cs typeface="Times New Roman" panose="02020603050405020304" pitchFamily="18" charset="0"/>
                  </a:rPr>
                  <a:t> = </a:t>
                </a:r>
                <a:r>
                  <a:rPr lang="en-IN" b="1" dirty="0" smtClean="0">
                    <a:solidFill>
                      <a:srgbClr val="002060"/>
                    </a:solidFill>
                    <a:latin typeface="Times New Roman" panose="02020603050405020304" pitchFamily="18" charset="0"/>
                    <a:cs typeface="Times New Roman" panose="02020603050405020304" pitchFamily="18" charset="0"/>
                  </a:rPr>
                  <a:t>P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S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V </a:t>
                </a:r>
                <a:r>
                  <a:rPr lang="en-IN" b="1" dirty="0">
                    <a:solidFill>
                      <a:srgbClr val="002060"/>
                    </a:solidFill>
                    <a:latin typeface="Times New Roman" panose="02020603050405020304" pitchFamily="18" charset="0"/>
                    <a:cs typeface="Times New Roman" panose="02020603050405020304" pitchFamily="18" charset="0"/>
                  </a:rPr>
                  <a:t>= 4</a:t>
                </a:r>
                <a:r>
                  <a:rPr lang="en-IN" b="1" dirty="0" smtClean="0">
                    <a:solidFill>
                      <a:srgbClr val="002060"/>
                    </a:solidFill>
                    <a:latin typeface="Times New Roman" panose="02020603050405020304" pitchFamily="18" charset="0"/>
                    <a:cs typeface="Times New Roman" panose="02020603050405020304" pitchFamily="18" charset="0"/>
                  </a:rPr>
                  <a:t> +4  </a:t>
                </a:r>
                <a:r>
                  <a:rPr lang="en-IN" b="1" dirty="0">
                    <a:solidFill>
                      <a:srgbClr val="002060"/>
                    </a:solidFill>
                    <a:latin typeface="Times New Roman" panose="02020603050405020304" pitchFamily="18" charset="0"/>
                    <a:cs typeface="Times New Roman" panose="02020603050405020304" pitchFamily="18" charset="0"/>
                  </a:rPr>
                  <a:t>– 0</a:t>
                </a:r>
                <a:r>
                  <a:rPr lang="en-IN" b="1" dirty="0" smtClean="0">
                    <a:solidFill>
                      <a:srgbClr val="002060"/>
                    </a:solidFill>
                    <a:latin typeface="Times New Roman" panose="02020603050405020304" pitchFamily="18" charset="0"/>
                    <a:cs typeface="Times New Roman" panose="02020603050405020304" pitchFamily="18" charset="0"/>
                  </a:rPr>
                  <a:t> +0 =8</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12</a:t>
                </a:r>
                <a:r>
                  <a:rPr lang="en-IN" b="1" dirty="0">
                    <a:solidFill>
                      <a:srgbClr val="002060"/>
                    </a:solidFill>
                    <a:latin typeface="Times New Roman" panose="02020603050405020304" pitchFamily="18" charset="0"/>
                    <a:cs typeface="Times New Roman" panose="02020603050405020304" pitchFamily="18" charset="0"/>
                  </a:rPr>
                  <a:t> = R + T = 3</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a:solidFill>
                      <a:srgbClr val="002060"/>
                    </a:solidFill>
                    <a:latin typeface="Times New Roman" panose="02020603050405020304" pitchFamily="18" charset="0"/>
                    <a:cs typeface="Times New Roman" panose="02020603050405020304" pitchFamily="18" charset="0"/>
                  </a:rPr>
                  <a:t>+ 0</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3</a:t>
                </a:r>
                <a:endParaRPr lang="en-IN" b="1" baseline="-25000"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21</a:t>
                </a:r>
                <a:r>
                  <a:rPr lang="en-IN" b="1" dirty="0">
                    <a:solidFill>
                      <a:srgbClr val="002060"/>
                    </a:solidFill>
                    <a:latin typeface="Times New Roman" panose="02020603050405020304" pitchFamily="18" charset="0"/>
                    <a:cs typeface="Times New Roman" panose="02020603050405020304" pitchFamily="18" charset="0"/>
                  </a:rPr>
                  <a:t> = </a:t>
                </a:r>
                <a:r>
                  <a:rPr lang="en-IN" b="1" dirty="0" smtClean="0">
                    <a:solidFill>
                      <a:srgbClr val="002060"/>
                    </a:solidFill>
                    <a:latin typeface="Times New Roman" panose="02020603050405020304" pitchFamily="18" charset="0"/>
                    <a:cs typeface="Times New Roman" panose="02020603050405020304" pitchFamily="18" charset="0"/>
                  </a:rPr>
                  <a:t>Q </a:t>
                </a:r>
                <a:r>
                  <a:rPr lang="en-IN" b="1" dirty="0">
                    <a:solidFill>
                      <a:srgbClr val="002060"/>
                    </a:solidFill>
                    <a:latin typeface="Times New Roman" panose="02020603050405020304" pitchFamily="18" charset="0"/>
                    <a:cs typeface="Times New Roman" panose="02020603050405020304" pitchFamily="18" charset="0"/>
                  </a:rPr>
                  <a:t>+ S = 6</a:t>
                </a:r>
                <a:r>
                  <a:rPr lang="en-IN" b="1" dirty="0" smtClean="0">
                    <a:solidFill>
                      <a:srgbClr val="002060"/>
                    </a:solidFill>
                    <a:latin typeface="Times New Roman" panose="02020603050405020304" pitchFamily="18" charset="0"/>
                    <a:cs typeface="Times New Roman" panose="02020603050405020304" pitchFamily="18" charset="0"/>
                  </a:rPr>
                  <a:t> +4= 10</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22</a:t>
                </a:r>
                <a:r>
                  <a:rPr lang="en-IN" b="1" dirty="0">
                    <a:solidFill>
                      <a:srgbClr val="002060"/>
                    </a:solidFill>
                    <a:latin typeface="Times New Roman" panose="02020603050405020304" pitchFamily="18" charset="0"/>
                    <a:cs typeface="Times New Roman" panose="02020603050405020304" pitchFamily="18" charset="0"/>
                  </a:rPr>
                  <a:t> = P + R – Q + U = 4</a:t>
                </a:r>
                <a:r>
                  <a:rPr lang="en-IN" b="1" dirty="0" smtClean="0">
                    <a:solidFill>
                      <a:srgbClr val="002060"/>
                    </a:solidFill>
                    <a:latin typeface="Times New Roman" panose="02020603050405020304" pitchFamily="18" charset="0"/>
                    <a:cs typeface="Times New Roman" panose="02020603050405020304" pitchFamily="18" charset="0"/>
                  </a:rPr>
                  <a:t> + 3-6 +4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5</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smtClean="0">
                    <a:solidFill>
                      <a:srgbClr val="C00000"/>
                    </a:solidFill>
                    <a:latin typeface="Times New Roman" panose="02020603050405020304" pitchFamily="18" charset="0"/>
                    <a:cs typeface="Times New Roman" panose="02020603050405020304" pitchFamily="18" charset="0"/>
                  </a:rPr>
                  <a:t>Resultant matrix is    T =  </a:t>
                </a:r>
                <a14:m>
                  <m:oMath xmlns:m="http://schemas.openxmlformats.org/officeDocument/2006/math">
                    <m:d>
                      <m:dPr>
                        <m:begChr m:val="["/>
                        <m:endChr m:val="]"/>
                        <m:ctrlPr>
                          <a:rPr lang="en-IN" b="1" i="1">
                            <a:solidFill>
                              <a:srgbClr val="C00000"/>
                            </a:solidFill>
                            <a:latin typeface="Cambria Math"/>
                            <a:cs typeface="Times New Roman" panose="02020603050405020304" pitchFamily="18" charset="0"/>
                          </a:rPr>
                        </m:ctrlPr>
                      </m:dPr>
                      <m:e>
                        <m:eqArr>
                          <m:eqArrPr>
                            <m:ctrlPr>
                              <a:rPr lang="en-IN" b="1" i="1">
                                <a:solidFill>
                                  <a:srgbClr val="C00000"/>
                                </a:solidFill>
                                <a:latin typeface="Cambria Math"/>
                                <a:cs typeface="Times New Roman" panose="02020603050405020304" pitchFamily="18" charset="0"/>
                              </a:rPr>
                            </m:ctrlPr>
                          </m:eqArrPr>
                          <m:e>
                            <m:m>
                              <m:mPr>
                                <m:mcs>
                                  <m:mc>
                                    <m:mcPr>
                                      <m:count m:val="2"/>
                                      <m:mcJc m:val="center"/>
                                    </m:mcPr>
                                  </m:mc>
                                </m:mcs>
                                <m:ctrlPr>
                                  <a:rPr lang="en-IN" b="1" i="1">
                                    <a:solidFill>
                                      <a:srgbClr val="C00000"/>
                                    </a:solidFill>
                                    <a:latin typeface="Cambria Math"/>
                                    <a:cs typeface="Times New Roman" panose="02020603050405020304" pitchFamily="18" charset="0"/>
                                  </a:rPr>
                                </m:ctrlPr>
                              </m:mPr>
                              <m:mr>
                                <m:e>
                                  <m:r>
                                    <a:rPr lang="en-IN" b="1" i="1" smtClean="0">
                                      <a:solidFill>
                                        <a:srgbClr val="C00000"/>
                                      </a:solidFill>
                                      <a:latin typeface="Cambria Math" panose="02040503050406030204" pitchFamily="18" charset="0"/>
                                      <a:cs typeface="Times New Roman" panose="02020603050405020304" pitchFamily="18" charset="0"/>
                                    </a:rPr>
                                    <m:t>𝟖</m:t>
                                  </m:r>
                                </m:e>
                                <m:e>
                                  <m:r>
                                    <a:rPr lang="en-IN" b="1" i="1" smtClean="0">
                                      <a:solidFill>
                                        <a:srgbClr val="C00000"/>
                                      </a:solidFill>
                                      <a:latin typeface="Cambria Math" panose="02040503050406030204" pitchFamily="18" charset="0"/>
                                      <a:cs typeface="Times New Roman" panose="02020603050405020304" pitchFamily="18" charset="0"/>
                                    </a:rPr>
                                    <m:t>𝟑</m:t>
                                  </m:r>
                                </m:e>
                              </m:mr>
                              <m:mr>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𝟏𝟎</m:t>
                                      </m:r>
                                    </m:e>
                                  </m:eqArr>
                                </m:e>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𝟓</m:t>
                                      </m:r>
                                    </m:e>
                                  </m:eqArr>
                                </m:e>
                              </m:mr>
                            </m:m>
                          </m:e>
                          <m:e/>
                        </m:eqArr>
                      </m:e>
                    </m:d>
                  </m:oMath>
                </a14:m>
                <a:r>
                  <a:rPr lang="en-IN" b="1" dirty="0">
                    <a:solidFill>
                      <a:srgbClr val="C00000"/>
                    </a:solidFill>
                    <a:latin typeface="Times New Roman" panose="02020603050405020304" pitchFamily="18" charset="0"/>
                    <a:cs typeface="Times New Roman" panose="02020603050405020304" pitchFamily="18" charset="0"/>
                  </a:rPr>
                  <a:t> </a:t>
                </a:r>
                <a:endParaRPr lang="en-IN" sz="28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6372216" y="3660825"/>
                <a:ext cx="3772764" cy="2220801"/>
              </a:xfrm>
              <a:prstGeom prst="rect">
                <a:avLst/>
              </a:prstGeom>
              <a:blipFill rotWithShape="0">
                <a:blip r:embed="rId6"/>
                <a:stretch>
                  <a:fillRect l="-1292" t="-164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775198" y="1243069"/>
                <a:ext cx="4210768" cy="1907573"/>
              </a:xfrm>
              <a:prstGeom prst="rect">
                <a:avLst/>
              </a:prstGeom>
            </p:spPr>
            <p:txBody>
              <a:bodyPr wrap="none">
                <a:spAutoFit/>
              </a:bodyPr>
              <a:lstStyle/>
              <a:p>
                <a:r>
                  <a:rPr lang="en-IN"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𝟐</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𝟒</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
                                  <m:r>
                                    <a:rPr lang="en-IN" b="1" i="1" dirty="0">
                                      <a:solidFill>
                                        <a:srgbClr val="002060"/>
                                      </a:solidFill>
                                      <a:latin typeface="Cambria Math" panose="02040503050406030204" pitchFamily="18" charset="0"/>
                                      <a:cs typeface="Times New Roman" panose="02020603050405020304" pitchFamily="18" charset="0"/>
                                    </a:rPr>
                                    <m:t>𝟓</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
                                  <m:r>
                                    <a:rPr lang="en-IN" b="1" i="1" dirty="0">
                                      <a:solidFill>
                                        <a:srgbClr val="002060"/>
                                      </a:solidFill>
                                      <a:latin typeface="Cambria Math" panose="02040503050406030204" pitchFamily="18" charset="0"/>
                                      <a:cs typeface="Times New Roman" panose="02020603050405020304" pitchFamily="18" charset="0"/>
                                    </a:rPr>
                                    <m:t>𝟎</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𝟑</m:t>
                                  </m:r>
                                </m:e>
                                <m:e/>
                                <m:e>
                                  <m:r>
                                    <a:rPr lang="en-IN" b="1" i="1" dirty="0">
                                      <a:solidFill>
                                        <a:srgbClr val="002060"/>
                                      </a:solidFill>
                                      <a:latin typeface="Cambria Math" panose="02040503050406030204" pitchFamily="18" charset="0"/>
                                      <a:cs typeface="Times New Roman" panose="02020603050405020304" pitchFamily="18" charset="0"/>
                                    </a:rPr>
                                    <m:t>𝟐</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
                                  <m:r>
                                    <a:rPr lang="en-IN" b="1" i="1" dirty="0">
                                      <a:solidFill>
                                        <a:srgbClr val="002060"/>
                                      </a:solidFill>
                                      <a:latin typeface="Cambria Math" panose="02040503050406030204" pitchFamily="18" charset="0"/>
                                      <a:cs typeface="Times New Roman" panose="02020603050405020304" pitchFamily="18" charset="0"/>
                                    </a:rPr>
                                    <m:t>𝟏</m:t>
                                  </m:r>
                                </m:e>
                              </m:eqArr>
                            </m:e>
                          </m:mr>
                        </m:m>
                      </m:e>
                    </m:d>
                  </m:oMath>
                </a14:m>
                <a:r>
                  <a:rPr lang="en-IN" b="1" dirty="0">
                    <a:solidFill>
                      <a:srgbClr val="002060"/>
                    </a:solidFill>
                    <a:latin typeface="Times New Roman" panose="02020603050405020304" pitchFamily="18" charset="0"/>
                    <a:cs typeface="Times New Roman" panose="02020603050405020304" pitchFamily="18" charset="0"/>
                  </a:rPr>
                  <a:t>    </a:t>
                </a:r>
                <a:r>
                  <a:rPr lang="en-IN" sz="2800" b="1"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r>
                                <m:rPr>
                                  <m:brk m:alnAt="7"/>
                                </m:rP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mr>
                          <m:mr>
                            <m:e/>
                            <m:e/>
                            <m:e/>
                            <m:e/>
                          </m:mr>
                          <m:mr>
                            <m:e>
                              <m:r>
                                <a:rPr lang="en-IN" b="1" i="1" dirty="0">
                                  <a:solidFill>
                                    <a:srgbClr val="002060"/>
                                  </a:solidFill>
                                  <a:latin typeface="Cambria Math" panose="02040503050406030204" pitchFamily="18" charset="0"/>
                                  <a:cs typeface="Times New Roman" panose="02020603050405020304" pitchFamily="18" charset="0"/>
                                </a:rPr>
                                <m:t>𝟐</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𝟒</m:t>
                              </m:r>
                            </m:e>
                          </m:mr>
                          <m:mr>
                            <m:e/>
                            <m:e/>
                            <m:e/>
                            <m:e/>
                          </m:mr>
                          <m:mr>
                            <m:e>
                              <m:r>
                                <a:rPr lang="en-IN" b="1" i="1" dirty="0">
                                  <a:solidFill>
                                    <a:srgbClr val="002060"/>
                                  </a:solidFill>
                                  <a:latin typeface="Cambria Math" panose="02040503050406030204" pitchFamily="18" charset="0"/>
                                  <a:cs typeface="Times New Roman" panose="02020603050405020304" pitchFamily="18" charset="0"/>
                                </a:rPr>
                                <m:t>𝟐</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𝟏</m:t>
                              </m:r>
                            </m:e>
                          </m:mr>
                          <m:mr>
                            <m:e/>
                            <m:e/>
                            <m:e/>
                            <m:e/>
                          </m:mr>
                          <m:mr>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𝟑</m:t>
                              </m:r>
                            </m:e>
                            <m:e>
                              <m:r>
                                <a:rPr lang="en-IN" b="1" i="1" dirty="0">
                                  <a:solidFill>
                                    <a:srgbClr val="002060"/>
                                  </a:solidFill>
                                  <a:latin typeface="Cambria Math" panose="02040503050406030204" pitchFamily="18" charset="0"/>
                                  <a:cs typeface="Times New Roman" panose="02020603050405020304" pitchFamily="18" charset="0"/>
                                </a:rPr>
                                <m:t>𝟓</m:t>
                              </m:r>
                            </m:e>
                            <m:e>
                              <m:r>
                                <a:rPr lang="en-IN" b="1" i="1" dirty="0">
                                  <a:solidFill>
                                    <a:srgbClr val="002060"/>
                                  </a:solidFill>
                                  <a:latin typeface="Cambria Math" panose="02040503050406030204" pitchFamily="18" charset="0"/>
                                  <a:cs typeface="Times New Roman" panose="02020603050405020304" pitchFamily="18" charset="0"/>
                                </a:rPr>
                                <m:t>𝟎</m:t>
                              </m:r>
                            </m:e>
                          </m:mr>
                        </m:m>
                      </m:e>
                    </m:d>
                  </m:oMath>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6775198" y="1243069"/>
                <a:ext cx="4210768" cy="1907573"/>
              </a:xfrm>
              <a:prstGeom prst="rect">
                <a:avLst/>
              </a:prstGeom>
              <a:blipFill rotWithShape="0">
                <a:blip r:embed="rId7"/>
                <a:stretch>
                  <a:fillRect l="-1158"/>
                </a:stretch>
              </a:blipFill>
            </p:spPr>
            <p:txBody>
              <a:bodyPr/>
              <a:lstStyle/>
              <a:p>
                <a:r>
                  <a:rPr lang="en-IN">
                    <a:noFill/>
                  </a:rPr>
                  <a:t> </a:t>
                </a:r>
              </a:p>
            </p:txBody>
          </p:sp>
        </mc:Fallback>
      </mc:AlternateContent>
      <p:sp>
        <p:nvSpPr>
          <p:cNvPr id="10" name="Date Placeholder 9"/>
          <p:cNvSpPr>
            <a:spLocks noGrp="1"/>
          </p:cNvSpPr>
          <p:nvPr>
            <p:ph type="dt" sz="half" idx="10"/>
          </p:nvPr>
        </p:nvSpPr>
        <p:spPr/>
        <p:txBody>
          <a:bodyPr/>
          <a:lstStyle/>
          <a:p>
            <a:fld id="{05B798A8-3128-4B11-8F07-04108941A98C}" type="datetime1">
              <a:rPr lang="en-IN" smtClean="0"/>
              <a:t>21-03-2026</a:t>
            </a:fld>
            <a:endParaRPr lang="en-IN"/>
          </a:p>
        </p:txBody>
      </p:sp>
    </p:spTree>
    <p:extLst>
      <p:ext uri="{BB962C8B-B14F-4D97-AF65-F5344CB8AC3E}">
        <p14:creationId xmlns:p14="http://schemas.microsoft.com/office/powerpoint/2010/main" val="174255789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20544" y="924127"/>
                <a:ext cx="11797552" cy="5816121"/>
              </a:xfrm>
            </p:spPr>
            <p:txBody>
              <a:bodyPr>
                <a:normAutofit fontScale="70000" lnSpcReduction="20000"/>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U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𝟎</m:t>
                                      </m:r>
                                    </m:e>
                                    <m:e>
                                      <m:r>
                                        <a:rPr lang="en-IN" sz="2000" b="1" i="0"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𝟎</m:t>
                                          </m:r>
                                        </m:e>
                                      </m:eqArr>
                                    </m:e>
                                  </m:mr>
                                </m:m>
                              </m:e>
                              <m:e/>
                            </m:eqArr>
                          </m:e>
                        </m:d>
                        <m:r>
                          <a:rPr lang="en-IN" sz="2000" b="1" i="1" smtClean="0">
                            <a:solidFill>
                              <a:srgbClr val="002060"/>
                            </a:solidFill>
                            <a:latin typeface="Cambria Math" panose="02040503050406030204" pitchFamily="18" charset="0"/>
                            <a:cs typeface="Times New Roman" panose="02020603050405020304" pitchFamily="18" charset="0"/>
                          </a:rPr>
                          <m:t>− </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1" smtClean="0">
                                          <a:solidFill>
                                            <a:srgbClr val="002060"/>
                                          </a:solidFill>
                                          <a:latin typeface="Cambria Math" panose="02040503050406030204" pitchFamily="18" charset="0"/>
                                          <a:cs typeface="Times New Roman" panose="02020603050405020304" pitchFamily="18" charset="0"/>
                                        </a:rPr>
                                        <m:t>𝟏</m:t>
                                      </m:r>
                                    </m:e>
                                    <m:e>
                                      <m:r>
                                        <a:rPr lang="en-IN" sz="2000" b="1" i="0" smtClean="0">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𝟒</m:t>
                                          </m:r>
                                        </m:e>
                                      </m:eqArr>
                                    </m:e>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𝟏</m:t>
                                          </m:r>
                                        </m:e>
                                      </m:eqArr>
                                    </m:e>
                                  </m:mr>
                                </m:m>
                              </m:e>
                              <m:e/>
                            </m:eqArr>
                          </m:e>
                        </m:d>
                      </m:e>
                    </m:d>
                  </m:oMath>
                </a14:m>
                <a:r>
                  <a:rPr lang="en-IN" sz="2000" b="1" dirty="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𝟎</m:t>
                                      </m:r>
                                    </m:e>
                                    <m:e>
                                      <m:r>
                                        <a:rPr lang="en-IN" sz="2000" b="1" i="0"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smtClean="0">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i="0" smtClean="0">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𝟎</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𝟎</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𝟒</m:t>
                                          </m:r>
                                        </m:e>
                                      </m:eqArr>
                                    </m:e>
                                  </m:mr>
                                </m:m>
                              </m:e>
                              <m:e/>
                            </m:eqArr>
                          </m:e>
                        </m:d>
                      </m:e>
                    </m:d>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
                                      <m:r>
                                        <a:rPr lang="en-IN" sz="2000" b="1" i="1"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smtClean="0">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𝟎</m:t>
                                      </m:r>
                                    </m:e>
                                    <m:e>
                                      <m:r>
                                        <a:rPr lang="en-IN" sz="2000" b="1" i="0" smtClean="0">
                                          <a:solidFill>
                                            <a:srgbClr val="002060"/>
                                          </a:solidFill>
                                          <a:latin typeface="Cambria Math" panose="02040503050406030204" pitchFamily="18" charset="0"/>
                                          <a:cs typeface="Times New Roman" panose="02020603050405020304" pitchFamily="18" charset="0"/>
                                        </a:rPr>
                                        <m:t>𝟐</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𝟓</m:t>
                                          </m:r>
                                        </m:e>
                                      </m:eqArr>
                                    </m:e>
                                  </m:mr>
                                </m:m>
                              </m:e>
                              <m:e/>
                            </m:eqArr>
                          </m:e>
                        </m:d>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cs typeface="Times New Roman" panose="02020603050405020304" pitchFamily="18" charset="0"/>
                  </a:rPr>
                  <a:t>LET </a:t>
                </a:r>
                <a:r>
                  <a:rPr lang="en-IN" sz="2000" b="1" dirty="0" smtClean="0">
                    <a:solidFill>
                      <a:srgbClr val="002060"/>
                    </a:solidFill>
                    <a:cs typeface="Times New Roman" panose="02020603050405020304" pitchFamily="18" charset="0"/>
                  </a:rPr>
                  <a:t>C =  </a:t>
                </a:r>
                <a14:m>
                  <m:oMath xmlns:m="http://schemas.openxmlformats.org/officeDocument/2006/math">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e>
                                <m:e>
                                  <m:r>
                                    <a:rPr lang="en-IN" sz="2000" b="1" i="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e>
                                  </m:eqArr>
                                </m:e>
                              </m:mr>
                            </m:m>
                          </m:e>
                          <m:e/>
                        </m:eqArr>
                      </m:e>
                    </m:d>
                    <m:r>
                      <a:rPr lang="en-IN" sz="2000" b="1" i="1">
                        <a:solidFill>
                          <a:srgbClr val="002060"/>
                        </a:solidFill>
                        <a:latin typeface="Cambria Math" panose="02040503050406030204" pitchFamily="18" charset="0"/>
                        <a:cs typeface="Times New Roman" panose="02020603050405020304" pitchFamily="18" charset="0"/>
                      </a:rPr>
                      <m:t>𝒂𝒏𝒅</m:t>
                    </m:r>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𝑫</m:t>
                    </m:r>
                    <m:r>
                      <a:rPr lang="en-IN" sz="2000" b="1" i="1" smtClean="0">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𝟎</m:t>
                                  </m:r>
                                </m:e>
                                <m:e>
                                  <m:r>
                                    <a:rPr lang="en-IN" sz="2000" b="1">
                                      <a:solidFill>
                                        <a:srgbClr val="002060"/>
                                      </a:solidFill>
                                      <a:latin typeface="Cambria Math" panose="02040503050406030204" pitchFamily="18" charset="0"/>
                                      <a:cs typeface="Times New Roman" panose="02020603050405020304" pitchFamily="18" charset="0"/>
                                    </a:rPr>
                                    <m:t>𝟐</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𝟓</m:t>
                                      </m:r>
                                    </m:e>
                                  </m:eqArr>
                                </m:e>
                              </m:mr>
                            </m:m>
                          </m:e>
                          <m:e/>
                        </m:eqArr>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P </a:t>
                </a:r>
                <a:r>
                  <a:rPr lang="en-IN" sz="2000" b="1" dirty="0">
                    <a:solidFill>
                      <a:srgbClr val="002060"/>
                    </a:solidFill>
                    <a:latin typeface="Times New Roman" panose="02020603050405020304" pitchFamily="18" charset="0"/>
                    <a:cs typeface="Times New Roman" panose="02020603050405020304" pitchFamily="18" charset="0"/>
                  </a:rPr>
                  <a:t>=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 + 5)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 5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-10</a:t>
                </a:r>
                <a:r>
                  <a:rPr lang="en-IN" sz="2000" b="1" dirty="0">
                    <a:solidFill>
                      <a:srgbClr val="002060"/>
                    </a:solidFill>
                    <a:latin typeface="Times New Roman" panose="02020603050405020304" pitchFamily="18" charset="0"/>
                    <a:cs typeface="Times New Roman" panose="02020603050405020304" pitchFamily="18" charset="0"/>
                  </a:rPr>
                  <a:t>	</a:t>
                </a:r>
              </a:p>
              <a:p>
                <a:pPr algn="just"/>
                <a:r>
                  <a:rPr lang="en-IN" sz="2000" b="1" dirty="0">
                    <a:solidFill>
                      <a:srgbClr val="002060"/>
                    </a:solidFill>
                    <a:latin typeface="Times New Roman" panose="02020603050405020304" pitchFamily="18" charset="0"/>
                    <a:cs typeface="Times New Roman" panose="02020603050405020304" pitchFamily="18" charset="0"/>
                  </a:rPr>
                  <a:t>Q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 0</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R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5)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 3</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S = (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(2- 0) =-2</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T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(5)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U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( 1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(0 +2) </a:t>
                </a:r>
                <a:r>
                  <a:rPr lang="en-IN" sz="2000" b="1" dirty="0">
                    <a:solidFill>
                      <a:srgbClr val="002060"/>
                    </a:solidFill>
                    <a:latin typeface="Times New Roman" panose="02020603050405020304" pitchFamily="18" charset="0"/>
                    <a:cs typeface="Times New Roman" panose="02020603050405020304" pitchFamily="18" charset="0"/>
                  </a:rPr>
                  <a:t>= 4</a:t>
                </a:r>
              </a:p>
              <a:p>
                <a:pPr algn="just"/>
                <a:r>
                  <a:rPr lang="en-IN" sz="2000" b="1" dirty="0">
                    <a:solidFill>
                      <a:srgbClr val="002060"/>
                    </a:solidFill>
                    <a:latin typeface="Times New Roman" panose="02020603050405020304" pitchFamily="18" charset="0"/>
                    <a:cs typeface="Times New Roman" panose="02020603050405020304" pitchFamily="18" charset="0"/>
                  </a:rPr>
                  <a:t>V = (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5</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14</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20544" y="924127"/>
                <a:ext cx="11797552" cy="5816121"/>
              </a:xfrm>
              <a:blipFill rotWithShape="0">
                <a:blip r:embed="rId3"/>
                <a:stretch>
                  <a:fillRect l="-155" t="-125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112</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6199894" y="3660825"/>
                <a:ext cx="4117409" cy="2220801"/>
              </a:xfrm>
              <a:prstGeom prst="rect">
                <a:avLst/>
              </a:prstGeom>
            </p:spPr>
            <p:txBody>
              <a:bodyPr wrap="none">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11</a:t>
                </a:r>
                <a:r>
                  <a:rPr lang="en-IN" b="1" dirty="0">
                    <a:solidFill>
                      <a:srgbClr val="002060"/>
                    </a:solidFill>
                    <a:latin typeface="Times New Roman" panose="02020603050405020304" pitchFamily="18" charset="0"/>
                    <a:cs typeface="Times New Roman" panose="02020603050405020304" pitchFamily="18" charset="0"/>
                  </a:rPr>
                  <a:t> = </a:t>
                </a:r>
                <a:r>
                  <a:rPr lang="en-IN" b="1" dirty="0" smtClean="0">
                    <a:solidFill>
                      <a:srgbClr val="002060"/>
                    </a:solidFill>
                    <a:latin typeface="Times New Roman" panose="02020603050405020304" pitchFamily="18" charset="0"/>
                    <a:cs typeface="Times New Roman" panose="02020603050405020304" pitchFamily="18" charset="0"/>
                  </a:rPr>
                  <a:t>P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S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V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-10 -2  +0+14  =2</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12</a:t>
                </a:r>
                <a:r>
                  <a:rPr lang="en-IN" b="1" dirty="0">
                    <a:solidFill>
                      <a:srgbClr val="002060"/>
                    </a:solidFill>
                    <a:latin typeface="Times New Roman" panose="02020603050405020304" pitchFamily="18" charset="0"/>
                    <a:cs typeface="Times New Roman" panose="02020603050405020304" pitchFamily="18" charset="0"/>
                  </a:rPr>
                  <a:t> = R + T = 3</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a:solidFill>
                      <a:srgbClr val="002060"/>
                    </a:solidFill>
                    <a:latin typeface="Times New Roman" panose="02020603050405020304" pitchFamily="18" charset="0"/>
                    <a:cs typeface="Times New Roman" panose="02020603050405020304" pitchFamily="18" charset="0"/>
                  </a:rPr>
                  <a:t>+ 0</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3</a:t>
                </a:r>
                <a:endParaRPr lang="en-IN" b="1" baseline="-25000"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21</a:t>
                </a:r>
                <a:r>
                  <a:rPr lang="en-IN" b="1" dirty="0">
                    <a:solidFill>
                      <a:srgbClr val="002060"/>
                    </a:solidFill>
                    <a:latin typeface="Times New Roman" panose="02020603050405020304" pitchFamily="18" charset="0"/>
                    <a:cs typeface="Times New Roman" panose="02020603050405020304" pitchFamily="18" charset="0"/>
                  </a:rPr>
                  <a:t> = </a:t>
                </a:r>
                <a:r>
                  <a:rPr lang="en-IN" b="1" dirty="0" smtClean="0">
                    <a:solidFill>
                      <a:srgbClr val="002060"/>
                    </a:solidFill>
                    <a:latin typeface="Times New Roman" panose="02020603050405020304" pitchFamily="18" charset="0"/>
                    <a:cs typeface="Times New Roman" panose="02020603050405020304" pitchFamily="18" charset="0"/>
                  </a:rPr>
                  <a:t>Q </a:t>
                </a:r>
                <a:r>
                  <a:rPr lang="en-IN" b="1" dirty="0">
                    <a:solidFill>
                      <a:srgbClr val="002060"/>
                    </a:solidFill>
                    <a:latin typeface="Times New Roman" panose="02020603050405020304" pitchFamily="18" charset="0"/>
                    <a:cs typeface="Times New Roman" panose="02020603050405020304" pitchFamily="18" charset="0"/>
                  </a:rPr>
                  <a:t>+ S = </a:t>
                </a:r>
                <a:r>
                  <a:rPr lang="en-IN" b="1" dirty="0" smtClean="0">
                    <a:solidFill>
                      <a:srgbClr val="002060"/>
                    </a:solidFill>
                    <a:latin typeface="Times New Roman" panose="02020603050405020304" pitchFamily="18" charset="0"/>
                    <a:cs typeface="Times New Roman" panose="02020603050405020304" pitchFamily="18" charset="0"/>
                  </a:rPr>
                  <a:t>0 -2= -2</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22</a:t>
                </a:r>
                <a:r>
                  <a:rPr lang="en-IN" b="1" dirty="0">
                    <a:solidFill>
                      <a:srgbClr val="002060"/>
                    </a:solidFill>
                    <a:latin typeface="Times New Roman" panose="02020603050405020304" pitchFamily="18" charset="0"/>
                    <a:cs typeface="Times New Roman" panose="02020603050405020304" pitchFamily="18" charset="0"/>
                  </a:rPr>
                  <a:t> = P + R – Q + U = </a:t>
                </a:r>
                <a:r>
                  <a:rPr lang="en-IN" b="1" dirty="0" smtClean="0">
                    <a:solidFill>
                      <a:srgbClr val="002060"/>
                    </a:solidFill>
                    <a:latin typeface="Times New Roman" panose="02020603050405020304" pitchFamily="18" charset="0"/>
                    <a:cs typeface="Times New Roman" panose="02020603050405020304" pitchFamily="18" charset="0"/>
                  </a:rPr>
                  <a:t>-10 + 3-0 +4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-3</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smtClean="0">
                    <a:solidFill>
                      <a:srgbClr val="C00000"/>
                    </a:solidFill>
                    <a:latin typeface="Times New Roman" panose="02020603050405020304" pitchFamily="18" charset="0"/>
                    <a:cs typeface="Times New Roman" panose="02020603050405020304" pitchFamily="18" charset="0"/>
                  </a:rPr>
                  <a:t>Resultant matrix is    </a:t>
                </a:r>
                <a:r>
                  <a:rPr lang="en-IN" b="1" dirty="0">
                    <a:solidFill>
                      <a:srgbClr val="C00000"/>
                    </a:solidFill>
                    <a:latin typeface="Times New Roman" panose="02020603050405020304" pitchFamily="18" charset="0"/>
                    <a:cs typeface="Times New Roman" panose="02020603050405020304" pitchFamily="18" charset="0"/>
                  </a:rPr>
                  <a:t>U</a:t>
                </a:r>
                <a:r>
                  <a:rPr lang="en-IN" b="1" dirty="0" smtClean="0">
                    <a:solidFill>
                      <a:srgbClr val="C0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IN" b="1" i="1">
                            <a:solidFill>
                              <a:srgbClr val="C00000"/>
                            </a:solidFill>
                            <a:latin typeface="Cambria Math"/>
                            <a:cs typeface="Times New Roman" panose="02020603050405020304" pitchFamily="18" charset="0"/>
                          </a:rPr>
                        </m:ctrlPr>
                      </m:dPr>
                      <m:e>
                        <m:eqArr>
                          <m:eqArrPr>
                            <m:ctrlPr>
                              <a:rPr lang="en-IN" b="1" i="1">
                                <a:solidFill>
                                  <a:srgbClr val="C00000"/>
                                </a:solidFill>
                                <a:latin typeface="Cambria Math"/>
                                <a:cs typeface="Times New Roman" panose="02020603050405020304" pitchFamily="18" charset="0"/>
                              </a:rPr>
                            </m:ctrlPr>
                          </m:eqArrPr>
                          <m:e>
                            <m:m>
                              <m:mPr>
                                <m:mcs>
                                  <m:mc>
                                    <m:mcPr>
                                      <m:count m:val="2"/>
                                      <m:mcJc m:val="center"/>
                                    </m:mcPr>
                                  </m:mc>
                                </m:mcs>
                                <m:ctrlPr>
                                  <a:rPr lang="en-IN" b="1" i="1">
                                    <a:solidFill>
                                      <a:srgbClr val="C00000"/>
                                    </a:solidFill>
                                    <a:latin typeface="Cambria Math"/>
                                    <a:cs typeface="Times New Roman" panose="02020603050405020304" pitchFamily="18" charset="0"/>
                                  </a:rPr>
                                </m:ctrlPr>
                              </m:mPr>
                              <m:mr>
                                <m:e>
                                  <m:r>
                                    <a:rPr lang="en-IN" b="1" i="1" smtClean="0">
                                      <a:solidFill>
                                        <a:srgbClr val="C00000"/>
                                      </a:solidFill>
                                      <a:latin typeface="Cambria Math" panose="02040503050406030204" pitchFamily="18" charset="0"/>
                                      <a:cs typeface="Times New Roman" panose="02020603050405020304" pitchFamily="18" charset="0"/>
                                    </a:rPr>
                                    <m:t>𝟐</m:t>
                                  </m:r>
                                </m:e>
                                <m:e>
                                  <m:r>
                                    <a:rPr lang="en-IN" b="1" i="1" smtClean="0">
                                      <a:solidFill>
                                        <a:srgbClr val="C00000"/>
                                      </a:solidFill>
                                      <a:latin typeface="Cambria Math" panose="02040503050406030204" pitchFamily="18" charset="0"/>
                                      <a:cs typeface="Times New Roman" panose="02020603050405020304" pitchFamily="18" charset="0"/>
                                    </a:rPr>
                                    <m:t>𝟑</m:t>
                                  </m:r>
                                </m:e>
                              </m:mr>
                              <m:mr>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m:t>
                                      </m:r>
                                      <m:r>
                                        <a:rPr lang="en-IN" b="1" i="1" smtClean="0">
                                          <a:solidFill>
                                            <a:srgbClr val="C00000"/>
                                          </a:solidFill>
                                          <a:latin typeface="Cambria Math" panose="02040503050406030204" pitchFamily="18" charset="0"/>
                                          <a:cs typeface="Times New Roman" panose="02020603050405020304" pitchFamily="18" charset="0"/>
                                        </a:rPr>
                                        <m:t>𝟐</m:t>
                                      </m:r>
                                    </m:e>
                                  </m:eqArr>
                                </m:e>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m:t>
                                      </m:r>
                                      <m:r>
                                        <a:rPr lang="en-IN" b="1" i="1" smtClean="0">
                                          <a:solidFill>
                                            <a:srgbClr val="C00000"/>
                                          </a:solidFill>
                                          <a:latin typeface="Cambria Math" panose="02040503050406030204" pitchFamily="18" charset="0"/>
                                          <a:cs typeface="Times New Roman" panose="02020603050405020304" pitchFamily="18" charset="0"/>
                                        </a:rPr>
                                        <m:t>𝟑</m:t>
                                      </m:r>
                                    </m:e>
                                  </m:eqArr>
                                </m:e>
                              </m:mr>
                            </m:m>
                          </m:e>
                          <m:e/>
                        </m:eqArr>
                      </m:e>
                    </m:d>
                  </m:oMath>
                </a14:m>
                <a:r>
                  <a:rPr lang="en-IN" b="1" dirty="0">
                    <a:solidFill>
                      <a:srgbClr val="C00000"/>
                    </a:solidFill>
                    <a:latin typeface="Times New Roman" panose="02020603050405020304" pitchFamily="18" charset="0"/>
                    <a:cs typeface="Times New Roman" panose="02020603050405020304" pitchFamily="18" charset="0"/>
                  </a:rPr>
                  <a:t> </a:t>
                </a:r>
                <a:endParaRPr lang="en-IN" sz="28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6199894" y="3660825"/>
                <a:ext cx="4117409" cy="2220801"/>
              </a:xfrm>
              <a:prstGeom prst="rect">
                <a:avLst/>
              </a:prstGeom>
              <a:blipFill rotWithShape="0">
                <a:blip r:embed="rId6"/>
                <a:stretch>
                  <a:fillRect l="-1185" t="-164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775198" y="1243069"/>
                <a:ext cx="4210768" cy="1907573"/>
              </a:xfrm>
              <a:prstGeom prst="rect">
                <a:avLst/>
              </a:prstGeom>
            </p:spPr>
            <p:txBody>
              <a:bodyPr wrap="none">
                <a:spAutoFit/>
              </a:bodyPr>
              <a:lstStyle/>
              <a:p>
                <a:r>
                  <a:rPr lang="en-IN"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𝟐</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𝟒</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
                                  <m:r>
                                    <a:rPr lang="en-IN" b="1" i="1" dirty="0">
                                      <a:solidFill>
                                        <a:srgbClr val="002060"/>
                                      </a:solidFill>
                                      <a:latin typeface="Cambria Math" panose="02040503050406030204" pitchFamily="18" charset="0"/>
                                      <a:cs typeface="Times New Roman" panose="02020603050405020304" pitchFamily="18" charset="0"/>
                                    </a:rPr>
                                    <m:t>𝟓</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
                                  <m:r>
                                    <a:rPr lang="en-IN" b="1" i="1" dirty="0">
                                      <a:solidFill>
                                        <a:srgbClr val="002060"/>
                                      </a:solidFill>
                                      <a:latin typeface="Cambria Math" panose="02040503050406030204" pitchFamily="18" charset="0"/>
                                      <a:cs typeface="Times New Roman" panose="02020603050405020304" pitchFamily="18" charset="0"/>
                                    </a:rPr>
                                    <m:t>𝟎</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𝟑</m:t>
                                  </m:r>
                                </m:e>
                                <m:e/>
                                <m:e>
                                  <m:r>
                                    <a:rPr lang="en-IN" b="1" i="1" dirty="0">
                                      <a:solidFill>
                                        <a:srgbClr val="002060"/>
                                      </a:solidFill>
                                      <a:latin typeface="Cambria Math" panose="02040503050406030204" pitchFamily="18" charset="0"/>
                                      <a:cs typeface="Times New Roman" panose="02020603050405020304" pitchFamily="18" charset="0"/>
                                    </a:rPr>
                                    <m:t>𝟐</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
                                  <m:r>
                                    <a:rPr lang="en-IN" b="1" i="1" dirty="0">
                                      <a:solidFill>
                                        <a:srgbClr val="002060"/>
                                      </a:solidFill>
                                      <a:latin typeface="Cambria Math" panose="02040503050406030204" pitchFamily="18" charset="0"/>
                                      <a:cs typeface="Times New Roman" panose="02020603050405020304" pitchFamily="18" charset="0"/>
                                    </a:rPr>
                                    <m:t>𝟏</m:t>
                                  </m:r>
                                </m:e>
                              </m:eqArr>
                            </m:e>
                          </m:mr>
                        </m:m>
                      </m:e>
                    </m:d>
                  </m:oMath>
                </a14:m>
                <a:r>
                  <a:rPr lang="en-IN" b="1" dirty="0">
                    <a:solidFill>
                      <a:srgbClr val="002060"/>
                    </a:solidFill>
                    <a:latin typeface="Times New Roman" panose="02020603050405020304" pitchFamily="18" charset="0"/>
                    <a:cs typeface="Times New Roman" panose="02020603050405020304" pitchFamily="18" charset="0"/>
                  </a:rPr>
                  <a:t>    </a:t>
                </a:r>
                <a:r>
                  <a:rPr lang="en-IN" sz="2800" b="1"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r>
                                <m:rPr>
                                  <m:brk m:alnAt="7"/>
                                </m:rP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mr>
                          <m:mr>
                            <m:e/>
                            <m:e/>
                            <m:e/>
                            <m:e/>
                          </m:mr>
                          <m:mr>
                            <m:e>
                              <m:r>
                                <a:rPr lang="en-IN" b="1" i="1" dirty="0">
                                  <a:solidFill>
                                    <a:srgbClr val="002060"/>
                                  </a:solidFill>
                                  <a:latin typeface="Cambria Math" panose="02040503050406030204" pitchFamily="18" charset="0"/>
                                  <a:cs typeface="Times New Roman" panose="02020603050405020304" pitchFamily="18" charset="0"/>
                                </a:rPr>
                                <m:t>𝟐</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𝟒</m:t>
                              </m:r>
                            </m:e>
                          </m:mr>
                          <m:mr>
                            <m:e/>
                            <m:e/>
                            <m:e/>
                            <m:e/>
                          </m:mr>
                          <m:mr>
                            <m:e>
                              <m:r>
                                <a:rPr lang="en-IN" b="1" i="1" dirty="0">
                                  <a:solidFill>
                                    <a:srgbClr val="002060"/>
                                  </a:solidFill>
                                  <a:latin typeface="Cambria Math" panose="02040503050406030204" pitchFamily="18" charset="0"/>
                                  <a:cs typeface="Times New Roman" panose="02020603050405020304" pitchFamily="18" charset="0"/>
                                </a:rPr>
                                <m:t>𝟐</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𝟏</m:t>
                              </m:r>
                            </m:e>
                          </m:mr>
                          <m:mr>
                            <m:e/>
                            <m:e/>
                            <m:e/>
                            <m:e/>
                          </m:mr>
                          <m:mr>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𝟑</m:t>
                              </m:r>
                            </m:e>
                            <m:e>
                              <m:r>
                                <a:rPr lang="en-IN" b="1" i="1" dirty="0">
                                  <a:solidFill>
                                    <a:srgbClr val="002060"/>
                                  </a:solidFill>
                                  <a:latin typeface="Cambria Math" panose="02040503050406030204" pitchFamily="18" charset="0"/>
                                  <a:cs typeface="Times New Roman" panose="02020603050405020304" pitchFamily="18" charset="0"/>
                                </a:rPr>
                                <m:t>𝟓</m:t>
                              </m:r>
                            </m:e>
                            <m:e>
                              <m:r>
                                <a:rPr lang="en-IN" b="1" i="1" dirty="0">
                                  <a:solidFill>
                                    <a:srgbClr val="002060"/>
                                  </a:solidFill>
                                  <a:latin typeface="Cambria Math" panose="02040503050406030204" pitchFamily="18" charset="0"/>
                                  <a:cs typeface="Times New Roman" panose="02020603050405020304" pitchFamily="18" charset="0"/>
                                </a:rPr>
                                <m:t>𝟎</m:t>
                              </m:r>
                            </m:e>
                          </m:mr>
                        </m:m>
                      </m:e>
                    </m:d>
                  </m:oMath>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6775198" y="1243069"/>
                <a:ext cx="4210768" cy="1907573"/>
              </a:xfrm>
              <a:prstGeom prst="rect">
                <a:avLst/>
              </a:prstGeom>
              <a:blipFill rotWithShape="0">
                <a:blip r:embed="rId7"/>
                <a:stretch>
                  <a:fillRect l="-1158"/>
                </a:stretch>
              </a:blipFill>
            </p:spPr>
            <p:txBody>
              <a:bodyPr/>
              <a:lstStyle/>
              <a:p>
                <a:r>
                  <a:rPr lang="en-IN">
                    <a:noFill/>
                  </a:rPr>
                  <a:t> </a:t>
                </a:r>
              </a:p>
            </p:txBody>
          </p:sp>
        </mc:Fallback>
      </mc:AlternateContent>
      <p:sp>
        <p:nvSpPr>
          <p:cNvPr id="10" name="Date Placeholder 9"/>
          <p:cNvSpPr>
            <a:spLocks noGrp="1"/>
          </p:cNvSpPr>
          <p:nvPr>
            <p:ph type="dt" sz="half" idx="10"/>
          </p:nvPr>
        </p:nvSpPr>
        <p:spPr/>
        <p:txBody>
          <a:bodyPr/>
          <a:lstStyle/>
          <a:p>
            <a:fld id="{CA39B691-FAB6-4670-84A8-8CAB75299480}" type="datetime1">
              <a:rPr lang="en-IN" smtClean="0"/>
              <a:t>21-03-2026</a:t>
            </a:fld>
            <a:endParaRPr lang="en-IN"/>
          </a:p>
        </p:txBody>
      </p:sp>
    </p:spTree>
    <p:extLst>
      <p:ext uri="{BB962C8B-B14F-4D97-AF65-F5344CB8AC3E}">
        <p14:creationId xmlns:p14="http://schemas.microsoft.com/office/powerpoint/2010/main" val="3377686367"/>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20544" y="924127"/>
                <a:ext cx="11797552" cy="5816121"/>
              </a:xfrm>
            </p:spPr>
            <p:txBody>
              <a:bodyPr>
                <a:normAutofit fontScale="70000" lnSpcReduction="20000"/>
              </a:bodyPr>
              <a:lstStyle/>
              <a:p>
                <a:pPr algn="just"/>
                <a:r>
                  <a:rPr lang="en-IN" sz="2000" b="1" dirty="0">
                    <a:solidFill>
                      <a:srgbClr val="002060"/>
                    </a:solidFill>
                    <a:latin typeface="Times New Roman" panose="02020603050405020304" pitchFamily="18" charset="0"/>
                    <a:cs typeface="Times New Roman" panose="02020603050405020304" pitchFamily="18" charset="0"/>
                  </a:rPr>
                  <a:t>V</a:t>
                </a:r>
                <a:r>
                  <a:rPr lang="en-IN" sz="2000" b="1" dirty="0" smtClean="0">
                    <a:solidFill>
                      <a:srgbClr val="002060"/>
                    </a:solidFill>
                    <a:latin typeface="Times New Roman" panose="02020603050405020304" pitchFamily="18" charset="0"/>
                    <a:cs typeface="Times New Roman" panose="02020603050405020304" pitchFamily="18" charset="0"/>
                  </a:rPr>
                  <a:t> =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a:t>
                </a: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𝟐</m:t>
                                      </m:r>
                                    </m:e>
                                    <m:e>
                                      <m:r>
                                        <a:rPr lang="en-IN" sz="2000" b="1" i="0"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𝟎</m:t>
                                          </m:r>
                                        </m:e>
                                      </m:eqArr>
                                    </m:e>
                                  </m:mr>
                                </m:m>
                              </m:e>
                              <m:e/>
                            </m:eqArr>
                          </m:e>
                        </m:d>
                        <m:r>
                          <a:rPr lang="en-IN" sz="2000" b="1" i="1" smtClean="0">
                            <a:solidFill>
                              <a:srgbClr val="002060"/>
                            </a:solidFill>
                            <a:latin typeface="Cambria Math" panose="02040503050406030204" pitchFamily="18" charset="0"/>
                            <a:cs typeface="Times New Roman" panose="02020603050405020304" pitchFamily="18" charset="0"/>
                          </a:rPr>
                          <m:t>− </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1" smtClean="0">
                                          <a:solidFill>
                                            <a:srgbClr val="002060"/>
                                          </a:solidFill>
                                          <a:latin typeface="Cambria Math" panose="02040503050406030204" pitchFamily="18" charset="0"/>
                                          <a:cs typeface="Times New Roman" panose="02020603050405020304" pitchFamily="18" charset="0"/>
                                        </a:rPr>
                                        <m:t>𝟑</m:t>
                                      </m:r>
                                    </m:e>
                                    <m:e>
                                      <m:r>
                                        <a:rPr lang="en-IN" sz="2000" b="1" i="0" smtClean="0">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𝟐</m:t>
                                          </m:r>
                                        </m:e>
                                      </m:eqArr>
                                    </m:e>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𝟏</m:t>
                                          </m:r>
                                        </m:e>
                                      </m:eqArr>
                                    </m:e>
                                  </m:mr>
                                </m:m>
                              </m:e>
                              <m:e/>
                            </m:eqArr>
                          </m:e>
                        </m:d>
                      </m:e>
                    </m:d>
                  </m:oMath>
                </a14:m>
                <a:r>
                  <a:rPr lang="en-IN" sz="2000" b="1" dirty="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𝟐</m:t>
                                      </m:r>
                                    </m:e>
                                    <m:e>
                                      <m:r>
                                        <a:rPr lang="en-IN" sz="2000" b="1" i="0" smtClean="0">
                                          <a:solidFill>
                                            <a:srgbClr val="002060"/>
                                          </a:solidFill>
                                          <a:latin typeface="Cambria Math" panose="02040503050406030204" pitchFamily="18" charset="0"/>
                                          <a:cs typeface="Times New Roman" panose="02020603050405020304" pitchFamily="18" charset="0"/>
                                        </a:rPr>
                                        <m:t>𝟎</m:t>
                                      </m:r>
                                    </m:e>
                                  </m:mr>
                                  <m:mr>
                                    <m:e>
                                      <m:eqArr>
                                        <m:eqArrPr>
                                          <m:ctrlPr>
                                            <a:rPr lang="en-IN" sz="2000" b="1" i="1" smtClean="0">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𝟑</m:t>
                                          </m:r>
                                        </m:e>
                                      </m:eqArr>
                                    </m:e>
                                  </m:mr>
                                </m:m>
                              </m:e>
                              <m:e/>
                            </m:eqArr>
                          </m:e>
                        </m:d>
                        <m:r>
                          <m:rPr>
                            <m:nor/>
                          </m:rPr>
                          <a:rPr lang="en-IN" sz="2000" b="1" i="0" smtClean="0">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𝟏</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𝟓</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𝟎</m:t>
                                          </m:r>
                                        </m:e>
                                      </m:eqArr>
                                    </m:e>
                                  </m:mr>
                                </m:m>
                              </m:e>
                              <m:e/>
                            </m:eqArr>
                          </m:e>
                        </m:d>
                      </m:e>
                    </m:d>
                  </m:oMath>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ctrlPr>
                          <a:rPr lang="en-IN" sz="2000" b="1" i="1">
                            <a:solidFill>
                              <a:srgbClr val="002060"/>
                            </a:solidFill>
                            <a:latin typeface="Cambria Math"/>
                            <a:cs typeface="Times New Roman" panose="02020603050405020304" pitchFamily="18" charset="0"/>
                          </a:rPr>
                        </m:ctrlPr>
                      </m:dPr>
                      <m:e>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
                                      <m:r>
                                        <a:rPr lang="en-IN" sz="2000" b="1" i="1"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m:t>
                                          </m:r>
                                          <m:r>
                                            <a:rPr lang="en-IN" sz="2000" b="1" i="1" smtClean="0">
                                              <a:solidFill>
                                                <a:srgbClr val="002060"/>
                                              </a:solidFill>
                                              <a:latin typeface="Cambria Math" panose="02040503050406030204" pitchFamily="18" charset="0"/>
                                              <a:cs typeface="Times New Roman" panose="02020603050405020304" pitchFamily="18" charset="0"/>
                                            </a:rPr>
                                            <m:t>𝟏</m:t>
                                          </m:r>
                                        </m:e>
                                      </m:eqArr>
                                    </m:e>
                                  </m:mr>
                                </m:m>
                              </m:e>
                              <m:e/>
                            </m:eqArr>
                          </m:e>
                        </m:d>
                        <m:r>
                          <m:rPr>
                            <m:nor/>
                          </m:rPr>
                          <a:rPr lang="en-IN" sz="2000" b="1" dirty="0">
                            <a:solidFill>
                              <a:srgbClr val="002060"/>
                            </a:solidFill>
                            <a:latin typeface="Times New Roman" panose="020206030504050203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smtClean="0">
                                        <a:solidFill>
                                          <a:srgbClr val="002060"/>
                                        </a:solidFill>
                                        <a:latin typeface="Cambria Math"/>
                                        <a:cs typeface="Times New Roman" panose="02020603050405020304" pitchFamily="18" charset="0"/>
                                      </a:rPr>
                                    </m:ctrlPr>
                                  </m:mPr>
                                  <m:mr>
                                    <m:e>
                                      <m:r>
                                        <a:rPr lang="en-IN" sz="2000" b="1" i="0" smtClean="0">
                                          <a:solidFill>
                                            <a:srgbClr val="002060"/>
                                          </a:solidFill>
                                          <a:latin typeface="Cambria Math" panose="02040503050406030204" pitchFamily="18" charset="0"/>
                                          <a:cs typeface="Times New Roman" panose="02020603050405020304" pitchFamily="18" charset="0"/>
                                        </a:rPr>
                                        <m:t>𝟑</m:t>
                                      </m:r>
                                    </m:e>
                                    <m:e>
                                      <m:r>
                                        <a:rPr lang="en-IN" sz="2000" b="1" i="0" smtClean="0">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smtClean="0">
                                              <a:solidFill>
                                                <a:srgbClr val="002060"/>
                                              </a:solidFill>
                                              <a:latin typeface="Cambria Math" panose="02040503050406030204" pitchFamily="18" charset="0"/>
                                              <a:cs typeface="Times New Roman" panose="02020603050405020304" pitchFamily="18" charset="0"/>
                                            </a:rPr>
                                            <m:t>𝟔</m:t>
                                          </m:r>
                                        </m:e>
                                      </m:eqArr>
                                    </m:e>
                                    <m:e>
                                      <m:eqArr>
                                        <m:eqArrPr>
                                          <m:ctrlPr>
                                            <a:rPr lang="en-IN" sz="2000" b="1" i="1">
                                              <a:solidFill>
                                                <a:srgbClr val="002060"/>
                                              </a:solidFill>
                                              <a:latin typeface="Cambria Math"/>
                                              <a:cs typeface="Times New Roman" panose="02020603050405020304" pitchFamily="18" charset="0"/>
                                            </a:rPr>
                                          </m:ctrlPr>
                                        </m:eqArrPr>
                                        <m:e/>
                                        <m:e>
                                          <m:r>
                                            <a:rPr lang="en-IN" sz="2000" b="1" i="0" smtClean="0">
                                              <a:solidFill>
                                                <a:srgbClr val="002060"/>
                                              </a:solidFill>
                                              <a:latin typeface="Cambria Math" panose="02040503050406030204" pitchFamily="18" charset="0"/>
                                              <a:cs typeface="Times New Roman" panose="02020603050405020304" pitchFamily="18" charset="0"/>
                                            </a:rPr>
                                            <m:t>𝟑</m:t>
                                          </m:r>
                                        </m:e>
                                      </m:eqArr>
                                    </m:e>
                                  </m:mr>
                                </m:m>
                              </m:e>
                              <m:e/>
                            </m:eqArr>
                          </m:e>
                        </m:d>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cs typeface="Times New Roman" panose="02020603050405020304" pitchFamily="18" charset="0"/>
                  </a:rPr>
                  <a:t>LET </a:t>
                </a:r>
                <a:r>
                  <a:rPr lang="en-IN" sz="2000" b="1" dirty="0" smtClean="0">
                    <a:solidFill>
                      <a:srgbClr val="002060"/>
                    </a:solidFill>
                    <a:cs typeface="Times New Roman" panose="02020603050405020304" pitchFamily="18" charset="0"/>
                  </a:rPr>
                  <a:t>C =</a:t>
                </a:r>
                <a14:m>
                  <m:oMath xmlns:m="http://schemas.openxmlformats.org/officeDocument/2006/math">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e>
                                <m:e>
                                  <m:r>
                                    <a:rPr lang="en-IN" sz="2000" b="1" i="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m:t>
                                      </m:r>
                                      <m:r>
                                        <a:rPr lang="en-IN" sz="2000" b="1" i="1">
                                          <a:solidFill>
                                            <a:srgbClr val="002060"/>
                                          </a:solidFill>
                                          <a:latin typeface="Cambria Math" panose="02040503050406030204" pitchFamily="18" charset="0"/>
                                          <a:cs typeface="Times New Roman" panose="02020603050405020304" pitchFamily="18" charset="0"/>
                                        </a:rPr>
                                        <m:t>𝟏</m:t>
                                      </m:r>
                                    </m:e>
                                  </m:eqArr>
                                </m:e>
                              </m:mr>
                            </m:m>
                          </m:e>
                          <m:e/>
                        </m:eqArr>
                      </m:e>
                    </m:d>
                    <m:r>
                      <a:rPr lang="en-IN" sz="2000" b="1" i="1">
                        <a:solidFill>
                          <a:srgbClr val="002060"/>
                        </a:solidFill>
                        <a:latin typeface="Cambria Math" panose="02040503050406030204" pitchFamily="18" charset="0"/>
                        <a:cs typeface="Times New Roman" panose="02020603050405020304" pitchFamily="18" charset="0"/>
                      </a:rPr>
                      <m:t>𝒂𝒏𝒅</m:t>
                    </m:r>
                    <m:r>
                      <a:rPr lang="en-IN" sz="2000" b="1" i="1">
                        <a:solidFill>
                          <a:srgbClr val="002060"/>
                        </a:solidFill>
                        <a:latin typeface="Cambria Math" panose="02040503050406030204" pitchFamily="18" charset="0"/>
                        <a:cs typeface="Times New Roman" panose="02020603050405020304" pitchFamily="18" charset="0"/>
                      </a:rPr>
                      <m:t> </m:t>
                    </m:r>
                    <m:r>
                      <a:rPr lang="en-IN" sz="2000" b="1" i="1">
                        <a:solidFill>
                          <a:srgbClr val="002060"/>
                        </a:solidFill>
                        <a:latin typeface="Cambria Math" panose="02040503050406030204" pitchFamily="18" charset="0"/>
                        <a:cs typeface="Times New Roman" panose="02020603050405020304" pitchFamily="18" charset="0"/>
                      </a:rPr>
                      <m:t>𝑫</m:t>
                    </m:r>
                    <m:r>
                      <a:rPr lang="en-IN" sz="2000" b="1" i="1" smtClean="0">
                        <a:solidFill>
                          <a:srgbClr val="002060"/>
                        </a:solidFill>
                        <a:latin typeface="Cambria Math" panose="02040503050406030204" pitchFamily="18" charset="0"/>
                        <a:cs typeface="Times New Roman" panose="02020603050405020304" pitchFamily="18" charset="0"/>
                      </a:rPr>
                      <m:t>=</m:t>
                    </m:r>
                    <m:d>
                      <m:dPr>
                        <m:begChr m:val="["/>
                        <m:endChr m:val="]"/>
                        <m:ctrlPr>
                          <a:rPr lang="en-IN" sz="2000" b="1" i="1">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a:rPr lang="en-IN" sz="2000" b="1">
                                      <a:solidFill>
                                        <a:srgbClr val="002060"/>
                                      </a:solidFill>
                                      <a:latin typeface="Cambria Math" panose="02040503050406030204" pitchFamily="18" charset="0"/>
                                      <a:cs typeface="Times New Roman" panose="02020603050405020304" pitchFamily="18" charset="0"/>
                                    </a:rPr>
                                    <m:t>𝟑</m:t>
                                  </m:r>
                                </m:e>
                                <m:e>
                                  <m:r>
                                    <a:rPr lang="en-IN" sz="2000" b="1">
                                      <a:solidFill>
                                        <a:srgbClr val="002060"/>
                                      </a:solidFill>
                                      <a:latin typeface="Cambria Math" panose="02040503050406030204" pitchFamily="18" charset="0"/>
                                      <a:cs typeface="Times New Roman" panose="02020603050405020304" pitchFamily="18" charset="0"/>
                                    </a:rPr>
                                    <m:t>𝟏</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𝟔</m:t>
                                      </m:r>
                                    </m:e>
                                  </m:eqArr>
                                </m:e>
                                <m:e>
                                  <m:eqArr>
                                    <m:eqArrPr>
                                      <m:ctrlPr>
                                        <a:rPr lang="en-IN" sz="2000" b="1" i="1">
                                          <a:solidFill>
                                            <a:srgbClr val="002060"/>
                                          </a:solidFill>
                                          <a:latin typeface="Cambria Math"/>
                                          <a:cs typeface="Times New Roman" panose="02020603050405020304" pitchFamily="18" charset="0"/>
                                        </a:rPr>
                                      </m:ctrlPr>
                                    </m:eqArrPr>
                                    <m:e/>
                                    <m:e>
                                      <m:r>
                                        <a:rPr lang="en-IN" sz="2000" b="1">
                                          <a:solidFill>
                                            <a:srgbClr val="002060"/>
                                          </a:solidFill>
                                          <a:latin typeface="Cambria Math" panose="02040503050406030204" pitchFamily="18" charset="0"/>
                                          <a:cs typeface="Times New Roman" panose="02020603050405020304" pitchFamily="18" charset="0"/>
                                        </a:rPr>
                                        <m:t>𝟑</m:t>
                                      </m:r>
                                    </m:e>
                                  </m:eqArr>
                                </m:e>
                              </m:mr>
                            </m:m>
                          </m:e>
                          <m:e/>
                        </m:eqArr>
                      </m:e>
                    </m:d>
                  </m:oMath>
                </a14:m>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P </a:t>
                </a:r>
                <a:r>
                  <a:rPr lang="en-IN" sz="2000" b="1" dirty="0">
                    <a:solidFill>
                      <a:srgbClr val="002060"/>
                    </a:solidFill>
                    <a:latin typeface="Times New Roman" panose="02020603050405020304" pitchFamily="18" charset="0"/>
                    <a:cs typeface="Times New Roman" panose="02020603050405020304" pitchFamily="18" charset="0"/>
                  </a:rPr>
                  <a:t>=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 + 3)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 6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a:t>
                </a:r>
              </a:p>
              <a:p>
                <a:pPr algn="just"/>
                <a:r>
                  <a:rPr lang="en-IN" sz="2000" b="1" dirty="0">
                    <a:solidFill>
                      <a:srgbClr val="002060"/>
                    </a:solidFill>
                    <a:latin typeface="Times New Roman" panose="02020603050405020304" pitchFamily="18" charset="0"/>
                    <a:cs typeface="Times New Roman" panose="02020603050405020304" pitchFamily="18" charset="0"/>
                  </a:rPr>
                  <a:t>Q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(-1 -1) </a:t>
                </a:r>
                <a:r>
                  <a:rPr lang="en-IN" sz="2000" b="1" dirty="0">
                    <a:solidFill>
                      <a:srgbClr val="002060"/>
                    </a:solidFill>
                    <a:latin typeface="Times New Roman" panose="02020603050405020304" pitchFamily="18" charset="0"/>
                    <a:cs typeface="Times New Roman" panose="02020603050405020304" pitchFamily="18" charset="0"/>
                  </a:rPr>
                  <a:t>× 3</a:t>
                </a:r>
                <a:r>
                  <a:rPr lang="en-IN" sz="2000" b="1" dirty="0" smtClean="0">
                    <a:solidFill>
                      <a:srgbClr val="002060"/>
                    </a:solidFill>
                    <a:latin typeface="Times New Roman" panose="02020603050405020304" pitchFamily="18" charset="0"/>
                    <a:cs typeface="Times New Roman" panose="02020603050405020304" pitchFamily="18" charset="0"/>
                  </a:rPr>
                  <a:t>= -6</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R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3</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-2= </a:t>
                </a:r>
                <a:r>
                  <a:rPr lang="en-IN" sz="2000" b="1" dirty="0">
                    <a:solidFill>
                      <a:srgbClr val="002060"/>
                    </a:solidFill>
                    <a:latin typeface="Times New Roman" panose="02020603050405020304" pitchFamily="18" charset="0"/>
                    <a:cs typeface="Times New Roman" panose="02020603050405020304" pitchFamily="18" charset="0"/>
                  </a:rPr>
                  <a:t>2</a:t>
                </a:r>
              </a:p>
              <a:p>
                <a:pPr algn="just"/>
                <a:r>
                  <a:rPr lang="en-IN" sz="2000" b="1" dirty="0">
                    <a:solidFill>
                      <a:srgbClr val="002060"/>
                    </a:solidFill>
                    <a:latin typeface="Times New Roman" panose="02020603050405020304" pitchFamily="18" charset="0"/>
                    <a:cs typeface="Times New Roman" panose="02020603050405020304" pitchFamily="18" charset="0"/>
                  </a:rPr>
                  <a:t>S = (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(6- </a:t>
                </a:r>
                <a:r>
                  <a:rPr lang="en-IN" sz="2000" b="1" dirty="0">
                    <a:solidFill>
                      <a:srgbClr val="002060"/>
                    </a:solidFill>
                    <a:latin typeface="Times New Roman" panose="02020603050405020304" pitchFamily="18" charset="0"/>
                    <a:cs typeface="Times New Roman" panose="02020603050405020304" pitchFamily="18" charset="0"/>
                  </a:rPr>
                  <a:t>3</a:t>
                </a:r>
                <a:r>
                  <a:rPr lang="en-IN" sz="2000" b="1" dirty="0" smtClean="0">
                    <a:solidFill>
                      <a:srgbClr val="002060"/>
                    </a:solidFill>
                    <a:latin typeface="Times New Roman" panose="02020603050405020304" pitchFamily="18" charset="0"/>
                    <a:cs typeface="Times New Roman" panose="02020603050405020304" pitchFamily="18" charset="0"/>
                  </a:rPr>
                  <a:t>) =-3</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T = (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U = ( A</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12</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(3 +1)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0</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V = ( A</a:t>
                </a:r>
                <a:r>
                  <a:rPr lang="en-IN" sz="2000" b="1" baseline="-25000" dirty="0">
                    <a:solidFill>
                      <a:srgbClr val="002060"/>
                    </a:solidFill>
                    <a:latin typeface="Times New Roman" panose="02020603050405020304" pitchFamily="18" charset="0"/>
                    <a:cs typeface="Times New Roman" panose="02020603050405020304" pitchFamily="18" charset="0"/>
                  </a:rPr>
                  <a:t>12 </a:t>
                </a:r>
                <a:r>
                  <a:rPr lang="en-IN" sz="2000" b="1" dirty="0">
                    <a:solidFill>
                      <a:srgbClr val="002060"/>
                    </a:solidFill>
                    <a:latin typeface="Times New Roman" panose="02020603050405020304" pitchFamily="18" charset="0"/>
                    <a:cs typeface="Times New Roman" panose="02020603050405020304" pitchFamily="18" charset="0"/>
                  </a:rPr>
                  <a:t>-  A</a:t>
                </a:r>
                <a:r>
                  <a:rPr lang="en-IN" sz="2000" b="1" baseline="-25000" dirty="0">
                    <a:solidFill>
                      <a:srgbClr val="002060"/>
                    </a:solidFill>
                    <a:latin typeface="Times New Roman" panose="02020603050405020304" pitchFamily="18" charset="0"/>
                    <a:cs typeface="Times New Roman" panose="02020603050405020304" pitchFamily="18" charset="0"/>
                  </a:rPr>
                  <a:t>22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21 </a:t>
                </a:r>
                <a:r>
                  <a:rPr lang="en-IN" sz="2000" b="1" dirty="0">
                    <a:solidFill>
                      <a:srgbClr val="002060"/>
                    </a:solidFill>
                    <a:latin typeface="Times New Roman" panose="02020603050405020304" pitchFamily="18" charset="0"/>
                    <a:cs typeface="Times New Roman" panose="02020603050405020304" pitchFamily="18" charset="0"/>
                  </a:rPr>
                  <a:t>+ B</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(1 +1</a:t>
                </a:r>
                <a:r>
                  <a:rPr lang="en-IN" sz="2000" b="1" baseline="-25000"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(6+ 3) </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18</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20544" y="924127"/>
                <a:ext cx="11797552" cy="5816121"/>
              </a:xfrm>
              <a:blipFill rotWithShape="0">
                <a:blip r:embed="rId3"/>
                <a:stretch>
                  <a:fillRect l="-155" t="-125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113</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6245836" y="3660825"/>
                <a:ext cx="4025526" cy="2220801"/>
              </a:xfrm>
              <a:prstGeom prst="rect">
                <a:avLst/>
              </a:prstGeom>
            </p:spPr>
            <p:txBody>
              <a:bodyPr wrap="none">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11</a:t>
                </a:r>
                <a:r>
                  <a:rPr lang="en-IN" b="1" dirty="0">
                    <a:solidFill>
                      <a:srgbClr val="002060"/>
                    </a:solidFill>
                    <a:latin typeface="Times New Roman" panose="02020603050405020304" pitchFamily="18" charset="0"/>
                    <a:cs typeface="Times New Roman" panose="02020603050405020304" pitchFamily="18" charset="0"/>
                  </a:rPr>
                  <a:t> = </a:t>
                </a:r>
                <a:r>
                  <a:rPr lang="en-IN" b="1" dirty="0" smtClean="0">
                    <a:solidFill>
                      <a:srgbClr val="002060"/>
                    </a:solidFill>
                    <a:latin typeface="Times New Roman" panose="02020603050405020304" pitchFamily="18" charset="0"/>
                    <a:cs typeface="Times New Roman" panose="02020603050405020304" pitchFamily="18" charset="0"/>
                  </a:rPr>
                  <a:t>P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S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T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V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-12 -3  +0+18  =3</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12</a:t>
                </a:r>
                <a:r>
                  <a:rPr lang="en-IN" b="1" dirty="0">
                    <a:solidFill>
                      <a:srgbClr val="002060"/>
                    </a:solidFill>
                    <a:latin typeface="Times New Roman" panose="02020603050405020304" pitchFamily="18" charset="0"/>
                    <a:cs typeface="Times New Roman" panose="02020603050405020304" pitchFamily="18" charset="0"/>
                  </a:rPr>
                  <a:t> = R + T = </a:t>
                </a:r>
                <a:r>
                  <a:rPr lang="en-IN" b="1" dirty="0" smtClean="0">
                    <a:solidFill>
                      <a:srgbClr val="002060"/>
                    </a:solidFill>
                    <a:latin typeface="Times New Roman" panose="02020603050405020304" pitchFamily="18" charset="0"/>
                    <a:cs typeface="Times New Roman" panose="02020603050405020304" pitchFamily="18" charset="0"/>
                  </a:rPr>
                  <a:t>2 </a:t>
                </a:r>
                <a:r>
                  <a:rPr lang="en-IN" b="1" dirty="0">
                    <a:solidFill>
                      <a:srgbClr val="002060"/>
                    </a:solidFill>
                    <a:latin typeface="Times New Roman" panose="02020603050405020304" pitchFamily="18" charset="0"/>
                    <a:cs typeface="Times New Roman" panose="02020603050405020304" pitchFamily="18" charset="0"/>
                  </a:rPr>
                  <a:t>+ 0</a:t>
                </a:r>
                <a:r>
                  <a:rPr lang="en-IN" b="1" dirty="0" smtClean="0">
                    <a:solidFill>
                      <a:srgbClr val="002060"/>
                    </a:solidFill>
                    <a:latin typeface="Times New Roman" panose="02020603050405020304" pitchFamily="18" charset="0"/>
                    <a:cs typeface="Times New Roman" panose="02020603050405020304" pitchFamily="18" charset="0"/>
                  </a:rPr>
                  <a:t> </a:t>
                </a:r>
                <a:r>
                  <a:rPr lang="en-IN" b="1" dirty="0">
                    <a:solidFill>
                      <a:srgbClr val="002060"/>
                    </a:solidFill>
                    <a:latin typeface="Times New Roman" panose="02020603050405020304" pitchFamily="18" charset="0"/>
                    <a:cs typeface="Times New Roman" panose="02020603050405020304" pitchFamily="18" charset="0"/>
                  </a:rPr>
                  <a:t>= 2</a:t>
                </a:r>
                <a:endParaRPr lang="en-IN" b="1" baseline="-25000"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21</a:t>
                </a:r>
                <a:r>
                  <a:rPr lang="en-IN" b="1" dirty="0">
                    <a:solidFill>
                      <a:srgbClr val="002060"/>
                    </a:solidFill>
                    <a:latin typeface="Times New Roman" panose="02020603050405020304" pitchFamily="18" charset="0"/>
                    <a:cs typeface="Times New Roman" panose="02020603050405020304" pitchFamily="18" charset="0"/>
                  </a:rPr>
                  <a:t> = </a:t>
                </a:r>
                <a:r>
                  <a:rPr lang="en-IN" b="1" dirty="0" smtClean="0">
                    <a:solidFill>
                      <a:srgbClr val="002060"/>
                    </a:solidFill>
                    <a:latin typeface="Times New Roman" panose="02020603050405020304" pitchFamily="18" charset="0"/>
                    <a:cs typeface="Times New Roman" panose="02020603050405020304" pitchFamily="18" charset="0"/>
                  </a:rPr>
                  <a:t>Q </a:t>
                </a:r>
                <a:r>
                  <a:rPr lang="en-IN" b="1" dirty="0">
                    <a:solidFill>
                      <a:srgbClr val="002060"/>
                    </a:solidFill>
                    <a:latin typeface="Times New Roman" panose="02020603050405020304" pitchFamily="18" charset="0"/>
                    <a:cs typeface="Times New Roman" panose="02020603050405020304" pitchFamily="18" charset="0"/>
                  </a:rPr>
                  <a:t>+ S = </a:t>
                </a:r>
                <a:r>
                  <a:rPr lang="en-IN" b="1" dirty="0" smtClean="0">
                    <a:solidFill>
                      <a:srgbClr val="002060"/>
                    </a:solidFill>
                    <a:latin typeface="Times New Roman" panose="02020603050405020304" pitchFamily="18" charset="0"/>
                    <a:cs typeface="Times New Roman" panose="02020603050405020304" pitchFamily="18" charset="0"/>
                  </a:rPr>
                  <a:t>-6 -3= -9</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a:solidFill>
                      <a:srgbClr val="002060"/>
                    </a:solidFill>
                    <a:latin typeface="Times New Roman" panose="02020603050405020304" pitchFamily="18" charset="0"/>
                    <a:cs typeface="Times New Roman" panose="02020603050405020304" pitchFamily="18" charset="0"/>
                  </a:rPr>
                  <a:t>C</a:t>
                </a:r>
                <a:r>
                  <a:rPr lang="en-IN" b="1" baseline="-25000" dirty="0">
                    <a:solidFill>
                      <a:srgbClr val="002060"/>
                    </a:solidFill>
                    <a:latin typeface="Times New Roman" panose="02020603050405020304" pitchFamily="18" charset="0"/>
                    <a:cs typeface="Times New Roman" panose="02020603050405020304" pitchFamily="18" charset="0"/>
                  </a:rPr>
                  <a:t>22</a:t>
                </a:r>
                <a:r>
                  <a:rPr lang="en-IN" b="1" dirty="0">
                    <a:solidFill>
                      <a:srgbClr val="002060"/>
                    </a:solidFill>
                    <a:latin typeface="Times New Roman" panose="02020603050405020304" pitchFamily="18" charset="0"/>
                    <a:cs typeface="Times New Roman" panose="02020603050405020304" pitchFamily="18" charset="0"/>
                  </a:rPr>
                  <a:t> = P + R – Q + U = </a:t>
                </a:r>
                <a:r>
                  <a:rPr lang="en-IN" b="1" dirty="0" smtClean="0">
                    <a:solidFill>
                      <a:srgbClr val="002060"/>
                    </a:solidFill>
                    <a:latin typeface="Times New Roman" panose="02020603050405020304" pitchFamily="18" charset="0"/>
                    <a:cs typeface="Times New Roman" panose="02020603050405020304" pitchFamily="18" charset="0"/>
                  </a:rPr>
                  <a:t>-12 + 2+6 +0 </a:t>
                </a:r>
                <a:r>
                  <a:rPr lang="en-IN" b="1" dirty="0">
                    <a:solidFill>
                      <a:srgbClr val="002060"/>
                    </a:solidFill>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-4</a:t>
                </a:r>
                <a:endParaRPr lang="en-IN" b="1" dirty="0">
                  <a:solidFill>
                    <a:srgbClr val="002060"/>
                  </a:solidFill>
                  <a:latin typeface="Times New Roman" panose="02020603050405020304" pitchFamily="18" charset="0"/>
                  <a:cs typeface="Times New Roman" panose="02020603050405020304" pitchFamily="18" charset="0"/>
                </a:endParaRPr>
              </a:p>
              <a:p>
                <a:pPr algn="just"/>
                <a:r>
                  <a:rPr lang="en-IN" b="1" dirty="0" smtClean="0">
                    <a:solidFill>
                      <a:srgbClr val="C00000"/>
                    </a:solidFill>
                    <a:latin typeface="Times New Roman" panose="02020603050405020304" pitchFamily="18" charset="0"/>
                    <a:cs typeface="Times New Roman" panose="02020603050405020304" pitchFamily="18" charset="0"/>
                  </a:rPr>
                  <a:t>Resultant matrix is    V =  </a:t>
                </a:r>
                <a14:m>
                  <m:oMath xmlns:m="http://schemas.openxmlformats.org/officeDocument/2006/math">
                    <m:d>
                      <m:dPr>
                        <m:begChr m:val="["/>
                        <m:endChr m:val="]"/>
                        <m:ctrlPr>
                          <a:rPr lang="en-IN" b="1" i="1">
                            <a:solidFill>
                              <a:srgbClr val="C00000"/>
                            </a:solidFill>
                            <a:latin typeface="Cambria Math"/>
                            <a:cs typeface="Times New Roman" panose="02020603050405020304" pitchFamily="18" charset="0"/>
                          </a:rPr>
                        </m:ctrlPr>
                      </m:dPr>
                      <m:e>
                        <m:eqArr>
                          <m:eqArrPr>
                            <m:ctrlPr>
                              <a:rPr lang="en-IN" b="1" i="1">
                                <a:solidFill>
                                  <a:srgbClr val="C00000"/>
                                </a:solidFill>
                                <a:latin typeface="Cambria Math"/>
                                <a:cs typeface="Times New Roman" panose="02020603050405020304" pitchFamily="18" charset="0"/>
                              </a:rPr>
                            </m:ctrlPr>
                          </m:eqArrPr>
                          <m:e>
                            <m:m>
                              <m:mPr>
                                <m:mcs>
                                  <m:mc>
                                    <m:mcPr>
                                      <m:count m:val="2"/>
                                      <m:mcJc m:val="center"/>
                                    </m:mcPr>
                                  </m:mc>
                                </m:mcs>
                                <m:ctrlPr>
                                  <a:rPr lang="en-IN" b="1" i="1">
                                    <a:solidFill>
                                      <a:srgbClr val="C00000"/>
                                    </a:solidFill>
                                    <a:latin typeface="Cambria Math"/>
                                    <a:cs typeface="Times New Roman" panose="02020603050405020304" pitchFamily="18" charset="0"/>
                                  </a:rPr>
                                </m:ctrlPr>
                              </m:mPr>
                              <m:mr>
                                <m:e>
                                  <m:r>
                                    <a:rPr lang="en-IN" b="1" i="1" smtClean="0">
                                      <a:solidFill>
                                        <a:srgbClr val="C00000"/>
                                      </a:solidFill>
                                      <a:latin typeface="Cambria Math" panose="02040503050406030204" pitchFamily="18" charset="0"/>
                                      <a:cs typeface="Times New Roman" panose="02020603050405020304" pitchFamily="18" charset="0"/>
                                    </a:rPr>
                                    <m:t>𝟑</m:t>
                                  </m:r>
                                </m:e>
                                <m:e>
                                  <m:r>
                                    <a:rPr lang="en-IN" b="1" i="1" smtClean="0">
                                      <a:solidFill>
                                        <a:srgbClr val="C00000"/>
                                      </a:solidFill>
                                      <a:latin typeface="Cambria Math" panose="02040503050406030204" pitchFamily="18" charset="0"/>
                                      <a:cs typeface="Times New Roman" panose="02020603050405020304" pitchFamily="18" charset="0"/>
                                    </a:rPr>
                                    <m:t>𝟐</m:t>
                                  </m:r>
                                </m:e>
                              </m:mr>
                              <m:mr>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m:t>
                                      </m:r>
                                      <m:r>
                                        <a:rPr lang="en-IN" b="1" i="1" smtClean="0">
                                          <a:solidFill>
                                            <a:srgbClr val="C00000"/>
                                          </a:solidFill>
                                          <a:latin typeface="Cambria Math" panose="02040503050406030204" pitchFamily="18" charset="0"/>
                                          <a:cs typeface="Times New Roman" panose="02020603050405020304" pitchFamily="18" charset="0"/>
                                        </a:rPr>
                                        <m:t>𝟗</m:t>
                                      </m:r>
                                    </m:e>
                                  </m:eqArr>
                                </m:e>
                                <m:e>
                                  <m:eqArr>
                                    <m:eqArrPr>
                                      <m:ctrlPr>
                                        <a:rPr lang="en-IN" b="1" i="1">
                                          <a:solidFill>
                                            <a:srgbClr val="C00000"/>
                                          </a:solidFill>
                                          <a:latin typeface="Cambria Math"/>
                                          <a:cs typeface="Times New Roman" panose="02020603050405020304" pitchFamily="18" charset="0"/>
                                        </a:rPr>
                                      </m:ctrlPr>
                                    </m:eqArrPr>
                                    <m:e/>
                                    <m:e>
                                      <m:r>
                                        <a:rPr lang="en-IN" b="1" i="1" smtClean="0">
                                          <a:solidFill>
                                            <a:srgbClr val="C00000"/>
                                          </a:solidFill>
                                          <a:latin typeface="Cambria Math" panose="02040503050406030204" pitchFamily="18" charset="0"/>
                                          <a:cs typeface="Times New Roman" panose="02020603050405020304" pitchFamily="18" charset="0"/>
                                        </a:rPr>
                                        <m:t>−</m:t>
                                      </m:r>
                                      <m:r>
                                        <a:rPr lang="en-IN" b="1" i="1" smtClean="0">
                                          <a:solidFill>
                                            <a:srgbClr val="C00000"/>
                                          </a:solidFill>
                                          <a:latin typeface="Cambria Math" panose="02040503050406030204" pitchFamily="18" charset="0"/>
                                          <a:cs typeface="Times New Roman" panose="02020603050405020304" pitchFamily="18" charset="0"/>
                                        </a:rPr>
                                        <m:t>𝟒</m:t>
                                      </m:r>
                                    </m:e>
                                  </m:eqArr>
                                </m:e>
                              </m:mr>
                            </m:m>
                          </m:e>
                          <m:e/>
                        </m:eqArr>
                      </m:e>
                    </m:d>
                  </m:oMath>
                </a14:m>
                <a:r>
                  <a:rPr lang="en-IN" b="1" dirty="0">
                    <a:solidFill>
                      <a:srgbClr val="C00000"/>
                    </a:solidFill>
                    <a:latin typeface="Times New Roman" panose="02020603050405020304" pitchFamily="18" charset="0"/>
                    <a:cs typeface="Times New Roman" panose="02020603050405020304" pitchFamily="18" charset="0"/>
                  </a:rPr>
                  <a:t> </a:t>
                </a:r>
                <a:endParaRPr lang="en-IN" sz="28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6245836" y="3660825"/>
                <a:ext cx="4025526" cy="2220801"/>
              </a:xfrm>
              <a:prstGeom prst="rect">
                <a:avLst/>
              </a:prstGeom>
              <a:blipFill rotWithShape="0">
                <a:blip r:embed="rId6"/>
                <a:stretch>
                  <a:fillRect l="-1364" t="-1648" r="-4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775198" y="1243069"/>
                <a:ext cx="4210768" cy="1907573"/>
              </a:xfrm>
              <a:prstGeom prst="rect">
                <a:avLst/>
              </a:prstGeom>
            </p:spPr>
            <p:txBody>
              <a:bodyPr wrap="none">
                <a:spAutoFit/>
              </a:bodyPr>
              <a:lstStyle/>
              <a:p>
                <a:r>
                  <a:rPr lang="en-IN"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𝟐</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𝟒</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
                                  <m:r>
                                    <a:rPr lang="en-IN" b="1" i="1" dirty="0">
                                      <a:solidFill>
                                        <a:srgbClr val="002060"/>
                                      </a:solidFill>
                                      <a:latin typeface="Cambria Math" panose="02040503050406030204" pitchFamily="18" charset="0"/>
                                      <a:cs typeface="Times New Roman" panose="02020603050405020304" pitchFamily="18" charset="0"/>
                                    </a:rPr>
                                    <m:t>𝟓</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
                                  <m:r>
                                    <a:rPr lang="en-IN" b="1" i="1" dirty="0">
                                      <a:solidFill>
                                        <a:srgbClr val="002060"/>
                                      </a:solidFill>
                                      <a:latin typeface="Cambria Math" panose="02040503050406030204" pitchFamily="18" charset="0"/>
                                      <a:cs typeface="Times New Roman" panose="02020603050405020304" pitchFamily="18" charset="0"/>
                                    </a:rPr>
                                    <m:t>𝟎</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𝟑</m:t>
                                  </m:r>
                                </m:e>
                                <m:e/>
                                <m:e>
                                  <m:r>
                                    <a:rPr lang="en-IN" b="1" i="1" dirty="0">
                                      <a:solidFill>
                                        <a:srgbClr val="002060"/>
                                      </a:solidFill>
                                      <a:latin typeface="Cambria Math" panose="02040503050406030204" pitchFamily="18" charset="0"/>
                                      <a:cs typeface="Times New Roman" panose="02020603050405020304" pitchFamily="18" charset="0"/>
                                    </a:rPr>
                                    <m:t>𝟐</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𝟎</m:t>
                                  </m:r>
                                </m:e>
                                <m:e/>
                                <m:e>
                                  <m:r>
                                    <a:rPr lang="en-IN" b="1" i="1" dirty="0">
                                      <a:solidFill>
                                        <a:srgbClr val="002060"/>
                                      </a:solidFill>
                                      <a:latin typeface="Cambria Math" panose="02040503050406030204" pitchFamily="18" charset="0"/>
                                      <a:cs typeface="Times New Roman" panose="02020603050405020304" pitchFamily="18" charset="0"/>
                                    </a:rPr>
                                    <m:t>𝟏</m:t>
                                  </m:r>
                                </m:e>
                              </m:eqArr>
                            </m:e>
                          </m:mr>
                        </m:m>
                      </m:e>
                    </m:d>
                  </m:oMath>
                </a14:m>
                <a:r>
                  <a:rPr lang="en-IN" b="1" dirty="0">
                    <a:solidFill>
                      <a:srgbClr val="002060"/>
                    </a:solidFill>
                    <a:latin typeface="Times New Roman" panose="02020603050405020304" pitchFamily="18" charset="0"/>
                    <a:cs typeface="Times New Roman" panose="02020603050405020304" pitchFamily="18" charset="0"/>
                  </a:rPr>
                  <a:t>    </a:t>
                </a:r>
                <a:r>
                  <a:rPr lang="en-IN" sz="2800" b="1"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r>
                                <m:rPr>
                                  <m:brk m:alnAt="7"/>
                                </m:rP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mr>
                          <m:mr>
                            <m:e/>
                            <m:e/>
                            <m:e/>
                            <m:e/>
                          </m:mr>
                          <m:mr>
                            <m:e>
                              <m:r>
                                <a:rPr lang="en-IN" b="1" i="1" dirty="0">
                                  <a:solidFill>
                                    <a:srgbClr val="002060"/>
                                  </a:solidFill>
                                  <a:latin typeface="Cambria Math" panose="02040503050406030204" pitchFamily="18" charset="0"/>
                                  <a:cs typeface="Times New Roman" panose="02020603050405020304" pitchFamily="18" charset="0"/>
                                </a:rPr>
                                <m:t>𝟐</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𝟒</m:t>
                              </m:r>
                            </m:e>
                          </m:mr>
                          <m:mr>
                            <m:e/>
                            <m:e/>
                            <m:e/>
                            <m:e/>
                          </m:mr>
                          <m:mr>
                            <m:e>
                              <m:r>
                                <a:rPr lang="en-IN" b="1" i="1" dirty="0">
                                  <a:solidFill>
                                    <a:srgbClr val="002060"/>
                                  </a:solidFill>
                                  <a:latin typeface="Cambria Math" panose="02040503050406030204" pitchFamily="18" charset="0"/>
                                  <a:cs typeface="Times New Roman" panose="02020603050405020304" pitchFamily="18" charset="0"/>
                                </a:rPr>
                                <m:t>𝟐</m:t>
                              </m:r>
                            </m:e>
                            <m:e>
                              <m:r>
                                <a:rPr lang="en-IN" b="1" i="1" dirty="0">
                                  <a:solidFill>
                                    <a:srgbClr val="002060"/>
                                  </a:solidFill>
                                  <a:latin typeface="Cambria Math" panose="02040503050406030204" pitchFamily="18" charset="0"/>
                                  <a:cs typeface="Times New Roman" panose="02020603050405020304" pitchFamily="18" charset="0"/>
                                </a:rPr>
                                <m:t>𝟎</m:t>
                              </m:r>
                            </m:e>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𝟏</m:t>
                              </m:r>
                            </m:e>
                          </m:mr>
                          <m:mr>
                            <m:e/>
                            <m:e/>
                            <m:e/>
                            <m:e/>
                          </m:mr>
                          <m:mr>
                            <m:e>
                              <m:r>
                                <a:rPr lang="en-IN" b="1" i="1" dirty="0">
                                  <a:solidFill>
                                    <a:srgbClr val="002060"/>
                                  </a:solidFill>
                                  <a:latin typeface="Cambria Math" panose="02040503050406030204" pitchFamily="18" charset="0"/>
                                  <a:cs typeface="Times New Roman" panose="02020603050405020304" pitchFamily="18" charset="0"/>
                                </a:rPr>
                                <m:t>𝟏</m:t>
                              </m:r>
                            </m:e>
                            <m:e>
                              <m:r>
                                <a:rPr lang="en-IN" b="1" i="1" dirty="0">
                                  <a:solidFill>
                                    <a:srgbClr val="002060"/>
                                  </a:solidFill>
                                  <a:latin typeface="Cambria Math" panose="02040503050406030204" pitchFamily="18" charset="0"/>
                                  <a:cs typeface="Times New Roman" panose="02020603050405020304" pitchFamily="18" charset="0"/>
                                </a:rPr>
                                <m:t>𝟑</m:t>
                              </m:r>
                            </m:e>
                            <m:e>
                              <m:r>
                                <a:rPr lang="en-IN" b="1" i="1" dirty="0">
                                  <a:solidFill>
                                    <a:srgbClr val="002060"/>
                                  </a:solidFill>
                                  <a:latin typeface="Cambria Math" panose="02040503050406030204" pitchFamily="18" charset="0"/>
                                  <a:cs typeface="Times New Roman" panose="02020603050405020304" pitchFamily="18" charset="0"/>
                                </a:rPr>
                                <m:t>𝟓</m:t>
                              </m:r>
                            </m:e>
                            <m:e>
                              <m:r>
                                <a:rPr lang="en-IN" b="1" i="1" dirty="0">
                                  <a:solidFill>
                                    <a:srgbClr val="002060"/>
                                  </a:solidFill>
                                  <a:latin typeface="Cambria Math" panose="02040503050406030204" pitchFamily="18" charset="0"/>
                                  <a:cs typeface="Times New Roman" panose="02020603050405020304" pitchFamily="18" charset="0"/>
                                </a:rPr>
                                <m:t>𝟎</m:t>
                              </m:r>
                            </m:e>
                          </m:mr>
                        </m:m>
                      </m:e>
                    </m:d>
                  </m:oMath>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6775198" y="1243069"/>
                <a:ext cx="4210768" cy="1907573"/>
              </a:xfrm>
              <a:prstGeom prst="rect">
                <a:avLst/>
              </a:prstGeom>
              <a:blipFill rotWithShape="0">
                <a:blip r:embed="rId7"/>
                <a:stretch>
                  <a:fillRect l="-1158"/>
                </a:stretch>
              </a:blipFill>
            </p:spPr>
            <p:txBody>
              <a:bodyPr/>
              <a:lstStyle/>
              <a:p>
                <a:r>
                  <a:rPr lang="en-IN">
                    <a:noFill/>
                  </a:rPr>
                  <a:t> </a:t>
                </a:r>
              </a:p>
            </p:txBody>
          </p:sp>
        </mc:Fallback>
      </mc:AlternateContent>
      <p:sp>
        <p:nvSpPr>
          <p:cNvPr id="10" name="Date Placeholder 9"/>
          <p:cNvSpPr>
            <a:spLocks noGrp="1"/>
          </p:cNvSpPr>
          <p:nvPr>
            <p:ph type="dt" sz="half" idx="10"/>
          </p:nvPr>
        </p:nvSpPr>
        <p:spPr/>
        <p:txBody>
          <a:bodyPr/>
          <a:lstStyle/>
          <a:p>
            <a:fld id="{C3F7AFDD-E5D5-4D65-8EFD-A46F0E8F216C}" type="datetime1">
              <a:rPr lang="en-IN" smtClean="0"/>
              <a:t>21-03-2026</a:t>
            </a:fld>
            <a:endParaRPr lang="en-IN"/>
          </a:p>
        </p:txBody>
      </p:sp>
    </p:spTree>
    <p:extLst>
      <p:ext uri="{BB962C8B-B14F-4D97-AF65-F5344CB8AC3E}">
        <p14:creationId xmlns:p14="http://schemas.microsoft.com/office/powerpoint/2010/main" val="54993800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20544" y="924127"/>
                <a:ext cx="11797552" cy="5816121"/>
              </a:xfrm>
            </p:spPr>
            <p:txBody>
              <a:bodyPr>
                <a:normAutofit fontScale="85000" lnSpcReduction="20000"/>
              </a:bodyPr>
              <a:lstStyle/>
              <a:p>
                <a:pPr algn="just"/>
                <a:r>
                  <a:rPr lang="en-IN" sz="1800" b="1" dirty="0">
                    <a:solidFill>
                      <a:srgbClr val="002060"/>
                    </a:solidFill>
                    <a:latin typeface="Times New Roman" panose="02020603050405020304" pitchFamily="18" charset="0"/>
                    <a:cs typeface="Times New Roman" panose="02020603050405020304" pitchFamily="18" charset="0"/>
                  </a:rPr>
                  <a:t>Resultant matrix C </a:t>
                </a:r>
                <a:r>
                  <a:rPr lang="en-IN" sz="1800" b="1" dirty="0" smtClean="0">
                    <a:solidFill>
                      <a:srgbClr val="002060"/>
                    </a:solidFill>
                    <a:latin typeface="Times New Roman" panose="02020603050405020304" pitchFamily="18" charset="0"/>
                    <a:cs typeface="Times New Roman" panose="02020603050405020304" pitchFamily="18" charset="0"/>
                  </a:rPr>
                  <a:t>is given as</a:t>
                </a:r>
              </a:p>
              <a:p>
                <a:pPr algn="just"/>
                <a:endParaRPr lang="en-IN" sz="1800" b="1" dirty="0">
                  <a:solidFill>
                    <a:srgbClr val="002060"/>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d>
                        <m:dPr>
                          <m:begChr m:val="["/>
                          <m:endChr m:val="]"/>
                          <m:ctrlPr>
                            <a:rPr lang="en-IN" sz="2000" b="1" i="1" smtClean="0">
                              <a:solidFill>
                                <a:srgbClr val="002060"/>
                              </a:solidFill>
                              <a:latin typeface="Cambria Math"/>
                              <a:cs typeface="Times New Roman" panose="02020603050405020304" pitchFamily="18" charset="0"/>
                            </a:rPr>
                          </m:ctrlPr>
                        </m:dPr>
                        <m:e>
                          <m:eqArr>
                            <m:eqArrPr>
                              <m:ctrlPr>
                                <a:rPr lang="en-IN" sz="2000" b="1" i="1">
                                  <a:solidFill>
                                    <a:srgbClr val="002060"/>
                                  </a:solidFill>
                                  <a:latin typeface="Cambria Math"/>
                                  <a:cs typeface="Times New Roman" panose="02020603050405020304" pitchFamily="18" charset="0"/>
                                </a:rPr>
                              </m:ctrlPr>
                            </m:eqArrPr>
                            <m:e>
                              <m:m>
                                <m:mPr>
                                  <m:mcs>
                                    <m:mc>
                                      <m:mcPr>
                                        <m:count m:val="2"/>
                                        <m:mcJc m:val="center"/>
                                      </m:mcPr>
                                    </m:mc>
                                  </m:mcs>
                                  <m:ctrlPr>
                                    <a:rPr lang="en-IN" sz="2000" b="1" i="1">
                                      <a:solidFill>
                                        <a:srgbClr val="002060"/>
                                      </a:solidFill>
                                      <a:latin typeface="Cambria Math"/>
                                      <a:cs typeface="Times New Roman" panose="02020603050405020304" pitchFamily="18" charset="0"/>
                                    </a:rPr>
                                  </m:ctrlPr>
                                </m:mPr>
                                <m:mr>
                                  <m:e>
                                    <m:r>
                                      <m:rPr>
                                        <m:brk m:alnAt="7"/>
                                      </m:rPr>
                                      <a:rPr lang="en-IN" sz="2000" b="1" i="1">
                                        <a:solidFill>
                                          <a:srgbClr val="002060"/>
                                        </a:solidFill>
                                        <a:latin typeface="Cambria Math" panose="02040503050406030204" pitchFamily="18" charset="0"/>
                                        <a:cs typeface="Times New Roman" panose="02020603050405020304" pitchFamily="18" charset="0"/>
                                      </a:rPr>
                                      <m:t>𝑪</m:t>
                                    </m:r>
                                    <m:r>
                                      <a:rPr lang="en-IN" sz="2000" b="1" i="1" baseline="-25000">
                                        <a:solidFill>
                                          <a:srgbClr val="002060"/>
                                        </a:solidFill>
                                        <a:latin typeface="Cambria Math" panose="02040503050406030204" pitchFamily="18" charset="0"/>
                                        <a:cs typeface="Times New Roman" panose="02020603050405020304" pitchFamily="18" charset="0"/>
                                      </a:rPr>
                                      <m:t>𝟏𝟏</m:t>
                                    </m:r>
                                  </m:e>
                                  <m:e>
                                    <m:r>
                                      <a:rPr lang="en-IN" sz="2000" b="1" i="1">
                                        <a:solidFill>
                                          <a:srgbClr val="002060"/>
                                        </a:solidFill>
                                        <a:latin typeface="Cambria Math" panose="02040503050406030204" pitchFamily="18" charset="0"/>
                                        <a:cs typeface="Times New Roman" panose="02020603050405020304" pitchFamily="18" charset="0"/>
                                      </a:rPr>
                                      <m:t>𝑪</m:t>
                                    </m:r>
                                    <m:r>
                                      <a:rPr lang="en-IN" sz="2000" b="1" i="1" baseline="-25000">
                                        <a:solidFill>
                                          <a:srgbClr val="002060"/>
                                        </a:solidFill>
                                        <a:latin typeface="Cambria Math" panose="02040503050406030204" pitchFamily="18" charset="0"/>
                                        <a:cs typeface="Times New Roman" panose="02020603050405020304" pitchFamily="18" charset="0"/>
                                      </a:rPr>
                                      <m:t>𝟏𝟐</m:t>
                                    </m:r>
                                  </m:e>
                                </m:mr>
                                <m:mr>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𝑪</m:t>
                                        </m:r>
                                        <m:r>
                                          <a:rPr lang="en-IN" sz="2000" b="1" i="1" baseline="-25000">
                                            <a:solidFill>
                                              <a:srgbClr val="002060"/>
                                            </a:solidFill>
                                            <a:latin typeface="Cambria Math" panose="02040503050406030204" pitchFamily="18" charset="0"/>
                                            <a:cs typeface="Times New Roman" panose="02020603050405020304" pitchFamily="18" charset="0"/>
                                          </a:rPr>
                                          <m:t>𝟐𝟏</m:t>
                                        </m:r>
                                      </m:e>
                                    </m:eqArr>
                                  </m:e>
                                  <m:e>
                                    <m:eqArr>
                                      <m:eqArrPr>
                                        <m:ctrlPr>
                                          <a:rPr lang="en-IN" sz="2000" b="1" i="1">
                                            <a:solidFill>
                                              <a:srgbClr val="002060"/>
                                            </a:solidFill>
                                            <a:latin typeface="Cambria Math"/>
                                            <a:cs typeface="Times New Roman" panose="02020603050405020304" pitchFamily="18" charset="0"/>
                                          </a:rPr>
                                        </m:ctrlPr>
                                      </m:eqArrPr>
                                      <m:e/>
                                      <m:e>
                                        <m:r>
                                          <a:rPr lang="en-IN" sz="2000" b="1" i="1">
                                            <a:solidFill>
                                              <a:srgbClr val="002060"/>
                                            </a:solidFill>
                                            <a:latin typeface="Cambria Math" panose="02040503050406030204" pitchFamily="18" charset="0"/>
                                            <a:cs typeface="Times New Roman" panose="02020603050405020304" pitchFamily="18" charset="0"/>
                                          </a:rPr>
                                          <m:t>𝑪</m:t>
                                        </m:r>
                                        <m:r>
                                          <a:rPr lang="en-IN" sz="2000" b="1" i="1" baseline="-25000">
                                            <a:solidFill>
                                              <a:srgbClr val="002060"/>
                                            </a:solidFill>
                                            <a:latin typeface="Cambria Math" panose="02040503050406030204" pitchFamily="18" charset="0"/>
                                            <a:cs typeface="Times New Roman" panose="02020603050405020304" pitchFamily="18" charset="0"/>
                                          </a:rPr>
                                          <m:t>𝟐𝟐</m:t>
                                        </m:r>
                                      </m:e>
                                    </m:eqArr>
                                  </m:e>
                                </m:mr>
                              </m:m>
                            </m:e>
                            <m:e/>
                          </m:eqArr>
                        </m:e>
                      </m:d>
                    </m:oMath>
                  </m:oMathPara>
                </a14:m>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11</a:t>
                </a:r>
                <a:r>
                  <a:rPr lang="en-IN" sz="2000" b="1" dirty="0">
                    <a:solidFill>
                      <a:srgbClr val="002060"/>
                    </a:solidFill>
                    <a:latin typeface="Times New Roman" panose="02020603050405020304" pitchFamily="18" charset="0"/>
                    <a:cs typeface="Times New Roman" panose="02020603050405020304" pitchFamily="18" charset="0"/>
                  </a:rPr>
                  <a:t> = P + S – T + </a:t>
                </a:r>
                <a:r>
                  <a:rPr lang="en-IN" sz="2000" b="1" dirty="0" smtClean="0">
                    <a:solidFill>
                      <a:srgbClr val="002060"/>
                    </a:solidFill>
                    <a:latin typeface="Times New Roman" panose="02020603050405020304" pitchFamily="18" charset="0"/>
                    <a:cs typeface="Times New Roman" panose="02020603050405020304" pitchFamily="18" charset="0"/>
                  </a:rPr>
                  <a:t>V= </a:t>
                </a:r>
                <a:r>
                  <a:rPr lang="en-IN" sz="2000" b="1" dirty="0" smtClean="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a:rPr lang="en-IN" sz="2000" b="1" i="1">
                                      <a:solidFill>
                                        <a:srgbClr val="C00000"/>
                                      </a:solidFill>
                                      <a:latin typeface="Cambria Math" panose="02040503050406030204" pitchFamily="18" charset="0"/>
                                      <a:cs typeface="Times New Roman" panose="02020603050405020304" pitchFamily="18" charset="0"/>
                                    </a:rPr>
                                    <m:t>𝟒</m:t>
                                  </m:r>
                                </m:e>
                                <m:e>
                                  <m:r>
                                    <a:rPr lang="en-IN" sz="2000" b="1" i="1">
                                      <a:solidFill>
                                        <a:srgbClr val="C00000"/>
                                      </a:solidFill>
                                      <a:latin typeface="Cambria Math" panose="02040503050406030204" pitchFamily="18" charset="0"/>
                                      <a:cs typeface="Times New Roman" panose="02020603050405020304" pitchFamily="18" charset="0"/>
                                    </a:rPr>
                                    <m:t>𝟖</m:t>
                                  </m:r>
                                </m:e>
                              </m:mr>
                              <m:mr>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𝟐𝟎</m:t>
                                      </m:r>
                                    </m:e>
                                  </m:eqArr>
                                </m:e>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𝟏𝟒</m:t>
                                      </m:r>
                                    </m:e>
                                  </m:eqArr>
                                </m:e>
                              </m:mr>
                            </m:m>
                          </m:e>
                          <m:e/>
                        </m:eqArr>
                      </m:e>
                    </m:d>
                  </m:oMath>
                </a14:m>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a:rPr lang="en-IN" sz="2000" b="1" i="1">
                                      <a:solidFill>
                                        <a:srgbClr val="C00000"/>
                                      </a:solidFill>
                                      <a:latin typeface="Cambria Math" panose="02040503050406030204" pitchFamily="18" charset="0"/>
                                      <a:cs typeface="Times New Roman" panose="02020603050405020304" pitchFamily="18" charset="0"/>
                                    </a:rPr>
                                    <m:t>𝟔</m:t>
                                  </m:r>
                                </m:e>
                                <m:e>
                                  <m:r>
                                    <a:rPr lang="en-IN" sz="2000" b="1" i="1">
                                      <a:solidFill>
                                        <a:srgbClr val="C00000"/>
                                      </a:solidFill>
                                      <a:latin typeface="Cambria Math" panose="02040503050406030204" pitchFamily="18" charset="0"/>
                                      <a:cs typeface="Times New Roman" panose="02020603050405020304" pitchFamily="18" charset="0"/>
                                    </a:rPr>
                                    <m:t>−</m:t>
                                  </m:r>
                                  <m:r>
                                    <a:rPr lang="en-IN" sz="2000" b="1" i="1">
                                      <a:solidFill>
                                        <a:srgbClr val="C00000"/>
                                      </a:solidFill>
                                      <a:latin typeface="Cambria Math" panose="02040503050406030204" pitchFamily="18" charset="0"/>
                                      <a:cs typeface="Times New Roman" panose="02020603050405020304" pitchFamily="18" charset="0"/>
                                    </a:rPr>
                                    <m:t>𝟑</m:t>
                                  </m:r>
                                </m:e>
                              </m:mr>
                              <m:mr>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𝟑</m:t>
                                      </m:r>
                                    </m:e>
                                  </m:eqArr>
                                </m:e>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𝟎</m:t>
                                      </m:r>
                                    </m:e>
                                  </m:eqArr>
                                </m:e>
                              </m:mr>
                            </m:m>
                          </m:e>
                          <m:e/>
                        </m:eqArr>
                      </m:e>
                    </m:d>
                  </m:oMath>
                </a14:m>
                <a:r>
                  <a:rPr lang="en-IN" sz="2000" b="1" dirty="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a:rPr lang="en-IN" sz="2000" b="1" i="1">
                                      <a:solidFill>
                                        <a:srgbClr val="C00000"/>
                                      </a:solidFill>
                                      <a:latin typeface="Cambria Math" panose="02040503050406030204" pitchFamily="18" charset="0"/>
                                      <a:cs typeface="Times New Roman" panose="02020603050405020304" pitchFamily="18" charset="0"/>
                                    </a:rPr>
                                    <m:t>𝟖</m:t>
                                  </m:r>
                                </m:e>
                                <m:e>
                                  <m:r>
                                    <a:rPr lang="en-IN" sz="2000" b="1" i="1">
                                      <a:solidFill>
                                        <a:srgbClr val="C00000"/>
                                      </a:solidFill>
                                      <a:latin typeface="Cambria Math" panose="02040503050406030204" pitchFamily="18" charset="0"/>
                                      <a:cs typeface="Times New Roman" panose="02020603050405020304" pitchFamily="18" charset="0"/>
                                    </a:rPr>
                                    <m:t>𝟑</m:t>
                                  </m:r>
                                </m:e>
                              </m:mr>
                              <m:mr>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𝟏𝟎</m:t>
                                      </m:r>
                                    </m:e>
                                  </m:eqArr>
                                </m:e>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𝟓</m:t>
                                      </m:r>
                                    </m:e>
                                  </m:eqArr>
                                </m:e>
                              </m:mr>
                            </m:m>
                          </m:e>
                          <m:e/>
                        </m:eqArr>
                      </m:e>
                    </m:d>
                  </m:oMath>
                </a14:m>
                <a:r>
                  <a:rPr lang="en-IN" sz="2000" b="1" dirty="0" smtClean="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a:rPr lang="en-IN" sz="2000" b="1" i="1">
                                      <a:solidFill>
                                        <a:srgbClr val="C00000"/>
                                      </a:solidFill>
                                      <a:latin typeface="Cambria Math" panose="02040503050406030204" pitchFamily="18" charset="0"/>
                                      <a:cs typeface="Times New Roman" panose="02020603050405020304" pitchFamily="18" charset="0"/>
                                    </a:rPr>
                                    <m:t>𝟑</m:t>
                                  </m:r>
                                </m:e>
                                <m:e>
                                  <m:r>
                                    <a:rPr lang="en-IN" sz="2000" b="1" i="1">
                                      <a:solidFill>
                                        <a:srgbClr val="C00000"/>
                                      </a:solidFill>
                                      <a:latin typeface="Cambria Math" panose="02040503050406030204" pitchFamily="18" charset="0"/>
                                      <a:cs typeface="Times New Roman" panose="02020603050405020304" pitchFamily="18" charset="0"/>
                                    </a:rPr>
                                    <m:t>𝟐</m:t>
                                  </m:r>
                                </m:e>
                              </m:mr>
                              <m:mr>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m:t>
                                      </m:r>
                                      <m:r>
                                        <a:rPr lang="en-IN" sz="2000" b="1" i="1">
                                          <a:solidFill>
                                            <a:srgbClr val="C00000"/>
                                          </a:solidFill>
                                          <a:latin typeface="Cambria Math" panose="02040503050406030204" pitchFamily="18" charset="0"/>
                                          <a:cs typeface="Times New Roman" panose="02020603050405020304" pitchFamily="18" charset="0"/>
                                        </a:rPr>
                                        <m:t>𝟗</m:t>
                                      </m:r>
                                    </m:e>
                                  </m:eqArr>
                                </m:e>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m:t>
                                      </m:r>
                                      <m:r>
                                        <a:rPr lang="en-IN" sz="2000" b="1" i="1">
                                          <a:solidFill>
                                            <a:srgbClr val="C00000"/>
                                          </a:solidFill>
                                          <a:latin typeface="Cambria Math" panose="02040503050406030204" pitchFamily="18" charset="0"/>
                                          <a:cs typeface="Times New Roman" panose="02020603050405020304" pitchFamily="18" charset="0"/>
                                        </a:rPr>
                                        <m:t>𝟒</m:t>
                                      </m:r>
                                    </m:e>
                                  </m:eqArr>
                                </m:e>
                              </m:mr>
                            </m:m>
                          </m:e>
                          <m:e/>
                        </m:eqArr>
                      </m:e>
                    </m:d>
                  </m:oMath>
                </a14:m>
                <a:r>
                  <a:rPr lang="en-IN" sz="2000" b="1" dirty="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a:t>
                </a:r>
                <a:r>
                  <a:rPr lang="en-IN" sz="1400" b="1" dirty="0" smtClean="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a:rPr lang="en-IN" sz="2000" b="1" i="1" smtClean="0">
                                      <a:solidFill>
                                        <a:srgbClr val="C00000"/>
                                      </a:solidFill>
                                      <a:latin typeface="Cambria Math" panose="02040503050406030204" pitchFamily="18" charset="0"/>
                                      <a:cs typeface="Times New Roman" panose="02020603050405020304" pitchFamily="18" charset="0"/>
                                    </a:rPr>
                                    <m:t>𝟓</m:t>
                                  </m:r>
                                </m:e>
                                <m:e>
                                  <m:r>
                                    <a:rPr lang="en-IN" sz="2000" b="1" i="1" smtClean="0">
                                      <a:solidFill>
                                        <a:srgbClr val="C00000"/>
                                      </a:solidFill>
                                      <a:latin typeface="Cambria Math" panose="02040503050406030204" pitchFamily="18" charset="0"/>
                                      <a:cs typeface="Times New Roman" panose="02020603050405020304" pitchFamily="18" charset="0"/>
                                    </a:rPr>
                                    <m:t>𝟒</m:t>
                                  </m:r>
                                </m:e>
                              </m:mr>
                              <m:mr>
                                <m:e>
                                  <m:eqArr>
                                    <m:eqArrPr>
                                      <m:ctrlPr>
                                        <a:rPr lang="en-IN" sz="2000" b="1" i="1">
                                          <a:solidFill>
                                            <a:srgbClr val="C00000"/>
                                          </a:solidFill>
                                          <a:latin typeface="Cambria Math"/>
                                          <a:cs typeface="Times New Roman" panose="02020603050405020304" pitchFamily="18" charset="0"/>
                                        </a:rPr>
                                      </m:ctrlPr>
                                    </m:eqArrPr>
                                    <m:e/>
                                    <m:e>
                                      <m:r>
                                        <a:rPr lang="en-IN" sz="2000" b="1" i="1" smtClean="0">
                                          <a:solidFill>
                                            <a:srgbClr val="C00000"/>
                                          </a:solidFill>
                                          <a:latin typeface="Cambria Math" panose="02040503050406030204" pitchFamily="18" charset="0"/>
                                          <a:cs typeface="Times New Roman" panose="02020603050405020304" pitchFamily="18" charset="0"/>
                                        </a:rPr>
                                        <m:t>𝟒</m:t>
                                      </m:r>
                                    </m:e>
                                  </m:eqArr>
                                </m:e>
                                <m:e>
                                  <m:eqArr>
                                    <m:eqArrPr>
                                      <m:ctrlPr>
                                        <a:rPr lang="en-IN" sz="2000" b="1" i="1">
                                          <a:solidFill>
                                            <a:srgbClr val="C00000"/>
                                          </a:solidFill>
                                          <a:latin typeface="Cambria Math"/>
                                          <a:cs typeface="Times New Roman" panose="02020603050405020304" pitchFamily="18" charset="0"/>
                                        </a:rPr>
                                      </m:ctrlPr>
                                    </m:eqArrPr>
                                    <m:e/>
                                    <m:e>
                                      <m:r>
                                        <a:rPr lang="en-IN" sz="2000" b="1" i="1" smtClean="0">
                                          <a:solidFill>
                                            <a:srgbClr val="C00000"/>
                                          </a:solidFill>
                                          <a:latin typeface="Cambria Math" panose="02040503050406030204" pitchFamily="18" charset="0"/>
                                          <a:cs typeface="Times New Roman" panose="02020603050405020304" pitchFamily="18" charset="0"/>
                                        </a:rPr>
                                        <m:t>𝟓</m:t>
                                      </m:r>
                                    </m:e>
                                  </m:eqArr>
                                </m:e>
                              </m:mr>
                            </m:m>
                          </m:e>
                          <m:e/>
                        </m:eqArr>
                      </m:e>
                    </m:d>
                  </m:oMath>
                </a14:m>
                <a:endParaRPr lang="en-IN" sz="3200" b="1" dirty="0">
                  <a:solidFill>
                    <a:srgbClr val="C00000"/>
                  </a:solidFill>
                  <a:latin typeface="Times New Roman" panose="02020603050405020304" pitchFamily="18" charset="0"/>
                  <a:cs typeface="Times New Roman" panose="02020603050405020304" pitchFamily="18" charset="0"/>
                </a:endParaRPr>
              </a:p>
              <a:p>
                <a:pPr algn="just"/>
                <a:r>
                  <a:rPr lang="en-IN" sz="2000" b="1" dirty="0" smtClean="0">
                    <a:solidFill>
                      <a:srgbClr val="C00000"/>
                    </a:solidFill>
                    <a:latin typeface="Times New Roman" panose="02020603050405020304" pitchFamily="18" charset="0"/>
                    <a:cs typeface="Times New Roman" panose="02020603050405020304" pitchFamily="18" charset="0"/>
                  </a:rPr>
                  <a:t> </a:t>
                </a:r>
                <a:endParaRPr lang="en-IN" sz="3200" b="1" dirty="0">
                  <a:solidFill>
                    <a:srgbClr val="C0000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C</a:t>
                </a:r>
                <a:r>
                  <a:rPr lang="en-IN" sz="2000" b="1" baseline="-25000" dirty="0" smtClean="0">
                    <a:solidFill>
                      <a:srgbClr val="002060"/>
                    </a:solidFill>
                    <a:latin typeface="Times New Roman" panose="02020603050405020304" pitchFamily="18" charset="0"/>
                    <a:cs typeface="Times New Roman" panose="02020603050405020304" pitchFamily="18" charset="0"/>
                  </a:rPr>
                  <a:t>12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R + </a:t>
                </a:r>
                <a:r>
                  <a:rPr lang="en-IN" sz="2000" b="1" dirty="0" smtClean="0">
                    <a:solidFill>
                      <a:srgbClr val="002060"/>
                    </a:solidFill>
                    <a:latin typeface="Times New Roman" panose="02020603050405020304" pitchFamily="18" charset="0"/>
                    <a:cs typeface="Times New Roman" panose="02020603050405020304" pitchFamily="18" charset="0"/>
                  </a:rPr>
                  <a:t>T= </a:t>
                </a:r>
                <a:r>
                  <a:rPr lang="en-IN" sz="2000" b="1" dirty="0" smtClean="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m:rPr>
                                      <m:brk m:alnAt="7"/>
                                    </m:rPr>
                                    <a:rPr lang="en-IN" sz="2000" b="1" i="1">
                                      <a:solidFill>
                                        <a:srgbClr val="C00000"/>
                                      </a:solidFill>
                                      <a:latin typeface="Cambria Math" panose="02040503050406030204" pitchFamily="18" charset="0"/>
                                      <a:cs typeface="Times New Roman" panose="02020603050405020304" pitchFamily="18" charset="0"/>
                                    </a:rPr>
                                    <m:t>−</m:t>
                                  </m:r>
                                  <m:r>
                                    <a:rPr lang="en-IN" sz="2000" b="1" i="1">
                                      <a:solidFill>
                                        <a:srgbClr val="C00000"/>
                                      </a:solidFill>
                                      <a:latin typeface="Cambria Math" panose="02040503050406030204" pitchFamily="18" charset="0"/>
                                      <a:cs typeface="Times New Roman" panose="02020603050405020304" pitchFamily="18" charset="0"/>
                                    </a:rPr>
                                    <m:t>𝟏</m:t>
                                  </m:r>
                                </m:e>
                                <m:e>
                                  <m:r>
                                    <a:rPr lang="en-IN" sz="2000" b="1" i="1">
                                      <a:solidFill>
                                        <a:srgbClr val="C00000"/>
                                      </a:solidFill>
                                      <a:latin typeface="Cambria Math" panose="02040503050406030204" pitchFamily="18" charset="0"/>
                                      <a:cs typeface="Times New Roman" panose="02020603050405020304" pitchFamily="18" charset="0"/>
                                    </a:rPr>
                                    <m:t>𝟎</m:t>
                                  </m:r>
                                </m:e>
                              </m:mr>
                              <m:mr>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m:t>
                                      </m:r>
                                      <m:r>
                                        <a:rPr lang="en-IN" sz="2000" b="1" i="1">
                                          <a:solidFill>
                                            <a:srgbClr val="C00000"/>
                                          </a:solidFill>
                                          <a:latin typeface="Cambria Math" panose="02040503050406030204" pitchFamily="18" charset="0"/>
                                          <a:cs typeface="Times New Roman" panose="02020603050405020304" pitchFamily="18" charset="0"/>
                                        </a:rPr>
                                        <m:t>𝟗</m:t>
                                      </m:r>
                                    </m:e>
                                  </m:eqArr>
                                </m:e>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𝟒</m:t>
                                      </m:r>
                                    </m:e>
                                  </m:eqArr>
                                </m:e>
                              </m:mr>
                            </m:m>
                          </m:e>
                          <m:e/>
                        </m:eqArr>
                      </m:e>
                    </m:d>
                  </m:oMath>
                </a14:m>
                <a:r>
                  <a:rPr lang="en-IN" sz="2000" b="1" dirty="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a:rPr lang="en-IN" sz="2000" b="1" i="1">
                                      <a:solidFill>
                                        <a:srgbClr val="C00000"/>
                                      </a:solidFill>
                                      <a:latin typeface="Cambria Math" panose="02040503050406030204" pitchFamily="18" charset="0"/>
                                      <a:cs typeface="Times New Roman" panose="02020603050405020304" pitchFamily="18" charset="0"/>
                                    </a:rPr>
                                    <m:t>𝟖</m:t>
                                  </m:r>
                                </m:e>
                                <m:e>
                                  <m:r>
                                    <a:rPr lang="en-IN" sz="2000" b="1" i="1">
                                      <a:solidFill>
                                        <a:srgbClr val="C00000"/>
                                      </a:solidFill>
                                      <a:latin typeface="Cambria Math" panose="02040503050406030204" pitchFamily="18" charset="0"/>
                                      <a:cs typeface="Times New Roman" panose="02020603050405020304" pitchFamily="18" charset="0"/>
                                    </a:rPr>
                                    <m:t>𝟑</m:t>
                                  </m:r>
                                </m:e>
                              </m:mr>
                              <m:mr>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𝟏𝟎</m:t>
                                      </m:r>
                                    </m:e>
                                  </m:eqArr>
                                </m:e>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𝟓</m:t>
                                      </m:r>
                                    </m:e>
                                  </m:eqArr>
                                </m:e>
                              </m:mr>
                            </m:m>
                          </m:e>
                          <m:e/>
                        </m:eqArr>
                      </m:e>
                    </m:d>
                  </m:oMath>
                </a14:m>
                <a:r>
                  <a:rPr lang="en-IN" b="1" dirty="0" smtClean="0">
                    <a:solidFill>
                      <a:srgbClr val="C00000"/>
                    </a:solidFill>
                    <a:latin typeface="Times New Roman" panose="02020603050405020304" pitchFamily="18" charset="0"/>
                    <a:cs typeface="Times New Roman" panose="02020603050405020304" pitchFamily="18" charset="0"/>
                  </a:rPr>
                  <a:t>=</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a:rPr lang="en-IN" sz="2000" b="1" i="1" smtClean="0">
                                      <a:solidFill>
                                        <a:srgbClr val="C00000"/>
                                      </a:solidFill>
                                      <a:latin typeface="Cambria Math" panose="02040503050406030204" pitchFamily="18" charset="0"/>
                                      <a:cs typeface="Times New Roman" panose="02020603050405020304" pitchFamily="18" charset="0"/>
                                    </a:rPr>
                                    <m:t>𝟕</m:t>
                                  </m:r>
                                </m:e>
                                <m:e>
                                  <m:r>
                                    <a:rPr lang="en-IN" sz="2000" b="1" i="1" smtClean="0">
                                      <a:solidFill>
                                        <a:srgbClr val="C00000"/>
                                      </a:solidFill>
                                      <a:latin typeface="Cambria Math" panose="02040503050406030204" pitchFamily="18" charset="0"/>
                                      <a:cs typeface="Times New Roman" panose="02020603050405020304" pitchFamily="18" charset="0"/>
                                    </a:rPr>
                                    <m:t>𝟑</m:t>
                                  </m:r>
                                </m:e>
                              </m:mr>
                              <m:mr>
                                <m:e>
                                  <m:eqArr>
                                    <m:eqArrPr>
                                      <m:ctrlPr>
                                        <a:rPr lang="en-IN" sz="2000" b="1" i="1">
                                          <a:solidFill>
                                            <a:srgbClr val="C00000"/>
                                          </a:solidFill>
                                          <a:latin typeface="Cambria Math"/>
                                          <a:cs typeface="Times New Roman" panose="02020603050405020304" pitchFamily="18" charset="0"/>
                                        </a:rPr>
                                      </m:ctrlPr>
                                    </m:eqArrPr>
                                    <m:e/>
                                    <m:e>
                                      <m:r>
                                        <a:rPr lang="en-IN" sz="2000" b="1" i="1" smtClean="0">
                                          <a:solidFill>
                                            <a:srgbClr val="C00000"/>
                                          </a:solidFill>
                                          <a:latin typeface="Cambria Math" panose="02040503050406030204" pitchFamily="18" charset="0"/>
                                          <a:cs typeface="Times New Roman" panose="02020603050405020304" pitchFamily="18" charset="0"/>
                                        </a:rPr>
                                        <m:t>𝟏</m:t>
                                      </m:r>
                                    </m:e>
                                  </m:eqArr>
                                </m:e>
                                <m:e>
                                  <m:eqArr>
                                    <m:eqArrPr>
                                      <m:ctrlPr>
                                        <a:rPr lang="en-IN" sz="2000" b="1" i="1">
                                          <a:solidFill>
                                            <a:srgbClr val="C00000"/>
                                          </a:solidFill>
                                          <a:latin typeface="Cambria Math"/>
                                          <a:cs typeface="Times New Roman" panose="02020603050405020304" pitchFamily="18" charset="0"/>
                                        </a:rPr>
                                      </m:ctrlPr>
                                    </m:eqArrPr>
                                    <m:e/>
                                    <m:e>
                                      <m:r>
                                        <a:rPr lang="en-IN" sz="2000" b="1" i="1" smtClean="0">
                                          <a:solidFill>
                                            <a:srgbClr val="C00000"/>
                                          </a:solidFill>
                                          <a:latin typeface="Cambria Math" panose="02040503050406030204" pitchFamily="18" charset="0"/>
                                          <a:cs typeface="Times New Roman" panose="02020603050405020304" pitchFamily="18" charset="0"/>
                                        </a:rPr>
                                        <m:t>𝟗</m:t>
                                      </m:r>
                                    </m:e>
                                  </m:eqArr>
                                </m:e>
                              </m:mr>
                            </m:m>
                          </m:e>
                          <m:e/>
                        </m:eqArr>
                      </m:e>
                    </m:d>
                  </m:oMath>
                </a14:m>
                <a:endParaRPr lang="en-IN" b="1" dirty="0">
                  <a:solidFill>
                    <a:srgbClr val="C00000"/>
                  </a:solidFill>
                  <a:latin typeface="Times New Roman" panose="02020603050405020304" pitchFamily="18" charset="0"/>
                  <a:cs typeface="Times New Roman" panose="02020603050405020304" pitchFamily="18" charset="0"/>
                </a:endParaRPr>
              </a:p>
              <a:p>
                <a:pPr algn="just"/>
                <a:endParaRPr lang="en-IN" sz="2000" b="1" baseline="-25000"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21</a:t>
                </a:r>
                <a:r>
                  <a:rPr lang="en-IN" sz="2000" b="1" dirty="0">
                    <a:solidFill>
                      <a:srgbClr val="002060"/>
                    </a:solidFill>
                    <a:latin typeface="Times New Roman" panose="02020603050405020304" pitchFamily="18" charset="0"/>
                    <a:cs typeface="Times New Roman" panose="02020603050405020304" pitchFamily="18" charset="0"/>
                  </a:rPr>
                  <a:t> = Q + </a:t>
                </a:r>
                <a:r>
                  <a:rPr lang="en-IN" sz="2000" b="1" dirty="0" smtClean="0">
                    <a:solidFill>
                      <a:srgbClr val="002060"/>
                    </a:solidFill>
                    <a:latin typeface="Times New Roman" panose="02020603050405020304" pitchFamily="18" charset="0"/>
                    <a:cs typeface="Times New Roman" panose="02020603050405020304" pitchFamily="18" charset="0"/>
                  </a:rPr>
                  <a:t>S = </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a:rPr lang="en-IN" sz="2000" b="1" i="1">
                                      <a:solidFill>
                                        <a:srgbClr val="C00000"/>
                                      </a:solidFill>
                                      <a:latin typeface="Cambria Math" panose="02040503050406030204" pitchFamily="18" charset="0"/>
                                      <a:cs typeface="Times New Roman" panose="02020603050405020304" pitchFamily="18" charset="0"/>
                                    </a:rPr>
                                    <m:t>𝟐</m:t>
                                  </m:r>
                                </m:e>
                                <m:e>
                                  <m:r>
                                    <a:rPr lang="en-IN" sz="2000" b="1" i="1">
                                      <a:solidFill>
                                        <a:srgbClr val="C00000"/>
                                      </a:solidFill>
                                      <a:latin typeface="Cambria Math" panose="02040503050406030204" pitchFamily="18" charset="0"/>
                                      <a:cs typeface="Times New Roman" panose="02020603050405020304" pitchFamily="18" charset="0"/>
                                    </a:rPr>
                                    <m:t>𝟒</m:t>
                                  </m:r>
                                </m:e>
                              </m:mr>
                              <m:mr>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𝟐</m:t>
                                      </m:r>
                                    </m:e>
                                  </m:eqArr>
                                </m:e>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𝟖</m:t>
                                      </m:r>
                                    </m:e>
                                  </m:eqArr>
                                </m:e>
                              </m:mr>
                            </m:m>
                          </m:e>
                          <m:e/>
                        </m:eqArr>
                      </m:e>
                    </m:d>
                  </m:oMath>
                </a14:m>
                <a:r>
                  <a:rPr lang="en-IN" sz="2000" b="1" dirty="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a:t>
                </a:r>
                <a14:m>
                  <m:oMath xmlns:m="http://schemas.openxmlformats.org/officeDocument/2006/math">
                    <m:d>
                      <m:dPr>
                        <m:begChr m:val="["/>
                        <m:endChr m:val="]"/>
                        <m:ctrlPr>
                          <a:rPr lang="en-IN" sz="2200" b="1" i="1">
                            <a:solidFill>
                              <a:srgbClr val="C00000"/>
                            </a:solidFill>
                            <a:latin typeface="Cambria Math"/>
                            <a:cs typeface="Times New Roman" panose="02020603050405020304" pitchFamily="18" charset="0"/>
                          </a:rPr>
                        </m:ctrlPr>
                      </m:dPr>
                      <m:e>
                        <m:eqArr>
                          <m:eqArrPr>
                            <m:ctrlPr>
                              <a:rPr lang="en-IN" sz="2200" b="1" i="1">
                                <a:solidFill>
                                  <a:srgbClr val="C00000"/>
                                </a:solidFill>
                                <a:latin typeface="Cambria Math"/>
                                <a:cs typeface="Times New Roman" panose="02020603050405020304" pitchFamily="18" charset="0"/>
                              </a:rPr>
                            </m:ctrlPr>
                          </m:eqArrPr>
                          <m:e>
                            <m:m>
                              <m:mPr>
                                <m:mcs>
                                  <m:mc>
                                    <m:mcPr>
                                      <m:count m:val="2"/>
                                      <m:mcJc m:val="center"/>
                                    </m:mcPr>
                                  </m:mc>
                                </m:mcs>
                                <m:ctrlPr>
                                  <a:rPr lang="en-IN" sz="2200" b="1" i="1">
                                    <a:solidFill>
                                      <a:srgbClr val="C00000"/>
                                    </a:solidFill>
                                    <a:latin typeface="Cambria Math"/>
                                    <a:cs typeface="Times New Roman" panose="02020603050405020304" pitchFamily="18" charset="0"/>
                                  </a:rPr>
                                </m:ctrlPr>
                              </m:mPr>
                              <m:mr>
                                <m:e>
                                  <m:r>
                                    <a:rPr lang="en-IN" sz="2200" b="1" i="1">
                                      <a:solidFill>
                                        <a:srgbClr val="C00000"/>
                                      </a:solidFill>
                                      <a:latin typeface="Cambria Math" panose="02040503050406030204" pitchFamily="18" charset="0"/>
                                      <a:cs typeface="Times New Roman" panose="02020603050405020304" pitchFamily="18" charset="0"/>
                                    </a:rPr>
                                    <m:t>𝟔</m:t>
                                  </m:r>
                                </m:e>
                                <m:e>
                                  <m:r>
                                    <a:rPr lang="en-IN" sz="2200" b="1" i="1">
                                      <a:solidFill>
                                        <a:srgbClr val="C00000"/>
                                      </a:solidFill>
                                      <a:latin typeface="Cambria Math" panose="02040503050406030204" pitchFamily="18" charset="0"/>
                                      <a:cs typeface="Times New Roman" panose="02020603050405020304" pitchFamily="18" charset="0"/>
                                    </a:rPr>
                                    <m:t>−</m:t>
                                  </m:r>
                                  <m:r>
                                    <a:rPr lang="en-IN" sz="2200" b="1" i="1">
                                      <a:solidFill>
                                        <a:srgbClr val="C00000"/>
                                      </a:solidFill>
                                      <a:latin typeface="Cambria Math" panose="02040503050406030204" pitchFamily="18" charset="0"/>
                                      <a:cs typeface="Times New Roman" panose="02020603050405020304" pitchFamily="18" charset="0"/>
                                    </a:rPr>
                                    <m:t>𝟑</m:t>
                                  </m:r>
                                </m:e>
                              </m:mr>
                              <m:mr>
                                <m:e>
                                  <m:eqArr>
                                    <m:eqArrPr>
                                      <m:ctrlPr>
                                        <a:rPr lang="en-IN" sz="2200" b="1" i="1">
                                          <a:solidFill>
                                            <a:srgbClr val="C00000"/>
                                          </a:solidFill>
                                          <a:latin typeface="Cambria Math"/>
                                          <a:cs typeface="Times New Roman" panose="02020603050405020304" pitchFamily="18" charset="0"/>
                                        </a:rPr>
                                      </m:ctrlPr>
                                    </m:eqArrPr>
                                    <m:e/>
                                    <m:e>
                                      <m:r>
                                        <a:rPr lang="en-IN" sz="2200" b="1" i="1">
                                          <a:solidFill>
                                            <a:srgbClr val="C00000"/>
                                          </a:solidFill>
                                          <a:latin typeface="Cambria Math" panose="02040503050406030204" pitchFamily="18" charset="0"/>
                                          <a:cs typeface="Times New Roman" panose="02020603050405020304" pitchFamily="18" charset="0"/>
                                        </a:rPr>
                                        <m:t>𝟑</m:t>
                                      </m:r>
                                    </m:e>
                                  </m:eqArr>
                                </m:e>
                                <m:e>
                                  <m:eqArr>
                                    <m:eqArrPr>
                                      <m:ctrlPr>
                                        <a:rPr lang="en-IN" sz="2200" b="1" i="1">
                                          <a:solidFill>
                                            <a:srgbClr val="C00000"/>
                                          </a:solidFill>
                                          <a:latin typeface="Cambria Math"/>
                                          <a:cs typeface="Times New Roman" panose="02020603050405020304" pitchFamily="18" charset="0"/>
                                        </a:rPr>
                                      </m:ctrlPr>
                                    </m:eqArrPr>
                                    <m:e/>
                                    <m:e>
                                      <m:r>
                                        <a:rPr lang="en-IN" sz="2200" b="1" i="1">
                                          <a:solidFill>
                                            <a:srgbClr val="C00000"/>
                                          </a:solidFill>
                                          <a:latin typeface="Cambria Math" panose="02040503050406030204" pitchFamily="18" charset="0"/>
                                          <a:cs typeface="Times New Roman" panose="02020603050405020304" pitchFamily="18" charset="0"/>
                                        </a:rPr>
                                        <m:t>𝟎</m:t>
                                      </m:r>
                                    </m:e>
                                  </m:eqArr>
                                </m:e>
                              </m:mr>
                            </m:m>
                          </m:e>
                          <m:e/>
                        </m:eqArr>
                      </m:e>
                    </m:d>
                  </m:oMath>
                </a14:m>
                <a:r>
                  <a:rPr lang="en-IN" sz="3200" b="1" dirty="0" smtClean="0">
                    <a:solidFill>
                      <a:srgbClr val="C00000"/>
                    </a:solidFill>
                    <a:latin typeface="Times New Roman" panose="02020603050405020304" pitchFamily="18" charset="0"/>
                    <a:cs typeface="Times New Roman" panose="02020603050405020304" pitchFamily="18" charset="0"/>
                  </a:rPr>
                  <a:t> </a:t>
                </a:r>
                <a:r>
                  <a:rPr lang="en-IN" sz="2200" b="1" dirty="0" smtClean="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sz="2200" b="1" i="1">
                            <a:solidFill>
                              <a:srgbClr val="C00000"/>
                            </a:solidFill>
                            <a:latin typeface="Cambria Math"/>
                            <a:cs typeface="Times New Roman" panose="02020603050405020304" pitchFamily="18" charset="0"/>
                          </a:rPr>
                        </m:ctrlPr>
                      </m:dPr>
                      <m:e>
                        <m:eqArr>
                          <m:eqArrPr>
                            <m:ctrlPr>
                              <a:rPr lang="en-IN" sz="2200" b="1" i="1">
                                <a:solidFill>
                                  <a:srgbClr val="C00000"/>
                                </a:solidFill>
                                <a:latin typeface="Cambria Math"/>
                                <a:cs typeface="Times New Roman" panose="02020603050405020304" pitchFamily="18" charset="0"/>
                              </a:rPr>
                            </m:ctrlPr>
                          </m:eqArrPr>
                          <m:e>
                            <m:m>
                              <m:mPr>
                                <m:mcs>
                                  <m:mc>
                                    <m:mcPr>
                                      <m:count m:val="2"/>
                                      <m:mcJc m:val="center"/>
                                    </m:mcPr>
                                  </m:mc>
                                </m:mcs>
                                <m:ctrlPr>
                                  <a:rPr lang="en-IN" sz="2200" b="1" i="1">
                                    <a:solidFill>
                                      <a:srgbClr val="C00000"/>
                                    </a:solidFill>
                                    <a:latin typeface="Cambria Math"/>
                                    <a:cs typeface="Times New Roman" panose="02020603050405020304" pitchFamily="18" charset="0"/>
                                  </a:rPr>
                                </m:ctrlPr>
                              </m:mPr>
                              <m:mr>
                                <m:e>
                                  <m:r>
                                    <a:rPr lang="en-IN" sz="2200" b="1" i="1" smtClean="0">
                                      <a:solidFill>
                                        <a:srgbClr val="C00000"/>
                                      </a:solidFill>
                                      <a:latin typeface="Cambria Math" panose="02040503050406030204" pitchFamily="18" charset="0"/>
                                      <a:cs typeface="Times New Roman" panose="02020603050405020304" pitchFamily="18" charset="0"/>
                                    </a:rPr>
                                    <m:t>𝟖</m:t>
                                  </m:r>
                                </m:e>
                                <m:e>
                                  <m:r>
                                    <a:rPr lang="en-IN" sz="2200" b="1" i="1" smtClean="0">
                                      <a:solidFill>
                                        <a:srgbClr val="C00000"/>
                                      </a:solidFill>
                                      <a:latin typeface="Cambria Math" panose="02040503050406030204" pitchFamily="18" charset="0"/>
                                      <a:cs typeface="Times New Roman" panose="02020603050405020304" pitchFamily="18" charset="0"/>
                                    </a:rPr>
                                    <m:t>𝟏</m:t>
                                  </m:r>
                                </m:e>
                              </m:mr>
                              <m:mr>
                                <m:e>
                                  <m:eqArr>
                                    <m:eqArrPr>
                                      <m:ctrlPr>
                                        <a:rPr lang="en-IN" sz="2200" b="1" i="1">
                                          <a:solidFill>
                                            <a:srgbClr val="C00000"/>
                                          </a:solidFill>
                                          <a:latin typeface="Cambria Math"/>
                                          <a:cs typeface="Times New Roman" panose="02020603050405020304" pitchFamily="18" charset="0"/>
                                        </a:rPr>
                                      </m:ctrlPr>
                                    </m:eqArrPr>
                                    <m:e/>
                                    <m:e>
                                      <m:r>
                                        <a:rPr lang="en-IN" sz="2200" b="1" i="1" smtClean="0">
                                          <a:solidFill>
                                            <a:srgbClr val="C00000"/>
                                          </a:solidFill>
                                          <a:latin typeface="Cambria Math" panose="02040503050406030204" pitchFamily="18" charset="0"/>
                                          <a:cs typeface="Times New Roman" panose="02020603050405020304" pitchFamily="18" charset="0"/>
                                        </a:rPr>
                                        <m:t>𝟓</m:t>
                                      </m:r>
                                    </m:e>
                                  </m:eqArr>
                                </m:e>
                                <m:e>
                                  <m:eqArr>
                                    <m:eqArrPr>
                                      <m:ctrlPr>
                                        <a:rPr lang="en-IN" sz="2200" b="1" i="1">
                                          <a:solidFill>
                                            <a:srgbClr val="C00000"/>
                                          </a:solidFill>
                                          <a:latin typeface="Cambria Math"/>
                                          <a:cs typeface="Times New Roman" panose="02020603050405020304" pitchFamily="18" charset="0"/>
                                        </a:rPr>
                                      </m:ctrlPr>
                                    </m:eqArrPr>
                                    <m:e/>
                                    <m:e>
                                      <m:r>
                                        <a:rPr lang="en-IN" sz="2200" b="1" i="1" smtClean="0">
                                          <a:solidFill>
                                            <a:srgbClr val="C00000"/>
                                          </a:solidFill>
                                          <a:latin typeface="Cambria Math" panose="02040503050406030204" pitchFamily="18" charset="0"/>
                                          <a:cs typeface="Times New Roman" panose="02020603050405020304" pitchFamily="18" charset="0"/>
                                        </a:rPr>
                                        <m:t>𝟖</m:t>
                                      </m:r>
                                    </m:e>
                                  </m:eqArr>
                                </m:e>
                              </m:mr>
                            </m:m>
                          </m:e>
                          <m:e/>
                        </m:eqArr>
                      </m:e>
                    </m:d>
                  </m:oMath>
                </a14:m>
                <a:endParaRPr lang="en-IN" sz="32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C</a:t>
                </a:r>
                <a:r>
                  <a:rPr lang="en-IN" sz="2000" b="1" baseline="-25000" dirty="0">
                    <a:solidFill>
                      <a:srgbClr val="002060"/>
                    </a:solidFill>
                    <a:latin typeface="Times New Roman" panose="02020603050405020304" pitchFamily="18" charset="0"/>
                    <a:cs typeface="Times New Roman" panose="02020603050405020304" pitchFamily="18" charset="0"/>
                  </a:rPr>
                  <a:t>22</a:t>
                </a:r>
                <a:r>
                  <a:rPr lang="en-IN" sz="2000" b="1" dirty="0">
                    <a:solidFill>
                      <a:srgbClr val="002060"/>
                    </a:solidFill>
                    <a:latin typeface="Times New Roman" panose="02020603050405020304" pitchFamily="18" charset="0"/>
                    <a:cs typeface="Times New Roman" panose="02020603050405020304" pitchFamily="18" charset="0"/>
                  </a:rPr>
                  <a:t> = P + R – Q + </a:t>
                </a:r>
                <a:r>
                  <a:rPr lang="en-IN" sz="2000" b="1" dirty="0" smtClean="0">
                    <a:solidFill>
                      <a:srgbClr val="002060"/>
                    </a:solidFill>
                    <a:latin typeface="Times New Roman" panose="02020603050405020304" pitchFamily="18" charset="0"/>
                    <a:cs typeface="Times New Roman" panose="02020603050405020304" pitchFamily="18" charset="0"/>
                  </a:rPr>
                  <a:t>U= </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a:rPr lang="en-IN" sz="2000" b="1" i="1">
                                      <a:solidFill>
                                        <a:srgbClr val="C00000"/>
                                      </a:solidFill>
                                      <a:latin typeface="Cambria Math" panose="02040503050406030204" pitchFamily="18" charset="0"/>
                                      <a:cs typeface="Times New Roman" panose="02020603050405020304" pitchFamily="18" charset="0"/>
                                    </a:rPr>
                                    <m:t>𝟒</m:t>
                                  </m:r>
                                </m:e>
                                <m:e>
                                  <m:r>
                                    <a:rPr lang="en-IN" sz="2000" b="1" i="1">
                                      <a:solidFill>
                                        <a:srgbClr val="C00000"/>
                                      </a:solidFill>
                                      <a:latin typeface="Cambria Math" panose="02040503050406030204" pitchFamily="18" charset="0"/>
                                      <a:cs typeface="Times New Roman" panose="02020603050405020304" pitchFamily="18" charset="0"/>
                                    </a:rPr>
                                    <m:t>𝟖</m:t>
                                  </m:r>
                                </m:e>
                              </m:mr>
                              <m:mr>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𝟐𝟎</m:t>
                                      </m:r>
                                    </m:e>
                                  </m:eqArr>
                                </m:e>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𝟏𝟒</m:t>
                                      </m:r>
                                    </m:e>
                                  </m:eqArr>
                                </m:e>
                              </m:mr>
                            </m:m>
                          </m:e>
                          <m:e/>
                        </m:eqArr>
                      </m:e>
                    </m:d>
                  </m:oMath>
                </a14:m>
                <a:r>
                  <a:rPr lang="en-IN" sz="2000" b="1" dirty="0" smtClean="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m:rPr>
                                      <m:brk m:alnAt="7"/>
                                    </m:rPr>
                                    <a:rPr lang="en-IN" sz="2000" b="1" i="1">
                                      <a:solidFill>
                                        <a:srgbClr val="C00000"/>
                                      </a:solidFill>
                                      <a:latin typeface="Cambria Math" panose="02040503050406030204" pitchFamily="18" charset="0"/>
                                      <a:cs typeface="Times New Roman" panose="02020603050405020304" pitchFamily="18" charset="0"/>
                                    </a:rPr>
                                    <m:t>−</m:t>
                                  </m:r>
                                  <m:r>
                                    <a:rPr lang="en-IN" sz="2000" b="1" i="1">
                                      <a:solidFill>
                                        <a:srgbClr val="C00000"/>
                                      </a:solidFill>
                                      <a:latin typeface="Cambria Math" panose="02040503050406030204" pitchFamily="18" charset="0"/>
                                      <a:cs typeface="Times New Roman" panose="02020603050405020304" pitchFamily="18" charset="0"/>
                                    </a:rPr>
                                    <m:t>𝟏</m:t>
                                  </m:r>
                                </m:e>
                                <m:e>
                                  <m:r>
                                    <a:rPr lang="en-IN" sz="2000" b="1" i="1">
                                      <a:solidFill>
                                        <a:srgbClr val="C00000"/>
                                      </a:solidFill>
                                      <a:latin typeface="Cambria Math" panose="02040503050406030204" pitchFamily="18" charset="0"/>
                                      <a:cs typeface="Times New Roman" panose="02020603050405020304" pitchFamily="18" charset="0"/>
                                    </a:rPr>
                                    <m:t>𝟎</m:t>
                                  </m:r>
                                </m:e>
                              </m:mr>
                              <m:mr>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m:t>
                                      </m:r>
                                      <m:r>
                                        <a:rPr lang="en-IN" sz="2000" b="1" i="1">
                                          <a:solidFill>
                                            <a:srgbClr val="C00000"/>
                                          </a:solidFill>
                                          <a:latin typeface="Cambria Math" panose="02040503050406030204" pitchFamily="18" charset="0"/>
                                          <a:cs typeface="Times New Roman" panose="02020603050405020304" pitchFamily="18" charset="0"/>
                                        </a:rPr>
                                        <m:t>𝟗</m:t>
                                      </m:r>
                                    </m:e>
                                  </m:eqArr>
                                </m:e>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𝟒</m:t>
                                      </m:r>
                                    </m:e>
                                  </m:eqArr>
                                </m:e>
                              </m:mr>
                            </m:m>
                          </m:e>
                          <m:e/>
                        </m:eqArr>
                      </m:e>
                    </m:d>
                  </m:oMath>
                </a14:m>
                <a:r>
                  <a:rPr lang="en-IN" sz="2000" b="1" dirty="0" smtClean="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a:rPr lang="en-IN" sz="2000" b="1" i="1">
                                      <a:solidFill>
                                        <a:srgbClr val="C00000"/>
                                      </a:solidFill>
                                      <a:latin typeface="Cambria Math" panose="02040503050406030204" pitchFamily="18" charset="0"/>
                                      <a:cs typeface="Times New Roman" panose="02020603050405020304" pitchFamily="18" charset="0"/>
                                    </a:rPr>
                                    <m:t>𝟐</m:t>
                                  </m:r>
                                </m:e>
                                <m:e>
                                  <m:r>
                                    <a:rPr lang="en-IN" sz="2000" b="1" i="1">
                                      <a:solidFill>
                                        <a:srgbClr val="C00000"/>
                                      </a:solidFill>
                                      <a:latin typeface="Cambria Math" panose="02040503050406030204" pitchFamily="18" charset="0"/>
                                      <a:cs typeface="Times New Roman" panose="02020603050405020304" pitchFamily="18" charset="0"/>
                                    </a:rPr>
                                    <m:t>𝟒</m:t>
                                  </m:r>
                                </m:e>
                              </m:mr>
                              <m:mr>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𝟐</m:t>
                                      </m:r>
                                    </m:e>
                                  </m:eqArr>
                                </m:e>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𝟖</m:t>
                                      </m:r>
                                    </m:e>
                                  </m:eqArr>
                                </m:e>
                              </m:mr>
                            </m:m>
                          </m:e>
                          <m:e/>
                        </m:eqArr>
                      </m:e>
                    </m:d>
                  </m:oMath>
                </a14:m>
                <a:r>
                  <a:rPr lang="en-IN" sz="2000" b="1" dirty="0" smtClean="0">
                    <a:solidFill>
                      <a:srgbClr val="00206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IN" sz="2000" b="1" i="1">
                            <a:solidFill>
                              <a:srgbClr val="C00000"/>
                            </a:solidFill>
                            <a:latin typeface="Cambria Math"/>
                            <a:cs typeface="Times New Roman" panose="02020603050405020304" pitchFamily="18" charset="0"/>
                          </a:rPr>
                        </m:ctrlPr>
                      </m:dPr>
                      <m:e>
                        <m:eqArr>
                          <m:eqArrPr>
                            <m:ctrlPr>
                              <a:rPr lang="en-IN" sz="2000" b="1" i="1">
                                <a:solidFill>
                                  <a:srgbClr val="C00000"/>
                                </a:solidFill>
                                <a:latin typeface="Cambria Math"/>
                                <a:cs typeface="Times New Roman" panose="02020603050405020304" pitchFamily="18" charset="0"/>
                              </a:rPr>
                            </m:ctrlPr>
                          </m:eqArrPr>
                          <m:e>
                            <m:m>
                              <m:mPr>
                                <m:mcs>
                                  <m:mc>
                                    <m:mcPr>
                                      <m:count m:val="2"/>
                                      <m:mcJc m:val="center"/>
                                    </m:mcPr>
                                  </m:mc>
                                </m:mcs>
                                <m:ctrlPr>
                                  <a:rPr lang="en-IN" sz="2000" b="1" i="1">
                                    <a:solidFill>
                                      <a:srgbClr val="C00000"/>
                                    </a:solidFill>
                                    <a:latin typeface="Cambria Math"/>
                                    <a:cs typeface="Times New Roman" panose="02020603050405020304" pitchFamily="18" charset="0"/>
                                  </a:rPr>
                                </m:ctrlPr>
                              </m:mPr>
                              <m:mr>
                                <m:e>
                                  <m:r>
                                    <a:rPr lang="en-IN" sz="2000" b="1" i="1">
                                      <a:solidFill>
                                        <a:srgbClr val="C00000"/>
                                      </a:solidFill>
                                      <a:latin typeface="Cambria Math" panose="02040503050406030204" pitchFamily="18" charset="0"/>
                                      <a:cs typeface="Times New Roman" panose="02020603050405020304" pitchFamily="18" charset="0"/>
                                    </a:rPr>
                                    <m:t>𝟐</m:t>
                                  </m:r>
                                </m:e>
                                <m:e>
                                  <m:r>
                                    <a:rPr lang="en-IN" sz="2000" b="1" i="1">
                                      <a:solidFill>
                                        <a:srgbClr val="C00000"/>
                                      </a:solidFill>
                                      <a:latin typeface="Cambria Math" panose="02040503050406030204" pitchFamily="18" charset="0"/>
                                      <a:cs typeface="Times New Roman" panose="02020603050405020304" pitchFamily="18" charset="0"/>
                                    </a:rPr>
                                    <m:t>𝟑</m:t>
                                  </m:r>
                                </m:e>
                              </m:mr>
                              <m:mr>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m:t>
                                      </m:r>
                                      <m:r>
                                        <a:rPr lang="en-IN" sz="2000" b="1" i="1">
                                          <a:solidFill>
                                            <a:srgbClr val="C00000"/>
                                          </a:solidFill>
                                          <a:latin typeface="Cambria Math" panose="02040503050406030204" pitchFamily="18" charset="0"/>
                                          <a:cs typeface="Times New Roman" panose="02020603050405020304" pitchFamily="18" charset="0"/>
                                        </a:rPr>
                                        <m:t>𝟐</m:t>
                                      </m:r>
                                    </m:e>
                                  </m:eqArr>
                                </m:e>
                                <m:e>
                                  <m:eqArr>
                                    <m:eqArrPr>
                                      <m:ctrlPr>
                                        <a:rPr lang="en-IN" sz="2000" b="1" i="1">
                                          <a:solidFill>
                                            <a:srgbClr val="C00000"/>
                                          </a:solidFill>
                                          <a:latin typeface="Cambria Math"/>
                                          <a:cs typeface="Times New Roman" panose="02020603050405020304" pitchFamily="18" charset="0"/>
                                        </a:rPr>
                                      </m:ctrlPr>
                                    </m:eqArrPr>
                                    <m:e/>
                                    <m:e>
                                      <m:r>
                                        <a:rPr lang="en-IN" sz="2000" b="1" i="1">
                                          <a:solidFill>
                                            <a:srgbClr val="C00000"/>
                                          </a:solidFill>
                                          <a:latin typeface="Cambria Math" panose="02040503050406030204" pitchFamily="18" charset="0"/>
                                          <a:cs typeface="Times New Roman" panose="02020603050405020304" pitchFamily="18" charset="0"/>
                                        </a:rPr>
                                        <m:t>−</m:t>
                                      </m:r>
                                      <m:r>
                                        <a:rPr lang="en-IN" sz="2000" b="1" i="1">
                                          <a:solidFill>
                                            <a:srgbClr val="C00000"/>
                                          </a:solidFill>
                                          <a:latin typeface="Cambria Math" panose="02040503050406030204" pitchFamily="18" charset="0"/>
                                          <a:cs typeface="Times New Roman" panose="02020603050405020304" pitchFamily="18" charset="0"/>
                                        </a:rPr>
                                        <m:t>𝟑</m:t>
                                      </m:r>
                                    </m:e>
                                  </m:eqArr>
                                </m:e>
                              </m:mr>
                            </m:m>
                          </m:e>
                          <m:e/>
                        </m:eqArr>
                      </m:e>
                    </m:d>
                  </m:oMath>
                </a14:m>
                <a:r>
                  <a:rPr lang="en-IN" sz="2000" b="1" dirty="0">
                    <a:solidFill>
                      <a:srgbClr val="C00000"/>
                    </a:solidFill>
                    <a:latin typeface="Times New Roman" panose="02020603050405020304" pitchFamily="18" charset="0"/>
                    <a:cs typeface="Times New Roman" panose="02020603050405020304" pitchFamily="18" charset="0"/>
                  </a:rPr>
                  <a:t> </a:t>
                </a:r>
                <a:r>
                  <a:rPr lang="en-IN" sz="2000" b="1" dirty="0" smtClean="0">
                    <a:solidFill>
                      <a:srgbClr val="C00000"/>
                    </a:solidFill>
                    <a:latin typeface="Times New Roman" panose="02020603050405020304" pitchFamily="18" charset="0"/>
                    <a:cs typeface="Times New Roman" panose="02020603050405020304" pitchFamily="18" charset="0"/>
                  </a:rPr>
                  <a:t>= </a:t>
                </a:r>
                <a:r>
                  <a:rPr lang="en-IN" sz="21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sz="2100" b="1" i="1">
                            <a:solidFill>
                              <a:srgbClr val="C00000"/>
                            </a:solidFill>
                            <a:latin typeface="Cambria Math"/>
                            <a:cs typeface="Times New Roman" panose="02020603050405020304" pitchFamily="18" charset="0"/>
                          </a:rPr>
                        </m:ctrlPr>
                      </m:dPr>
                      <m:e>
                        <m:eqArr>
                          <m:eqArrPr>
                            <m:ctrlPr>
                              <a:rPr lang="en-IN" sz="2100" b="1" i="1">
                                <a:solidFill>
                                  <a:srgbClr val="C00000"/>
                                </a:solidFill>
                                <a:latin typeface="Cambria Math"/>
                                <a:cs typeface="Times New Roman" panose="02020603050405020304" pitchFamily="18" charset="0"/>
                              </a:rPr>
                            </m:ctrlPr>
                          </m:eqArrPr>
                          <m:e>
                            <m:m>
                              <m:mPr>
                                <m:mcs>
                                  <m:mc>
                                    <m:mcPr>
                                      <m:count m:val="2"/>
                                      <m:mcJc m:val="center"/>
                                    </m:mcPr>
                                  </m:mc>
                                </m:mcs>
                                <m:ctrlPr>
                                  <a:rPr lang="en-IN" sz="2100" b="1" i="1">
                                    <a:solidFill>
                                      <a:srgbClr val="C00000"/>
                                    </a:solidFill>
                                    <a:latin typeface="Cambria Math"/>
                                    <a:cs typeface="Times New Roman" panose="02020603050405020304" pitchFamily="18" charset="0"/>
                                  </a:rPr>
                                </m:ctrlPr>
                              </m:mPr>
                              <m:mr>
                                <m:e>
                                  <m:r>
                                    <a:rPr lang="en-IN" sz="2100" b="1" i="1" smtClean="0">
                                      <a:solidFill>
                                        <a:srgbClr val="C00000"/>
                                      </a:solidFill>
                                      <a:latin typeface="Cambria Math" panose="02040503050406030204" pitchFamily="18" charset="0"/>
                                      <a:cs typeface="Times New Roman" panose="02020603050405020304" pitchFamily="18" charset="0"/>
                                    </a:rPr>
                                    <m:t>𝟑</m:t>
                                  </m:r>
                                </m:e>
                                <m:e>
                                  <m:r>
                                    <a:rPr lang="en-IN" sz="2100" b="1" i="1" smtClean="0">
                                      <a:solidFill>
                                        <a:srgbClr val="C00000"/>
                                      </a:solidFill>
                                      <a:latin typeface="Cambria Math" panose="02040503050406030204" pitchFamily="18" charset="0"/>
                                      <a:cs typeface="Times New Roman" panose="02020603050405020304" pitchFamily="18" charset="0"/>
                                    </a:rPr>
                                    <m:t>𝟕</m:t>
                                  </m:r>
                                </m:e>
                              </m:mr>
                              <m:mr>
                                <m:e>
                                  <m:eqArr>
                                    <m:eqArrPr>
                                      <m:ctrlPr>
                                        <a:rPr lang="en-IN" sz="2100" b="1" i="1">
                                          <a:solidFill>
                                            <a:srgbClr val="C00000"/>
                                          </a:solidFill>
                                          <a:latin typeface="Cambria Math"/>
                                          <a:cs typeface="Times New Roman" panose="02020603050405020304" pitchFamily="18" charset="0"/>
                                        </a:rPr>
                                      </m:ctrlPr>
                                    </m:eqArrPr>
                                    <m:e/>
                                    <m:e>
                                      <m:r>
                                        <a:rPr lang="en-IN" sz="2100" b="1" i="1" smtClean="0">
                                          <a:solidFill>
                                            <a:srgbClr val="C00000"/>
                                          </a:solidFill>
                                          <a:latin typeface="Cambria Math" panose="02040503050406030204" pitchFamily="18" charset="0"/>
                                          <a:cs typeface="Times New Roman" panose="02020603050405020304" pitchFamily="18" charset="0"/>
                                        </a:rPr>
                                        <m:t>𝟕</m:t>
                                      </m:r>
                                    </m:e>
                                  </m:eqArr>
                                </m:e>
                                <m:e>
                                  <m:eqArr>
                                    <m:eqArrPr>
                                      <m:ctrlPr>
                                        <a:rPr lang="en-IN" sz="2100" b="1" i="1">
                                          <a:solidFill>
                                            <a:srgbClr val="C00000"/>
                                          </a:solidFill>
                                          <a:latin typeface="Cambria Math"/>
                                          <a:cs typeface="Times New Roman" panose="02020603050405020304" pitchFamily="18" charset="0"/>
                                        </a:rPr>
                                      </m:ctrlPr>
                                    </m:eqArrPr>
                                    <m:e/>
                                    <m:e>
                                      <m:r>
                                        <a:rPr lang="en-IN" sz="2100" b="1" i="1" smtClean="0">
                                          <a:solidFill>
                                            <a:srgbClr val="C00000"/>
                                          </a:solidFill>
                                          <a:latin typeface="Cambria Math" panose="02040503050406030204" pitchFamily="18" charset="0"/>
                                          <a:cs typeface="Times New Roman" panose="02020603050405020304" pitchFamily="18" charset="0"/>
                                        </a:rPr>
                                        <m:t>𝟕</m:t>
                                      </m:r>
                                    </m:e>
                                  </m:eqArr>
                                </m:e>
                              </m:mr>
                            </m:m>
                          </m:e>
                          <m:e/>
                        </m:eqArr>
                      </m:e>
                    </m:d>
                  </m:oMath>
                </a14:m>
                <a:endParaRPr lang="en-IN" sz="3200" b="1" dirty="0">
                  <a:solidFill>
                    <a:srgbClr val="C0000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20544" y="924127"/>
                <a:ext cx="11797552" cy="5816121"/>
              </a:xfrm>
              <a:blipFill rotWithShape="0">
                <a:blip r:embed="rId3"/>
                <a:stretch>
                  <a:fillRect l="-310" t="-1363"/>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114</a:t>
            </a:fld>
            <a:endParaRPr lang="en-IN" sz="1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Rectangle 9"/>
              <p:cNvSpPr/>
              <p:nvPr/>
            </p:nvSpPr>
            <p:spPr>
              <a:xfrm>
                <a:off x="8171708" y="3265601"/>
                <a:ext cx="2294218" cy="2390013"/>
              </a:xfrm>
              <a:prstGeom prst="rect">
                <a:avLst/>
              </a:prstGeom>
            </p:spPr>
            <p:txBody>
              <a:bodyPr wrap="none">
                <a:spAutoFit/>
              </a:bodyPr>
              <a:lstStyle/>
              <a:p>
                <a:r>
                  <a:rPr lang="en-IN" b="1" dirty="0" smtClean="0">
                    <a:solidFill>
                      <a:srgbClr val="002060"/>
                    </a:solidFill>
                    <a:latin typeface="Times New Roman" panose="02020603050405020304" pitchFamily="18" charset="0"/>
                    <a:cs typeface="Times New Roman" panose="02020603050405020304" pitchFamily="18" charset="0"/>
                  </a:rPr>
                  <a:t>Resultant matrix C is</a:t>
                </a:r>
              </a:p>
              <a:p>
                <a:endParaRPr lang="en-IN" b="1" dirty="0" smtClean="0">
                  <a:solidFill>
                    <a:srgbClr val="002060"/>
                  </a:solidFill>
                  <a:latin typeface="Times New Roman" panose="02020603050405020304" pitchFamily="18" charset="0"/>
                  <a:cs typeface="Times New Roman" panose="02020603050405020304" pitchFamily="18" charset="0"/>
                </a:endParaRPr>
              </a:p>
              <a:p>
                <a:r>
                  <a:rPr lang="en-IN" b="1" dirty="0">
                    <a:solidFill>
                      <a:srgbClr val="002060"/>
                    </a:solidFill>
                    <a:latin typeface="Times New Roman" panose="02020603050405020304" pitchFamily="18" charset="0"/>
                    <a:cs typeface="Times New Roman" panose="02020603050405020304" pitchFamily="18" charset="0"/>
                  </a:rPr>
                  <a:t>C</a:t>
                </a:r>
                <a:r>
                  <a:rPr lang="en-IN" b="1" dirty="0" smtClean="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IN" b="1" i="1" dirty="0">
                            <a:solidFill>
                              <a:srgbClr val="002060"/>
                            </a:solidFill>
                            <a:latin typeface="Cambria Math"/>
                            <a:cs typeface="Times New Roman" panose="02020603050405020304" pitchFamily="18" charset="0"/>
                          </a:rPr>
                        </m:ctrlPr>
                      </m:dPr>
                      <m:e>
                        <m:m>
                          <m:mPr>
                            <m:mcs>
                              <m:mc>
                                <m:mcPr>
                                  <m:count m:val="4"/>
                                  <m:mcJc m:val="center"/>
                                </m:mcPr>
                              </m:mc>
                            </m:mcs>
                            <m:ctrlPr>
                              <a:rPr lang="en-IN" b="1" i="1" dirty="0">
                                <a:solidFill>
                                  <a:srgbClr val="002060"/>
                                </a:solidFill>
                                <a:latin typeface="Cambria Math"/>
                                <a:cs typeface="Times New Roman" panose="02020603050405020304" pitchFamily="18" charset="0"/>
                              </a:rPr>
                            </m:ctrlPr>
                          </m:mPr>
                          <m:mr>
                            <m:e>
                              <m:eqArr>
                                <m:eqArrPr>
                                  <m:ctrlPr>
                                    <a:rPr lang="en-IN" b="1" i="1" dirty="0">
                                      <a:solidFill>
                                        <a:srgbClr val="002060"/>
                                      </a:solidFill>
                                      <a:latin typeface="Cambria Math"/>
                                      <a:cs typeface="Times New Roman" panose="02020603050405020304" pitchFamily="18" charset="0"/>
                                    </a:rPr>
                                  </m:ctrlPr>
                                </m:eqArrPr>
                                <m:e>
                                  <m:r>
                                    <a:rPr lang="en-IN" b="1" i="1" dirty="0" smtClean="0">
                                      <a:solidFill>
                                        <a:srgbClr val="002060"/>
                                      </a:solidFill>
                                      <a:latin typeface="Cambria Math" panose="02040503050406030204" pitchFamily="18" charset="0"/>
                                      <a:cs typeface="Times New Roman" panose="02020603050405020304" pitchFamily="18" charset="0"/>
                                    </a:rPr>
                                    <m:t>𝟓</m:t>
                                  </m:r>
                                </m:e>
                                <m:e/>
                              </m:eqArr>
                            </m:e>
                            <m:e>
                              <m:eqArr>
                                <m:eqArrPr>
                                  <m:ctrlPr>
                                    <a:rPr lang="en-IN" b="1" i="1" dirty="0">
                                      <a:solidFill>
                                        <a:srgbClr val="002060"/>
                                      </a:solidFill>
                                      <a:latin typeface="Cambria Math"/>
                                      <a:cs typeface="Times New Roman" panose="02020603050405020304" pitchFamily="18" charset="0"/>
                                    </a:rPr>
                                  </m:ctrlPr>
                                </m:eqArrPr>
                                <m:e>
                                  <m:r>
                                    <a:rPr lang="en-IN" b="1" i="1" dirty="0" smtClean="0">
                                      <a:solidFill>
                                        <a:srgbClr val="002060"/>
                                      </a:solidFill>
                                      <a:latin typeface="Cambria Math" panose="02040503050406030204" pitchFamily="18" charset="0"/>
                                      <a:cs typeface="Times New Roman" panose="02020603050405020304" pitchFamily="18" charset="0"/>
                                    </a:rPr>
                                    <m:t>𝟒</m:t>
                                  </m:r>
                                </m:e>
                                <m:e/>
                              </m:eqArr>
                            </m:e>
                            <m:e>
                              <m:eqArr>
                                <m:eqArrPr>
                                  <m:ctrlPr>
                                    <a:rPr lang="en-IN" b="1" i="1" dirty="0">
                                      <a:solidFill>
                                        <a:srgbClr val="002060"/>
                                      </a:solidFill>
                                      <a:latin typeface="Cambria Math"/>
                                      <a:cs typeface="Times New Roman" panose="02020603050405020304" pitchFamily="18" charset="0"/>
                                    </a:rPr>
                                  </m:ctrlPr>
                                </m:eqArrPr>
                                <m:e>
                                  <m:r>
                                    <a:rPr lang="en-IN" b="1" i="1" dirty="0" smtClean="0">
                                      <a:solidFill>
                                        <a:srgbClr val="002060"/>
                                      </a:solidFill>
                                      <a:latin typeface="Cambria Math" panose="02040503050406030204" pitchFamily="18" charset="0"/>
                                      <a:cs typeface="Times New Roman" panose="02020603050405020304" pitchFamily="18" charset="0"/>
                                    </a:rPr>
                                    <m:t>𝟕</m:t>
                                  </m:r>
                                </m:e>
                                <m:e/>
                              </m:eqArr>
                            </m:e>
                            <m:e>
                              <m:eqArr>
                                <m:eqArrPr>
                                  <m:ctrlPr>
                                    <a:rPr lang="en-IN" b="1" i="1" dirty="0">
                                      <a:solidFill>
                                        <a:srgbClr val="002060"/>
                                      </a:solidFill>
                                      <a:latin typeface="Cambria Math"/>
                                      <a:cs typeface="Times New Roman" panose="02020603050405020304" pitchFamily="18" charset="0"/>
                                    </a:rPr>
                                  </m:ctrlPr>
                                </m:eqArrPr>
                                <m:e>
                                  <m:r>
                                    <a:rPr lang="en-IN" b="1" i="1" dirty="0" smtClean="0">
                                      <a:solidFill>
                                        <a:srgbClr val="002060"/>
                                      </a:solidFill>
                                      <a:latin typeface="Cambria Math" panose="02040503050406030204" pitchFamily="18" charset="0"/>
                                      <a:cs typeface="Times New Roman" panose="02020603050405020304" pitchFamily="18" charset="0"/>
                                    </a:rPr>
                                    <m:t>𝟑</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𝟒</m:t>
                                  </m:r>
                                </m:e>
                                <m:e/>
                              </m:eqArr>
                            </m:e>
                            <m:e>
                              <m:eqArr>
                                <m:eqArrPr>
                                  <m:ctrlPr>
                                    <a:rPr lang="en-IN" b="1" i="1" dirty="0">
                                      <a:solidFill>
                                        <a:srgbClr val="002060"/>
                                      </a:solidFill>
                                      <a:latin typeface="Cambria Math"/>
                                      <a:cs typeface="Times New Roman" panose="02020603050405020304" pitchFamily="18" charset="0"/>
                                    </a:rPr>
                                  </m:ctrlPr>
                                </m:eqArrPr>
                                <m:e>
                                  <m:r>
                                    <a:rPr lang="en-IN" b="1" i="1" dirty="0" smtClean="0">
                                      <a:solidFill>
                                        <a:srgbClr val="002060"/>
                                      </a:solidFill>
                                      <a:latin typeface="Cambria Math" panose="02040503050406030204" pitchFamily="18" charset="0"/>
                                      <a:cs typeface="Times New Roman" panose="02020603050405020304" pitchFamily="18" charset="0"/>
                                    </a:rPr>
                                    <m:t>𝟓</m:t>
                                  </m:r>
                                </m:e>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qArr>
                            </m:e>
                            <m:e>
                              <m:eqArr>
                                <m:eqArrPr>
                                  <m:ctrlPr>
                                    <a:rPr lang="en-IN" b="1" i="1" dirty="0">
                                      <a:solidFill>
                                        <a:srgbClr val="002060"/>
                                      </a:solidFill>
                                      <a:latin typeface="Cambria Math"/>
                                      <a:cs typeface="Times New Roman" panose="02020603050405020304" pitchFamily="18" charset="0"/>
                                    </a:rPr>
                                  </m:ctrlPr>
                                </m:eqArrPr>
                                <m:e>
                                  <m:r>
                                    <a:rPr lang="en-IN" b="1" i="1" dirty="0" smtClean="0">
                                      <a:solidFill>
                                        <a:srgbClr val="002060"/>
                                      </a:solidFill>
                                      <a:latin typeface="Cambria Math" panose="02040503050406030204" pitchFamily="18" charset="0"/>
                                      <a:cs typeface="Times New Roman" panose="02020603050405020304" pitchFamily="18" charset="0"/>
                                    </a:rPr>
                                    <m:t>𝟗</m:t>
                                  </m:r>
                                </m:e>
                                <m:e/>
                              </m:eqArr>
                            </m:e>
                          </m:mr>
                          <m:mr>
                            <m:e>
                              <m:eqArr>
                                <m:eqArrPr>
                                  <m:ctrlPr>
                                    <a:rPr lang="en-IN" b="1" i="1" dirty="0">
                                      <a:solidFill>
                                        <a:srgbClr val="002060"/>
                                      </a:solidFill>
                                      <a:latin typeface="Cambria Math"/>
                                      <a:cs typeface="Times New Roman" panose="02020603050405020304" pitchFamily="18" charset="0"/>
                                    </a:rPr>
                                  </m:ctrlPr>
                                </m:eqArrPr>
                                <m:e>
                                  <m:r>
                                    <a:rPr lang="en-IN" b="1" i="1" dirty="0" smtClean="0">
                                      <a:solidFill>
                                        <a:srgbClr val="002060"/>
                                      </a:solidFill>
                                      <a:latin typeface="Cambria Math" panose="02040503050406030204" pitchFamily="18" charset="0"/>
                                      <a:cs typeface="Times New Roman" panose="02020603050405020304" pitchFamily="18" charset="0"/>
                                    </a:rPr>
                                    <m:t>𝟖</m:t>
                                  </m:r>
                                </m:e>
                                <m:e/>
                                <m:e>
                                  <m:r>
                                    <a:rPr lang="en-IN" b="1" i="1" dirty="0">
                                      <a:solidFill>
                                        <a:srgbClr val="002060"/>
                                      </a:solidFill>
                                      <a:latin typeface="Cambria Math" panose="02040503050406030204" pitchFamily="18" charset="0"/>
                                      <a:cs typeface="Times New Roman" panose="02020603050405020304" pitchFamily="18" charset="0"/>
                                    </a:rPr>
                                    <m:t>𝟓</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𝟏</m:t>
                                  </m:r>
                                </m:e>
                                <m:e/>
                                <m:e>
                                  <m:r>
                                    <a:rPr lang="en-IN" b="1" i="1" dirty="0" smtClean="0">
                                      <a:solidFill>
                                        <a:srgbClr val="002060"/>
                                      </a:solidFill>
                                      <a:latin typeface="Cambria Math" panose="02040503050406030204" pitchFamily="18" charset="0"/>
                                      <a:cs typeface="Times New Roman" panose="02020603050405020304" pitchFamily="18" charset="0"/>
                                    </a:rPr>
                                    <m:t>𝟖</m:t>
                                  </m:r>
                                </m:e>
                              </m:eqArr>
                            </m:e>
                            <m:e>
                              <m:eqArr>
                                <m:eqArrPr>
                                  <m:ctrlPr>
                                    <a:rPr lang="en-IN" b="1" i="1" dirty="0">
                                      <a:solidFill>
                                        <a:srgbClr val="002060"/>
                                      </a:solidFill>
                                      <a:latin typeface="Cambria Math"/>
                                      <a:cs typeface="Times New Roman" panose="02020603050405020304" pitchFamily="18" charset="0"/>
                                    </a:rPr>
                                  </m:ctrlPr>
                                </m:eqArrPr>
                                <m:e>
                                  <m:r>
                                    <a:rPr lang="en-IN" b="1" i="1" dirty="0">
                                      <a:solidFill>
                                        <a:srgbClr val="002060"/>
                                      </a:solidFill>
                                      <a:latin typeface="Cambria Math" panose="02040503050406030204" pitchFamily="18" charset="0"/>
                                      <a:cs typeface="Times New Roman" panose="02020603050405020304" pitchFamily="18" charset="0"/>
                                    </a:rPr>
                                    <m:t>𝟑</m:t>
                                  </m:r>
                                </m:e>
                                <m:e/>
                                <m:e>
                                  <m:r>
                                    <a:rPr lang="en-IN" b="1" i="1" dirty="0" smtClean="0">
                                      <a:solidFill>
                                        <a:srgbClr val="002060"/>
                                      </a:solidFill>
                                      <a:latin typeface="Cambria Math" panose="02040503050406030204" pitchFamily="18" charset="0"/>
                                      <a:cs typeface="Times New Roman" panose="02020603050405020304" pitchFamily="18" charset="0"/>
                                    </a:rPr>
                                    <m:t>𝟕</m:t>
                                  </m:r>
                                </m:e>
                              </m:eqArr>
                            </m:e>
                            <m:e>
                              <m:eqArr>
                                <m:eqArrPr>
                                  <m:ctrlPr>
                                    <a:rPr lang="en-IN" b="1" i="1" dirty="0">
                                      <a:solidFill>
                                        <a:srgbClr val="002060"/>
                                      </a:solidFill>
                                      <a:latin typeface="Cambria Math"/>
                                      <a:cs typeface="Times New Roman" panose="02020603050405020304" pitchFamily="18" charset="0"/>
                                    </a:rPr>
                                  </m:ctrlPr>
                                </m:eqArrPr>
                                <m:e>
                                  <m:r>
                                    <a:rPr lang="en-IN" b="1" i="1" dirty="0" smtClean="0">
                                      <a:solidFill>
                                        <a:srgbClr val="002060"/>
                                      </a:solidFill>
                                      <a:latin typeface="Cambria Math" panose="02040503050406030204" pitchFamily="18" charset="0"/>
                                      <a:cs typeface="Times New Roman" panose="02020603050405020304" pitchFamily="18" charset="0"/>
                                    </a:rPr>
                                    <m:t>𝟕</m:t>
                                  </m:r>
                                </m:e>
                                <m:e/>
                                <m:e>
                                  <m:r>
                                    <a:rPr lang="en-IN" b="1" i="1" dirty="0" smtClean="0">
                                      <a:solidFill>
                                        <a:srgbClr val="002060"/>
                                      </a:solidFill>
                                      <a:latin typeface="Cambria Math" panose="02040503050406030204" pitchFamily="18" charset="0"/>
                                      <a:cs typeface="Times New Roman" panose="02020603050405020304" pitchFamily="18" charset="0"/>
                                    </a:rPr>
                                    <m:t>𝟕</m:t>
                                  </m:r>
                                </m:e>
                              </m:eqArr>
                            </m:e>
                          </m:mr>
                        </m:m>
                      </m:e>
                    </m:d>
                  </m:oMath>
                </a14:m>
                <a:endParaRPr lang="en-IN" dirty="0"/>
              </a:p>
            </p:txBody>
          </p:sp>
        </mc:Choice>
        <mc:Fallback xmlns="">
          <p:sp>
            <p:nvSpPr>
              <p:cNvPr id="10" name="Rectangle 9"/>
              <p:cNvSpPr>
                <a:spLocks noRot="1" noChangeAspect="1" noMove="1" noResize="1" noEditPoints="1" noAdjustHandles="1" noChangeArrowheads="1" noChangeShapeType="1" noTextEdit="1"/>
              </p:cNvSpPr>
              <p:nvPr/>
            </p:nvSpPr>
            <p:spPr>
              <a:xfrm>
                <a:off x="8171708" y="3265601"/>
                <a:ext cx="2294218" cy="2390013"/>
              </a:xfrm>
              <a:prstGeom prst="rect">
                <a:avLst/>
              </a:prstGeom>
              <a:blipFill rotWithShape="0">
                <a:blip r:embed="rId6"/>
                <a:stretch>
                  <a:fillRect l="-2394" t="-1531" r="-1596"/>
                </a:stretch>
              </a:blipFill>
            </p:spPr>
            <p:txBody>
              <a:bodyPr/>
              <a:lstStyle/>
              <a:p>
                <a:r>
                  <a:rPr lang="en-IN">
                    <a:noFill/>
                  </a:rPr>
                  <a:t> </a:t>
                </a:r>
              </a:p>
            </p:txBody>
          </p:sp>
        </mc:Fallback>
      </mc:AlternateContent>
      <p:sp>
        <p:nvSpPr>
          <p:cNvPr id="6" name="Date Placeholder 5"/>
          <p:cNvSpPr>
            <a:spLocks noGrp="1"/>
          </p:cNvSpPr>
          <p:nvPr>
            <p:ph type="dt" sz="half" idx="10"/>
          </p:nvPr>
        </p:nvSpPr>
        <p:spPr/>
        <p:txBody>
          <a:bodyPr/>
          <a:lstStyle/>
          <a:p>
            <a:fld id="{6909F52C-1DCD-4F90-B91F-F81FF1A6CF4B}" type="datetime1">
              <a:rPr lang="en-IN" smtClean="0"/>
              <a:t>21-03-2026</a:t>
            </a:fld>
            <a:endParaRPr lang="en-IN"/>
          </a:p>
        </p:txBody>
      </p:sp>
      <p:sp>
        <p:nvSpPr>
          <p:cNvPr id="7" name="Footer Placeholder 6"/>
          <p:cNvSpPr>
            <a:spLocks noGrp="1"/>
          </p:cNvSpPr>
          <p:nvPr>
            <p:ph type="ftr" sz="quarter" idx="11"/>
          </p:nvPr>
        </p:nvSpPr>
        <p:spPr/>
        <p:txBody>
          <a:bodyPr/>
          <a:lstStyle/>
          <a:p>
            <a:r>
              <a:rPr lang="en-IN" smtClean="0"/>
              <a:t>Dr. Vijayalaxmi Mekali, Professor, Dept of CSE, KSIT</a:t>
            </a:r>
            <a:endParaRPr lang="en-IN"/>
          </a:p>
        </p:txBody>
      </p:sp>
    </p:spTree>
    <p:extLst>
      <p:ext uri="{BB962C8B-B14F-4D97-AF65-F5344CB8AC3E}">
        <p14:creationId xmlns:p14="http://schemas.microsoft.com/office/powerpoint/2010/main" val="174347225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a:solidFill>
                  <a:srgbClr val="002060"/>
                </a:solidFill>
                <a:latin typeface="Times New Roman" panose="02020603050405020304" pitchFamily="18" charset="0"/>
                <a:cs typeface="Times New Roman" panose="02020603050405020304" pitchFamily="18" charset="0"/>
              </a:rPr>
              <a:t>Strassens</a:t>
            </a:r>
            <a:r>
              <a:rPr lang="en-IN" sz="2000" b="1" dirty="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p:sp>
        <p:nvSpPr>
          <p:cNvPr id="3" name="Subtitle 2"/>
          <p:cNvSpPr>
            <a:spLocks noGrp="1"/>
          </p:cNvSpPr>
          <p:nvPr>
            <p:ph type="subTitle" idx="1"/>
          </p:nvPr>
        </p:nvSpPr>
        <p:spPr>
          <a:xfrm>
            <a:off x="177050" y="732885"/>
            <a:ext cx="12014949" cy="5838244"/>
          </a:xfrm>
        </p:spPr>
        <p:txBody>
          <a:bodyPr>
            <a:normAutofit fontScale="62500" lnSpcReduction="20000"/>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Time complexity Analysis </a:t>
            </a:r>
          </a:p>
          <a:p>
            <a:pPr algn="just"/>
            <a:r>
              <a:rPr lang="en-IN" sz="1900" b="1" dirty="0" err="1">
                <a:solidFill>
                  <a:srgbClr val="002060"/>
                </a:solidFill>
                <a:latin typeface="Times New Roman" panose="02020603050405020304" pitchFamily="18" charset="0"/>
                <a:cs typeface="Times New Roman" panose="02020603050405020304" pitchFamily="18" charset="0"/>
              </a:rPr>
              <a:t>Strassens</a:t>
            </a:r>
            <a:r>
              <a:rPr lang="en-IN" sz="1900" b="1" dirty="0">
                <a:solidFill>
                  <a:srgbClr val="002060"/>
                </a:solidFill>
                <a:latin typeface="Times New Roman" panose="02020603050405020304" pitchFamily="18" charset="0"/>
                <a:cs typeface="Times New Roman" panose="02020603050405020304" pitchFamily="18" charset="0"/>
              </a:rPr>
              <a:t> Matrix </a:t>
            </a:r>
            <a:r>
              <a:rPr lang="en-IN" sz="1900" b="1" dirty="0" smtClean="0">
                <a:solidFill>
                  <a:srgbClr val="002060"/>
                </a:solidFill>
                <a:latin typeface="Times New Roman" panose="02020603050405020304" pitchFamily="18" charset="0"/>
                <a:cs typeface="Times New Roman" panose="02020603050405020304" pitchFamily="18" charset="0"/>
              </a:rPr>
              <a:t>Multiplication algorithm is efficient for large value of n, not for small value of n.</a:t>
            </a:r>
          </a:p>
          <a:p>
            <a:pPr algn="just"/>
            <a:r>
              <a:rPr lang="en-IN" sz="1900" b="1" dirty="0" smtClean="0">
                <a:solidFill>
                  <a:srgbClr val="002060"/>
                </a:solidFill>
                <a:latin typeface="Times New Roman" panose="02020603050405020304" pitchFamily="18" charset="0"/>
                <a:cs typeface="Times New Roman" panose="02020603050405020304" pitchFamily="18" charset="0"/>
              </a:rPr>
              <a:t>In this algorithm, if all seven computations are performed recursively then the recurrence relation is given as follows</a:t>
            </a:r>
            <a:endParaRPr lang="en-IN" sz="19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The above recurrence relation can be rewritten as   </a:t>
            </a:r>
          </a:p>
          <a:p>
            <a:pPr algn="just"/>
            <a:r>
              <a:rPr lang="en-IN" sz="2000" b="1" dirty="0" smtClean="0">
                <a:solidFill>
                  <a:srgbClr val="C00000"/>
                </a:solidFill>
                <a:latin typeface="Times New Roman" panose="02020603050405020304" pitchFamily="18" charset="0"/>
                <a:cs typeface="Times New Roman" panose="02020603050405020304" pitchFamily="18" charset="0"/>
              </a:rPr>
              <a:t>Apply substitution method </a:t>
            </a:r>
          </a:p>
          <a:p>
            <a:pPr algn="just"/>
            <a:r>
              <a:rPr lang="en-IN" sz="2000" b="1" dirty="0" smtClean="0">
                <a:solidFill>
                  <a:srgbClr val="002060"/>
                </a:solidFill>
                <a:latin typeface="Times New Roman" panose="02020603050405020304" pitchFamily="18" charset="0"/>
                <a:cs typeface="Times New Roman" panose="02020603050405020304" pitchFamily="18" charset="0"/>
              </a:rPr>
              <a:t>T(n)=7T(n/2)       replace T(n/2) by 7T(n/4)</a:t>
            </a:r>
          </a:p>
          <a:p>
            <a:pPr algn="just"/>
            <a:r>
              <a:rPr lang="en-IN" sz="2000" b="1" dirty="0" smtClean="0">
                <a:solidFill>
                  <a:srgbClr val="002060"/>
                </a:solidFill>
                <a:latin typeface="Times New Roman" panose="02020603050405020304" pitchFamily="18" charset="0"/>
                <a:cs typeface="Times New Roman" panose="02020603050405020304" pitchFamily="18" charset="0"/>
              </a:rPr>
              <a:t>T(n)=7[7T(n/4)]  </a:t>
            </a:r>
            <a:r>
              <a:rPr lang="en-IN" sz="2000" b="1" dirty="0">
                <a:solidFill>
                  <a:srgbClr val="002060"/>
                </a:solidFill>
                <a:latin typeface="Times New Roman" panose="02020603050405020304" pitchFamily="18" charset="0"/>
                <a:cs typeface="Times New Roman" panose="02020603050405020304" pitchFamily="18" charset="0"/>
              </a:rPr>
              <a:t>replace </a:t>
            </a:r>
            <a:r>
              <a:rPr lang="en-IN" sz="2000" b="1" dirty="0" smtClean="0">
                <a:solidFill>
                  <a:srgbClr val="002060"/>
                </a:solidFill>
                <a:latin typeface="Times New Roman" panose="02020603050405020304" pitchFamily="18" charset="0"/>
                <a:cs typeface="Times New Roman" panose="02020603050405020304" pitchFamily="18" charset="0"/>
              </a:rPr>
              <a:t>T(n/2) </a:t>
            </a:r>
            <a:r>
              <a:rPr lang="en-IN" sz="2000" b="1" dirty="0">
                <a:solidFill>
                  <a:srgbClr val="002060"/>
                </a:solidFill>
                <a:latin typeface="Times New Roman" panose="02020603050405020304" pitchFamily="18" charset="0"/>
                <a:cs typeface="Times New Roman" panose="02020603050405020304" pitchFamily="18" charset="0"/>
              </a:rPr>
              <a:t>by </a:t>
            </a:r>
            <a:r>
              <a:rPr lang="en-IN" sz="2000" b="1" dirty="0" smtClean="0">
                <a:solidFill>
                  <a:srgbClr val="002060"/>
                </a:solidFill>
                <a:latin typeface="Times New Roman" panose="02020603050405020304" pitchFamily="18" charset="0"/>
                <a:cs typeface="Times New Roman" panose="02020603050405020304" pitchFamily="18" charset="0"/>
              </a:rPr>
              <a:t>7T(n/8)</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T(n)=7</a:t>
            </a:r>
            <a:r>
              <a:rPr lang="en-IN" sz="2000" b="1" baseline="30000" dirty="0" smtClean="0">
                <a:solidFill>
                  <a:srgbClr val="002060"/>
                </a:solidFill>
                <a:latin typeface="Times New Roman" panose="02020603050405020304" pitchFamily="18" charset="0"/>
                <a:cs typeface="Times New Roman" panose="02020603050405020304" pitchFamily="18" charset="0"/>
              </a:rPr>
              <a:t>2</a:t>
            </a:r>
            <a:r>
              <a:rPr lang="en-IN" sz="2000" b="1" dirty="0" smtClean="0">
                <a:solidFill>
                  <a:srgbClr val="002060"/>
                </a:solidFill>
                <a:latin typeface="Times New Roman" panose="02020603050405020304" pitchFamily="18" charset="0"/>
                <a:cs typeface="Times New Roman" panose="02020603050405020304" pitchFamily="18" charset="0"/>
              </a:rPr>
              <a:t>[7T(n/8)]</a:t>
            </a:r>
          </a:p>
          <a:p>
            <a:pPr algn="just"/>
            <a:r>
              <a:rPr lang="en-IN" sz="2000" b="1" dirty="0">
                <a:solidFill>
                  <a:srgbClr val="002060"/>
                </a:solidFill>
                <a:latin typeface="Times New Roman" panose="02020603050405020304" pitchFamily="18" charset="0"/>
                <a:cs typeface="Times New Roman" panose="02020603050405020304" pitchFamily="18" charset="0"/>
              </a:rPr>
              <a:t>T(n)=</a:t>
            </a:r>
            <a:r>
              <a:rPr lang="en-IN" sz="2000" b="1" dirty="0" smtClean="0">
                <a:solidFill>
                  <a:srgbClr val="002060"/>
                </a:solidFill>
                <a:latin typeface="Times New Roman" panose="02020603050405020304" pitchFamily="18" charset="0"/>
                <a:cs typeface="Times New Roman" panose="02020603050405020304" pitchFamily="18" charset="0"/>
              </a:rPr>
              <a:t>7</a:t>
            </a:r>
            <a:r>
              <a:rPr lang="en-IN" sz="2000" b="1" baseline="30000" dirty="0" smtClean="0">
                <a:solidFill>
                  <a:srgbClr val="002060"/>
                </a:solidFill>
                <a:latin typeface="Times New Roman" panose="02020603050405020304" pitchFamily="18" charset="0"/>
                <a:cs typeface="Times New Roman" panose="02020603050405020304" pitchFamily="18" charset="0"/>
              </a:rPr>
              <a:t>3</a:t>
            </a:r>
            <a:r>
              <a:rPr lang="en-IN" sz="2000" b="1" dirty="0" smtClean="0">
                <a:solidFill>
                  <a:srgbClr val="002060"/>
                </a:solidFill>
                <a:latin typeface="Times New Roman" panose="02020603050405020304" pitchFamily="18" charset="0"/>
                <a:cs typeface="Times New Roman" panose="02020603050405020304" pitchFamily="18" charset="0"/>
              </a:rPr>
              <a:t>T(n/8)]</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baseline="30000" dirty="0" smtClean="0">
                <a:solidFill>
                  <a:srgbClr val="002060"/>
                </a:solidFill>
                <a:latin typeface="Times New Roman" panose="02020603050405020304" pitchFamily="18" charset="0"/>
                <a:cs typeface="Times New Roman" panose="02020603050405020304" pitchFamily="18" charset="0"/>
              </a:rPr>
              <a:t>;</a:t>
            </a:r>
          </a:p>
          <a:p>
            <a:pPr algn="just"/>
            <a:r>
              <a:rPr lang="en-IN" sz="2000" b="1" baseline="30000" dirty="0" smtClean="0">
                <a:solidFill>
                  <a:srgbClr val="002060"/>
                </a:solidFill>
                <a:latin typeface="Times New Roman" panose="02020603050405020304" pitchFamily="18" charset="0"/>
                <a:cs typeface="Times New Roman" panose="02020603050405020304" pitchFamily="18" charset="0"/>
              </a:rPr>
              <a:t>;</a:t>
            </a:r>
          </a:p>
          <a:p>
            <a:pPr algn="just"/>
            <a:r>
              <a:rPr lang="en-IN" sz="2000" b="1" dirty="0" smtClean="0">
                <a:solidFill>
                  <a:srgbClr val="002060"/>
                </a:solidFill>
                <a:latin typeface="Times New Roman" panose="02020603050405020304" pitchFamily="18" charset="0"/>
                <a:cs typeface="Times New Roman" panose="02020603050405020304" pitchFamily="18" charset="0"/>
              </a:rPr>
              <a:t>T(n)=7</a:t>
            </a:r>
            <a:r>
              <a:rPr lang="en-IN" sz="2000" b="1" baseline="30000" dirty="0"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T(n/2</a:t>
            </a:r>
            <a:r>
              <a:rPr lang="en-IN" sz="2000" b="1" baseline="30000" dirty="0"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r>
              <a:rPr lang="en-IN" sz="2000" b="1" dirty="0" smtClean="0">
                <a:solidFill>
                  <a:srgbClr val="002060"/>
                </a:solidFill>
                <a:latin typeface="Times New Roman" panose="02020603050405020304" pitchFamily="18" charset="0"/>
                <a:cs typeface="Times New Roman" panose="02020603050405020304" pitchFamily="18" charset="0"/>
              </a:rPr>
              <a:t>To get terminal condition Let us assume 2</a:t>
            </a:r>
            <a:r>
              <a:rPr lang="en-IN" sz="2000" b="1" baseline="30000" dirty="0" smtClean="0">
                <a:solidFill>
                  <a:srgbClr val="002060"/>
                </a:solidFill>
                <a:latin typeface="Times New Roman" panose="02020603050405020304" pitchFamily="18" charset="0"/>
                <a:cs typeface="Times New Roman" panose="02020603050405020304" pitchFamily="18" charset="0"/>
              </a:rPr>
              <a:t>i </a:t>
            </a:r>
            <a:r>
              <a:rPr lang="en-IN" sz="2000" b="1" dirty="0" smtClean="0">
                <a:solidFill>
                  <a:srgbClr val="002060"/>
                </a:solidFill>
                <a:latin typeface="Times New Roman" panose="02020603050405020304" pitchFamily="18" charset="0"/>
                <a:cs typeface="Times New Roman" panose="02020603050405020304" pitchFamily="18" charset="0"/>
              </a:rPr>
              <a:t>= n, </a:t>
            </a:r>
          </a:p>
          <a:p>
            <a:pPr algn="just"/>
            <a:r>
              <a:rPr lang="en-IN" sz="2000" b="1" dirty="0">
                <a:solidFill>
                  <a:srgbClr val="002060"/>
                </a:solidFill>
                <a:latin typeface="Times New Roman" panose="02020603050405020304" pitchFamily="18" charset="0"/>
                <a:cs typeface="Times New Roman" panose="02020603050405020304" pitchFamily="18" charset="0"/>
              </a:rPr>
              <a:t>T(n)=</a:t>
            </a:r>
            <a:r>
              <a:rPr lang="en-IN" sz="2000" b="1" dirty="0" smtClean="0">
                <a:solidFill>
                  <a:srgbClr val="002060"/>
                </a:solidFill>
                <a:latin typeface="Times New Roman" panose="02020603050405020304" pitchFamily="18" charset="0"/>
                <a:cs typeface="Times New Roman" panose="02020603050405020304" pitchFamily="18" charset="0"/>
              </a:rPr>
              <a:t>7</a:t>
            </a:r>
            <a:r>
              <a:rPr lang="en-IN" sz="2000" b="1" baseline="30000" dirty="0"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T(n/n) = 7</a:t>
            </a:r>
            <a:r>
              <a:rPr lang="en-IN" sz="2000" b="1" baseline="30000" dirty="0" smtClean="0">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T(1) = </a:t>
            </a:r>
            <a:r>
              <a:rPr lang="en-IN" sz="2000" b="1" dirty="0">
                <a:solidFill>
                  <a:srgbClr val="002060"/>
                </a:solidFill>
                <a:latin typeface="Times New Roman" panose="02020603050405020304" pitchFamily="18" charset="0"/>
                <a:cs typeface="Times New Roman" panose="02020603050405020304" pitchFamily="18" charset="0"/>
              </a:rPr>
              <a:t>7</a:t>
            </a:r>
            <a:r>
              <a:rPr lang="en-IN" sz="2000" b="1" baseline="30000" dirty="0">
                <a:solidFill>
                  <a:srgbClr val="002060"/>
                </a:solidFill>
                <a:latin typeface="Times New Roman" panose="02020603050405020304" pitchFamily="18" charset="0"/>
                <a:cs typeface="Times New Roman" panose="02020603050405020304" pitchFamily="18" charset="0"/>
              </a:rPr>
              <a:t>i</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002060"/>
                </a:solidFill>
                <a:latin typeface="Times New Roman" panose="02020603050405020304" pitchFamily="18" charset="0"/>
                <a:cs typeface="Times New Roman" panose="02020603050405020304" pitchFamily="18" charset="0"/>
              </a:rPr>
              <a:t> T(n</a:t>
            </a:r>
            <a:r>
              <a:rPr lang="en-IN" sz="2000" b="1" dirty="0" smtClean="0">
                <a:solidFill>
                  <a:srgbClr val="002060"/>
                </a:solidFill>
                <a:latin typeface="Times New Roman" panose="02020603050405020304" pitchFamily="18" charset="0"/>
                <a:cs typeface="Times New Roman" panose="02020603050405020304" pitchFamily="18" charset="0"/>
              </a:rPr>
              <a:t>) = </a:t>
            </a:r>
            <a:r>
              <a:rPr lang="en-IN" sz="2000" b="1" dirty="0">
                <a:solidFill>
                  <a:srgbClr val="002060"/>
                </a:solidFill>
                <a:latin typeface="Times New Roman" panose="02020603050405020304" pitchFamily="18" charset="0"/>
                <a:cs typeface="Times New Roman" panose="02020603050405020304" pitchFamily="18" charset="0"/>
              </a:rPr>
              <a:t>7</a:t>
            </a:r>
            <a:r>
              <a:rPr lang="en-IN" sz="2000" b="1" baseline="30000" dirty="0">
                <a:solidFill>
                  <a:srgbClr val="002060"/>
                </a:solidFill>
                <a:latin typeface="Times New Roman" panose="02020603050405020304" pitchFamily="18" charset="0"/>
                <a:cs typeface="Times New Roman" panose="02020603050405020304" pitchFamily="18" charset="0"/>
              </a:rPr>
              <a:t>i</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We have  2</a:t>
            </a:r>
            <a:r>
              <a:rPr lang="en-IN" sz="2000" b="1" baseline="30000" dirty="0" smtClean="0">
                <a:solidFill>
                  <a:srgbClr val="002060"/>
                </a:solidFill>
                <a:latin typeface="Times New Roman" panose="02020603050405020304" pitchFamily="18" charset="0"/>
                <a:cs typeface="Times New Roman" panose="02020603050405020304" pitchFamily="18" charset="0"/>
              </a:rPr>
              <a:t>i </a:t>
            </a:r>
            <a:r>
              <a:rPr lang="en-IN" sz="2000" b="1" dirty="0">
                <a:solidFill>
                  <a:srgbClr val="002060"/>
                </a:solidFill>
                <a:latin typeface="Times New Roman" panose="02020603050405020304" pitchFamily="18" charset="0"/>
                <a:cs typeface="Times New Roman" panose="02020603050405020304" pitchFamily="18" charset="0"/>
              </a:rPr>
              <a:t>= n, </a:t>
            </a:r>
            <a:r>
              <a:rPr lang="en-IN" sz="2000" b="1" dirty="0" smtClean="0">
                <a:solidFill>
                  <a:srgbClr val="002060"/>
                </a:solidFill>
                <a:latin typeface="Times New Roman" panose="02020603050405020304" pitchFamily="18" charset="0"/>
                <a:cs typeface="Times New Roman" panose="02020603050405020304" pitchFamily="18" charset="0"/>
              </a:rPr>
              <a:t>take log both sides</a:t>
            </a:r>
          </a:p>
          <a:p>
            <a:pPr algn="just"/>
            <a:r>
              <a:rPr lang="en-IN" sz="2000" b="1" dirty="0" err="1">
                <a:solidFill>
                  <a:srgbClr val="00206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 </a:t>
            </a:r>
            <a:r>
              <a:rPr lang="en-IN" sz="2000" b="1" dirty="0">
                <a:solidFill>
                  <a:srgbClr val="002060"/>
                </a:solidFill>
                <a:latin typeface="Times New Roman" panose="02020603050405020304" pitchFamily="18" charset="0"/>
                <a:cs typeface="Times New Roman" panose="02020603050405020304" pitchFamily="18" charset="0"/>
              </a:rPr>
              <a:t>log</a:t>
            </a:r>
            <a:r>
              <a:rPr lang="en-IN" sz="2000" b="1" baseline="-25000" dirty="0">
                <a:solidFill>
                  <a:srgbClr val="002060"/>
                </a:solidFill>
                <a:latin typeface="Times New Roman" panose="02020603050405020304" pitchFamily="18" charset="0"/>
                <a:cs typeface="Times New Roman" panose="02020603050405020304" pitchFamily="18" charset="0"/>
              </a:rPr>
              <a:t>2</a:t>
            </a:r>
            <a:r>
              <a:rPr lang="en-IN" sz="2000" b="1" dirty="0">
                <a:solidFill>
                  <a:srgbClr val="002060"/>
                </a:solidFill>
                <a:latin typeface="Times New Roman" panose="02020603050405020304" pitchFamily="18" charset="0"/>
                <a:cs typeface="Times New Roman" panose="02020603050405020304" pitchFamily="18" charset="0"/>
              </a:rPr>
              <a:t>n</a:t>
            </a:r>
          </a:p>
          <a:p>
            <a:pPr algn="just"/>
            <a:r>
              <a:rPr lang="en-IN" sz="2000" b="1" dirty="0">
                <a:solidFill>
                  <a:srgbClr val="002060"/>
                </a:solidFill>
                <a:latin typeface="Times New Roman" panose="02020603050405020304" pitchFamily="18" charset="0"/>
                <a:cs typeface="Times New Roman" panose="02020603050405020304" pitchFamily="18" charset="0"/>
              </a:rPr>
              <a:t>T(n) = </a:t>
            </a:r>
            <a:r>
              <a:rPr lang="en-IN" sz="2000" b="1" dirty="0" smtClean="0">
                <a:solidFill>
                  <a:srgbClr val="002060"/>
                </a:solidFill>
                <a:latin typeface="Times New Roman" panose="02020603050405020304" pitchFamily="18" charset="0"/>
                <a:cs typeface="Times New Roman" panose="02020603050405020304" pitchFamily="18" charset="0"/>
              </a:rPr>
              <a:t>7</a:t>
            </a:r>
            <a:r>
              <a:rPr lang="en-IN" sz="2000" b="1" baseline="30000" dirty="0" smtClean="0">
                <a:solidFill>
                  <a:srgbClr val="002060"/>
                </a:solidFill>
                <a:latin typeface="Times New Roman" panose="02020603050405020304" pitchFamily="18" charset="0"/>
                <a:cs typeface="Times New Roman" panose="02020603050405020304" pitchFamily="18" charset="0"/>
              </a:rPr>
              <a:t>log2n </a:t>
            </a:r>
            <a:r>
              <a:rPr lang="en-IN" sz="2000" b="1" dirty="0" smtClean="0">
                <a:solidFill>
                  <a:srgbClr val="002060"/>
                </a:solidFill>
                <a:latin typeface="Times New Roman" panose="02020603050405020304" pitchFamily="18" charset="0"/>
                <a:cs typeface="Times New Roman" panose="02020603050405020304" pitchFamily="18" charset="0"/>
              </a:rPr>
              <a:t>= n log </a:t>
            </a:r>
            <a:r>
              <a:rPr lang="en-IN" sz="2000" b="1" baseline="-25000" dirty="0" smtClean="0">
                <a:solidFill>
                  <a:srgbClr val="002060"/>
                </a:solidFill>
                <a:latin typeface="Times New Roman" panose="02020603050405020304" pitchFamily="18" charset="0"/>
                <a:cs typeface="Times New Roman" panose="02020603050405020304" pitchFamily="18" charset="0"/>
              </a:rPr>
              <a:t>2</a:t>
            </a:r>
            <a:r>
              <a:rPr lang="en-IN" sz="2000" b="1" dirty="0" smtClean="0">
                <a:solidFill>
                  <a:srgbClr val="002060"/>
                </a:solidFill>
                <a:latin typeface="Times New Roman" panose="02020603050405020304" pitchFamily="18" charset="0"/>
                <a:cs typeface="Times New Roman" panose="02020603050405020304" pitchFamily="18" charset="0"/>
              </a:rPr>
              <a:t>7 = n</a:t>
            </a:r>
            <a:r>
              <a:rPr lang="en-IN" sz="2000" b="1" baseline="30000" dirty="0" smtClean="0">
                <a:solidFill>
                  <a:srgbClr val="002060"/>
                </a:solidFill>
                <a:latin typeface="Times New Roman" panose="02020603050405020304" pitchFamily="18" charset="0"/>
                <a:cs typeface="Times New Roman" panose="02020603050405020304" pitchFamily="18" charset="0"/>
              </a:rPr>
              <a:t>2.087</a:t>
            </a:r>
            <a:endParaRPr lang="en-IN" sz="2000" b="1" baseline="30000"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115</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5067871" y="4477210"/>
            <a:ext cx="6052847" cy="1200329"/>
          </a:xfrm>
          <a:prstGeom prst="rect">
            <a:avLst/>
          </a:prstGeom>
          <a:noFill/>
          <a:ln>
            <a:solidFill>
              <a:schemeClr val="accent1"/>
            </a:solidFill>
          </a:ln>
        </p:spPr>
        <p:txBody>
          <a:bodyPr wrap="square" rtlCol="0">
            <a:spAutoFit/>
          </a:bodyPr>
          <a:lstStyle/>
          <a:p>
            <a:pPr algn="just"/>
            <a:r>
              <a:rPr lang="en-IN" b="1" dirty="0" smtClean="0">
                <a:solidFill>
                  <a:srgbClr val="002060"/>
                </a:solidFill>
                <a:latin typeface="Times New Roman" panose="02020603050405020304" pitchFamily="18" charset="0"/>
                <a:cs typeface="Times New Roman" panose="02020603050405020304" pitchFamily="18" charset="0"/>
              </a:rPr>
              <a:t>The time complexity is   T(n) </a:t>
            </a:r>
            <a:r>
              <a:rPr lang="en-IN" b="1" dirty="0">
                <a:solidFill>
                  <a:srgbClr val="002060"/>
                </a:solidFill>
                <a:latin typeface="Times New Roman" panose="02020603050405020304" pitchFamily="18" charset="0"/>
                <a:cs typeface="Times New Roman" panose="02020603050405020304" pitchFamily="18" charset="0"/>
              </a:rPr>
              <a:t>= </a:t>
            </a:r>
            <a:r>
              <a:rPr lang="el-GR" b="1" dirty="0" smtClean="0">
                <a:solidFill>
                  <a:srgbClr val="002060"/>
                </a:solidFill>
                <a:latin typeface="Times New Roman" panose="02020603050405020304" pitchFamily="18" charset="0"/>
                <a:cs typeface="Times New Roman" panose="02020603050405020304" pitchFamily="18" charset="0"/>
              </a:rPr>
              <a:t>Θ</a:t>
            </a:r>
            <a:r>
              <a:rPr lang="en-IN" b="1" dirty="0">
                <a:solidFill>
                  <a:srgbClr val="002060"/>
                </a:solidFill>
                <a:latin typeface="Times New Roman" panose="02020603050405020304" pitchFamily="18" charset="0"/>
                <a:cs typeface="Times New Roman" panose="02020603050405020304" pitchFamily="18" charset="0"/>
              </a:rPr>
              <a:t>(n</a:t>
            </a:r>
            <a:r>
              <a:rPr lang="en-IN" b="1" baseline="30000" dirty="0">
                <a:solidFill>
                  <a:srgbClr val="002060"/>
                </a:solidFill>
                <a:latin typeface="Times New Roman" panose="02020603050405020304" pitchFamily="18" charset="0"/>
                <a:cs typeface="Times New Roman" panose="02020603050405020304" pitchFamily="18" charset="0"/>
              </a:rPr>
              <a:t>2.087</a:t>
            </a:r>
            <a:r>
              <a:rPr lang="en-IN" b="1" dirty="0" smtClean="0">
                <a:solidFill>
                  <a:srgbClr val="002060"/>
                </a:solidFill>
                <a:latin typeface="Times New Roman" panose="02020603050405020304" pitchFamily="18" charset="0"/>
                <a:cs typeface="Times New Roman" panose="02020603050405020304" pitchFamily="18" charset="0"/>
              </a:rPr>
              <a:t>)</a:t>
            </a:r>
            <a:r>
              <a:rPr lang="en-IN" b="1" baseline="30000" dirty="0" smtClean="0">
                <a:solidFill>
                  <a:srgbClr val="002060"/>
                </a:solidFill>
                <a:latin typeface="Times New Roman" panose="02020603050405020304" pitchFamily="18" charset="0"/>
                <a:cs typeface="Times New Roman" panose="02020603050405020304" pitchFamily="18" charset="0"/>
              </a:rPr>
              <a:t> </a:t>
            </a:r>
            <a:endParaRPr lang="en-IN" b="1" baseline="30000" dirty="0">
              <a:solidFill>
                <a:srgbClr val="002060"/>
              </a:solidFill>
              <a:latin typeface="Times New Roman" panose="02020603050405020304" pitchFamily="18" charset="0"/>
              <a:cs typeface="Times New Roman" panose="02020603050405020304" pitchFamily="18" charset="0"/>
            </a:endParaRPr>
          </a:p>
          <a:p>
            <a:pPr algn="just"/>
            <a:endParaRPr lang="en-IN" b="1" dirty="0">
              <a:solidFill>
                <a:srgbClr val="002060"/>
              </a:solidFill>
              <a:latin typeface="Times New Roman" panose="02020603050405020304" pitchFamily="18" charset="0"/>
              <a:cs typeface="Times New Roman" panose="02020603050405020304" pitchFamily="18" charset="0"/>
            </a:endParaRPr>
          </a:p>
          <a:p>
            <a:pPr algn="just"/>
            <a:endParaRPr lang="en-IN" b="1" dirty="0">
              <a:solidFill>
                <a:srgbClr val="C00000"/>
              </a:solidFill>
              <a:latin typeface="Times New Roman" panose="02020603050405020304" pitchFamily="18" charset="0"/>
              <a:cs typeface="Times New Roman" panose="02020603050405020304" pitchFamily="18" charset="0"/>
            </a:endParaRPr>
          </a:p>
          <a:p>
            <a:pPr algn="just"/>
            <a:endParaRPr lang="en-IN" b="1"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p:cNvSpPr txBox="1"/>
              <p:nvPr/>
            </p:nvSpPr>
            <p:spPr>
              <a:xfrm>
                <a:off x="251011" y="1599252"/>
                <a:ext cx="7532597" cy="878446"/>
              </a:xfrm>
              <a:prstGeom prst="rect">
                <a:avLst/>
              </a:prstGeom>
              <a:noFill/>
              <a:ln>
                <a:solidFill>
                  <a:schemeClr val="accent1"/>
                </a:solidFill>
              </a:ln>
            </p:spPr>
            <p:txBody>
              <a:bodyPr wrap="square" rtlCol="0">
                <a:spAutoFit/>
              </a:bodyPr>
              <a:lstStyle/>
              <a:p>
                <a:r>
                  <a:rPr lang="en-IN" sz="1600" b="1" dirty="0" smtClean="0">
                    <a:solidFill>
                      <a:srgbClr val="FF0000"/>
                    </a:solidFill>
                    <a:cs typeface="Times New Roman" panose="02020603050405020304" pitchFamily="18" charset="0"/>
                  </a:rPr>
                  <a:t>T</a:t>
                </a:r>
                <a14:m>
                  <m:oMath xmlns:m="http://schemas.openxmlformats.org/officeDocument/2006/math">
                    <m:r>
                      <a:rPr lang="en-IN" sz="1600" b="1" i="1" smtClean="0">
                        <a:solidFill>
                          <a:srgbClr val="FF0000"/>
                        </a:solidFill>
                        <a:latin typeface="Cambria Math" panose="02040503050406030204" pitchFamily="18" charset="0"/>
                        <a:cs typeface="Times New Roman" panose="02020603050405020304" pitchFamily="18" charset="0"/>
                      </a:rPr>
                      <m:t>(</m:t>
                    </m:r>
                    <m:r>
                      <a:rPr lang="en-IN" sz="1600" b="1" i="1" smtClean="0">
                        <a:solidFill>
                          <a:srgbClr val="FF0000"/>
                        </a:solidFill>
                        <a:latin typeface="Cambria Math" panose="02040503050406030204" pitchFamily="18" charset="0"/>
                        <a:cs typeface="Times New Roman" panose="02020603050405020304" pitchFamily="18" charset="0"/>
                      </a:rPr>
                      <m:t>𝒏</m:t>
                    </m:r>
                    <m:r>
                      <a:rPr lang="en-IN" sz="1600" b="1" i="1" smtClean="0">
                        <a:solidFill>
                          <a:srgbClr val="FF0000"/>
                        </a:solidFill>
                        <a:latin typeface="Cambria Math" panose="02040503050406030204" pitchFamily="18" charset="0"/>
                        <a:cs typeface="Times New Roman" panose="02020603050405020304" pitchFamily="18" charset="0"/>
                      </a:rPr>
                      <m:t>)=</m:t>
                    </m:r>
                    <m:d>
                      <m:dPr>
                        <m:begChr m:val="{"/>
                        <m:endChr m:val="}"/>
                        <m:ctrlPr>
                          <a:rPr lang="pt-BR" sz="1600" b="1" i="1" smtClean="0">
                            <a:solidFill>
                              <a:srgbClr val="002060"/>
                            </a:solidFill>
                            <a:latin typeface="Cambria Math"/>
                            <a:cs typeface="Times New Roman" panose="02020603050405020304" pitchFamily="18" charset="0"/>
                          </a:rPr>
                        </m:ctrlPr>
                      </m:dPr>
                      <m:e>
                        <m:eqArr>
                          <m:eqArrPr>
                            <m:ctrlPr>
                              <a:rPr lang="en-IN" sz="1600" b="1" i="1" smtClean="0">
                                <a:solidFill>
                                  <a:srgbClr val="002060"/>
                                </a:solidFill>
                                <a:latin typeface="Cambria Math"/>
                                <a:cs typeface="Times New Roman" panose="02020603050405020304" pitchFamily="18" charset="0"/>
                              </a:rPr>
                            </m:ctrlPr>
                          </m:eqArrPr>
                          <m:e>
                            <m:r>
                              <a:rPr lang="en-IN" sz="1600" b="1" i="1" smtClean="0">
                                <a:solidFill>
                                  <a:srgbClr val="002060"/>
                                </a:solidFill>
                                <a:latin typeface="Cambria Math" panose="02040503050406030204" pitchFamily="18" charset="0"/>
                                <a:cs typeface="Times New Roman" panose="02020603050405020304" pitchFamily="18" charset="0"/>
                              </a:rPr>
                              <m:t>𝟏</m:t>
                            </m:r>
                            <m:r>
                              <a:rPr lang="en-IN" sz="1600" b="1" i="1" smtClean="0">
                                <a:solidFill>
                                  <a:srgbClr val="002060"/>
                                </a:solidFill>
                                <a:latin typeface="Cambria Math" panose="02040503050406030204" pitchFamily="18" charset="0"/>
                                <a:cs typeface="Times New Roman" panose="02020603050405020304" pitchFamily="18" charset="0"/>
                              </a:rPr>
                              <m:t>                                                                                             </m:t>
                            </m:r>
                            <m:r>
                              <a:rPr lang="en-IN" sz="1600" b="1" i="1" smtClean="0">
                                <a:solidFill>
                                  <a:srgbClr val="002060"/>
                                </a:solidFill>
                                <a:latin typeface="Cambria Math" panose="02040503050406030204" pitchFamily="18" charset="0"/>
                                <a:cs typeface="Times New Roman" panose="02020603050405020304" pitchFamily="18" charset="0"/>
                              </a:rPr>
                              <m:t>𝒊𝒇</m:t>
                            </m:r>
                            <m:r>
                              <a:rPr lang="en-IN" sz="1600" b="1" i="1" smtClean="0">
                                <a:solidFill>
                                  <a:srgbClr val="002060"/>
                                </a:solidFill>
                                <a:latin typeface="Cambria Math" panose="02040503050406030204" pitchFamily="18" charset="0"/>
                                <a:cs typeface="Times New Roman" panose="02020603050405020304" pitchFamily="18" charset="0"/>
                              </a:rPr>
                              <m:t>  </m:t>
                            </m:r>
                            <m:r>
                              <a:rPr lang="en-IN" sz="1600" b="1" i="1" smtClean="0">
                                <a:solidFill>
                                  <a:srgbClr val="002060"/>
                                </a:solidFill>
                                <a:latin typeface="Cambria Math" panose="02040503050406030204" pitchFamily="18" charset="0"/>
                                <a:cs typeface="Times New Roman" panose="02020603050405020304" pitchFamily="18" charset="0"/>
                              </a:rPr>
                              <m:t>𝒏</m:t>
                            </m:r>
                            <m:r>
                              <a:rPr lang="en-IN" sz="1600" b="1" i="1" smtClean="0">
                                <a:solidFill>
                                  <a:srgbClr val="002060"/>
                                </a:solidFill>
                                <a:latin typeface="Cambria Math" panose="02040503050406030204" pitchFamily="18" charset="0"/>
                                <a:cs typeface="Times New Roman" panose="02020603050405020304" pitchFamily="18" charset="0"/>
                              </a:rPr>
                              <m:t>=</m:t>
                            </m:r>
                            <m:r>
                              <a:rPr lang="en-IN" sz="1600" b="1" i="1" smtClean="0">
                                <a:solidFill>
                                  <a:srgbClr val="002060"/>
                                </a:solidFill>
                                <a:latin typeface="Cambria Math" panose="02040503050406030204" pitchFamily="18" charset="0"/>
                                <a:cs typeface="Times New Roman" panose="02020603050405020304" pitchFamily="18" charset="0"/>
                              </a:rPr>
                              <m:t>𝟏</m:t>
                            </m:r>
                          </m:e>
                          <m:e>
                            <m:r>
                              <a:rPr lang="en-IN" sz="1600" b="1" i="1" smtClean="0">
                                <a:solidFill>
                                  <a:srgbClr val="002060"/>
                                </a:solidFill>
                                <a:latin typeface="Cambria Math" panose="02040503050406030204" pitchFamily="18" charset="0"/>
                                <a:cs typeface="Times New Roman" panose="02020603050405020304" pitchFamily="18" charset="0"/>
                              </a:rPr>
                              <m:t>                                                                                                     </m:t>
                            </m:r>
                          </m:e>
                          <m:e>
                            <m:r>
                              <a:rPr lang="en-IN" sz="1600" b="1" i="1" smtClean="0">
                                <a:solidFill>
                                  <a:srgbClr val="002060"/>
                                </a:solidFill>
                                <a:latin typeface="Cambria Math" panose="02040503050406030204" pitchFamily="18" charset="0"/>
                                <a:cs typeface="Times New Roman" panose="02020603050405020304" pitchFamily="18" charset="0"/>
                              </a:rPr>
                              <m:t>𝟕</m:t>
                            </m:r>
                            <m:r>
                              <a:rPr lang="en-IN" sz="1600" b="1" i="1" smtClean="0">
                                <a:solidFill>
                                  <a:srgbClr val="002060"/>
                                </a:solidFill>
                                <a:latin typeface="Cambria Math" panose="02040503050406030204" pitchFamily="18" charset="0"/>
                                <a:cs typeface="Times New Roman" panose="02020603050405020304" pitchFamily="18" charset="0"/>
                              </a:rPr>
                              <m:t>×</m:t>
                            </m:r>
                            <m:r>
                              <a:rPr lang="en-IN" sz="1600" b="1" i="1" smtClean="0">
                                <a:solidFill>
                                  <a:srgbClr val="002060"/>
                                </a:solidFill>
                                <a:latin typeface="Cambria Math" panose="02040503050406030204" pitchFamily="18" charset="0"/>
                                <a:cs typeface="Times New Roman" panose="02020603050405020304" pitchFamily="18" charset="0"/>
                              </a:rPr>
                              <m:t>𝑻</m:t>
                            </m:r>
                            <m:d>
                              <m:dPr>
                                <m:ctrlPr>
                                  <a:rPr lang="en-IN" sz="1600" b="1" i="1" smtClean="0">
                                    <a:solidFill>
                                      <a:srgbClr val="002060"/>
                                    </a:solidFill>
                                    <a:latin typeface="Cambria Math"/>
                                    <a:cs typeface="Times New Roman" panose="02020603050405020304" pitchFamily="18" charset="0"/>
                                  </a:rPr>
                                </m:ctrlPr>
                              </m:dPr>
                              <m:e>
                                <m:r>
                                  <a:rPr lang="en-IN" sz="1600" b="1" i="1" smtClean="0">
                                    <a:solidFill>
                                      <a:srgbClr val="002060"/>
                                    </a:solidFill>
                                    <a:latin typeface="Cambria Math" panose="02040503050406030204" pitchFamily="18" charset="0"/>
                                    <a:cs typeface="Times New Roman" panose="02020603050405020304" pitchFamily="18" charset="0"/>
                                  </a:rPr>
                                  <m:t>𝒏</m:t>
                                </m:r>
                                <m:r>
                                  <a:rPr lang="en-IN" sz="1600" b="1" i="1" smtClean="0">
                                    <a:solidFill>
                                      <a:srgbClr val="002060"/>
                                    </a:solidFill>
                                    <a:latin typeface="Cambria Math" panose="02040503050406030204" pitchFamily="18" charset="0"/>
                                    <a:cs typeface="Times New Roman" panose="02020603050405020304" pitchFamily="18" charset="0"/>
                                  </a:rPr>
                                  <m:t>/</m:t>
                                </m:r>
                                <m:r>
                                  <a:rPr lang="en-IN" sz="1600" b="1" i="1" smtClean="0">
                                    <a:solidFill>
                                      <a:srgbClr val="002060"/>
                                    </a:solidFill>
                                    <a:latin typeface="Cambria Math" panose="02040503050406030204" pitchFamily="18" charset="0"/>
                                    <a:cs typeface="Times New Roman" panose="02020603050405020304" pitchFamily="18" charset="0"/>
                                  </a:rPr>
                                  <m:t>𝟐</m:t>
                                </m:r>
                              </m:e>
                            </m:d>
                            <m:r>
                              <a:rPr lang="en-IN" sz="1600" b="1" i="1" smtClean="0">
                                <a:solidFill>
                                  <a:srgbClr val="002060"/>
                                </a:solidFill>
                                <a:latin typeface="Cambria Math" panose="02040503050406030204" pitchFamily="18" charset="0"/>
                                <a:cs typeface="Times New Roman" panose="02020603050405020304" pitchFamily="18" charset="0"/>
                              </a:rPr>
                              <m:t>                                                                         </m:t>
                            </m:r>
                            <m:r>
                              <a:rPr lang="en-IN" sz="1600" b="1" i="1" smtClean="0">
                                <a:solidFill>
                                  <a:srgbClr val="002060"/>
                                </a:solidFill>
                                <a:latin typeface="Cambria Math" panose="02040503050406030204" pitchFamily="18" charset="0"/>
                                <a:cs typeface="Times New Roman" panose="02020603050405020304" pitchFamily="18" charset="0"/>
                              </a:rPr>
                              <m:t>𝒊𝒇</m:t>
                            </m:r>
                            <m:r>
                              <a:rPr lang="en-IN" sz="1600" b="1" i="1" smtClean="0">
                                <a:solidFill>
                                  <a:srgbClr val="002060"/>
                                </a:solidFill>
                                <a:latin typeface="Cambria Math" panose="02040503050406030204" pitchFamily="18" charset="0"/>
                                <a:cs typeface="Times New Roman" panose="02020603050405020304" pitchFamily="18" charset="0"/>
                              </a:rPr>
                              <m:t> </m:t>
                            </m:r>
                            <m:r>
                              <a:rPr lang="en-IN" sz="1600" b="1" i="1" smtClean="0">
                                <a:solidFill>
                                  <a:srgbClr val="002060"/>
                                </a:solidFill>
                                <a:latin typeface="Cambria Math" panose="02040503050406030204" pitchFamily="18" charset="0"/>
                                <a:cs typeface="Times New Roman" panose="02020603050405020304" pitchFamily="18" charset="0"/>
                              </a:rPr>
                              <m:t>𝒏</m:t>
                            </m:r>
                            <m:r>
                              <a:rPr lang="en-IN" sz="1600" b="1" i="1" smtClean="0">
                                <a:solidFill>
                                  <a:srgbClr val="002060"/>
                                </a:solidFill>
                                <a:latin typeface="Cambria Math" panose="02040503050406030204" pitchFamily="18" charset="0"/>
                                <a:cs typeface="Times New Roman" panose="02020603050405020304" pitchFamily="18" charset="0"/>
                              </a:rPr>
                              <m:t>&gt;</m:t>
                            </m:r>
                            <m:r>
                              <a:rPr lang="en-IN" sz="1600" b="1" i="1" smtClean="0">
                                <a:solidFill>
                                  <a:srgbClr val="002060"/>
                                </a:solidFill>
                                <a:latin typeface="Cambria Math" panose="02040503050406030204" pitchFamily="18" charset="0"/>
                                <a:cs typeface="Times New Roman" panose="02020603050405020304" pitchFamily="18" charset="0"/>
                              </a:rPr>
                              <m:t>𝟐</m:t>
                            </m:r>
                          </m:e>
                        </m:eqArr>
                      </m:e>
                    </m:d>
                  </m:oMath>
                </a14:m>
                <a:endParaRPr lang="en-IN" sz="20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251011" y="1599252"/>
                <a:ext cx="7532597" cy="878446"/>
              </a:xfrm>
              <a:prstGeom prst="rect">
                <a:avLst/>
              </a:prstGeom>
              <a:blipFill rotWithShape="0">
                <a:blip r:embed="rId5"/>
                <a:stretch>
                  <a:fillRect l="-323"/>
                </a:stretch>
              </a:blipFill>
              <a:ln>
                <a:solidFill>
                  <a:schemeClr val="accent1"/>
                </a:solidFill>
              </a:ln>
            </p:spPr>
            <p:txBody>
              <a:bodyPr/>
              <a:lstStyle/>
              <a:p>
                <a:r>
                  <a:rPr lang="en-IN">
                    <a:noFill/>
                  </a:rPr>
                  <a:t> </a:t>
                </a:r>
              </a:p>
            </p:txBody>
          </p:sp>
        </mc:Fallback>
      </mc:AlternateContent>
      <p:sp>
        <p:nvSpPr>
          <p:cNvPr id="6" name="Date Placeholder 5"/>
          <p:cNvSpPr>
            <a:spLocks noGrp="1"/>
          </p:cNvSpPr>
          <p:nvPr>
            <p:ph type="dt" sz="half" idx="10"/>
          </p:nvPr>
        </p:nvSpPr>
        <p:spPr/>
        <p:txBody>
          <a:bodyPr/>
          <a:lstStyle/>
          <a:p>
            <a:fld id="{E5B70420-83E2-44CE-B422-527CC65BBE63}" type="datetime1">
              <a:rPr lang="en-IN" smtClean="0"/>
              <a:t>21-03-2026</a:t>
            </a:fld>
            <a:endParaRPr lang="en-IN"/>
          </a:p>
        </p:txBody>
      </p:sp>
    </p:spTree>
    <p:extLst>
      <p:ext uri="{BB962C8B-B14F-4D97-AF65-F5344CB8AC3E}">
        <p14:creationId xmlns:p14="http://schemas.microsoft.com/office/powerpoint/2010/main" val="404628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err="1" smtClean="0">
                <a:solidFill>
                  <a:srgbClr val="002060"/>
                </a:solidFill>
                <a:latin typeface="Times New Roman" panose="02020603050405020304" pitchFamily="18" charset="0"/>
                <a:cs typeface="Times New Roman" panose="02020603050405020304" pitchFamily="18" charset="0"/>
              </a:rPr>
              <a:t>Strassens</a:t>
            </a:r>
            <a:r>
              <a:rPr lang="en-IN" sz="2000" b="1" dirty="0" smtClean="0">
                <a:solidFill>
                  <a:srgbClr val="002060"/>
                </a:solidFill>
                <a:latin typeface="Times New Roman" panose="02020603050405020304" pitchFamily="18" charset="0"/>
                <a:cs typeface="Times New Roman" panose="02020603050405020304" pitchFamily="18" charset="0"/>
              </a:rPr>
              <a:t> Matrix Multiplication </a:t>
            </a:r>
            <a:endParaRPr lang="en-IN" sz="3200" b="1" dirty="0">
              <a:solidFill>
                <a:srgbClr val="002060"/>
              </a:solidFill>
            </a:endParaRPr>
          </a:p>
        </p:txBody>
      </p:sp>
      <p:sp>
        <p:nvSpPr>
          <p:cNvPr id="3" name="Subtitle 2"/>
          <p:cNvSpPr>
            <a:spLocks noGrp="1"/>
          </p:cNvSpPr>
          <p:nvPr>
            <p:ph type="subTitle" idx="1"/>
          </p:nvPr>
        </p:nvSpPr>
        <p:spPr>
          <a:xfrm>
            <a:off x="177051" y="732885"/>
            <a:ext cx="11797552" cy="5627707"/>
          </a:xfrm>
        </p:spPr>
        <p:txBody>
          <a:bodyPr>
            <a:normAutofit/>
          </a:bodyPr>
          <a:lstStyle/>
          <a:p>
            <a:pPr algn="just"/>
            <a:r>
              <a:rPr lang="en-IN" sz="2000" b="1" dirty="0" smtClean="0">
                <a:solidFill>
                  <a:srgbClr val="002060"/>
                </a:solidFill>
                <a:latin typeface="Times New Roman" panose="02020603050405020304" pitchFamily="18" charset="0"/>
                <a:cs typeface="Times New Roman" panose="02020603050405020304" pitchFamily="18" charset="0"/>
              </a:rPr>
              <a:t>Advantages of Divide and Conquer</a:t>
            </a:r>
          </a:p>
          <a:p>
            <a:pPr marL="457200" indent="-457200" algn="just">
              <a:buAutoNum type="arabicPeriod"/>
            </a:pPr>
            <a:r>
              <a:rPr lang="en-IN" sz="2000" b="1" dirty="0" smtClean="0">
                <a:solidFill>
                  <a:srgbClr val="002060"/>
                </a:solidFill>
                <a:latin typeface="Times New Roman" panose="02020603050405020304" pitchFamily="18" charset="0"/>
                <a:cs typeface="Times New Roman" panose="02020603050405020304" pitchFamily="18" charset="0"/>
              </a:rPr>
              <a:t>Easier to obtain the solution </a:t>
            </a:r>
          </a:p>
          <a:p>
            <a:pPr marL="457200" indent="-457200" algn="just">
              <a:buAutoNum type="arabicPeriod"/>
            </a:pPr>
            <a:r>
              <a:rPr lang="en-IN" sz="2000" b="1" dirty="0" smtClean="0">
                <a:solidFill>
                  <a:srgbClr val="002060"/>
                </a:solidFill>
                <a:latin typeface="Times New Roman" panose="02020603050405020304" pitchFamily="18" charset="0"/>
                <a:cs typeface="Times New Roman" panose="02020603050405020304" pitchFamily="18" charset="0"/>
              </a:rPr>
              <a:t>It uses cache memory</a:t>
            </a:r>
          </a:p>
          <a:p>
            <a:pPr marL="457200" indent="-457200" algn="just">
              <a:buAutoNum type="arabicPeriod"/>
            </a:pPr>
            <a:endParaRPr lang="en-IN" sz="2000" b="1" dirty="0">
              <a:solidFill>
                <a:srgbClr val="002060"/>
              </a:solidFill>
              <a:latin typeface="Times New Roman" panose="02020603050405020304" pitchFamily="18" charset="0"/>
              <a:cs typeface="Times New Roman" panose="02020603050405020304" pitchFamily="18" charset="0"/>
            </a:endParaRPr>
          </a:p>
          <a:p>
            <a:pPr marL="457200" indent="-457200" algn="just">
              <a:buAutoNum type="arabicPeriod"/>
            </a:pP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116</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5B611DC4-41E6-4547-903E-0197F23BDBF2}" type="datetime1">
              <a:rPr lang="en-IN" smtClean="0"/>
              <a:t>21-03-2026</a:t>
            </a:fld>
            <a:endParaRPr lang="en-IN"/>
          </a:p>
        </p:txBody>
      </p:sp>
    </p:spTree>
    <p:extLst>
      <p:ext uri="{BB962C8B-B14F-4D97-AF65-F5344CB8AC3E}">
        <p14:creationId xmlns:p14="http://schemas.microsoft.com/office/powerpoint/2010/main" val="220625760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Decrease and Conquer</a:t>
            </a:r>
            <a:endParaRPr lang="en-IN" sz="3200" b="1" dirty="0">
              <a:solidFill>
                <a:srgbClr val="002060"/>
              </a:solidFill>
            </a:endParaRPr>
          </a:p>
        </p:txBody>
      </p:sp>
      <p:sp>
        <p:nvSpPr>
          <p:cNvPr id="3" name="Subtitle 2"/>
          <p:cNvSpPr>
            <a:spLocks noGrp="1"/>
          </p:cNvSpPr>
          <p:nvPr>
            <p:ph type="subTitle" idx="1"/>
          </p:nvPr>
        </p:nvSpPr>
        <p:spPr>
          <a:xfrm>
            <a:off x="177051" y="732885"/>
            <a:ext cx="11797552" cy="5627707"/>
          </a:xfrm>
        </p:spPr>
        <p:txBody>
          <a:bodyPr>
            <a:normAutofit/>
          </a:bodyPr>
          <a:lstStyle/>
          <a:p>
            <a:pPr algn="just"/>
            <a:r>
              <a:rPr lang="en-IN" b="1" dirty="0">
                <a:solidFill>
                  <a:srgbClr val="0070C0"/>
                </a:solidFill>
                <a:latin typeface="Times New Roman" panose="02020603050405020304" pitchFamily="18" charset="0"/>
                <a:cs typeface="Times New Roman" panose="02020603050405020304" pitchFamily="18" charset="0"/>
              </a:rPr>
              <a:t>Decrease and </a:t>
            </a:r>
            <a:r>
              <a:rPr lang="en-IN" b="1" dirty="0" smtClean="0">
                <a:solidFill>
                  <a:srgbClr val="0070C0"/>
                </a:solidFill>
                <a:latin typeface="Times New Roman" panose="02020603050405020304" pitchFamily="18" charset="0"/>
                <a:cs typeface="Times New Roman" panose="02020603050405020304" pitchFamily="18" charset="0"/>
              </a:rPr>
              <a:t>Conquer Technique</a:t>
            </a:r>
          </a:p>
          <a:p>
            <a:pPr algn="just"/>
            <a:r>
              <a:rPr lang="en-US" sz="2000" b="1" dirty="0" smtClean="0">
                <a:solidFill>
                  <a:srgbClr val="002060"/>
                </a:solidFill>
                <a:latin typeface="Times New Roman" panose="02020603050405020304" pitchFamily="18" charset="0"/>
                <a:cs typeface="Times New Roman" panose="02020603050405020304" pitchFamily="18" charset="0"/>
              </a:rPr>
              <a:t>The </a:t>
            </a:r>
            <a:r>
              <a:rPr lang="en-US" sz="2000" b="1" dirty="0">
                <a:solidFill>
                  <a:srgbClr val="002060"/>
                </a:solidFill>
                <a:latin typeface="Times New Roman" panose="02020603050405020304" pitchFamily="18" charset="0"/>
                <a:cs typeface="Times New Roman" panose="02020603050405020304" pitchFamily="18" charset="0"/>
              </a:rPr>
              <a:t>decrease and conquer technique is similar to divide and conquer, except instead of partitioning a problem into multiple </a:t>
            </a:r>
            <a:r>
              <a:rPr lang="en-US" sz="2000" b="1" dirty="0" err="1">
                <a:solidFill>
                  <a:srgbClr val="002060"/>
                </a:solidFill>
                <a:latin typeface="Times New Roman" panose="02020603050405020304" pitchFamily="18" charset="0"/>
                <a:cs typeface="Times New Roman" panose="02020603050405020304" pitchFamily="18" charset="0"/>
              </a:rPr>
              <a:t>subproblems</a:t>
            </a:r>
            <a:r>
              <a:rPr lang="en-US" sz="2000" b="1" dirty="0">
                <a:solidFill>
                  <a:srgbClr val="002060"/>
                </a:solidFill>
                <a:latin typeface="Times New Roman" panose="02020603050405020304" pitchFamily="18" charset="0"/>
                <a:cs typeface="Times New Roman" panose="02020603050405020304" pitchFamily="18" charset="0"/>
              </a:rPr>
              <a:t> of smaller size, we use some technique to reduce our problem into a single problem that is smaller than the original. The smaller problem might be: </a:t>
            </a:r>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 </a:t>
            </a:r>
            <a:r>
              <a:rPr lang="en-US" sz="2000" b="1" dirty="0">
                <a:solidFill>
                  <a:srgbClr val="002060"/>
                </a:solidFill>
                <a:latin typeface="Times New Roman" panose="02020603050405020304" pitchFamily="18" charset="0"/>
                <a:cs typeface="Times New Roman" panose="02020603050405020304" pitchFamily="18" charset="0"/>
              </a:rPr>
              <a:t>Decreased by some constant </a:t>
            </a:r>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 </a:t>
            </a:r>
            <a:r>
              <a:rPr lang="en-US" sz="2000" b="1" dirty="0">
                <a:solidFill>
                  <a:srgbClr val="002060"/>
                </a:solidFill>
                <a:latin typeface="Times New Roman" panose="02020603050405020304" pitchFamily="18" charset="0"/>
                <a:cs typeface="Times New Roman" panose="02020603050405020304" pitchFamily="18" charset="0"/>
              </a:rPr>
              <a:t>Decreased by some constant factor </a:t>
            </a:r>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 </a:t>
            </a:r>
            <a:r>
              <a:rPr lang="en-US" sz="2000" b="1" dirty="0">
                <a:solidFill>
                  <a:srgbClr val="002060"/>
                </a:solidFill>
                <a:latin typeface="Times New Roman" panose="02020603050405020304" pitchFamily="18" charset="0"/>
                <a:cs typeface="Times New Roman" panose="02020603050405020304" pitchFamily="18" charset="0"/>
              </a:rPr>
              <a:t>Variable decrease</a:t>
            </a: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117</a:t>
            </a:fld>
            <a:endParaRPr lang="en-IN" sz="1600" b="1" dirty="0">
              <a:solidFill>
                <a:srgbClr val="002060"/>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5"/>
          <a:stretch>
            <a:fillRect/>
          </a:stretch>
        </p:blipFill>
        <p:spPr>
          <a:xfrm>
            <a:off x="4993697" y="2312893"/>
            <a:ext cx="3764540" cy="3811681"/>
          </a:xfrm>
          <a:prstGeom prst="rect">
            <a:avLst/>
          </a:prstGeom>
        </p:spPr>
      </p:pic>
      <p:sp>
        <p:nvSpPr>
          <p:cNvPr id="9" name="Date Placeholder 8"/>
          <p:cNvSpPr>
            <a:spLocks noGrp="1"/>
          </p:cNvSpPr>
          <p:nvPr>
            <p:ph type="dt" sz="half" idx="10"/>
          </p:nvPr>
        </p:nvSpPr>
        <p:spPr/>
        <p:txBody>
          <a:bodyPr/>
          <a:lstStyle/>
          <a:p>
            <a:fld id="{034E683F-3807-4F6B-85E4-9602FB873AC6}" type="datetime1">
              <a:rPr lang="en-IN" smtClean="0"/>
              <a:t>21-03-2026</a:t>
            </a:fld>
            <a:endParaRPr lang="en-IN"/>
          </a:p>
        </p:txBody>
      </p:sp>
    </p:spTree>
    <p:extLst>
      <p:ext uri="{BB962C8B-B14F-4D97-AF65-F5344CB8AC3E}">
        <p14:creationId xmlns:p14="http://schemas.microsoft.com/office/powerpoint/2010/main" val="3313733906"/>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Decrease and Conquer</a:t>
            </a:r>
            <a:endParaRPr lang="en-IN" sz="3200" b="1" dirty="0">
              <a:solidFill>
                <a:srgbClr val="002060"/>
              </a:solidFill>
            </a:endParaRPr>
          </a:p>
        </p:txBody>
      </p:sp>
      <p:sp>
        <p:nvSpPr>
          <p:cNvPr id="3" name="Subtitle 2"/>
          <p:cNvSpPr>
            <a:spLocks noGrp="1"/>
          </p:cNvSpPr>
          <p:nvPr>
            <p:ph type="subTitle" idx="1"/>
          </p:nvPr>
        </p:nvSpPr>
        <p:spPr>
          <a:xfrm>
            <a:off x="96368" y="758892"/>
            <a:ext cx="11797552" cy="5627707"/>
          </a:xfrm>
        </p:spPr>
        <p:txBody>
          <a:bodyPr>
            <a:normAutofit/>
          </a:bodyPr>
          <a:lstStyle/>
          <a:p>
            <a:pPr algn="just"/>
            <a:r>
              <a:rPr lang="en-IN" b="1" dirty="0">
                <a:solidFill>
                  <a:srgbClr val="0070C0"/>
                </a:solidFill>
                <a:latin typeface="Times New Roman" panose="02020603050405020304" pitchFamily="18" charset="0"/>
                <a:cs typeface="Times New Roman" panose="02020603050405020304" pitchFamily="18" charset="0"/>
              </a:rPr>
              <a:t>Decrease and </a:t>
            </a:r>
            <a:r>
              <a:rPr lang="en-IN" b="1" dirty="0" smtClean="0">
                <a:solidFill>
                  <a:srgbClr val="0070C0"/>
                </a:solidFill>
                <a:latin typeface="Times New Roman" panose="02020603050405020304" pitchFamily="18" charset="0"/>
                <a:cs typeface="Times New Roman" panose="02020603050405020304" pitchFamily="18" charset="0"/>
              </a:rPr>
              <a:t>Conquer Technique</a:t>
            </a:r>
          </a:p>
          <a:p>
            <a:pPr algn="just"/>
            <a:r>
              <a:rPr lang="en-US" sz="2000" b="1" dirty="0" smtClean="0">
                <a:solidFill>
                  <a:srgbClr val="002060"/>
                </a:solidFill>
                <a:latin typeface="Times New Roman" panose="02020603050405020304" pitchFamily="18" charset="0"/>
                <a:cs typeface="Times New Roman" panose="02020603050405020304" pitchFamily="18" charset="0"/>
              </a:rPr>
              <a:t>• </a:t>
            </a:r>
            <a:r>
              <a:rPr lang="en-US" b="1" dirty="0">
                <a:solidFill>
                  <a:srgbClr val="002060"/>
                </a:solidFill>
                <a:latin typeface="Times New Roman" panose="02020603050405020304" pitchFamily="18" charset="0"/>
                <a:cs typeface="Times New Roman" panose="02020603050405020304" pitchFamily="18" charset="0"/>
              </a:rPr>
              <a:t>Decreased by some constant </a:t>
            </a:r>
            <a:endParaRPr lang="en-US" sz="2800" b="1" dirty="0" smtClean="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 the </a:t>
            </a:r>
            <a:r>
              <a:rPr lang="en-US" sz="2000" b="1" i="1" dirty="0">
                <a:latin typeface="Times New Roman" panose="02020603050405020304" pitchFamily="18" charset="0"/>
                <a:cs typeface="Times New Roman" panose="02020603050405020304" pitchFamily="18" charset="0"/>
              </a:rPr>
              <a:t>decrease-by-a-constant </a:t>
            </a:r>
            <a:r>
              <a:rPr lang="en-US" sz="2000" b="1" dirty="0">
                <a:latin typeface="Times New Roman" panose="02020603050405020304" pitchFamily="18" charset="0"/>
                <a:cs typeface="Times New Roman" panose="02020603050405020304" pitchFamily="18" charset="0"/>
              </a:rPr>
              <a:t>variation, the size of an instance is </a:t>
            </a:r>
            <a:r>
              <a:rPr lang="en-US" sz="2000" b="1" dirty="0" smtClean="0">
                <a:latin typeface="Times New Roman" panose="02020603050405020304" pitchFamily="18" charset="0"/>
                <a:cs typeface="Times New Roman" panose="02020603050405020304" pitchFamily="18" charset="0"/>
              </a:rPr>
              <a:t>reduced by </a:t>
            </a:r>
            <a:r>
              <a:rPr lang="en-US" sz="2000" b="1" dirty="0">
                <a:latin typeface="Times New Roman" panose="02020603050405020304" pitchFamily="18" charset="0"/>
                <a:cs typeface="Times New Roman" panose="02020603050405020304" pitchFamily="18" charset="0"/>
              </a:rPr>
              <a:t>the same constant on each iteration of the algorithm. </a:t>
            </a:r>
            <a:endParaRPr lang="en-US" sz="2000" b="1"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Typically</a:t>
            </a:r>
            <a:r>
              <a:rPr lang="en-US" sz="2000" b="1" dirty="0">
                <a:latin typeface="Times New Roman" panose="02020603050405020304" pitchFamily="18" charset="0"/>
                <a:cs typeface="Times New Roman" panose="02020603050405020304" pitchFamily="18" charset="0"/>
              </a:rPr>
              <a:t>, this </a:t>
            </a:r>
            <a:r>
              <a:rPr lang="en-US" sz="2000" b="1" dirty="0" smtClean="0">
                <a:latin typeface="Times New Roman" panose="02020603050405020304" pitchFamily="18" charset="0"/>
                <a:cs typeface="Times New Roman" panose="02020603050405020304" pitchFamily="18" charset="0"/>
              </a:rPr>
              <a:t>constant is </a:t>
            </a:r>
            <a:r>
              <a:rPr lang="en-US" sz="2000" b="1" dirty="0">
                <a:latin typeface="Times New Roman" panose="02020603050405020304" pitchFamily="18" charset="0"/>
                <a:cs typeface="Times New Roman" panose="02020603050405020304" pitchFamily="18" charset="0"/>
              </a:rPr>
              <a:t>equal to one </a:t>
            </a:r>
            <a:r>
              <a:rPr lang="en-US" sz="2000" b="1" dirty="0" smtClean="0">
                <a:latin typeface="Times New Roman" panose="02020603050405020304" pitchFamily="18" charset="0"/>
                <a:cs typeface="Times New Roman" panose="02020603050405020304" pitchFamily="18" charset="0"/>
              </a:rPr>
              <a:t>although </a:t>
            </a:r>
            <a:r>
              <a:rPr lang="en-US" sz="2000" b="1" dirty="0">
                <a:latin typeface="Times New Roman" panose="02020603050405020304" pitchFamily="18" charset="0"/>
                <a:cs typeface="Times New Roman" panose="02020603050405020304" pitchFamily="18" charset="0"/>
              </a:rPr>
              <a:t>other constant size reductions do </a:t>
            </a:r>
            <a:r>
              <a:rPr lang="en-US" sz="2000" b="1" dirty="0" smtClean="0">
                <a:latin typeface="Times New Roman" panose="02020603050405020304" pitchFamily="18" charset="0"/>
                <a:cs typeface="Times New Roman" panose="02020603050405020304" pitchFamily="18" charset="0"/>
              </a:rPr>
              <a:t>happen </a:t>
            </a:r>
            <a:r>
              <a:rPr lang="en-IN" sz="2000" b="1" dirty="0" smtClean="0">
                <a:latin typeface="Times New Roman" panose="02020603050405020304" pitchFamily="18" charset="0"/>
                <a:cs typeface="Times New Roman" panose="02020603050405020304" pitchFamily="18" charset="0"/>
              </a:rPr>
              <a:t>occasionally</a:t>
            </a:r>
            <a:r>
              <a:rPr lang="en-IN" sz="2000" b="1"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Consider, as an example, the exponentiation problem of computing </a:t>
            </a:r>
            <a:r>
              <a:rPr lang="en-US" sz="2000" b="1" i="1" dirty="0">
                <a:latin typeface="Times New Roman" panose="02020603050405020304" pitchFamily="18" charset="0"/>
                <a:cs typeface="Times New Roman" panose="02020603050405020304" pitchFamily="18" charset="0"/>
              </a:rPr>
              <a:t>a</a:t>
            </a:r>
            <a:r>
              <a:rPr lang="en-US" sz="2000" b="1" i="1" baseline="30000" dirty="0">
                <a:latin typeface="Times New Roman" panose="02020603050405020304" pitchFamily="18" charset="0"/>
                <a:cs typeface="Times New Roman" panose="02020603050405020304" pitchFamily="18" charset="0"/>
              </a:rPr>
              <a:t>n</a:t>
            </a:r>
            <a:r>
              <a:rPr lang="en-US" sz="2000" b="1" i="1" dirty="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where </a:t>
            </a:r>
            <a:r>
              <a:rPr lang="en-US" sz="2000" b="1" i="1" smtClean="0">
                <a:latin typeface="Times New Roman" panose="02020603050405020304" pitchFamily="18" charset="0"/>
                <a:cs typeface="Times New Roman" panose="02020603050405020304" pitchFamily="18" charset="0"/>
              </a:rPr>
              <a:t>a ≠ </a:t>
            </a:r>
            <a:r>
              <a:rPr lang="en-US" sz="2000" b="1" smtClean="0">
                <a:latin typeface="Times New Roman" panose="02020603050405020304" pitchFamily="18" charset="0"/>
                <a:cs typeface="Times New Roman" panose="02020603050405020304" pitchFamily="18" charset="0"/>
              </a:rPr>
              <a:t>0 </a:t>
            </a:r>
            <a:r>
              <a:rPr lang="en-US" sz="2000" b="1" dirty="0">
                <a:latin typeface="Times New Roman" panose="02020603050405020304" pitchFamily="18" charset="0"/>
                <a:cs typeface="Times New Roman" panose="02020603050405020304" pitchFamily="18" charset="0"/>
              </a:rPr>
              <a:t>and </a:t>
            </a:r>
            <a:r>
              <a:rPr lang="en-US" sz="2000" b="1" i="1" dirty="0">
                <a:latin typeface="Times New Roman" panose="02020603050405020304" pitchFamily="18" charset="0"/>
                <a:cs typeface="Times New Roman" panose="02020603050405020304" pitchFamily="18" charset="0"/>
              </a:rPr>
              <a:t>n </a:t>
            </a:r>
            <a:r>
              <a:rPr lang="en-US" sz="2000" b="1" dirty="0">
                <a:latin typeface="Times New Roman" panose="02020603050405020304" pitchFamily="18" charset="0"/>
                <a:cs typeface="Times New Roman" panose="02020603050405020304" pitchFamily="18" charset="0"/>
              </a:rPr>
              <a:t>is a nonnegative integer. The relationship between a solution to </a:t>
            </a:r>
            <a:r>
              <a:rPr lang="en-US" sz="2000" b="1" dirty="0" smtClean="0">
                <a:latin typeface="Times New Roman" panose="02020603050405020304" pitchFamily="18" charset="0"/>
                <a:cs typeface="Times New Roman" panose="02020603050405020304" pitchFamily="18" charset="0"/>
              </a:rPr>
              <a:t>an instance </a:t>
            </a:r>
            <a:r>
              <a:rPr lang="en-US" sz="2000" b="1" dirty="0">
                <a:latin typeface="Times New Roman" panose="02020603050405020304" pitchFamily="18" charset="0"/>
                <a:cs typeface="Times New Roman" panose="02020603050405020304" pitchFamily="18" charset="0"/>
              </a:rPr>
              <a:t>of size </a:t>
            </a:r>
            <a:r>
              <a:rPr lang="en-US" sz="2000" b="1" i="1" dirty="0">
                <a:latin typeface="Times New Roman" panose="02020603050405020304" pitchFamily="18" charset="0"/>
                <a:cs typeface="Times New Roman" panose="02020603050405020304" pitchFamily="18" charset="0"/>
              </a:rPr>
              <a:t>n </a:t>
            </a:r>
            <a:r>
              <a:rPr lang="en-US" sz="2000" b="1" dirty="0">
                <a:latin typeface="Times New Roman" panose="02020603050405020304" pitchFamily="18" charset="0"/>
                <a:cs typeface="Times New Roman" panose="02020603050405020304" pitchFamily="18" charset="0"/>
              </a:rPr>
              <a:t>and an instance of size </a:t>
            </a:r>
            <a:r>
              <a:rPr lang="en-US" sz="2000" b="1" i="1" dirty="0">
                <a:latin typeface="Times New Roman" panose="02020603050405020304" pitchFamily="18" charset="0"/>
                <a:cs typeface="Times New Roman" panose="02020603050405020304" pitchFamily="18" charset="0"/>
              </a:rPr>
              <a:t>n </a:t>
            </a:r>
            <a:r>
              <a:rPr lang="en-US" sz="2000" b="1" dirty="0">
                <a:latin typeface="Times New Roman" panose="02020603050405020304" pitchFamily="18" charset="0"/>
                <a:cs typeface="Times New Roman" panose="02020603050405020304" pitchFamily="18" charset="0"/>
              </a:rPr>
              <a:t>− 1 is obtained by the obvious formula</a:t>
            </a:r>
          </a:p>
          <a:p>
            <a:pPr marL="342900" indent="-342900" algn="just">
              <a:buFont typeface="Arial" panose="020B0604020202020204" pitchFamily="34" charset="0"/>
              <a:buChar char="•"/>
            </a:pPr>
            <a:r>
              <a:rPr lang="en-US" sz="2000" b="1" i="1" dirty="0">
                <a:latin typeface="Times New Roman" panose="02020603050405020304" pitchFamily="18" charset="0"/>
                <a:cs typeface="Times New Roman" panose="02020603050405020304" pitchFamily="18" charset="0"/>
              </a:rPr>
              <a:t>an </a:t>
            </a:r>
            <a:r>
              <a:rPr lang="en-US" sz="2000" b="1"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a</a:t>
            </a:r>
            <a:r>
              <a:rPr lang="en-US" sz="2000" b="1" i="1" baseline="30000" dirty="0">
                <a:latin typeface="Times New Roman" panose="02020603050405020304" pitchFamily="18" charset="0"/>
                <a:cs typeface="Times New Roman" panose="02020603050405020304" pitchFamily="18" charset="0"/>
              </a:rPr>
              <a:t>n</a:t>
            </a:r>
            <a:r>
              <a:rPr lang="en-US" sz="2000" b="1" baseline="30000" dirty="0">
                <a:latin typeface="Times New Roman" panose="02020603050405020304" pitchFamily="18" charset="0"/>
                <a:cs typeface="Times New Roman" panose="02020603050405020304" pitchFamily="18" charset="0"/>
              </a:rPr>
              <a:t>−1 </a:t>
            </a:r>
            <a:r>
              <a:rPr lang="en-US" sz="2000" b="1" i="1" dirty="0">
                <a:latin typeface="Times New Roman" panose="02020603050405020304" pitchFamily="18" charset="0"/>
                <a:cs typeface="Times New Roman" panose="02020603050405020304" pitchFamily="18" charset="0"/>
              </a:rPr>
              <a:t>. a. </a:t>
            </a:r>
            <a:r>
              <a:rPr lang="en-US" sz="2000" b="1" dirty="0">
                <a:latin typeface="Times New Roman" panose="02020603050405020304" pitchFamily="18" charset="0"/>
                <a:cs typeface="Times New Roman" panose="02020603050405020304" pitchFamily="18" charset="0"/>
              </a:rPr>
              <a:t>So the function </a:t>
            </a:r>
            <a:r>
              <a:rPr lang="en-US" sz="2000" b="1" i="1" dirty="0">
                <a:latin typeface="Times New Roman" panose="02020603050405020304" pitchFamily="18" charset="0"/>
                <a:cs typeface="Times New Roman" panose="02020603050405020304" pitchFamily="18" charset="0"/>
              </a:rPr>
              <a:t>f (n) </a:t>
            </a:r>
            <a:r>
              <a:rPr lang="en-US" sz="2000" b="1"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a</a:t>
            </a:r>
            <a:r>
              <a:rPr lang="en-US" sz="2000" b="1" i="1" baseline="30000" dirty="0">
                <a:latin typeface="Times New Roman" panose="02020603050405020304" pitchFamily="18" charset="0"/>
                <a:cs typeface="Times New Roman" panose="02020603050405020304" pitchFamily="18" charset="0"/>
              </a:rPr>
              <a:t>n</a:t>
            </a:r>
            <a:r>
              <a:rPr lang="en-US" sz="2000" b="1" i="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can be computed either “top down” </a:t>
            </a:r>
            <a:r>
              <a:rPr lang="en-US" sz="2000" b="1" dirty="0" smtClean="0">
                <a:latin typeface="Times New Roman" panose="02020603050405020304" pitchFamily="18" charset="0"/>
                <a:cs typeface="Times New Roman" panose="02020603050405020304" pitchFamily="18" charset="0"/>
              </a:rPr>
              <a:t>by </a:t>
            </a:r>
            <a:r>
              <a:rPr lang="en-IN" sz="2000" b="1" dirty="0" smtClean="0">
                <a:latin typeface="Times New Roman" panose="02020603050405020304" pitchFamily="18" charset="0"/>
                <a:cs typeface="Times New Roman" panose="02020603050405020304" pitchFamily="18" charset="0"/>
              </a:rPr>
              <a:t>using </a:t>
            </a:r>
            <a:r>
              <a:rPr lang="en-IN" sz="2000" b="1" dirty="0">
                <a:latin typeface="Times New Roman" panose="02020603050405020304" pitchFamily="18" charset="0"/>
                <a:cs typeface="Times New Roman" panose="02020603050405020304" pitchFamily="18" charset="0"/>
              </a:rPr>
              <a:t>its recursive </a:t>
            </a:r>
            <a:r>
              <a:rPr lang="en-IN" sz="2000" b="1" dirty="0" smtClean="0">
                <a:latin typeface="Times New Roman" panose="02020603050405020304" pitchFamily="18" charset="0"/>
                <a:cs typeface="Times New Roman" panose="02020603050405020304" pitchFamily="18" charset="0"/>
              </a:rPr>
              <a:t>definition </a:t>
            </a:r>
            <a:r>
              <a:rPr lang="en-US" sz="2000" b="1" dirty="0">
                <a:latin typeface="Times New Roman" panose="02020603050405020304" pitchFamily="18" charset="0"/>
                <a:cs typeface="Times New Roman" panose="02020603050405020304" pitchFamily="18" charset="0"/>
              </a:rPr>
              <a:t>or “bottom up” by multiplying </a:t>
            </a:r>
            <a:r>
              <a:rPr lang="en-US" sz="2000" b="1" dirty="0">
                <a:solidFill>
                  <a:srgbClr val="FF0000"/>
                </a:solidFill>
                <a:latin typeface="Times New Roman" panose="02020603050405020304" pitchFamily="18" charset="0"/>
                <a:cs typeface="Times New Roman" panose="02020603050405020304" pitchFamily="18" charset="0"/>
              </a:rPr>
              <a:t>1 by </a:t>
            </a:r>
            <a:r>
              <a:rPr lang="en-US" sz="2000" b="1" i="1" dirty="0">
                <a:solidFill>
                  <a:srgbClr val="FF0000"/>
                </a:solidFill>
                <a:latin typeface="Times New Roman" panose="02020603050405020304" pitchFamily="18" charset="0"/>
                <a:cs typeface="Times New Roman" panose="02020603050405020304" pitchFamily="18" charset="0"/>
              </a:rPr>
              <a:t>a </a:t>
            </a:r>
            <a:r>
              <a:rPr lang="en-US" sz="2000" b="1" i="1" dirty="0">
                <a:latin typeface="Times New Roman" panose="02020603050405020304" pitchFamily="18" charset="0"/>
                <a:cs typeface="Times New Roman" panose="02020603050405020304" pitchFamily="18" charset="0"/>
              </a:rPr>
              <a:t>n </a:t>
            </a:r>
            <a:r>
              <a:rPr lang="en-US" sz="2000" b="1" dirty="0" smtClean="0">
                <a:latin typeface="Times New Roman" panose="02020603050405020304" pitchFamily="18" charset="0"/>
                <a:cs typeface="Times New Roman" panose="02020603050405020304" pitchFamily="18" charset="0"/>
              </a:rPr>
              <a:t>times </a:t>
            </a:r>
          </a:p>
          <a:p>
            <a:pPr marL="342900" indent="-342900" algn="just">
              <a:buFont typeface="Arial" panose="020B0604020202020204" pitchFamily="34" charset="0"/>
              <a:buChar char="•"/>
            </a:pPr>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118</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AD7A7FF2-EC69-492B-9625-943DADEB98F2}" type="datetime1">
              <a:rPr lang="en-IN" smtClean="0"/>
              <a:t>21-03-2026</a:t>
            </a:fld>
            <a:endParaRPr lang="en-IN"/>
          </a:p>
        </p:txBody>
      </p:sp>
    </p:spTree>
    <p:extLst>
      <p:ext uri="{BB962C8B-B14F-4D97-AF65-F5344CB8AC3E}">
        <p14:creationId xmlns:p14="http://schemas.microsoft.com/office/powerpoint/2010/main" val="123464335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Decrease and Conquer</a:t>
            </a:r>
            <a:endParaRPr lang="en-IN" sz="3200" b="1" dirty="0">
              <a:solidFill>
                <a:srgbClr val="002060"/>
              </a:solidFill>
            </a:endParaRPr>
          </a:p>
        </p:txBody>
      </p:sp>
      <p:sp>
        <p:nvSpPr>
          <p:cNvPr id="3" name="Subtitle 2"/>
          <p:cNvSpPr>
            <a:spLocks noGrp="1"/>
          </p:cNvSpPr>
          <p:nvPr>
            <p:ph type="subTitle" idx="1"/>
          </p:nvPr>
        </p:nvSpPr>
        <p:spPr>
          <a:xfrm>
            <a:off x="96368" y="758892"/>
            <a:ext cx="11797552" cy="5627707"/>
          </a:xfrm>
        </p:spPr>
        <p:txBody>
          <a:bodyPr>
            <a:normAutofit/>
          </a:bodyPr>
          <a:lstStyle/>
          <a:p>
            <a:pPr algn="just"/>
            <a:r>
              <a:rPr lang="en-IN" b="1" dirty="0">
                <a:solidFill>
                  <a:srgbClr val="0070C0"/>
                </a:solidFill>
                <a:latin typeface="Times New Roman" panose="02020603050405020304" pitchFamily="18" charset="0"/>
                <a:cs typeface="Times New Roman" panose="02020603050405020304" pitchFamily="18" charset="0"/>
              </a:rPr>
              <a:t>Decrease and </a:t>
            </a:r>
            <a:r>
              <a:rPr lang="en-IN" b="1" dirty="0" smtClean="0">
                <a:solidFill>
                  <a:srgbClr val="0070C0"/>
                </a:solidFill>
                <a:latin typeface="Times New Roman" panose="02020603050405020304" pitchFamily="18" charset="0"/>
                <a:cs typeface="Times New Roman" panose="02020603050405020304" pitchFamily="18" charset="0"/>
              </a:rPr>
              <a:t>Conquer Technique</a:t>
            </a:r>
          </a:p>
          <a:p>
            <a:pPr algn="just"/>
            <a:r>
              <a:rPr lang="en-US" sz="2000" b="1" dirty="0" smtClean="0">
                <a:solidFill>
                  <a:srgbClr val="002060"/>
                </a:solidFill>
                <a:latin typeface="Times New Roman" panose="02020603050405020304" pitchFamily="18" charset="0"/>
                <a:cs typeface="Times New Roman" panose="02020603050405020304" pitchFamily="18" charset="0"/>
              </a:rPr>
              <a:t>• </a:t>
            </a:r>
            <a:r>
              <a:rPr lang="en-US" b="1" dirty="0">
                <a:solidFill>
                  <a:srgbClr val="002060"/>
                </a:solidFill>
                <a:latin typeface="Times New Roman" panose="02020603050405020304" pitchFamily="18" charset="0"/>
                <a:cs typeface="Times New Roman" panose="02020603050405020304" pitchFamily="18" charset="0"/>
              </a:rPr>
              <a:t>Decreased by some constant </a:t>
            </a:r>
            <a:endParaRPr lang="en-US" sz="28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119</a:t>
            </a:fld>
            <a:endParaRPr lang="en-IN" sz="1600" b="1" dirty="0">
              <a:solidFill>
                <a:srgbClr val="002060"/>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5"/>
          <a:stretch>
            <a:fillRect/>
          </a:stretch>
        </p:blipFill>
        <p:spPr>
          <a:xfrm>
            <a:off x="5101273" y="1171392"/>
            <a:ext cx="5145386" cy="5209818"/>
          </a:xfrm>
          <a:prstGeom prst="rect">
            <a:avLst/>
          </a:prstGeom>
        </p:spPr>
      </p:pic>
      <p:pic>
        <p:nvPicPr>
          <p:cNvPr id="9" name="Picture 8"/>
          <p:cNvPicPr>
            <a:picLocks noChangeAspect="1"/>
          </p:cNvPicPr>
          <p:nvPr/>
        </p:nvPicPr>
        <p:blipFill>
          <a:blip r:embed="rId6"/>
          <a:stretch>
            <a:fillRect/>
          </a:stretch>
        </p:blipFill>
        <p:spPr>
          <a:xfrm>
            <a:off x="1308847" y="1585403"/>
            <a:ext cx="4152900" cy="962025"/>
          </a:xfrm>
          <a:prstGeom prst="rect">
            <a:avLst/>
          </a:prstGeom>
        </p:spPr>
      </p:pic>
      <p:sp>
        <p:nvSpPr>
          <p:cNvPr id="10" name="Date Placeholder 9"/>
          <p:cNvSpPr>
            <a:spLocks noGrp="1"/>
          </p:cNvSpPr>
          <p:nvPr>
            <p:ph type="dt" sz="half" idx="10"/>
          </p:nvPr>
        </p:nvSpPr>
        <p:spPr/>
        <p:txBody>
          <a:bodyPr/>
          <a:lstStyle/>
          <a:p>
            <a:fld id="{2CC48B50-8132-465B-B623-E91F01B687C6}" type="datetime1">
              <a:rPr lang="en-IN" smtClean="0"/>
              <a:t>21-03-2026</a:t>
            </a:fld>
            <a:endParaRPr lang="en-IN"/>
          </a:p>
        </p:txBody>
      </p:sp>
    </p:spTree>
    <p:extLst>
      <p:ext uri="{BB962C8B-B14F-4D97-AF65-F5344CB8AC3E}">
        <p14:creationId xmlns:p14="http://schemas.microsoft.com/office/powerpoint/2010/main" val="1974765664"/>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Decrease and Conquer</a:t>
            </a:r>
            <a:endParaRPr lang="en-IN" sz="3200" b="1" dirty="0">
              <a:solidFill>
                <a:srgbClr val="002060"/>
              </a:solidFill>
            </a:endParaRPr>
          </a:p>
        </p:txBody>
      </p:sp>
      <p:sp>
        <p:nvSpPr>
          <p:cNvPr id="3" name="Subtitle 2"/>
          <p:cNvSpPr>
            <a:spLocks noGrp="1"/>
          </p:cNvSpPr>
          <p:nvPr>
            <p:ph type="subTitle" idx="1"/>
          </p:nvPr>
        </p:nvSpPr>
        <p:spPr>
          <a:xfrm>
            <a:off x="96368" y="758892"/>
            <a:ext cx="11797552" cy="5627707"/>
          </a:xfrm>
        </p:spPr>
        <p:txBody>
          <a:bodyPr>
            <a:normAutofit/>
          </a:bodyPr>
          <a:lstStyle/>
          <a:p>
            <a:pPr algn="just"/>
            <a:r>
              <a:rPr lang="en-IN" b="1" dirty="0">
                <a:solidFill>
                  <a:srgbClr val="0070C0"/>
                </a:solidFill>
                <a:latin typeface="Times New Roman" panose="02020603050405020304" pitchFamily="18" charset="0"/>
                <a:cs typeface="Times New Roman" panose="02020603050405020304" pitchFamily="18" charset="0"/>
              </a:rPr>
              <a:t>Decrease and </a:t>
            </a:r>
            <a:r>
              <a:rPr lang="en-IN" b="1" dirty="0" smtClean="0">
                <a:solidFill>
                  <a:srgbClr val="0070C0"/>
                </a:solidFill>
                <a:latin typeface="Times New Roman" panose="02020603050405020304" pitchFamily="18" charset="0"/>
                <a:cs typeface="Times New Roman" panose="02020603050405020304" pitchFamily="18" charset="0"/>
              </a:rPr>
              <a:t>Conquer Technique</a:t>
            </a:r>
          </a:p>
          <a:p>
            <a:pPr algn="just"/>
            <a:r>
              <a:rPr lang="en-US" sz="2000" b="1" dirty="0" smtClean="0">
                <a:solidFill>
                  <a:srgbClr val="002060"/>
                </a:solidFill>
                <a:latin typeface="Times New Roman" panose="02020603050405020304" pitchFamily="18" charset="0"/>
                <a:cs typeface="Times New Roman" panose="02020603050405020304" pitchFamily="18" charset="0"/>
              </a:rPr>
              <a:t>• </a:t>
            </a:r>
            <a:r>
              <a:rPr lang="en-US" b="1" dirty="0">
                <a:solidFill>
                  <a:srgbClr val="002060"/>
                </a:solidFill>
                <a:latin typeface="Times New Roman" panose="02020603050405020304" pitchFamily="18" charset="0"/>
                <a:cs typeface="Times New Roman" panose="02020603050405020304" pitchFamily="18" charset="0"/>
              </a:rPr>
              <a:t>Decreased by some constant </a:t>
            </a:r>
            <a:r>
              <a:rPr lang="en-US" b="1" dirty="0" smtClean="0">
                <a:solidFill>
                  <a:srgbClr val="002060"/>
                </a:solidFill>
                <a:latin typeface="Times New Roman" panose="02020603050405020304" pitchFamily="18" charset="0"/>
                <a:cs typeface="Times New Roman" panose="02020603050405020304" pitchFamily="18" charset="0"/>
              </a:rPr>
              <a:t>factor</a:t>
            </a:r>
            <a:endParaRPr lang="en-US" sz="2800" b="1" dirty="0" smtClean="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dirty="0">
                <a:solidFill>
                  <a:srgbClr val="002060"/>
                </a:solidFill>
                <a:latin typeface="Times New Roman" panose="02020603050405020304" pitchFamily="18" charset="0"/>
                <a:cs typeface="Times New Roman" panose="02020603050405020304" pitchFamily="18" charset="0"/>
              </a:rPr>
              <a:t>The </a:t>
            </a:r>
            <a:r>
              <a:rPr lang="en-US" sz="2000" b="1" i="1" dirty="0">
                <a:solidFill>
                  <a:srgbClr val="002060"/>
                </a:solidFill>
                <a:latin typeface="Times New Roman" panose="02020603050405020304" pitchFamily="18" charset="0"/>
                <a:cs typeface="Times New Roman" panose="02020603050405020304" pitchFamily="18" charset="0"/>
              </a:rPr>
              <a:t>decrease-by-a-constant-factor </a:t>
            </a:r>
            <a:r>
              <a:rPr lang="en-US" sz="2000" b="1" dirty="0">
                <a:solidFill>
                  <a:srgbClr val="002060"/>
                </a:solidFill>
                <a:latin typeface="Times New Roman" panose="02020603050405020304" pitchFamily="18" charset="0"/>
                <a:cs typeface="Times New Roman" panose="02020603050405020304" pitchFamily="18" charset="0"/>
              </a:rPr>
              <a:t>technique suggests reducing a </a:t>
            </a:r>
            <a:r>
              <a:rPr lang="en-US" sz="2000" b="1" dirty="0" smtClean="0">
                <a:solidFill>
                  <a:srgbClr val="002060"/>
                </a:solidFill>
                <a:latin typeface="Times New Roman" panose="02020603050405020304" pitchFamily="18" charset="0"/>
                <a:cs typeface="Times New Roman" panose="02020603050405020304" pitchFamily="18" charset="0"/>
              </a:rPr>
              <a:t>problem instance </a:t>
            </a:r>
            <a:r>
              <a:rPr lang="en-US" sz="2000" b="1" dirty="0">
                <a:solidFill>
                  <a:srgbClr val="002060"/>
                </a:solidFill>
                <a:latin typeface="Times New Roman" panose="02020603050405020304" pitchFamily="18" charset="0"/>
                <a:cs typeface="Times New Roman" panose="02020603050405020304" pitchFamily="18" charset="0"/>
              </a:rPr>
              <a:t>by the same constant factor on each iteration of the algorithm. </a:t>
            </a:r>
            <a:endParaRPr lang="en-US" sz="2000" b="1" dirty="0" smtClean="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dirty="0" smtClean="0">
                <a:solidFill>
                  <a:srgbClr val="002060"/>
                </a:solidFill>
                <a:latin typeface="Times New Roman" panose="02020603050405020304" pitchFamily="18" charset="0"/>
                <a:cs typeface="Times New Roman" panose="02020603050405020304" pitchFamily="18" charset="0"/>
              </a:rPr>
              <a:t>In most applications</a:t>
            </a:r>
            <a:r>
              <a:rPr lang="en-US" sz="2000" b="1" dirty="0">
                <a:solidFill>
                  <a:srgbClr val="002060"/>
                </a:solidFill>
                <a:latin typeface="Times New Roman" panose="02020603050405020304" pitchFamily="18" charset="0"/>
                <a:cs typeface="Times New Roman" panose="02020603050405020304" pitchFamily="18" charset="0"/>
              </a:rPr>
              <a:t>, this constant factor is equal to two. (Can you give an example of </a:t>
            </a:r>
            <a:r>
              <a:rPr lang="en-US" sz="2000" b="1" dirty="0" smtClean="0">
                <a:solidFill>
                  <a:srgbClr val="002060"/>
                </a:solidFill>
                <a:latin typeface="Times New Roman" panose="02020603050405020304" pitchFamily="18" charset="0"/>
                <a:cs typeface="Times New Roman" panose="02020603050405020304" pitchFamily="18" charset="0"/>
              </a:rPr>
              <a:t>such an </a:t>
            </a:r>
            <a:r>
              <a:rPr lang="en-US" sz="2000" b="1" dirty="0">
                <a:solidFill>
                  <a:srgbClr val="002060"/>
                </a:solidFill>
                <a:latin typeface="Times New Roman" panose="02020603050405020304" pitchFamily="18" charset="0"/>
                <a:cs typeface="Times New Roman" panose="02020603050405020304" pitchFamily="18" charset="0"/>
              </a:rPr>
              <a:t>algorithm?) </a:t>
            </a:r>
            <a:r>
              <a:rPr lang="en-US" sz="2000" b="1" dirty="0" smtClean="0">
                <a:solidFill>
                  <a:srgbClr val="002060"/>
                </a:solidFill>
                <a:latin typeface="Times New Roman" panose="02020603050405020304" pitchFamily="18" charset="0"/>
                <a:cs typeface="Times New Roman" panose="02020603050405020304" pitchFamily="18" charset="0"/>
              </a:rPr>
              <a:t>For </a:t>
            </a:r>
            <a:r>
              <a:rPr lang="en-US" sz="2000" b="1" dirty="0">
                <a:solidFill>
                  <a:srgbClr val="002060"/>
                </a:solidFill>
                <a:latin typeface="Times New Roman" panose="02020603050405020304" pitchFamily="18" charset="0"/>
                <a:cs typeface="Times New Roman" panose="02020603050405020304" pitchFamily="18" charset="0"/>
              </a:rPr>
              <a:t>an example, let us revisit the exponentiation problem. If the instance </a:t>
            </a:r>
            <a:r>
              <a:rPr lang="en-US" sz="2000" b="1" dirty="0" smtClean="0">
                <a:solidFill>
                  <a:srgbClr val="002060"/>
                </a:solidFill>
                <a:latin typeface="Times New Roman" panose="02020603050405020304" pitchFamily="18" charset="0"/>
                <a:cs typeface="Times New Roman" panose="02020603050405020304" pitchFamily="18" charset="0"/>
              </a:rPr>
              <a:t>of size </a:t>
            </a:r>
            <a:r>
              <a:rPr lang="en-US" sz="2000" b="1" i="1" dirty="0">
                <a:solidFill>
                  <a:srgbClr val="002060"/>
                </a:solidFill>
                <a:latin typeface="Times New Roman" panose="02020603050405020304" pitchFamily="18" charset="0"/>
                <a:cs typeface="Times New Roman" panose="02020603050405020304" pitchFamily="18" charset="0"/>
              </a:rPr>
              <a:t>n </a:t>
            </a:r>
            <a:r>
              <a:rPr lang="en-US" sz="2000" b="1" dirty="0">
                <a:solidFill>
                  <a:srgbClr val="002060"/>
                </a:solidFill>
                <a:latin typeface="Times New Roman" panose="02020603050405020304" pitchFamily="18" charset="0"/>
                <a:cs typeface="Times New Roman" panose="02020603050405020304" pitchFamily="18" charset="0"/>
              </a:rPr>
              <a:t>is to compute </a:t>
            </a:r>
            <a:r>
              <a:rPr lang="en-US" sz="2000" b="1" i="1" dirty="0">
                <a:solidFill>
                  <a:srgbClr val="002060"/>
                </a:solidFill>
                <a:latin typeface="Times New Roman" panose="02020603050405020304" pitchFamily="18" charset="0"/>
                <a:cs typeface="Times New Roman" panose="02020603050405020304" pitchFamily="18" charset="0"/>
              </a:rPr>
              <a:t>a</a:t>
            </a:r>
            <a:r>
              <a:rPr lang="en-US" sz="2000" b="1" i="1" baseline="30000" dirty="0">
                <a:solidFill>
                  <a:srgbClr val="002060"/>
                </a:solidFill>
                <a:latin typeface="Times New Roman" panose="02020603050405020304" pitchFamily="18" charset="0"/>
                <a:cs typeface="Times New Roman" panose="02020603050405020304" pitchFamily="18" charset="0"/>
              </a:rPr>
              <a:t>n</a:t>
            </a:r>
            <a:r>
              <a:rPr lang="en-US" sz="2000" b="1" dirty="0">
                <a:solidFill>
                  <a:srgbClr val="002060"/>
                </a:solidFill>
                <a:latin typeface="Times New Roman" panose="02020603050405020304" pitchFamily="18" charset="0"/>
                <a:cs typeface="Times New Roman" panose="02020603050405020304" pitchFamily="18" charset="0"/>
              </a:rPr>
              <a:t>, the instance of half its size is to compute </a:t>
            </a:r>
            <a:r>
              <a:rPr lang="en-US" sz="2000" b="1" i="1" dirty="0">
                <a:solidFill>
                  <a:srgbClr val="002060"/>
                </a:solidFill>
                <a:latin typeface="Times New Roman" panose="02020603050405020304" pitchFamily="18" charset="0"/>
                <a:cs typeface="Times New Roman" panose="02020603050405020304" pitchFamily="18" charset="0"/>
              </a:rPr>
              <a:t>a</a:t>
            </a:r>
            <a:r>
              <a:rPr lang="en-US" sz="2000" b="1" i="1" baseline="30000" dirty="0">
                <a:solidFill>
                  <a:srgbClr val="002060"/>
                </a:solidFill>
                <a:latin typeface="Times New Roman" panose="02020603050405020304" pitchFamily="18" charset="0"/>
                <a:cs typeface="Times New Roman" panose="02020603050405020304" pitchFamily="18" charset="0"/>
              </a:rPr>
              <a:t>n/</a:t>
            </a:r>
            <a:r>
              <a:rPr lang="en-US" sz="2000" b="1" baseline="30000" dirty="0">
                <a:solidFill>
                  <a:srgbClr val="002060"/>
                </a:solidFill>
                <a:latin typeface="Times New Roman" panose="02020603050405020304" pitchFamily="18" charset="0"/>
                <a:cs typeface="Times New Roman" panose="02020603050405020304" pitchFamily="18" charset="0"/>
              </a:rPr>
              <a:t>2</a:t>
            </a:r>
            <a:r>
              <a:rPr lang="en-US" sz="2000" b="1" dirty="0">
                <a:solidFill>
                  <a:srgbClr val="002060"/>
                </a:solidFill>
                <a:latin typeface="Times New Roman" panose="02020603050405020304" pitchFamily="18" charset="0"/>
                <a:cs typeface="Times New Roman" panose="02020603050405020304" pitchFamily="18" charset="0"/>
              </a:rPr>
              <a:t>, with the</a:t>
            </a:r>
          </a:p>
          <a:p>
            <a:pPr marL="342900" indent="-342900" algn="just">
              <a:buFont typeface="Arial" panose="020B0604020202020204" pitchFamily="34" charset="0"/>
              <a:buChar char="•"/>
            </a:pPr>
            <a:r>
              <a:rPr lang="en-US" sz="2000" b="1" dirty="0">
                <a:solidFill>
                  <a:srgbClr val="002060"/>
                </a:solidFill>
                <a:latin typeface="Times New Roman" panose="02020603050405020304" pitchFamily="18" charset="0"/>
                <a:cs typeface="Times New Roman" panose="02020603050405020304" pitchFamily="18" charset="0"/>
              </a:rPr>
              <a:t>obvious relationship between the two: </a:t>
            </a:r>
            <a:r>
              <a:rPr lang="en-US" sz="2000" b="1" i="1" dirty="0">
                <a:solidFill>
                  <a:srgbClr val="002060"/>
                </a:solidFill>
                <a:latin typeface="Times New Roman" panose="02020603050405020304" pitchFamily="18" charset="0"/>
                <a:cs typeface="Times New Roman" panose="02020603050405020304" pitchFamily="18" charset="0"/>
              </a:rPr>
              <a:t>an </a:t>
            </a:r>
            <a:r>
              <a:rPr lang="en-US" sz="2000" b="1" dirty="0">
                <a:solidFill>
                  <a:srgbClr val="002060"/>
                </a:solidFill>
                <a:latin typeface="Times New Roman" panose="02020603050405020304" pitchFamily="18" charset="0"/>
                <a:cs typeface="Times New Roman" panose="02020603050405020304" pitchFamily="18" charset="0"/>
              </a:rPr>
              <a:t>= </a:t>
            </a:r>
            <a:r>
              <a:rPr lang="en-US" sz="2000" b="1" i="1" dirty="0">
                <a:solidFill>
                  <a:srgbClr val="002060"/>
                </a:solidFill>
                <a:latin typeface="Times New Roman" panose="02020603050405020304" pitchFamily="18" charset="0"/>
                <a:cs typeface="Times New Roman" panose="02020603050405020304" pitchFamily="18" charset="0"/>
              </a:rPr>
              <a:t>(a</a:t>
            </a:r>
            <a:r>
              <a:rPr lang="en-US" sz="2000" b="1" i="1" baseline="30000" dirty="0">
                <a:solidFill>
                  <a:srgbClr val="002060"/>
                </a:solidFill>
                <a:latin typeface="Times New Roman" panose="02020603050405020304" pitchFamily="18" charset="0"/>
                <a:cs typeface="Times New Roman" panose="02020603050405020304" pitchFamily="18" charset="0"/>
              </a:rPr>
              <a:t>n/2</a:t>
            </a:r>
            <a:r>
              <a:rPr lang="en-US" sz="2000" b="1" i="1" dirty="0">
                <a:solidFill>
                  <a:srgbClr val="002060"/>
                </a:solidFill>
                <a:latin typeface="Times New Roman" panose="02020603050405020304" pitchFamily="18" charset="0"/>
                <a:cs typeface="Times New Roman" panose="02020603050405020304" pitchFamily="18" charset="0"/>
              </a:rPr>
              <a:t>)</a:t>
            </a:r>
            <a:r>
              <a:rPr lang="en-US" sz="2000" b="1" i="1" baseline="30000" dirty="0">
                <a:solidFill>
                  <a:srgbClr val="002060"/>
                </a:solidFill>
                <a:latin typeface="Times New Roman" panose="02020603050405020304" pitchFamily="18" charset="0"/>
                <a:cs typeface="Times New Roman" panose="02020603050405020304" pitchFamily="18" charset="0"/>
              </a:rPr>
              <a:t>2</a:t>
            </a:r>
            <a:r>
              <a:rPr lang="en-US" sz="2000" b="1" i="1" dirty="0">
                <a:solidFill>
                  <a:srgbClr val="002060"/>
                </a:solidFill>
                <a:latin typeface="Times New Roman" panose="02020603050405020304" pitchFamily="18" charset="0"/>
                <a:cs typeface="Times New Roman" panose="02020603050405020304" pitchFamily="18" charset="0"/>
              </a:rPr>
              <a:t>. </a:t>
            </a:r>
            <a:r>
              <a:rPr lang="en-US" sz="2000" b="1" dirty="0">
                <a:solidFill>
                  <a:srgbClr val="002060"/>
                </a:solidFill>
                <a:latin typeface="Times New Roman" panose="02020603050405020304" pitchFamily="18" charset="0"/>
                <a:cs typeface="Times New Roman" panose="02020603050405020304" pitchFamily="18" charset="0"/>
              </a:rPr>
              <a:t>But since we consider </a:t>
            </a:r>
            <a:r>
              <a:rPr lang="en-US" sz="2000" b="1" dirty="0" smtClean="0">
                <a:solidFill>
                  <a:srgbClr val="002060"/>
                </a:solidFill>
                <a:latin typeface="Times New Roman" panose="02020603050405020304" pitchFamily="18" charset="0"/>
                <a:cs typeface="Times New Roman" panose="02020603050405020304" pitchFamily="18" charset="0"/>
              </a:rPr>
              <a:t>here instances </a:t>
            </a:r>
            <a:r>
              <a:rPr lang="en-US" sz="2000" b="1" dirty="0">
                <a:solidFill>
                  <a:srgbClr val="002060"/>
                </a:solidFill>
                <a:latin typeface="Times New Roman" panose="02020603050405020304" pitchFamily="18" charset="0"/>
                <a:cs typeface="Times New Roman" panose="02020603050405020304" pitchFamily="18" charset="0"/>
              </a:rPr>
              <a:t>with integer exponents only, the former does not work for odd </a:t>
            </a:r>
            <a:r>
              <a:rPr lang="en-US" sz="2000" b="1" i="1" dirty="0">
                <a:solidFill>
                  <a:srgbClr val="002060"/>
                </a:solidFill>
                <a:latin typeface="Times New Roman" panose="02020603050405020304" pitchFamily="18" charset="0"/>
                <a:cs typeface="Times New Roman" panose="02020603050405020304" pitchFamily="18" charset="0"/>
              </a:rPr>
              <a:t>n</a:t>
            </a:r>
            <a:r>
              <a:rPr lang="en-US" sz="2000" b="1" dirty="0">
                <a:solidFill>
                  <a:srgbClr val="002060"/>
                </a:solidFill>
                <a:latin typeface="Times New Roman" panose="02020603050405020304" pitchFamily="18" charset="0"/>
                <a:cs typeface="Times New Roman" panose="02020603050405020304" pitchFamily="18" charset="0"/>
              </a:rPr>
              <a:t>. If </a:t>
            </a:r>
            <a:r>
              <a:rPr lang="en-US" sz="2000" b="1" i="1" dirty="0">
                <a:solidFill>
                  <a:srgbClr val="002060"/>
                </a:solidFill>
                <a:latin typeface="Times New Roman" panose="02020603050405020304" pitchFamily="18" charset="0"/>
                <a:cs typeface="Times New Roman" panose="02020603050405020304" pitchFamily="18" charset="0"/>
              </a:rPr>
              <a:t>n </a:t>
            </a:r>
            <a:r>
              <a:rPr lang="en-US" sz="2000" b="1" dirty="0" smtClean="0">
                <a:solidFill>
                  <a:srgbClr val="002060"/>
                </a:solidFill>
                <a:latin typeface="Times New Roman" panose="02020603050405020304" pitchFamily="18" charset="0"/>
                <a:cs typeface="Times New Roman" panose="02020603050405020304" pitchFamily="18" charset="0"/>
              </a:rPr>
              <a:t>is odd</a:t>
            </a:r>
            <a:r>
              <a:rPr lang="en-US" sz="2000" b="1" dirty="0">
                <a:solidFill>
                  <a:srgbClr val="002060"/>
                </a:solidFill>
                <a:latin typeface="Times New Roman" panose="02020603050405020304" pitchFamily="18" charset="0"/>
                <a:cs typeface="Times New Roman" panose="02020603050405020304" pitchFamily="18" charset="0"/>
              </a:rPr>
              <a:t>, we have to compute </a:t>
            </a:r>
            <a:r>
              <a:rPr lang="en-US" sz="2000" b="1" i="1" dirty="0">
                <a:solidFill>
                  <a:srgbClr val="002060"/>
                </a:solidFill>
                <a:latin typeface="Times New Roman" panose="02020603050405020304" pitchFamily="18" charset="0"/>
                <a:cs typeface="Times New Roman" panose="02020603050405020304" pitchFamily="18" charset="0"/>
              </a:rPr>
              <a:t>a</a:t>
            </a:r>
            <a:r>
              <a:rPr lang="en-US" sz="2000" b="1" i="1" baseline="30000" dirty="0">
                <a:solidFill>
                  <a:srgbClr val="002060"/>
                </a:solidFill>
                <a:latin typeface="Times New Roman" panose="02020603050405020304" pitchFamily="18" charset="0"/>
                <a:cs typeface="Times New Roman" panose="02020603050405020304" pitchFamily="18" charset="0"/>
              </a:rPr>
              <a:t>n−1 </a:t>
            </a:r>
            <a:r>
              <a:rPr lang="en-US" sz="2000" b="1" dirty="0">
                <a:solidFill>
                  <a:srgbClr val="002060"/>
                </a:solidFill>
                <a:latin typeface="Times New Roman" panose="02020603050405020304" pitchFamily="18" charset="0"/>
                <a:cs typeface="Times New Roman" panose="02020603050405020304" pitchFamily="18" charset="0"/>
              </a:rPr>
              <a:t>by using the rule for even-valued exponents </a:t>
            </a:r>
            <a:r>
              <a:rPr lang="en-US" sz="2000" b="1" dirty="0" smtClean="0">
                <a:solidFill>
                  <a:srgbClr val="002060"/>
                </a:solidFill>
                <a:latin typeface="Times New Roman" panose="02020603050405020304" pitchFamily="18" charset="0"/>
                <a:cs typeface="Times New Roman" panose="02020603050405020304" pitchFamily="18" charset="0"/>
              </a:rPr>
              <a:t>and then </a:t>
            </a:r>
            <a:r>
              <a:rPr lang="en-US" sz="2000" b="1" dirty="0">
                <a:solidFill>
                  <a:srgbClr val="002060"/>
                </a:solidFill>
                <a:latin typeface="Times New Roman" panose="02020603050405020304" pitchFamily="18" charset="0"/>
                <a:cs typeface="Times New Roman" panose="02020603050405020304" pitchFamily="18" charset="0"/>
              </a:rPr>
              <a:t>multiply the result by </a:t>
            </a:r>
            <a:r>
              <a:rPr lang="en-US" sz="2000" b="1" i="1" dirty="0">
                <a:solidFill>
                  <a:srgbClr val="002060"/>
                </a:solidFill>
                <a:latin typeface="Times New Roman" panose="02020603050405020304" pitchFamily="18" charset="0"/>
                <a:cs typeface="Times New Roman" panose="02020603050405020304" pitchFamily="18" charset="0"/>
              </a:rPr>
              <a:t>a. </a:t>
            </a:r>
            <a:r>
              <a:rPr lang="en-US" sz="2000" b="1" dirty="0">
                <a:solidFill>
                  <a:srgbClr val="002060"/>
                </a:solidFill>
                <a:latin typeface="Times New Roman" panose="02020603050405020304" pitchFamily="18" charset="0"/>
                <a:cs typeface="Times New Roman" panose="02020603050405020304" pitchFamily="18" charset="0"/>
              </a:rPr>
              <a:t>To summarize, we have the following formula</a:t>
            </a:r>
            <a:r>
              <a:rPr lang="en-US" sz="2000" dirty="0"/>
              <a:t>:</a:t>
            </a:r>
            <a:endParaRPr lang="en-US" sz="2000" b="1" dirty="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b="1" dirty="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120</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32394CF9-22AD-4AC7-B1E9-551C483EAF9A}" type="datetime1">
              <a:rPr lang="en-IN" smtClean="0"/>
              <a:t>21-03-2026</a:t>
            </a:fld>
            <a:endParaRPr lang="en-IN"/>
          </a:p>
        </p:txBody>
      </p:sp>
    </p:spTree>
    <p:extLst>
      <p:ext uri="{BB962C8B-B14F-4D97-AF65-F5344CB8AC3E}">
        <p14:creationId xmlns:p14="http://schemas.microsoft.com/office/powerpoint/2010/main" val="3047868510"/>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Decrease and Conquer</a:t>
            </a:r>
            <a:endParaRPr lang="en-IN" sz="3200" b="1" dirty="0">
              <a:solidFill>
                <a:srgbClr val="002060"/>
              </a:solidFill>
            </a:endParaRPr>
          </a:p>
        </p:txBody>
      </p:sp>
      <p:sp>
        <p:nvSpPr>
          <p:cNvPr id="3" name="Subtitle 2"/>
          <p:cNvSpPr>
            <a:spLocks noGrp="1"/>
          </p:cNvSpPr>
          <p:nvPr>
            <p:ph type="subTitle" idx="1"/>
          </p:nvPr>
        </p:nvSpPr>
        <p:spPr>
          <a:xfrm>
            <a:off x="96368" y="758892"/>
            <a:ext cx="11797552" cy="5627707"/>
          </a:xfrm>
        </p:spPr>
        <p:txBody>
          <a:bodyPr>
            <a:normAutofit/>
          </a:bodyPr>
          <a:lstStyle/>
          <a:p>
            <a:pPr algn="just"/>
            <a:r>
              <a:rPr lang="en-IN" b="1" dirty="0">
                <a:solidFill>
                  <a:srgbClr val="0070C0"/>
                </a:solidFill>
                <a:latin typeface="Times New Roman" panose="02020603050405020304" pitchFamily="18" charset="0"/>
                <a:cs typeface="Times New Roman" panose="02020603050405020304" pitchFamily="18" charset="0"/>
              </a:rPr>
              <a:t>Decrease and </a:t>
            </a:r>
            <a:r>
              <a:rPr lang="en-IN" b="1" dirty="0" smtClean="0">
                <a:solidFill>
                  <a:srgbClr val="0070C0"/>
                </a:solidFill>
                <a:latin typeface="Times New Roman" panose="02020603050405020304" pitchFamily="18" charset="0"/>
                <a:cs typeface="Times New Roman" panose="02020603050405020304" pitchFamily="18" charset="0"/>
              </a:rPr>
              <a:t>Conquer Technique</a:t>
            </a:r>
          </a:p>
          <a:p>
            <a:pPr algn="just"/>
            <a:r>
              <a:rPr lang="en-US" sz="2000" b="1" dirty="0" smtClean="0">
                <a:solidFill>
                  <a:srgbClr val="002060"/>
                </a:solidFill>
                <a:latin typeface="Times New Roman" panose="02020603050405020304" pitchFamily="18" charset="0"/>
                <a:cs typeface="Times New Roman" panose="02020603050405020304" pitchFamily="18" charset="0"/>
              </a:rPr>
              <a:t>• </a:t>
            </a:r>
            <a:r>
              <a:rPr lang="en-US" b="1" dirty="0">
                <a:solidFill>
                  <a:srgbClr val="002060"/>
                </a:solidFill>
                <a:latin typeface="Times New Roman" panose="02020603050405020304" pitchFamily="18" charset="0"/>
                <a:cs typeface="Times New Roman" panose="02020603050405020304" pitchFamily="18" charset="0"/>
              </a:rPr>
              <a:t>Decreased by some constant </a:t>
            </a:r>
            <a:r>
              <a:rPr lang="en-US" b="1" dirty="0" smtClean="0">
                <a:solidFill>
                  <a:srgbClr val="002060"/>
                </a:solidFill>
                <a:latin typeface="Times New Roman" panose="02020603050405020304" pitchFamily="18" charset="0"/>
                <a:cs typeface="Times New Roman" panose="02020603050405020304" pitchFamily="18" charset="0"/>
              </a:rPr>
              <a:t>factor</a:t>
            </a:r>
            <a:endParaRPr lang="en-US" sz="2800" b="1" dirty="0" smtClean="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121</a:t>
            </a:fld>
            <a:endParaRPr lang="en-IN" sz="1600" b="1" dirty="0">
              <a:solidFill>
                <a:srgbClr val="002060"/>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5"/>
          <a:stretch>
            <a:fillRect/>
          </a:stretch>
        </p:blipFill>
        <p:spPr>
          <a:xfrm>
            <a:off x="6839904" y="771812"/>
            <a:ext cx="3142296" cy="4445934"/>
          </a:xfrm>
          <a:prstGeom prst="rect">
            <a:avLst/>
          </a:prstGeom>
        </p:spPr>
      </p:pic>
      <p:pic>
        <p:nvPicPr>
          <p:cNvPr id="9" name="Picture 8"/>
          <p:cNvPicPr>
            <a:picLocks noChangeAspect="1"/>
          </p:cNvPicPr>
          <p:nvPr/>
        </p:nvPicPr>
        <p:blipFill>
          <a:blip r:embed="rId6"/>
          <a:stretch>
            <a:fillRect/>
          </a:stretch>
        </p:blipFill>
        <p:spPr>
          <a:xfrm>
            <a:off x="2054038" y="2252943"/>
            <a:ext cx="4533900" cy="971550"/>
          </a:xfrm>
          <a:prstGeom prst="rect">
            <a:avLst/>
          </a:prstGeom>
        </p:spPr>
      </p:pic>
      <p:sp>
        <p:nvSpPr>
          <p:cNvPr id="10" name="Date Placeholder 9"/>
          <p:cNvSpPr>
            <a:spLocks noGrp="1"/>
          </p:cNvSpPr>
          <p:nvPr>
            <p:ph type="dt" sz="half" idx="10"/>
          </p:nvPr>
        </p:nvSpPr>
        <p:spPr/>
        <p:txBody>
          <a:bodyPr/>
          <a:lstStyle/>
          <a:p>
            <a:fld id="{1991BFFD-A44D-435C-ACEA-A24F5832C1FB}" type="datetime1">
              <a:rPr lang="en-IN" smtClean="0"/>
              <a:t>21-03-2026</a:t>
            </a:fld>
            <a:endParaRPr lang="en-IN"/>
          </a:p>
        </p:txBody>
      </p:sp>
    </p:spTree>
    <p:extLst>
      <p:ext uri="{BB962C8B-B14F-4D97-AF65-F5344CB8AC3E}">
        <p14:creationId xmlns:p14="http://schemas.microsoft.com/office/powerpoint/2010/main" val="999783350"/>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Decrease and Conquer</a:t>
            </a:r>
            <a:endParaRPr lang="en-IN" sz="3200" b="1" dirty="0">
              <a:solidFill>
                <a:srgbClr val="002060"/>
              </a:solidFill>
            </a:endParaRPr>
          </a:p>
        </p:txBody>
      </p:sp>
      <p:sp>
        <p:nvSpPr>
          <p:cNvPr id="3" name="Subtitle 2"/>
          <p:cNvSpPr>
            <a:spLocks noGrp="1"/>
          </p:cNvSpPr>
          <p:nvPr>
            <p:ph type="subTitle" idx="1"/>
          </p:nvPr>
        </p:nvSpPr>
        <p:spPr>
          <a:xfrm>
            <a:off x="96368" y="758892"/>
            <a:ext cx="11797552" cy="5627707"/>
          </a:xfrm>
        </p:spPr>
        <p:txBody>
          <a:bodyPr>
            <a:normAutofit/>
          </a:bodyPr>
          <a:lstStyle/>
          <a:p>
            <a:pPr algn="just"/>
            <a:r>
              <a:rPr lang="en-IN" b="1" dirty="0">
                <a:solidFill>
                  <a:srgbClr val="0070C0"/>
                </a:solidFill>
                <a:latin typeface="Times New Roman" panose="02020603050405020304" pitchFamily="18" charset="0"/>
                <a:cs typeface="Times New Roman" panose="02020603050405020304" pitchFamily="18" charset="0"/>
              </a:rPr>
              <a:t>Decrease and </a:t>
            </a:r>
            <a:r>
              <a:rPr lang="en-IN" b="1" dirty="0" smtClean="0">
                <a:solidFill>
                  <a:srgbClr val="0070C0"/>
                </a:solidFill>
                <a:latin typeface="Times New Roman" panose="02020603050405020304" pitchFamily="18" charset="0"/>
                <a:cs typeface="Times New Roman" panose="02020603050405020304" pitchFamily="18" charset="0"/>
              </a:rPr>
              <a:t>Conquer Technique</a:t>
            </a:r>
          </a:p>
          <a:p>
            <a:pPr algn="just"/>
            <a:r>
              <a:rPr lang="en-US" sz="2000" b="1" dirty="0" smtClean="0">
                <a:solidFill>
                  <a:srgbClr val="002060"/>
                </a:solidFill>
                <a:latin typeface="Times New Roman" panose="02020603050405020304" pitchFamily="18" charset="0"/>
                <a:cs typeface="Times New Roman" panose="02020603050405020304" pitchFamily="18" charset="0"/>
              </a:rPr>
              <a:t>• </a:t>
            </a:r>
            <a:r>
              <a:rPr lang="en-US" b="1" i="1" dirty="0">
                <a:solidFill>
                  <a:srgbClr val="002060"/>
                </a:solidFill>
                <a:latin typeface="Times New Roman" panose="02020603050405020304" pitchFamily="18" charset="0"/>
                <a:cs typeface="Times New Roman" panose="02020603050405020304" pitchFamily="18" charset="0"/>
              </a:rPr>
              <a:t>variable-size-decrease </a:t>
            </a:r>
            <a:endParaRPr lang="en-US" b="1" i="1" dirty="0" smtClean="0">
              <a:solidFill>
                <a:srgbClr val="00206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Finally</a:t>
            </a:r>
            <a:r>
              <a:rPr lang="en-US" sz="2000" b="1" dirty="0">
                <a:solidFill>
                  <a:srgbClr val="002060"/>
                </a:solidFill>
                <a:latin typeface="Times New Roman" panose="02020603050405020304" pitchFamily="18" charset="0"/>
                <a:cs typeface="Times New Roman" panose="02020603050405020304" pitchFamily="18" charset="0"/>
              </a:rPr>
              <a:t>, in the </a:t>
            </a:r>
            <a:r>
              <a:rPr lang="en-US" sz="2000" b="1" i="1" dirty="0">
                <a:solidFill>
                  <a:srgbClr val="002060"/>
                </a:solidFill>
                <a:latin typeface="Times New Roman" panose="02020603050405020304" pitchFamily="18" charset="0"/>
                <a:cs typeface="Times New Roman" panose="02020603050405020304" pitchFamily="18" charset="0"/>
              </a:rPr>
              <a:t>variable-size-decrease </a:t>
            </a:r>
            <a:r>
              <a:rPr lang="en-US" sz="2000" b="1" dirty="0">
                <a:solidFill>
                  <a:srgbClr val="002060"/>
                </a:solidFill>
                <a:latin typeface="Times New Roman" panose="02020603050405020304" pitchFamily="18" charset="0"/>
                <a:cs typeface="Times New Roman" panose="02020603050405020304" pitchFamily="18" charset="0"/>
              </a:rPr>
              <a:t>variety of decrease-and-conquer, </a:t>
            </a:r>
            <a:r>
              <a:rPr lang="en-US" sz="2000" b="1" dirty="0" smtClean="0">
                <a:solidFill>
                  <a:srgbClr val="002060"/>
                </a:solidFill>
                <a:latin typeface="Times New Roman" panose="02020603050405020304" pitchFamily="18" charset="0"/>
                <a:cs typeface="Times New Roman" panose="02020603050405020304" pitchFamily="18" charset="0"/>
              </a:rPr>
              <a:t>the size-reduction </a:t>
            </a:r>
            <a:r>
              <a:rPr lang="en-US" sz="2000" b="1" dirty="0">
                <a:solidFill>
                  <a:srgbClr val="002060"/>
                </a:solidFill>
                <a:latin typeface="Times New Roman" panose="02020603050405020304" pitchFamily="18" charset="0"/>
                <a:cs typeface="Times New Roman" panose="02020603050405020304" pitchFamily="18" charset="0"/>
              </a:rPr>
              <a:t>pattern varies from one iteration of an algorithm to another. </a:t>
            </a:r>
            <a:r>
              <a:rPr lang="en-US" sz="2000" b="1" dirty="0" smtClean="0">
                <a:solidFill>
                  <a:srgbClr val="002060"/>
                </a:solidFill>
                <a:latin typeface="Times New Roman" panose="02020603050405020304" pitchFamily="18" charset="0"/>
                <a:cs typeface="Times New Roman" panose="02020603050405020304" pitchFamily="18" charset="0"/>
              </a:rPr>
              <a:t>Euclid’s algorithm </a:t>
            </a:r>
            <a:r>
              <a:rPr lang="en-US" sz="2000" b="1" dirty="0">
                <a:solidFill>
                  <a:srgbClr val="002060"/>
                </a:solidFill>
                <a:latin typeface="Times New Roman" panose="02020603050405020304" pitchFamily="18" charset="0"/>
                <a:cs typeface="Times New Roman" panose="02020603050405020304" pitchFamily="18" charset="0"/>
              </a:rPr>
              <a:t>for computing the greatest common divisor provides a good </a:t>
            </a:r>
            <a:r>
              <a:rPr lang="en-US" sz="2000" b="1" dirty="0" smtClean="0">
                <a:solidFill>
                  <a:srgbClr val="002060"/>
                </a:solidFill>
                <a:latin typeface="Times New Roman" panose="02020603050405020304" pitchFamily="18" charset="0"/>
                <a:cs typeface="Times New Roman" panose="02020603050405020304" pitchFamily="18" charset="0"/>
              </a:rPr>
              <a:t>example of </a:t>
            </a:r>
            <a:r>
              <a:rPr lang="en-US" sz="2000" b="1" dirty="0">
                <a:solidFill>
                  <a:srgbClr val="002060"/>
                </a:solidFill>
                <a:latin typeface="Times New Roman" panose="02020603050405020304" pitchFamily="18" charset="0"/>
                <a:cs typeface="Times New Roman" panose="02020603050405020304" pitchFamily="18" charset="0"/>
              </a:rPr>
              <a:t>such a situation. Recall that this algorithm is based on the formula</a:t>
            </a:r>
          </a:p>
          <a:p>
            <a:pPr algn="just"/>
            <a:r>
              <a:rPr lang="pt-BR" sz="2000" b="1" dirty="0">
                <a:solidFill>
                  <a:srgbClr val="002060"/>
                </a:solidFill>
                <a:latin typeface="Times New Roman" panose="02020603050405020304" pitchFamily="18" charset="0"/>
                <a:cs typeface="Times New Roman" panose="02020603050405020304" pitchFamily="18" charset="0"/>
              </a:rPr>
              <a:t>gcd</a:t>
            </a:r>
            <a:r>
              <a:rPr lang="pt-BR" sz="2000" b="1" i="1" dirty="0">
                <a:solidFill>
                  <a:srgbClr val="002060"/>
                </a:solidFill>
                <a:latin typeface="Times New Roman" panose="02020603050405020304" pitchFamily="18" charset="0"/>
                <a:cs typeface="Times New Roman" panose="02020603050405020304" pitchFamily="18" charset="0"/>
              </a:rPr>
              <a:t>(m, n) </a:t>
            </a:r>
            <a:r>
              <a:rPr lang="pt-BR" sz="2000" b="1" dirty="0">
                <a:solidFill>
                  <a:srgbClr val="002060"/>
                </a:solidFill>
                <a:latin typeface="Times New Roman" panose="02020603050405020304" pitchFamily="18" charset="0"/>
                <a:cs typeface="Times New Roman" panose="02020603050405020304" pitchFamily="18" charset="0"/>
              </a:rPr>
              <a:t>= gcd</a:t>
            </a:r>
            <a:r>
              <a:rPr lang="pt-BR" sz="2000" b="1" i="1" dirty="0">
                <a:solidFill>
                  <a:srgbClr val="002060"/>
                </a:solidFill>
                <a:latin typeface="Times New Roman" panose="02020603050405020304" pitchFamily="18" charset="0"/>
                <a:cs typeface="Times New Roman" panose="02020603050405020304" pitchFamily="18" charset="0"/>
              </a:rPr>
              <a:t>(n, m </a:t>
            </a:r>
            <a:r>
              <a:rPr lang="pt-BR" sz="2000" b="1" dirty="0">
                <a:solidFill>
                  <a:srgbClr val="002060"/>
                </a:solidFill>
                <a:latin typeface="Times New Roman" panose="02020603050405020304" pitchFamily="18" charset="0"/>
                <a:cs typeface="Times New Roman" panose="02020603050405020304" pitchFamily="18" charset="0"/>
              </a:rPr>
              <a:t>mod </a:t>
            </a:r>
            <a:r>
              <a:rPr lang="pt-BR" sz="2000" b="1" i="1" dirty="0">
                <a:solidFill>
                  <a:srgbClr val="002060"/>
                </a:solidFill>
                <a:latin typeface="Times New Roman" panose="02020603050405020304" pitchFamily="18" charset="0"/>
                <a:cs typeface="Times New Roman" panose="02020603050405020304" pitchFamily="18" charset="0"/>
              </a:rPr>
              <a:t>n</a:t>
            </a:r>
            <a:r>
              <a:rPr lang="pt-BR" sz="2000" b="1" i="1" dirty="0" smtClean="0">
                <a:solidFill>
                  <a:srgbClr val="002060"/>
                </a:solidFill>
                <a:latin typeface="Times New Roman" panose="02020603050405020304" pitchFamily="18" charset="0"/>
                <a:cs typeface="Times New Roman" panose="02020603050405020304" pitchFamily="18" charset="0"/>
              </a:rPr>
              <a:t>).</a:t>
            </a:r>
          </a:p>
          <a:p>
            <a:pPr algn="just"/>
            <a:r>
              <a:rPr lang="pt-BR" sz="2000" b="1" i="1" dirty="0" smtClean="0">
                <a:solidFill>
                  <a:srgbClr val="002060"/>
                </a:solidFill>
                <a:latin typeface="Times New Roman" panose="02020603050405020304" pitchFamily="18" charset="0"/>
                <a:cs typeface="Times New Roman" panose="02020603050405020304" pitchFamily="18" charset="0"/>
              </a:rPr>
              <a:t>Decrease and conquer problems can be solved using top town approach(recursive approach) or bottom up approach(iterative approach)</a:t>
            </a:r>
            <a:endParaRPr lang="en-IN" sz="2000" b="1" dirty="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122</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DC71B5FF-EF61-43D4-8C92-614C4596FE3C}" type="datetime1">
              <a:rPr lang="en-IN" smtClean="0"/>
              <a:t>21-03-2026</a:t>
            </a:fld>
            <a:endParaRPr lang="en-IN"/>
          </a:p>
        </p:txBody>
      </p:sp>
    </p:spTree>
    <p:extLst>
      <p:ext uri="{BB962C8B-B14F-4D97-AF65-F5344CB8AC3E}">
        <p14:creationId xmlns:p14="http://schemas.microsoft.com/office/powerpoint/2010/main" val="3055898983"/>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a:solidFill>
                  <a:srgbClr val="002060"/>
                </a:solidFill>
                <a:latin typeface="Times New Roman" panose="02020603050405020304" pitchFamily="18" charset="0"/>
                <a:cs typeface="Times New Roman" panose="02020603050405020304" pitchFamily="18" charset="0"/>
              </a:rPr>
              <a:t>Decrease and Conquer</a:t>
            </a:r>
            <a:endParaRPr lang="en-IN" sz="3200" b="1" dirty="0">
              <a:solidFill>
                <a:srgbClr val="002060"/>
              </a:solidFill>
            </a:endParaRPr>
          </a:p>
        </p:txBody>
      </p:sp>
      <p:sp>
        <p:nvSpPr>
          <p:cNvPr id="3" name="Subtitle 2"/>
          <p:cNvSpPr>
            <a:spLocks noGrp="1"/>
          </p:cNvSpPr>
          <p:nvPr>
            <p:ph type="subTitle" idx="1"/>
          </p:nvPr>
        </p:nvSpPr>
        <p:spPr>
          <a:xfrm>
            <a:off x="177051" y="732885"/>
            <a:ext cx="11797552" cy="5627707"/>
          </a:xfrm>
        </p:spPr>
        <p:txBody>
          <a:bodyPr>
            <a:normAutofit/>
          </a:bodyPr>
          <a:lstStyle/>
          <a:p>
            <a:pPr algn="just"/>
            <a:r>
              <a:rPr lang="en-IN" b="1" dirty="0" smtClean="0">
                <a:solidFill>
                  <a:srgbClr val="0070C0"/>
                </a:solidFill>
                <a:latin typeface="Times New Roman" panose="02020603050405020304" pitchFamily="18" charset="0"/>
                <a:cs typeface="Times New Roman" panose="02020603050405020304" pitchFamily="18" charset="0"/>
              </a:rPr>
              <a:t>Topological sorting</a:t>
            </a:r>
          </a:p>
          <a:p>
            <a:pPr marL="342900" indent="-342900" algn="just">
              <a:buFont typeface="Arial" panose="020B0604020202020204" pitchFamily="34" charset="0"/>
              <a:buChar char="•"/>
            </a:pPr>
            <a:r>
              <a:rPr lang="en-IN" sz="2000" b="1" dirty="0" smtClean="0">
                <a:solidFill>
                  <a:srgbClr val="C00000"/>
                </a:solidFill>
                <a:latin typeface="Times New Roman" panose="02020603050405020304" pitchFamily="18" charset="0"/>
                <a:cs typeface="Times New Roman" panose="02020603050405020304" pitchFamily="18" charset="0"/>
              </a:rPr>
              <a:t>Topological sorting is applied only for </a:t>
            </a:r>
            <a:r>
              <a:rPr lang="en-IN" sz="2000" b="1" dirty="0" smtClean="0">
                <a:solidFill>
                  <a:srgbClr val="0070C0"/>
                </a:solidFill>
                <a:latin typeface="Times New Roman" panose="02020603050405020304" pitchFamily="18" charset="0"/>
                <a:cs typeface="Times New Roman" panose="02020603050405020304" pitchFamily="18" charset="0"/>
              </a:rPr>
              <a:t>Directed graphs or Digraph.</a:t>
            </a:r>
          </a:p>
          <a:p>
            <a:pPr marL="342900" indent="-342900" algn="just">
              <a:buFont typeface="Arial" panose="020B0604020202020204" pitchFamily="34" charset="0"/>
              <a:buChar char="•"/>
            </a:pPr>
            <a:r>
              <a:rPr lang="en-IN" sz="2000" b="1" dirty="0" smtClean="0">
                <a:solidFill>
                  <a:srgbClr val="0070C0"/>
                </a:solidFill>
                <a:latin typeface="Times New Roman" panose="02020603050405020304" pitchFamily="18" charset="0"/>
                <a:cs typeface="Times New Roman" panose="02020603050405020304" pitchFamily="18" charset="0"/>
              </a:rPr>
              <a:t>Directed graph or digraph </a:t>
            </a:r>
            <a:r>
              <a:rPr lang="en-IN" sz="2000" b="1" dirty="0" smtClean="0">
                <a:solidFill>
                  <a:srgbClr val="002060"/>
                </a:solidFill>
                <a:latin typeface="Times New Roman" panose="02020603050405020304" pitchFamily="18" charset="0"/>
                <a:cs typeface="Times New Roman" panose="02020603050405020304" pitchFamily="18" charset="0"/>
              </a:rPr>
              <a:t>is a graph with directions specified for all the edges. </a:t>
            </a:r>
            <a:r>
              <a:rPr lang="en-US" sz="2000" b="1" dirty="0">
                <a:solidFill>
                  <a:srgbClr val="002060"/>
                </a:solidFill>
                <a:latin typeface="Times New Roman" panose="02020603050405020304" pitchFamily="18" charset="0"/>
                <a:cs typeface="Times New Roman" panose="02020603050405020304" pitchFamily="18" charset="0"/>
              </a:rPr>
              <a:t>The adjacency matrix and adjacency lists </a:t>
            </a:r>
            <a:r>
              <a:rPr lang="en-US" sz="2000" b="1" dirty="0" smtClean="0">
                <a:solidFill>
                  <a:srgbClr val="002060"/>
                </a:solidFill>
                <a:latin typeface="Times New Roman" panose="02020603050405020304" pitchFamily="18" charset="0"/>
                <a:cs typeface="Times New Roman" panose="02020603050405020304" pitchFamily="18" charset="0"/>
              </a:rPr>
              <a:t>are still </a:t>
            </a:r>
            <a:r>
              <a:rPr lang="en-US" sz="2000" b="1" dirty="0">
                <a:solidFill>
                  <a:srgbClr val="002060"/>
                </a:solidFill>
                <a:latin typeface="Times New Roman" panose="02020603050405020304" pitchFamily="18" charset="0"/>
                <a:cs typeface="Times New Roman" panose="02020603050405020304" pitchFamily="18" charset="0"/>
              </a:rPr>
              <a:t>two principal means of representing a digraph.</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002060"/>
                </a:solidFill>
                <a:latin typeface="Times New Roman" panose="02020603050405020304" pitchFamily="18" charset="0"/>
                <a:cs typeface="Times New Roman" panose="02020603050405020304" pitchFamily="18" charset="0"/>
              </a:rPr>
              <a:t>Below shows the example of directed graph.</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marL="457200" indent="-457200" algn="just">
              <a:buAutoNum type="arabicPeriod"/>
            </a:pPr>
            <a:endParaRPr lang="en-IN" sz="2000" b="1" dirty="0">
              <a:solidFill>
                <a:srgbClr val="002060"/>
              </a:solidFill>
              <a:latin typeface="Times New Roman" panose="02020603050405020304" pitchFamily="18" charset="0"/>
              <a:cs typeface="Times New Roman" panose="02020603050405020304" pitchFamily="18" charset="0"/>
            </a:endParaRPr>
          </a:p>
          <a:p>
            <a:pPr marL="457200" indent="-457200" algn="just">
              <a:buAutoNum type="arabicPeriod"/>
            </a:pPr>
            <a:endParaRPr lang="en-IN" sz="2000" b="1" dirty="0" smtClean="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b="1" dirty="0" smtClean="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b="1" dirty="0">
                <a:solidFill>
                  <a:srgbClr val="0070C0"/>
                </a:solidFill>
                <a:latin typeface="Times New Roman" panose="02020603050405020304" pitchFamily="18" charset="0"/>
                <a:cs typeface="Times New Roman" panose="02020603050405020304" pitchFamily="18" charset="0"/>
              </a:rPr>
              <a:t>Directed Cycle in Digraph: </a:t>
            </a:r>
            <a:r>
              <a:rPr lang="en-US" sz="2000" b="1" dirty="0" smtClean="0">
                <a:solidFill>
                  <a:srgbClr val="002060"/>
                </a:solidFill>
                <a:latin typeface="Times New Roman" panose="02020603050405020304" pitchFamily="18" charset="0"/>
                <a:cs typeface="Times New Roman" panose="02020603050405020304" pitchFamily="18" charset="0"/>
              </a:rPr>
              <a:t>A </a:t>
            </a:r>
            <a:r>
              <a:rPr lang="en-US" sz="2000" b="1" dirty="0">
                <a:solidFill>
                  <a:srgbClr val="002060"/>
                </a:solidFill>
                <a:latin typeface="Times New Roman" panose="02020603050405020304" pitchFamily="18" charset="0"/>
                <a:cs typeface="Times New Roman" panose="02020603050405020304" pitchFamily="18" charset="0"/>
              </a:rPr>
              <a:t>directed cycle in a digraph is a </a:t>
            </a:r>
            <a:r>
              <a:rPr lang="en-US" sz="2000" b="1" dirty="0" smtClean="0">
                <a:solidFill>
                  <a:srgbClr val="002060"/>
                </a:solidFill>
                <a:latin typeface="Times New Roman" panose="02020603050405020304" pitchFamily="18" charset="0"/>
                <a:cs typeface="Times New Roman" panose="02020603050405020304" pitchFamily="18" charset="0"/>
              </a:rPr>
              <a:t>sequence of </a:t>
            </a:r>
            <a:r>
              <a:rPr lang="en-US" sz="2000" b="1" dirty="0">
                <a:solidFill>
                  <a:srgbClr val="002060"/>
                </a:solidFill>
                <a:latin typeface="Times New Roman" panose="02020603050405020304" pitchFamily="18" charset="0"/>
                <a:cs typeface="Times New Roman" panose="02020603050405020304" pitchFamily="18" charset="0"/>
              </a:rPr>
              <a:t>three or more of its vertices that starts and ends with the same </a:t>
            </a:r>
            <a:r>
              <a:rPr lang="en-US" sz="2000" b="1" dirty="0" smtClean="0">
                <a:solidFill>
                  <a:srgbClr val="002060"/>
                </a:solidFill>
                <a:latin typeface="Times New Roman" panose="02020603050405020304" pitchFamily="18" charset="0"/>
                <a:cs typeface="Times New Roman" panose="02020603050405020304" pitchFamily="18" charset="0"/>
              </a:rPr>
              <a:t>vertex. Below graph has directed cycle </a:t>
            </a:r>
            <a:r>
              <a:rPr lang="en-US" sz="2000" b="1" dirty="0" err="1" smtClean="0">
                <a:solidFill>
                  <a:srgbClr val="002060"/>
                </a:solidFill>
                <a:latin typeface="Times New Roman" panose="02020603050405020304" pitchFamily="18" charset="0"/>
                <a:cs typeface="Times New Roman" panose="02020603050405020304" pitchFamily="18" charset="0"/>
              </a:rPr>
              <a:t>a</a:t>
            </a:r>
            <a:r>
              <a:rPr lang="en-US" sz="2000" b="1" dirty="0" err="1"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ba</a:t>
            </a:r>
            <a:r>
              <a:rPr lang="en-US" sz="2000" b="1" dirty="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123</a:t>
            </a:fld>
            <a:endParaRPr lang="en-IN" sz="1600" b="1" dirty="0">
              <a:solidFill>
                <a:srgbClr val="002060"/>
              </a:solidFill>
              <a:latin typeface="Times New Roman" panose="02020603050405020304" pitchFamily="18" charset="0"/>
              <a:cs typeface="Times New Roman" panose="02020603050405020304" pitchFamily="18" charset="0"/>
            </a:endParaRPr>
          </a:p>
        </p:txBody>
      </p:sp>
      <p:pic>
        <p:nvPicPr>
          <p:cNvPr id="13" name="Picture 2" descr="https://upload.wikimedia.org/wikipedia/commons/thumb/8/89/4-tournament.svg/90px-4-tournament.svg.png"/>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903008" y="2251354"/>
            <a:ext cx="1628215" cy="162821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5"/>
          <a:stretch>
            <a:fillRect/>
          </a:stretch>
        </p:blipFill>
        <p:spPr>
          <a:xfrm>
            <a:off x="2669238" y="4724392"/>
            <a:ext cx="1399020" cy="1916393"/>
          </a:xfrm>
          <a:prstGeom prst="rect">
            <a:avLst/>
          </a:prstGeom>
        </p:spPr>
      </p:pic>
      <p:sp>
        <p:nvSpPr>
          <p:cNvPr id="6" name="Date Placeholder 5"/>
          <p:cNvSpPr>
            <a:spLocks noGrp="1"/>
          </p:cNvSpPr>
          <p:nvPr>
            <p:ph type="dt" sz="half" idx="10"/>
          </p:nvPr>
        </p:nvSpPr>
        <p:spPr/>
        <p:txBody>
          <a:bodyPr/>
          <a:lstStyle/>
          <a:p>
            <a:fld id="{EA2B9621-4EFC-4045-8F10-A19F49B16399}" type="datetime1">
              <a:rPr lang="en-IN" smtClean="0"/>
              <a:t>21-03-2026</a:t>
            </a:fld>
            <a:endParaRPr lang="en-IN"/>
          </a:p>
        </p:txBody>
      </p:sp>
    </p:spTree>
    <p:extLst>
      <p:ext uri="{BB962C8B-B14F-4D97-AF65-F5344CB8AC3E}">
        <p14:creationId xmlns:p14="http://schemas.microsoft.com/office/powerpoint/2010/main" val="853429440"/>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Decrease </a:t>
            </a:r>
            <a:r>
              <a:rPr lang="en-IN" sz="2000" b="1" dirty="0">
                <a:solidFill>
                  <a:srgbClr val="C00000"/>
                </a:solidFill>
                <a:latin typeface="Times New Roman" panose="02020603050405020304" pitchFamily="18" charset="0"/>
                <a:cs typeface="Times New Roman" panose="02020603050405020304" pitchFamily="18" charset="0"/>
              </a:rPr>
              <a:t>and Conquer</a:t>
            </a:r>
          </a:p>
        </p:txBody>
      </p:sp>
      <p:sp>
        <p:nvSpPr>
          <p:cNvPr id="3" name="Subtitle 2"/>
          <p:cNvSpPr>
            <a:spLocks noGrp="1"/>
          </p:cNvSpPr>
          <p:nvPr>
            <p:ph type="subTitle" idx="1"/>
          </p:nvPr>
        </p:nvSpPr>
        <p:spPr>
          <a:xfrm>
            <a:off x="177051" y="732885"/>
            <a:ext cx="11797552" cy="5627707"/>
          </a:xfrm>
        </p:spPr>
        <p:txBody>
          <a:bodyPr>
            <a:normAutofit lnSpcReduction="10000"/>
          </a:bodyPr>
          <a:lstStyle/>
          <a:p>
            <a:pPr algn="just"/>
            <a:r>
              <a:rPr lang="en-IN" b="1" dirty="0" smtClean="0">
                <a:solidFill>
                  <a:srgbClr val="0070C0"/>
                </a:solidFill>
                <a:latin typeface="Times New Roman" panose="02020603050405020304" pitchFamily="18" charset="0"/>
                <a:cs typeface="Times New Roman" panose="02020603050405020304" pitchFamily="18" charset="0"/>
              </a:rPr>
              <a:t>Insertion sort</a:t>
            </a:r>
          </a:p>
          <a:p>
            <a:pPr algn="just"/>
            <a:r>
              <a:rPr lang="en-IN" b="1" dirty="0" smtClean="0">
                <a:solidFill>
                  <a:srgbClr val="0070C0"/>
                </a:solidFill>
                <a:latin typeface="Times New Roman" panose="02020603050405020304" pitchFamily="18" charset="0"/>
                <a:cs typeface="Times New Roman" panose="02020603050405020304" pitchFamily="18" charset="0"/>
              </a:rPr>
              <a:t>This is a technique to sort an array A[0…..n-1] using decrease and conquer technique</a:t>
            </a:r>
          </a:p>
          <a:p>
            <a:pPr algn="just"/>
            <a:r>
              <a:rPr lang="en-IN" b="1" dirty="0" smtClean="0">
                <a:solidFill>
                  <a:srgbClr val="0070C0"/>
                </a:solidFill>
                <a:latin typeface="Times New Roman" panose="02020603050405020304" pitchFamily="18" charset="0"/>
                <a:cs typeface="Times New Roman" panose="02020603050405020304" pitchFamily="18" charset="0"/>
              </a:rPr>
              <a:t>In this we assume that the smaller problem of sorting the array A[0…n-2] has already been solved to give us a sorted array of size n-1 i. e</a:t>
            </a:r>
          </a:p>
          <a:p>
            <a:pPr algn="just"/>
            <a:r>
              <a:rPr lang="en-IN" b="1" dirty="0" smtClean="0">
                <a:solidFill>
                  <a:srgbClr val="0070C0"/>
                </a:solidFill>
                <a:latin typeface="Times New Roman" panose="02020603050405020304" pitchFamily="18" charset="0"/>
                <a:cs typeface="Times New Roman" panose="02020603050405020304" pitchFamily="18" charset="0"/>
              </a:rPr>
              <a:t>A[0]≤A[1]…..A[n-2] has already been solved to give us a sorted array of size n-1:</a:t>
            </a:r>
          </a:p>
          <a:p>
            <a:pPr algn="just"/>
            <a:r>
              <a:rPr lang="en-IN" b="1" dirty="0">
                <a:solidFill>
                  <a:srgbClr val="0070C0"/>
                </a:solidFill>
                <a:latin typeface="Times New Roman" panose="02020603050405020304" pitchFamily="18" charset="0"/>
                <a:cs typeface="Times New Roman" panose="02020603050405020304" pitchFamily="18" charset="0"/>
              </a:rPr>
              <a:t>A[0] </a:t>
            </a:r>
            <a:r>
              <a:rPr lang="en-IN" b="1" dirty="0" smtClean="0">
                <a:solidFill>
                  <a:srgbClr val="0070C0"/>
                </a:solidFill>
                <a:latin typeface="Times New Roman" panose="02020603050405020304" pitchFamily="18" charset="0"/>
                <a:cs typeface="Times New Roman" panose="02020603050405020304" pitchFamily="18" charset="0"/>
              </a:rPr>
              <a:t>≤….</a:t>
            </a:r>
            <a:r>
              <a:rPr lang="en-IN" b="1" dirty="0">
                <a:solidFill>
                  <a:srgbClr val="0070C0"/>
                </a:solidFill>
                <a:latin typeface="Times New Roman" panose="02020603050405020304" pitchFamily="18" charset="0"/>
                <a:cs typeface="Times New Roman" panose="02020603050405020304" pitchFamily="18" charset="0"/>
              </a:rPr>
              <a:t> A[n-2</a:t>
            </a:r>
            <a:r>
              <a:rPr lang="en-IN" b="1" dirty="0" smtClean="0">
                <a:solidFill>
                  <a:srgbClr val="0070C0"/>
                </a:solidFill>
                <a:latin typeface="Times New Roman" panose="02020603050405020304" pitchFamily="18" charset="0"/>
                <a:cs typeface="Times New Roman" panose="02020603050405020304" pitchFamily="18" charset="0"/>
              </a:rPr>
              <a:t>].</a:t>
            </a:r>
          </a:p>
          <a:p>
            <a:pPr algn="just"/>
            <a:r>
              <a:rPr lang="en-IN" b="1" dirty="0" smtClean="0">
                <a:solidFill>
                  <a:srgbClr val="0070C0"/>
                </a:solidFill>
                <a:latin typeface="Times New Roman" panose="02020603050405020304" pitchFamily="18" charset="0"/>
                <a:cs typeface="Times New Roman" panose="02020603050405020304" pitchFamily="18" charset="0"/>
              </a:rPr>
              <a:t>Three alternatives for insertion sort</a:t>
            </a:r>
          </a:p>
          <a:p>
            <a:pPr marL="457200" indent="-457200" algn="just">
              <a:buAutoNum type="arabicPeriod"/>
            </a:pPr>
            <a:r>
              <a:rPr lang="en-IN" b="1" dirty="0" smtClean="0">
                <a:solidFill>
                  <a:srgbClr val="0070C0"/>
                </a:solidFill>
                <a:latin typeface="Times New Roman" panose="02020603050405020304" pitchFamily="18" charset="0"/>
                <a:cs typeface="Times New Roman" panose="02020603050405020304" pitchFamily="18" charset="0"/>
              </a:rPr>
              <a:t>Scan the sorted </a:t>
            </a:r>
            <a:r>
              <a:rPr lang="en-IN" b="1" dirty="0" err="1" smtClean="0">
                <a:solidFill>
                  <a:srgbClr val="0070C0"/>
                </a:solidFill>
                <a:latin typeface="Times New Roman" panose="02020603050405020304" pitchFamily="18" charset="0"/>
                <a:cs typeface="Times New Roman" panose="02020603050405020304" pitchFamily="18" charset="0"/>
              </a:rPr>
              <a:t>subarray</a:t>
            </a:r>
            <a:r>
              <a:rPr lang="en-IN" b="1" dirty="0" smtClean="0">
                <a:solidFill>
                  <a:srgbClr val="0070C0"/>
                </a:solidFill>
                <a:latin typeface="Times New Roman" panose="02020603050405020304" pitchFamily="18" charset="0"/>
                <a:cs typeface="Times New Roman" panose="02020603050405020304" pitchFamily="18" charset="0"/>
              </a:rPr>
              <a:t> from left to right </a:t>
            </a:r>
            <a:r>
              <a:rPr lang="en-IN" b="1" dirty="0" err="1" smtClean="0">
                <a:solidFill>
                  <a:srgbClr val="0070C0"/>
                </a:solidFill>
                <a:latin typeface="Times New Roman" panose="02020603050405020304" pitchFamily="18" charset="0"/>
                <a:cs typeface="Times New Roman" panose="02020603050405020304" pitchFamily="18" charset="0"/>
              </a:rPr>
              <a:t>untill</a:t>
            </a:r>
            <a:r>
              <a:rPr lang="en-IN" b="1" dirty="0" smtClean="0">
                <a:solidFill>
                  <a:srgbClr val="0070C0"/>
                </a:solidFill>
                <a:latin typeface="Times New Roman" panose="02020603050405020304" pitchFamily="18" charset="0"/>
                <a:cs typeface="Times New Roman" panose="02020603050405020304" pitchFamily="18" charset="0"/>
              </a:rPr>
              <a:t>  the first element greater than or equal to A[n-1] is encountered and then insert A[n-1] right before that element.</a:t>
            </a:r>
          </a:p>
          <a:p>
            <a:pPr marL="457200" indent="-457200" algn="just">
              <a:buAutoNum type="arabicPeriod"/>
            </a:pPr>
            <a:r>
              <a:rPr lang="en-IN" b="1" dirty="0" smtClean="0">
                <a:solidFill>
                  <a:srgbClr val="0070C0"/>
                </a:solidFill>
                <a:latin typeface="Times New Roman" panose="02020603050405020304" pitchFamily="18" charset="0"/>
                <a:cs typeface="Times New Roman" panose="02020603050405020304" pitchFamily="18" charset="0"/>
              </a:rPr>
              <a:t>Scan the sorted </a:t>
            </a:r>
            <a:r>
              <a:rPr lang="en-IN" b="1" dirty="0" err="1" smtClean="0">
                <a:solidFill>
                  <a:srgbClr val="0070C0"/>
                </a:solidFill>
                <a:latin typeface="Times New Roman" panose="02020603050405020304" pitchFamily="18" charset="0"/>
                <a:cs typeface="Times New Roman" panose="02020603050405020304" pitchFamily="18" charset="0"/>
              </a:rPr>
              <a:t>subarray</a:t>
            </a:r>
            <a:r>
              <a:rPr lang="en-IN" b="1" dirty="0" smtClean="0">
                <a:solidFill>
                  <a:srgbClr val="0070C0"/>
                </a:solidFill>
                <a:latin typeface="Times New Roman" panose="02020603050405020304" pitchFamily="18" charset="0"/>
                <a:cs typeface="Times New Roman" panose="02020603050405020304" pitchFamily="18" charset="0"/>
              </a:rPr>
              <a:t> from right to left </a:t>
            </a:r>
            <a:r>
              <a:rPr lang="en-IN" b="1" dirty="0" err="1" smtClean="0">
                <a:solidFill>
                  <a:srgbClr val="0070C0"/>
                </a:solidFill>
                <a:latin typeface="Times New Roman" panose="02020603050405020304" pitchFamily="18" charset="0"/>
                <a:cs typeface="Times New Roman" panose="02020603050405020304" pitchFamily="18" charset="0"/>
              </a:rPr>
              <a:t>untill</a:t>
            </a:r>
            <a:r>
              <a:rPr lang="en-IN" b="1" dirty="0" smtClean="0">
                <a:solidFill>
                  <a:srgbClr val="0070C0"/>
                </a:solidFill>
                <a:latin typeface="Times New Roman" panose="02020603050405020304" pitchFamily="18" charset="0"/>
                <a:cs typeface="Times New Roman" panose="02020603050405020304" pitchFamily="18" charset="0"/>
              </a:rPr>
              <a:t> the first element smaller than or equal to A[n-1] is encountered and then insert A[n-1] right after that element.</a:t>
            </a:r>
          </a:p>
          <a:p>
            <a:pPr algn="just"/>
            <a:r>
              <a:rPr lang="en-IN" b="1" dirty="0" smtClean="0">
                <a:solidFill>
                  <a:srgbClr val="0070C0"/>
                </a:solidFill>
                <a:latin typeface="Times New Roman" panose="02020603050405020304" pitchFamily="18" charset="0"/>
                <a:cs typeface="Times New Roman" panose="02020603050405020304" pitchFamily="18" charset="0"/>
              </a:rPr>
              <a:t>First and second methods are called straight insertion sort or simply insertion sort.</a:t>
            </a:r>
          </a:p>
          <a:p>
            <a:pPr algn="just"/>
            <a:r>
              <a:rPr lang="en-IN" b="1" dirty="0" smtClean="0">
                <a:solidFill>
                  <a:srgbClr val="0070C0"/>
                </a:solidFill>
                <a:latin typeface="Times New Roman" panose="02020603050405020304" pitchFamily="18" charset="0"/>
                <a:cs typeface="Times New Roman" panose="02020603050405020304" pitchFamily="18" charset="0"/>
              </a:rPr>
              <a:t>3. In third method use binary search to find an appropriate position for A[n-1] in the sorted portion of the array. This called binary insertion sort. </a:t>
            </a: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marL="457200" indent="-457200" algn="just">
              <a:buAutoNum type="arabicPeriod"/>
            </a:pPr>
            <a:endParaRPr lang="en-IN" sz="2000" b="1" dirty="0" smtClean="0">
              <a:solidFill>
                <a:srgbClr val="002060"/>
              </a:solidFill>
              <a:latin typeface="Times New Roman" panose="02020603050405020304" pitchFamily="18" charset="0"/>
              <a:cs typeface="Times New Roman" panose="02020603050405020304" pitchFamily="18" charset="0"/>
            </a:endParaRPr>
          </a:p>
          <a:p>
            <a:pPr marL="457200" indent="-457200" algn="just">
              <a:buAutoNum type="arabicPeriod"/>
            </a:pPr>
            <a:endParaRPr lang="en-IN" sz="2000" b="1" dirty="0" smtClean="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124</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036616B5-F523-4335-8197-B02C9EA8EAEA}" type="datetime1">
              <a:rPr lang="en-IN" smtClean="0"/>
              <a:t>21-03-2026</a:t>
            </a:fld>
            <a:endParaRPr lang="en-IN"/>
          </a:p>
        </p:txBody>
      </p:sp>
    </p:spTree>
    <p:extLst>
      <p:ext uri="{BB962C8B-B14F-4D97-AF65-F5344CB8AC3E}">
        <p14:creationId xmlns:p14="http://schemas.microsoft.com/office/powerpoint/2010/main" val="3233081450"/>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Decrease </a:t>
            </a:r>
            <a:r>
              <a:rPr lang="en-IN" sz="2000" b="1" dirty="0">
                <a:solidFill>
                  <a:srgbClr val="C00000"/>
                </a:solidFill>
                <a:latin typeface="Times New Roman" panose="02020603050405020304" pitchFamily="18" charset="0"/>
                <a:cs typeface="Times New Roman" panose="02020603050405020304" pitchFamily="18" charset="0"/>
              </a:rPr>
              <a:t>and Conquer</a:t>
            </a:r>
          </a:p>
        </p:txBody>
      </p:sp>
      <p:sp>
        <p:nvSpPr>
          <p:cNvPr id="3" name="Subtitle 2"/>
          <p:cNvSpPr>
            <a:spLocks noGrp="1"/>
          </p:cNvSpPr>
          <p:nvPr>
            <p:ph type="subTitle" idx="1"/>
          </p:nvPr>
        </p:nvSpPr>
        <p:spPr>
          <a:xfrm>
            <a:off x="177051" y="732885"/>
            <a:ext cx="11797552" cy="5627707"/>
          </a:xfrm>
        </p:spPr>
        <p:txBody>
          <a:bodyPr>
            <a:normAutofit/>
          </a:bodyPr>
          <a:lstStyle/>
          <a:p>
            <a:pPr algn="just"/>
            <a:r>
              <a:rPr lang="en-IN" b="1" dirty="0" smtClean="0">
                <a:solidFill>
                  <a:srgbClr val="0070C0"/>
                </a:solidFill>
                <a:latin typeface="Times New Roman" panose="02020603050405020304" pitchFamily="18" charset="0"/>
                <a:cs typeface="Times New Roman" panose="02020603050405020304" pitchFamily="18" charset="0"/>
              </a:rPr>
              <a:t>Insertion sort: It can be implemented with bottom up approach </a:t>
            </a:r>
            <a:r>
              <a:rPr lang="en-IN" b="1" dirty="0" err="1" smtClean="0">
                <a:solidFill>
                  <a:srgbClr val="0070C0"/>
                </a:solidFill>
                <a:latin typeface="Times New Roman" panose="02020603050405020304" pitchFamily="18" charset="0"/>
                <a:cs typeface="Times New Roman" panose="02020603050405020304" pitchFamily="18" charset="0"/>
              </a:rPr>
              <a:t>i.e</a:t>
            </a:r>
            <a:r>
              <a:rPr lang="en-IN" b="1" dirty="0" smtClean="0">
                <a:solidFill>
                  <a:srgbClr val="0070C0"/>
                </a:solidFill>
                <a:latin typeface="Times New Roman" panose="02020603050405020304" pitchFamily="18" charset="0"/>
                <a:cs typeface="Times New Roman" panose="02020603050405020304" pitchFamily="18" charset="0"/>
              </a:rPr>
              <a:t> iteratively.</a:t>
            </a:r>
          </a:p>
          <a:p>
            <a:pPr algn="just"/>
            <a:r>
              <a:rPr lang="en-IN" sz="2000" b="1" dirty="0" smtClean="0">
                <a:solidFill>
                  <a:srgbClr val="0070C0"/>
                </a:solidFill>
                <a:latin typeface="Times New Roman" panose="02020603050405020304" pitchFamily="18" charset="0"/>
                <a:cs typeface="Times New Roman" panose="02020603050405020304" pitchFamily="18" charset="0"/>
              </a:rPr>
              <a:t>Starting with A[1] and ending with A[n-1], A[i] is inserted in its  appropriate place among the first I elements of the array that have been already sorted </a:t>
            </a:r>
          </a:p>
          <a:p>
            <a:pPr algn="just"/>
            <a:r>
              <a:rPr lang="en-IN" sz="2000" b="1" dirty="0" smtClean="0">
                <a:solidFill>
                  <a:srgbClr val="0070C0"/>
                </a:solidFill>
                <a:latin typeface="Times New Roman" panose="02020603050405020304" pitchFamily="18" charset="0"/>
                <a:cs typeface="Times New Roman" panose="02020603050405020304" pitchFamily="18" charset="0"/>
              </a:rPr>
              <a:t>A[0] ≤ … … A[j]&lt;</a:t>
            </a:r>
            <a:r>
              <a:rPr lang="en-IN" sz="2000" b="1" dirty="0">
                <a:solidFill>
                  <a:srgbClr val="0070C0"/>
                </a:solidFill>
                <a:latin typeface="Times New Roman" panose="02020603050405020304" pitchFamily="18" charset="0"/>
                <a:cs typeface="Times New Roman" panose="02020603050405020304" pitchFamily="18" charset="0"/>
              </a:rPr>
              <a:t>A[j+1</a:t>
            </a:r>
            <a:r>
              <a:rPr lang="en-IN" sz="2000" b="1" dirty="0" smtClean="0">
                <a:solidFill>
                  <a:srgbClr val="0070C0"/>
                </a:solidFill>
                <a:latin typeface="Times New Roman" panose="02020603050405020304" pitchFamily="18" charset="0"/>
                <a:cs typeface="Times New Roman" panose="02020603050405020304" pitchFamily="18" charset="0"/>
              </a:rPr>
              <a:t>]≤…..</a:t>
            </a:r>
            <a:r>
              <a:rPr lang="en-IN" sz="2000" b="1" dirty="0">
                <a:solidFill>
                  <a:srgbClr val="0070C0"/>
                </a:solidFill>
                <a:latin typeface="Times New Roman" panose="02020603050405020304" pitchFamily="18" charset="0"/>
                <a:cs typeface="Times New Roman" panose="02020603050405020304" pitchFamily="18" charset="0"/>
              </a:rPr>
              <a:t> </a:t>
            </a:r>
            <a:r>
              <a:rPr lang="en-IN" sz="2000" b="1" dirty="0" smtClean="0">
                <a:solidFill>
                  <a:srgbClr val="0070C0"/>
                </a:solidFill>
                <a:latin typeface="Times New Roman" panose="02020603050405020304" pitchFamily="18" charset="0"/>
                <a:cs typeface="Times New Roman" panose="02020603050405020304" pitchFamily="18" charset="0"/>
              </a:rPr>
              <a:t>≤A[i-1]  A[i]…..A[n-1]</a:t>
            </a: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lnSpc>
                <a:spcPct val="100000"/>
              </a:lnSpc>
              <a:spcBef>
                <a:spcPts val="0"/>
              </a:spcBef>
            </a:pPr>
            <a:r>
              <a:rPr lang="en-IN" sz="2000" b="1" dirty="0" smtClean="0">
                <a:solidFill>
                  <a:srgbClr val="002060"/>
                </a:solidFill>
                <a:latin typeface="Times New Roman" panose="02020603050405020304" pitchFamily="18" charset="0"/>
                <a:cs typeface="Times New Roman" panose="02020603050405020304" pitchFamily="18" charset="0"/>
              </a:rPr>
              <a:t>Smaller </a:t>
            </a:r>
            <a:r>
              <a:rPr lang="en-IN" sz="2000" b="1" dirty="0">
                <a:solidFill>
                  <a:srgbClr val="002060"/>
                </a:solidFill>
                <a:latin typeface="Times New Roman" panose="02020603050405020304" pitchFamily="18" charset="0"/>
                <a:cs typeface="Times New Roman" panose="02020603050405020304" pitchFamily="18" charset="0"/>
              </a:rPr>
              <a:t>than  </a:t>
            </a:r>
            <a:r>
              <a:rPr lang="en-IN" sz="2000" b="1" dirty="0" smtClean="0">
                <a:solidFill>
                  <a:srgbClr val="002060"/>
                </a:solidFill>
                <a:latin typeface="Times New Roman" panose="02020603050405020304" pitchFamily="18" charset="0"/>
                <a:cs typeface="Times New Roman" panose="02020603050405020304" pitchFamily="18" charset="0"/>
              </a:rPr>
              <a:t>                greater than A[i] </a:t>
            </a:r>
            <a:endParaRPr lang="en-IN" sz="2000" b="1" dirty="0">
              <a:solidFill>
                <a:srgbClr val="002060"/>
              </a:solidFill>
              <a:latin typeface="Times New Roman" panose="02020603050405020304" pitchFamily="18" charset="0"/>
              <a:cs typeface="Times New Roman" panose="02020603050405020304" pitchFamily="18" charset="0"/>
            </a:endParaRPr>
          </a:p>
          <a:p>
            <a:pPr algn="just">
              <a:lnSpc>
                <a:spcPct val="100000"/>
              </a:lnSpc>
              <a:spcBef>
                <a:spcPts val="0"/>
              </a:spcBef>
            </a:pPr>
            <a:r>
              <a:rPr lang="en-IN" sz="2000" b="1" dirty="0">
                <a:solidFill>
                  <a:srgbClr val="002060"/>
                </a:solidFill>
                <a:latin typeface="Times New Roman" panose="02020603050405020304" pitchFamily="18" charset="0"/>
                <a:cs typeface="Times New Roman" panose="02020603050405020304" pitchFamily="18" charset="0"/>
              </a:rPr>
              <a:t>or equal to A[i]</a:t>
            </a:r>
          </a:p>
          <a:p>
            <a:pPr algn="just">
              <a:lnSpc>
                <a:spcPct val="100000"/>
              </a:lnSpc>
              <a:spcBef>
                <a:spcPts val="0"/>
              </a:spcBef>
            </a:pP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lnSpc>
                <a:spcPct val="100000"/>
              </a:lnSpc>
              <a:spcBef>
                <a:spcPts val="0"/>
              </a:spcBef>
            </a:pPr>
            <a:endParaRPr lang="en-IN" sz="2000" b="1" dirty="0" smtClean="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125</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9BA69AD0-A04C-49BB-87E7-4D22C74FFE8B}" type="datetime1">
              <a:rPr lang="en-IN" smtClean="0"/>
              <a:t>21-03-2026</a:t>
            </a:fld>
            <a:endParaRPr lang="en-IN"/>
          </a:p>
        </p:txBody>
      </p:sp>
      <p:cxnSp>
        <p:nvCxnSpPr>
          <p:cNvPr id="10" name="Straight Connector 9"/>
          <p:cNvCxnSpPr/>
          <p:nvPr/>
        </p:nvCxnSpPr>
        <p:spPr>
          <a:xfrm>
            <a:off x="4085439" y="1883327"/>
            <a:ext cx="0" cy="41106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1559735"/>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Decrease </a:t>
            </a:r>
            <a:r>
              <a:rPr lang="en-IN" sz="2000" b="1" dirty="0">
                <a:solidFill>
                  <a:srgbClr val="C00000"/>
                </a:solidFill>
                <a:latin typeface="Times New Roman" panose="02020603050405020304" pitchFamily="18" charset="0"/>
                <a:cs typeface="Times New Roman" panose="02020603050405020304" pitchFamily="18" charset="0"/>
              </a:rPr>
              <a:t>and Conquer</a:t>
            </a:r>
          </a:p>
        </p:txBody>
      </p:sp>
      <p:sp>
        <p:nvSpPr>
          <p:cNvPr id="3" name="Subtitle 2"/>
          <p:cNvSpPr>
            <a:spLocks noGrp="1"/>
          </p:cNvSpPr>
          <p:nvPr>
            <p:ph type="subTitle" idx="1"/>
          </p:nvPr>
        </p:nvSpPr>
        <p:spPr>
          <a:xfrm>
            <a:off x="177051" y="732885"/>
            <a:ext cx="11797552" cy="5627707"/>
          </a:xfrm>
        </p:spPr>
        <p:txBody>
          <a:bodyPr>
            <a:normAutofit/>
          </a:bodyPr>
          <a:lstStyle/>
          <a:p>
            <a:pPr algn="just"/>
            <a:r>
              <a:rPr lang="en-IN" b="1" dirty="0" smtClean="0">
                <a:solidFill>
                  <a:srgbClr val="0070C0"/>
                </a:solidFill>
                <a:latin typeface="Times New Roman" panose="02020603050405020304" pitchFamily="18" charset="0"/>
                <a:cs typeface="Times New Roman" panose="02020603050405020304" pitchFamily="18" charset="0"/>
              </a:rPr>
              <a:t>Insertion sort: It can be implemented with bottom up approach </a:t>
            </a:r>
            <a:r>
              <a:rPr lang="en-IN" b="1" dirty="0" err="1" smtClean="0">
                <a:solidFill>
                  <a:srgbClr val="0070C0"/>
                </a:solidFill>
                <a:latin typeface="Times New Roman" panose="02020603050405020304" pitchFamily="18" charset="0"/>
                <a:cs typeface="Times New Roman" panose="02020603050405020304" pitchFamily="18" charset="0"/>
              </a:rPr>
              <a:t>i.e</a:t>
            </a:r>
            <a:r>
              <a:rPr lang="en-IN" b="1" dirty="0" smtClean="0">
                <a:solidFill>
                  <a:srgbClr val="0070C0"/>
                </a:solidFill>
                <a:latin typeface="Times New Roman" panose="02020603050405020304" pitchFamily="18" charset="0"/>
                <a:cs typeface="Times New Roman" panose="02020603050405020304" pitchFamily="18" charset="0"/>
              </a:rPr>
              <a:t> iteratively.</a:t>
            </a:r>
          </a:p>
          <a:p>
            <a:pPr algn="just"/>
            <a:r>
              <a:rPr lang="en-IN" sz="2000" b="1" dirty="0" smtClean="0">
                <a:solidFill>
                  <a:srgbClr val="0070C0"/>
                </a:solidFill>
                <a:latin typeface="Times New Roman" panose="02020603050405020304" pitchFamily="18" charset="0"/>
                <a:cs typeface="Times New Roman" panose="02020603050405020304" pitchFamily="18" charset="0"/>
              </a:rPr>
              <a:t>Starting with A[1] and ending with A[n-1], A[i] is inserted in its  appropriate place among the first I elements of the array that have been already sorted </a:t>
            </a:r>
          </a:p>
          <a:p>
            <a:pPr algn="just"/>
            <a:r>
              <a:rPr lang="en-IN" sz="2000" b="1" dirty="0" smtClean="0">
                <a:solidFill>
                  <a:srgbClr val="0070C0"/>
                </a:solidFill>
                <a:latin typeface="Times New Roman" panose="02020603050405020304" pitchFamily="18" charset="0"/>
                <a:cs typeface="Times New Roman" panose="02020603050405020304" pitchFamily="18" charset="0"/>
              </a:rPr>
              <a:t>A[0] ≤ … … A[j]&lt;</a:t>
            </a:r>
            <a:r>
              <a:rPr lang="en-IN" sz="2000" b="1" dirty="0">
                <a:solidFill>
                  <a:srgbClr val="0070C0"/>
                </a:solidFill>
                <a:latin typeface="Times New Roman" panose="02020603050405020304" pitchFamily="18" charset="0"/>
                <a:cs typeface="Times New Roman" panose="02020603050405020304" pitchFamily="18" charset="0"/>
              </a:rPr>
              <a:t>A[j+1</a:t>
            </a:r>
            <a:r>
              <a:rPr lang="en-IN" sz="2000" b="1" dirty="0" smtClean="0">
                <a:solidFill>
                  <a:srgbClr val="0070C0"/>
                </a:solidFill>
                <a:latin typeface="Times New Roman" panose="02020603050405020304" pitchFamily="18" charset="0"/>
                <a:cs typeface="Times New Roman" panose="02020603050405020304" pitchFamily="18" charset="0"/>
              </a:rPr>
              <a:t>]≤…..</a:t>
            </a:r>
            <a:r>
              <a:rPr lang="en-IN" sz="2000" b="1" dirty="0">
                <a:solidFill>
                  <a:srgbClr val="0070C0"/>
                </a:solidFill>
                <a:latin typeface="Times New Roman" panose="02020603050405020304" pitchFamily="18" charset="0"/>
                <a:cs typeface="Times New Roman" panose="02020603050405020304" pitchFamily="18" charset="0"/>
              </a:rPr>
              <a:t> </a:t>
            </a:r>
            <a:r>
              <a:rPr lang="en-IN" sz="2000" b="1" dirty="0" smtClean="0">
                <a:solidFill>
                  <a:srgbClr val="0070C0"/>
                </a:solidFill>
                <a:latin typeface="Times New Roman" panose="02020603050405020304" pitchFamily="18" charset="0"/>
                <a:cs typeface="Times New Roman" panose="02020603050405020304" pitchFamily="18" charset="0"/>
              </a:rPr>
              <a:t>≤A[i-1]  A[i]…..A[n-1]</a:t>
            </a: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lnSpc>
                <a:spcPct val="100000"/>
              </a:lnSpc>
              <a:spcBef>
                <a:spcPts val="0"/>
              </a:spcBef>
            </a:pPr>
            <a:r>
              <a:rPr lang="en-IN" sz="2000" b="1" dirty="0" smtClean="0">
                <a:solidFill>
                  <a:srgbClr val="002060"/>
                </a:solidFill>
                <a:latin typeface="Times New Roman" panose="02020603050405020304" pitchFamily="18" charset="0"/>
                <a:cs typeface="Times New Roman" panose="02020603050405020304" pitchFamily="18" charset="0"/>
              </a:rPr>
              <a:t>Smaller </a:t>
            </a:r>
            <a:r>
              <a:rPr lang="en-IN" sz="2000" b="1" dirty="0">
                <a:solidFill>
                  <a:srgbClr val="002060"/>
                </a:solidFill>
                <a:latin typeface="Times New Roman" panose="02020603050405020304" pitchFamily="18" charset="0"/>
                <a:cs typeface="Times New Roman" panose="02020603050405020304" pitchFamily="18" charset="0"/>
              </a:rPr>
              <a:t>than  </a:t>
            </a:r>
            <a:r>
              <a:rPr lang="en-IN" sz="2000" b="1" dirty="0" smtClean="0">
                <a:solidFill>
                  <a:srgbClr val="002060"/>
                </a:solidFill>
                <a:latin typeface="Times New Roman" panose="02020603050405020304" pitchFamily="18" charset="0"/>
                <a:cs typeface="Times New Roman" panose="02020603050405020304" pitchFamily="18" charset="0"/>
              </a:rPr>
              <a:t>                greater than A[i] </a:t>
            </a:r>
            <a:endParaRPr lang="en-IN" sz="2000" b="1" dirty="0">
              <a:solidFill>
                <a:srgbClr val="002060"/>
              </a:solidFill>
              <a:latin typeface="Times New Roman" panose="02020603050405020304" pitchFamily="18" charset="0"/>
              <a:cs typeface="Times New Roman" panose="02020603050405020304" pitchFamily="18" charset="0"/>
            </a:endParaRPr>
          </a:p>
          <a:p>
            <a:pPr algn="just">
              <a:lnSpc>
                <a:spcPct val="100000"/>
              </a:lnSpc>
              <a:spcBef>
                <a:spcPts val="0"/>
              </a:spcBef>
            </a:pPr>
            <a:r>
              <a:rPr lang="en-IN" sz="2000" b="1" dirty="0">
                <a:solidFill>
                  <a:srgbClr val="002060"/>
                </a:solidFill>
                <a:latin typeface="Times New Roman" panose="02020603050405020304" pitchFamily="18" charset="0"/>
                <a:cs typeface="Times New Roman" panose="02020603050405020304" pitchFamily="18" charset="0"/>
              </a:rPr>
              <a:t>or equal to A[i]</a:t>
            </a:r>
          </a:p>
          <a:p>
            <a:pPr algn="just">
              <a:lnSpc>
                <a:spcPct val="100000"/>
              </a:lnSpc>
              <a:spcBef>
                <a:spcPts val="0"/>
              </a:spcBef>
            </a:pP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lnSpc>
                <a:spcPct val="100000"/>
              </a:lnSpc>
              <a:spcBef>
                <a:spcPts val="0"/>
              </a:spcBef>
            </a:pPr>
            <a:endParaRPr lang="en-IN" sz="2000" b="1" dirty="0" smtClean="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126</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78CAA64F-AC47-4093-A545-B9B1D811AC36}" type="datetime1">
              <a:rPr lang="en-IN" smtClean="0"/>
              <a:t>21-03-2026</a:t>
            </a:fld>
            <a:endParaRPr lang="en-IN"/>
          </a:p>
        </p:txBody>
      </p:sp>
      <p:cxnSp>
        <p:nvCxnSpPr>
          <p:cNvPr id="10" name="Straight Connector 9"/>
          <p:cNvCxnSpPr/>
          <p:nvPr/>
        </p:nvCxnSpPr>
        <p:spPr>
          <a:xfrm>
            <a:off x="4349050" y="1883326"/>
            <a:ext cx="0" cy="41106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8208283"/>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Decrease </a:t>
            </a:r>
            <a:r>
              <a:rPr lang="en-IN" sz="2000" b="1" dirty="0">
                <a:solidFill>
                  <a:srgbClr val="C00000"/>
                </a:solidFill>
                <a:latin typeface="Times New Roman" panose="02020603050405020304" pitchFamily="18" charset="0"/>
                <a:cs typeface="Times New Roman" panose="02020603050405020304" pitchFamily="18" charset="0"/>
              </a:rPr>
              <a:t>and Conquer</a:t>
            </a:r>
          </a:p>
        </p:txBody>
      </p:sp>
      <p:sp>
        <p:nvSpPr>
          <p:cNvPr id="3" name="Subtitle 2"/>
          <p:cNvSpPr>
            <a:spLocks noGrp="1"/>
          </p:cNvSpPr>
          <p:nvPr>
            <p:ph type="subTitle" idx="1"/>
          </p:nvPr>
        </p:nvSpPr>
        <p:spPr>
          <a:xfrm>
            <a:off x="177051" y="732885"/>
            <a:ext cx="11797552" cy="5627707"/>
          </a:xfrm>
        </p:spPr>
        <p:txBody>
          <a:bodyPr>
            <a:normAutofit/>
          </a:bodyPr>
          <a:lstStyle/>
          <a:p>
            <a:pPr algn="just"/>
            <a:r>
              <a:rPr lang="en-IN" b="1" dirty="0" smtClean="0">
                <a:solidFill>
                  <a:srgbClr val="0070C0"/>
                </a:solidFill>
                <a:latin typeface="Times New Roman" panose="02020603050405020304" pitchFamily="18" charset="0"/>
                <a:cs typeface="Times New Roman" panose="02020603050405020304" pitchFamily="18" charset="0"/>
              </a:rPr>
              <a:t>Insertion sort example</a:t>
            </a:r>
          </a:p>
          <a:p>
            <a:pPr algn="just"/>
            <a:r>
              <a:rPr lang="en-IN" sz="2000" b="1" dirty="0" smtClean="0">
                <a:solidFill>
                  <a:srgbClr val="0070C0"/>
                </a:solidFill>
                <a:latin typeface="Times New Roman" panose="02020603050405020304" pitchFamily="18" charset="0"/>
                <a:cs typeface="Times New Roman" panose="02020603050405020304" pitchFamily="18" charset="0"/>
              </a:rPr>
              <a:t>To perform the insertion sort </a:t>
            </a:r>
          </a:p>
          <a:p>
            <a:pPr algn="just"/>
            <a:r>
              <a:rPr lang="en-IN" sz="2000" b="1" dirty="0" smtClean="0">
                <a:solidFill>
                  <a:srgbClr val="0070C0"/>
                </a:solidFill>
                <a:latin typeface="Times New Roman" panose="02020603050405020304" pitchFamily="18" charset="0"/>
                <a:cs typeface="Times New Roman" panose="02020603050405020304" pitchFamily="18" charset="0"/>
              </a:rPr>
              <a:t>Assume that first element A[0] is sorted, check weather the second element is in its proper place by comparing with sorted </a:t>
            </a:r>
            <a:r>
              <a:rPr lang="en-IN" sz="2000" b="1" dirty="0" err="1" smtClean="0">
                <a:solidFill>
                  <a:srgbClr val="0070C0"/>
                </a:solidFill>
                <a:latin typeface="Times New Roman" panose="02020603050405020304" pitchFamily="18" charset="0"/>
                <a:cs typeface="Times New Roman" panose="02020603050405020304" pitchFamily="18" charset="0"/>
              </a:rPr>
              <a:t>subarray</a:t>
            </a:r>
            <a:r>
              <a:rPr lang="en-IN" sz="2000" b="1" dirty="0" smtClean="0">
                <a:solidFill>
                  <a:srgbClr val="0070C0"/>
                </a:solidFill>
                <a:latin typeface="Times New Roman" panose="02020603050405020304" pitchFamily="18" charset="0"/>
                <a:cs typeface="Times New Roman" panose="02020603050405020304" pitchFamily="18" charset="0"/>
              </a:rPr>
              <a:t> element from left to right. And insert second element in its proper place.</a:t>
            </a:r>
          </a:p>
          <a:p>
            <a:pPr algn="just"/>
            <a:r>
              <a:rPr lang="en-IN" sz="2000" b="1" dirty="0" smtClean="0">
                <a:solidFill>
                  <a:srgbClr val="0070C0"/>
                </a:solidFill>
                <a:latin typeface="Times New Roman" panose="02020603050405020304" pitchFamily="18" charset="0"/>
                <a:cs typeface="Times New Roman" panose="02020603050405020304" pitchFamily="18" charset="0"/>
              </a:rPr>
              <a:t>Apply the same procedure for remaining elements of the unsorted list.</a:t>
            </a:r>
          </a:p>
          <a:p>
            <a:pPr algn="just"/>
            <a:r>
              <a:rPr lang="en-IN" sz="2000" b="1" dirty="0" smtClean="0">
                <a:solidFill>
                  <a:srgbClr val="0070C0"/>
                </a:solidFill>
                <a:latin typeface="Times New Roman" panose="02020603050405020304" pitchFamily="18" charset="0"/>
                <a:cs typeface="Times New Roman" panose="02020603050405020304" pitchFamily="18" charset="0"/>
              </a:rPr>
              <a:t>Ex: Apply the insertion sort for the following list of elements</a:t>
            </a:r>
          </a:p>
          <a:p>
            <a:pPr algn="just"/>
            <a:r>
              <a:rPr lang="en-IN" sz="2000" b="1" dirty="0" smtClean="0">
                <a:solidFill>
                  <a:srgbClr val="0070C0"/>
                </a:solidFill>
                <a:latin typeface="Times New Roman" panose="02020603050405020304" pitchFamily="18" charset="0"/>
                <a:cs typeface="Times New Roman" panose="02020603050405020304" pitchFamily="18" charset="0"/>
              </a:rPr>
              <a:t>89    45     68    90     29     34     17 </a:t>
            </a: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lnSpc>
                <a:spcPct val="100000"/>
              </a:lnSpc>
              <a:spcBef>
                <a:spcPts val="0"/>
              </a:spcBef>
            </a:pPr>
            <a:endParaRPr lang="en-IN" sz="2000" b="1" dirty="0" smtClean="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127</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D15B48C5-B3A0-4A65-9B11-6AF88CC14A8C}" type="datetime1">
              <a:rPr lang="en-IN" smtClean="0"/>
              <a:t>21-03-2026</a:t>
            </a:fld>
            <a:endParaRPr lang="en-IN"/>
          </a:p>
        </p:txBody>
      </p:sp>
    </p:spTree>
    <p:extLst>
      <p:ext uri="{BB962C8B-B14F-4D97-AF65-F5344CB8AC3E}">
        <p14:creationId xmlns:p14="http://schemas.microsoft.com/office/powerpoint/2010/main" val="675301429"/>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Decrease </a:t>
            </a:r>
            <a:r>
              <a:rPr lang="en-IN" sz="2000" b="1" dirty="0">
                <a:solidFill>
                  <a:srgbClr val="C00000"/>
                </a:solidFill>
                <a:latin typeface="Times New Roman" panose="02020603050405020304" pitchFamily="18" charset="0"/>
                <a:cs typeface="Times New Roman" panose="02020603050405020304" pitchFamily="18" charset="0"/>
              </a:rPr>
              <a:t>and Conquer</a:t>
            </a:r>
          </a:p>
        </p:txBody>
      </p:sp>
      <p:sp>
        <p:nvSpPr>
          <p:cNvPr id="3" name="Subtitle 2"/>
          <p:cNvSpPr>
            <a:spLocks noGrp="1"/>
          </p:cNvSpPr>
          <p:nvPr>
            <p:ph type="subTitle" idx="1"/>
          </p:nvPr>
        </p:nvSpPr>
        <p:spPr>
          <a:xfrm>
            <a:off x="177051" y="732885"/>
            <a:ext cx="11797552" cy="5627707"/>
          </a:xfrm>
        </p:spPr>
        <p:txBody>
          <a:bodyPr>
            <a:normAutofit/>
          </a:bodyPr>
          <a:lstStyle/>
          <a:p>
            <a:pPr algn="just"/>
            <a:r>
              <a:rPr lang="en-IN" b="1" dirty="0" smtClean="0">
                <a:solidFill>
                  <a:srgbClr val="0070C0"/>
                </a:solidFill>
                <a:latin typeface="Times New Roman" panose="02020603050405020304" pitchFamily="18" charset="0"/>
                <a:cs typeface="Times New Roman" panose="02020603050405020304" pitchFamily="18" charset="0"/>
              </a:rPr>
              <a:t>Insertion sort example</a:t>
            </a:r>
          </a:p>
          <a:p>
            <a:pPr algn="just"/>
            <a:r>
              <a:rPr lang="en-IN" sz="2000" b="1" dirty="0" smtClean="0">
                <a:solidFill>
                  <a:srgbClr val="0070C0"/>
                </a:solidFill>
                <a:latin typeface="Times New Roman" panose="02020603050405020304" pitchFamily="18" charset="0"/>
                <a:cs typeface="Times New Roman" panose="02020603050405020304" pitchFamily="18" charset="0"/>
              </a:rPr>
              <a:t>Ex: Apply the insertion sort for the following list of elements</a:t>
            </a:r>
          </a:p>
          <a:p>
            <a:pPr marL="457200" indent="-457200" algn="just">
              <a:buAutoNum type="arabicPlain" startAt="89"/>
            </a:pPr>
            <a:r>
              <a:rPr lang="en-IN" sz="2000" b="1" dirty="0" smtClean="0">
                <a:solidFill>
                  <a:srgbClr val="0070C0"/>
                </a:solidFill>
                <a:latin typeface="Times New Roman" panose="02020603050405020304" pitchFamily="18" charset="0"/>
                <a:cs typeface="Times New Roman" panose="02020603050405020304" pitchFamily="18" charset="0"/>
              </a:rPr>
              <a:t>45     68    90     29     34     17 </a:t>
            </a:r>
          </a:p>
          <a:p>
            <a:pPr algn="just"/>
            <a:r>
              <a:rPr lang="en-IN" sz="2000" b="1" dirty="0" smtClean="0">
                <a:solidFill>
                  <a:srgbClr val="0070C0"/>
                </a:solidFill>
                <a:latin typeface="Times New Roman" panose="02020603050405020304" pitchFamily="18" charset="0"/>
                <a:cs typeface="Times New Roman" panose="02020603050405020304" pitchFamily="18" charset="0"/>
              </a:rPr>
              <a:t>Sol:</a:t>
            </a:r>
          </a:p>
          <a:p>
            <a:pPr algn="just"/>
            <a:r>
              <a:rPr lang="en-IN" sz="2000" b="1" dirty="0" smtClean="0">
                <a:solidFill>
                  <a:srgbClr val="0070C0"/>
                </a:solidFill>
                <a:latin typeface="Times New Roman" panose="02020603050405020304" pitchFamily="18" charset="0"/>
                <a:cs typeface="Times New Roman" panose="02020603050405020304" pitchFamily="18" charset="0"/>
              </a:rPr>
              <a:t>Assume that first element is sorted </a:t>
            </a:r>
          </a:p>
          <a:p>
            <a:pPr algn="just"/>
            <a:r>
              <a:rPr lang="en-IN" sz="2000" b="1" dirty="0" smtClean="0">
                <a:solidFill>
                  <a:srgbClr val="FF0000"/>
                </a:solidFill>
                <a:latin typeface="Times New Roman" panose="02020603050405020304" pitchFamily="18" charset="0"/>
                <a:cs typeface="Times New Roman" panose="02020603050405020304" pitchFamily="18" charset="0"/>
              </a:rPr>
              <a:t>89</a:t>
            </a:r>
            <a:r>
              <a:rPr lang="en-IN" sz="2000" b="1" dirty="0" smtClean="0">
                <a:solidFill>
                  <a:srgbClr val="0070C0"/>
                </a:solidFill>
                <a:latin typeface="Times New Roman" panose="02020603050405020304" pitchFamily="18" charset="0"/>
                <a:cs typeface="Times New Roman" panose="02020603050405020304" pitchFamily="18" charset="0"/>
              </a:rPr>
              <a:t>     </a:t>
            </a:r>
            <a:r>
              <a:rPr lang="en-IN" sz="2000" b="1" dirty="0">
                <a:solidFill>
                  <a:srgbClr val="0070C0"/>
                </a:solidFill>
                <a:latin typeface="Times New Roman" panose="02020603050405020304" pitchFamily="18" charset="0"/>
                <a:cs typeface="Times New Roman" panose="02020603050405020304" pitchFamily="18" charset="0"/>
              </a:rPr>
              <a:t>45     68    90     29     34     17 </a:t>
            </a:r>
            <a:r>
              <a:rPr lang="en-IN" sz="2000" b="1" dirty="0" smtClean="0">
                <a:solidFill>
                  <a:srgbClr val="0070C0"/>
                </a:solidFill>
                <a:latin typeface="Times New Roman" panose="02020603050405020304" pitchFamily="18" charset="0"/>
                <a:cs typeface="Times New Roman" panose="02020603050405020304" pitchFamily="18" charset="0"/>
              </a:rPr>
              <a:t>  </a:t>
            </a:r>
            <a:r>
              <a:rPr lang="en-IN" sz="1400" b="1" dirty="0" smtClean="0">
                <a:solidFill>
                  <a:srgbClr val="0070C0"/>
                </a:solidFill>
                <a:latin typeface="Times New Roman" panose="02020603050405020304" pitchFamily="18" charset="0"/>
                <a:cs typeface="Times New Roman" panose="02020603050405020304" pitchFamily="18" charset="0"/>
              </a:rPr>
              <a:t>check 45 is its proper place, this is done by comparing 45 with 89, as 45&lt;89 insert 45 before 89</a:t>
            </a:r>
            <a:endParaRPr lang="en-IN" sz="1400" b="1" dirty="0">
              <a:solidFill>
                <a:srgbClr val="0070C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lnSpc>
                <a:spcPct val="100000"/>
              </a:lnSpc>
              <a:spcBef>
                <a:spcPts val="0"/>
              </a:spcBef>
            </a:pPr>
            <a:r>
              <a:rPr lang="en-IN" sz="2000" b="1" dirty="0" smtClean="0">
                <a:solidFill>
                  <a:srgbClr val="FF0000"/>
                </a:solidFill>
                <a:latin typeface="Times New Roman" panose="02020603050405020304" pitchFamily="18" charset="0"/>
                <a:cs typeface="Times New Roman" panose="02020603050405020304" pitchFamily="18" charset="0"/>
              </a:rPr>
              <a:t>45     89     </a:t>
            </a:r>
            <a:r>
              <a:rPr lang="en-IN" sz="2000" b="1" dirty="0">
                <a:solidFill>
                  <a:srgbClr val="0070C0"/>
                </a:solidFill>
                <a:latin typeface="Times New Roman" panose="02020603050405020304" pitchFamily="18" charset="0"/>
                <a:cs typeface="Times New Roman" panose="02020603050405020304" pitchFamily="18" charset="0"/>
              </a:rPr>
              <a:t>68    90     29     34     </a:t>
            </a:r>
            <a:r>
              <a:rPr lang="en-IN" sz="2000" b="1" dirty="0" smtClean="0">
                <a:solidFill>
                  <a:srgbClr val="0070C0"/>
                </a:solidFill>
                <a:latin typeface="Times New Roman" panose="02020603050405020304" pitchFamily="18" charset="0"/>
                <a:cs typeface="Times New Roman" panose="02020603050405020304" pitchFamily="18" charset="0"/>
              </a:rPr>
              <a:t>17   </a:t>
            </a:r>
            <a:r>
              <a:rPr lang="en-IN" sz="1400" b="1" dirty="0" smtClean="0">
                <a:solidFill>
                  <a:srgbClr val="0070C0"/>
                </a:solidFill>
                <a:latin typeface="Times New Roman" panose="02020603050405020304" pitchFamily="18" charset="0"/>
                <a:cs typeface="Times New Roman" panose="02020603050405020304" pitchFamily="18" charset="0"/>
              </a:rPr>
              <a:t>check 68 </a:t>
            </a:r>
            <a:r>
              <a:rPr lang="en-IN" sz="1400" b="1" dirty="0">
                <a:solidFill>
                  <a:srgbClr val="0070C0"/>
                </a:solidFill>
                <a:latin typeface="Times New Roman" panose="02020603050405020304" pitchFamily="18" charset="0"/>
                <a:cs typeface="Times New Roman" panose="02020603050405020304" pitchFamily="18" charset="0"/>
              </a:rPr>
              <a:t>is its proper place, this is done by comparing </a:t>
            </a:r>
            <a:r>
              <a:rPr lang="en-IN" sz="1400" b="1" dirty="0" smtClean="0">
                <a:solidFill>
                  <a:srgbClr val="0070C0"/>
                </a:solidFill>
                <a:latin typeface="Times New Roman" panose="02020603050405020304" pitchFamily="18" charset="0"/>
                <a:cs typeface="Times New Roman" panose="02020603050405020304" pitchFamily="18" charset="0"/>
              </a:rPr>
              <a:t>68 with all the sorted </a:t>
            </a:r>
            <a:r>
              <a:rPr lang="en-IN" sz="1400" b="1" dirty="0" err="1" smtClean="0">
                <a:solidFill>
                  <a:srgbClr val="0070C0"/>
                </a:solidFill>
                <a:latin typeface="Times New Roman" panose="02020603050405020304" pitchFamily="18" charset="0"/>
                <a:cs typeface="Times New Roman" panose="02020603050405020304" pitchFamily="18" charset="0"/>
              </a:rPr>
              <a:t>subarray</a:t>
            </a:r>
            <a:r>
              <a:rPr lang="en-IN" sz="1400" b="1" dirty="0" smtClean="0">
                <a:solidFill>
                  <a:srgbClr val="0070C0"/>
                </a:solidFill>
                <a:latin typeface="Times New Roman" panose="02020603050405020304" pitchFamily="18" charset="0"/>
                <a:cs typeface="Times New Roman" panose="02020603050405020304" pitchFamily="18" charset="0"/>
              </a:rPr>
              <a:t> as 68&lt;89 and</a:t>
            </a:r>
          </a:p>
          <a:p>
            <a:pPr algn="just">
              <a:lnSpc>
                <a:spcPct val="100000"/>
              </a:lnSpc>
              <a:spcBef>
                <a:spcPts val="0"/>
              </a:spcBef>
            </a:pPr>
            <a:r>
              <a:rPr lang="en-IN" sz="1400" b="1" dirty="0" smtClean="0">
                <a:solidFill>
                  <a:srgbClr val="0070C0"/>
                </a:solidFill>
                <a:latin typeface="Times New Roman" panose="02020603050405020304" pitchFamily="18" charset="0"/>
                <a:cs typeface="Times New Roman" panose="02020603050405020304" pitchFamily="18" charset="0"/>
              </a:rPr>
              <a:t>                                                                                     68&gt;45 proper place to insert 68 is after 68</a:t>
            </a:r>
          </a:p>
          <a:p>
            <a:pPr algn="just"/>
            <a:r>
              <a:rPr lang="en-IN" sz="2000" b="1" dirty="0" smtClean="0">
                <a:solidFill>
                  <a:srgbClr val="FF0000"/>
                </a:solidFill>
                <a:latin typeface="Times New Roman" panose="02020603050405020304" pitchFamily="18" charset="0"/>
                <a:cs typeface="Times New Roman" panose="02020603050405020304" pitchFamily="18" charset="0"/>
              </a:rPr>
              <a:t>45     68     89     </a:t>
            </a:r>
            <a:r>
              <a:rPr lang="en-IN" sz="2000" b="1" dirty="0" smtClean="0">
                <a:solidFill>
                  <a:srgbClr val="0070C0"/>
                </a:solidFill>
                <a:latin typeface="Times New Roman" panose="02020603050405020304" pitchFamily="18" charset="0"/>
                <a:cs typeface="Times New Roman" panose="02020603050405020304" pitchFamily="18" charset="0"/>
              </a:rPr>
              <a:t>90     </a:t>
            </a:r>
            <a:r>
              <a:rPr lang="en-IN" sz="2000" b="1" dirty="0">
                <a:solidFill>
                  <a:srgbClr val="0070C0"/>
                </a:solidFill>
                <a:latin typeface="Times New Roman" panose="02020603050405020304" pitchFamily="18" charset="0"/>
                <a:cs typeface="Times New Roman" panose="02020603050405020304" pitchFamily="18" charset="0"/>
              </a:rPr>
              <a:t>29     34     17</a:t>
            </a: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r>
              <a:rPr lang="en-IN" sz="2000" b="1" dirty="0">
                <a:solidFill>
                  <a:srgbClr val="FF0000"/>
                </a:solidFill>
                <a:latin typeface="Times New Roman" panose="02020603050405020304" pitchFamily="18" charset="0"/>
                <a:cs typeface="Times New Roman" panose="02020603050405020304" pitchFamily="18" charset="0"/>
              </a:rPr>
              <a:t>45     68     89    </a:t>
            </a:r>
            <a:r>
              <a:rPr lang="en-IN" sz="2000" b="1" dirty="0" smtClean="0">
                <a:solidFill>
                  <a:srgbClr val="FF0000"/>
                </a:solidFill>
                <a:latin typeface="Times New Roman" panose="02020603050405020304" pitchFamily="18" charset="0"/>
                <a:cs typeface="Times New Roman" panose="02020603050405020304" pitchFamily="18" charset="0"/>
              </a:rPr>
              <a:t>90</a:t>
            </a:r>
            <a:r>
              <a:rPr lang="en-IN" sz="2000" b="1" dirty="0" smtClean="0">
                <a:solidFill>
                  <a:srgbClr val="0070C0"/>
                </a:solidFill>
                <a:latin typeface="Times New Roman" panose="02020603050405020304" pitchFamily="18" charset="0"/>
                <a:cs typeface="Times New Roman" panose="02020603050405020304" pitchFamily="18" charset="0"/>
              </a:rPr>
              <a:t>     </a:t>
            </a:r>
            <a:r>
              <a:rPr lang="en-IN" sz="2000" b="1" dirty="0">
                <a:solidFill>
                  <a:srgbClr val="0070C0"/>
                </a:solidFill>
                <a:latin typeface="Times New Roman" panose="02020603050405020304" pitchFamily="18" charset="0"/>
                <a:cs typeface="Times New Roman" panose="02020603050405020304" pitchFamily="18" charset="0"/>
              </a:rPr>
              <a:t>29     34     17</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FF0000"/>
                </a:solidFill>
                <a:latin typeface="Times New Roman" panose="02020603050405020304" pitchFamily="18" charset="0"/>
                <a:cs typeface="Times New Roman" panose="02020603050405020304" pitchFamily="18" charset="0"/>
              </a:rPr>
              <a:t>29     45     </a:t>
            </a:r>
            <a:r>
              <a:rPr lang="en-IN" sz="2000" b="1" dirty="0">
                <a:solidFill>
                  <a:srgbClr val="FF0000"/>
                </a:solidFill>
                <a:latin typeface="Times New Roman" panose="02020603050405020304" pitchFamily="18" charset="0"/>
                <a:cs typeface="Times New Roman" panose="02020603050405020304" pitchFamily="18" charset="0"/>
              </a:rPr>
              <a:t>68  </a:t>
            </a:r>
            <a:r>
              <a:rPr lang="en-IN" sz="2000" b="1" dirty="0" smtClean="0">
                <a:solidFill>
                  <a:srgbClr val="FF0000"/>
                </a:solidFill>
                <a:latin typeface="Times New Roman" panose="02020603050405020304" pitchFamily="18" charset="0"/>
                <a:cs typeface="Times New Roman" panose="02020603050405020304" pitchFamily="18" charset="0"/>
              </a:rPr>
              <a:t>  </a:t>
            </a:r>
            <a:r>
              <a:rPr lang="en-IN" sz="2000" b="1" dirty="0">
                <a:solidFill>
                  <a:srgbClr val="FF0000"/>
                </a:solidFill>
                <a:latin typeface="Times New Roman" panose="02020603050405020304" pitchFamily="18" charset="0"/>
                <a:cs typeface="Times New Roman" panose="02020603050405020304" pitchFamily="18" charset="0"/>
              </a:rPr>
              <a:t>89   </a:t>
            </a:r>
            <a:r>
              <a:rPr lang="en-IN" sz="2000" b="1" dirty="0" smtClean="0">
                <a:solidFill>
                  <a:srgbClr val="FF0000"/>
                </a:solidFill>
                <a:latin typeface="Times New Roman" panose="02020603050405020304" pitchFamily="18" charset="0"/>
                <a:cs typeface="Times New Roman" panose="02020603050405020304" pitchFamily="18" charset="0"/>
              </a:rPr>
              <a:t>  </a:t>
            </a:r>
            <a:r>
              <a:rPr lang="en-IN" sz="2000" b="1" dirty="0">
                <a:solidFill>
                  <a:srgbClr val="FF0000"/>
                </a:solidFill>
                <a:latin typeface="Times New Roman" panose="02020603050405020304" pitchFamily="18" charset="0"/>
                <a:cs typeface="Times New Roman" panose="02020603050405020304" pitchFamily="18" charset="0"/>
              </a:rPr>
              <a:t>90</a:t>
            </a:r>
            <a:r>
              <a:rPr lang="en-IN" sz="2000" b="1" dirty="0">
                <a:solidFill>
                  <a:srgbClr val="0070C0"/>
                </a:solidFill>
                <a:latin typeface="Times New Roman" panose="02020603050405020304" pitchFamily="18" charset="0"/>
                <a:cs typeface="Times New Roman" panose="02020603050405020304" pitchFamily="18" charset="0"/>
              </a:rPr>
              <a:t>     </a:t>
            </a:r>
            <a:r>
              <a:rPr lang="en-IN" sz="2000" b="1" dirty="0" smtClean="0">
                <a:solidFill>
                  <a:srgbClr val="0070C0"/>
                </a:solidFill>
                <a:latin typeface="Times New Roman" panose="02020603050405020304" pitchFamily="18" charset="0"/>
                <a:cs typeface="Times New Roman" panose="02020603050405020304" pitchFamily="18" charset="0"/>
              </a:rPr>
              <a:t>34     </a:t>
            </a:r>
            <a:r>
              <a:rPr lang="en-IN" sz="2000" b="1" dirty="0">
                <a:solidFill>
                  <a:srgbClr val="0070C0"/>
                </a:solidFill>
                <a:latin typeface="Times New Roman" panose="02020603050405020304" pitchFamily="18" charset="0"/>
                <a:cs typeface="Times New Roman" panose="02020603050405020304" pitchFamily="18" charset="0"/>
              </a:rPr>
              <a:t>17</a:t>
            </a:r>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FF0000"/>
                </a:solidFill>
                <a:latin typeface="Times New Roman" panose="02020603050405020304" pitchFamily="18" charset="0"/>
                <a:cs typeface="Times New Roman" panose="02020603050405020304" pitchFamily="18" charset="0"/>
              </a:rPr>
              <a:t>17     29     34    </a:t>
            </a:r>
            <a:r>
              <a:rPr lang="en-IN" sz="2000" b="1" dirty="0">
                <a:solidFill>
                  <a:srgbClr val="FF0000"/>
                </a:solidFill>
                <a:latin typeface="Times New Roman" panose="02020603050405020304" pitchFamily="18" charset="0"/>
                <a:cs typeface="Times New Roman" panose="02020603050405020304" pitchFamily="18" charset="0"/>
              </a:rPr>
              <a:t>45  </a:t>
            </a:r>
            <a:r>
              <a:rPr lang="en-IN" sz="2000" b="1" dirty="0" smtClean="0">
                <a:solidFill>
                  <a:srgbClr val="FF0000"/>
                </a:solidFill>
                <a:latin typeface="Times New Roman" panose="02020603050405020304" pitchFamily="18" charset="0"/>
                <a:cs typeface="Times New Roman" panose="02020603050405020304" pitchFamily="18" charset="0"/>
              </a:rPr>
              <a:t>   </a:t>
            </a:r>
            <a:r>
              <a:rPr lang="en-IN" sz="2000" b="1" dirty="0">
                <a:solidFill>
                  <a:srgbClr val="FF0000"/>
                </a:solidFill>
                <a:latin typeface="Times New Roman" panose="02020603050405020304" pitchFamily="18" charset="0"/>
                <a:cs typeface="Times New Roman" panose="02020603050405020304" pitchFamily="18" charset="0"/>
              </a:rPr>
              <a:t>68     89    90</a:t>
            </a:r>
            <a:r>
              <a:rPr lang="en-IN" sz="2000" b="1" dirty="0">
                <a:solidFill>
                  <a:srgbClr val="0070C0"/>
                </a:solidFill>
                <a:latin typeface="Times New Roman" panose="02020603050405020304" pitchFamily="18" charset="0"/>
                <a:cs typeface="Times New Roman" panose="02020603050405020304" pitchFamily="18" charset="0"/>
              </a:rPr>
              <a:t> </a:t>
            </a:r>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128</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658F4F50-2B47-43BB-8EEE-55E05A9853F7}" type="datetime1">
              <a:rPr lang="en-IN" smtClean="0"/>
              <a:t>21-03-2026</a:t>
            </a:fld>
            <a:endParaRPr lang="en-IN"/>
          </a:p>
        </p:txBody>
      </p:sp>
      <p:cxnSp>
        <p:nvCxnSpPr>
          <p:cNvPr id="9" name="Straight Connector 8"/>
          <p:cNvCxnSpPr/>
          <p:nvPr/>
        </p:nvCxnSpPr>
        <p:spPr>
          <a:xfrm>
            <a:off x="666737" y="2748299"/>
            <a:ext cx="0" cy="41106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247505" y="3460872"/>
            <a:ext cx="0" cy="41106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828273" y="4024333"/>
            <a:ext cx="0" cy="41106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606745" y="4138832"/>
            <a:ext cx="5115697" cy="400110"/>
          </a:xfrm>
          <a:prstGeom prst="rect">
            <a:avLst/>
          </a:prstGeom>
          <a:noFill/>
        </p:spPr>
        <p:txBody>
          <a:bodyPr wrap="square" rtlCol="0">
            <a:spAutoFit/>
          </a:bodyPr>
          <a:lstStyle/>
          <a:p>
            <a:r>
              <a:rPr lang="en-IN" sz="2000" b="1" dirty="0">
                <a:solidFill>
                  <a:srgbClr val="FF0000"/>
                </a:solidFill>
                <a:latin typeface="Times New Roman" panose="02020603050405020304" pitchFamily="18" charset="0"/>
                <a:cs typeface="Times New Roman" panose="02020603050405020304" pitchFamily="18" charset="0"/>
              </a:rPr>
              <a:t>Red </a:t>
            </a:r>
            <a:r>
              <a:rPr lang="en-IN" sz="2000" b="1" dirty="0" err="1">
                <a:solidFill>
                  <a:srgbClr val="FF0000"/>
                </a:solidFill>
                <a:latin typeface="Times New Roman" panose="02020603050405020304" pitchFamily="18" charset="0"/>
                <a:cs typeface="Times New Roman" panose="02020603050405020304" pitchFamily="18" charset="0"/>
              </a:rPr>
              <a:t>color</a:t>
            </a:r>
            <a:r>
              <a:rPr lang="en-IN" sz="2000" b="1" dirty="0">
                <a:solidFill>
                  <a:srgbClr val="FF0000"/>
                </a:solidFill>
                <a:latin typeface="Times New Roman" panose="02020603050405020304" pitchFamily="18" charset="0"/>
                <a:cs typeface="Times New Roman" panose="02020603050405020304" pitchFamily="18" charset="0"/>
              </a:rPr>
              <a:t> elements indicate sorted </a:t>
            </a:r>
            <a:r>
              <a:rPr lang="en-IN" sz="2000" b="1" dirty="0" err="1">
                <a:solidFill>
                  <a:srgbClr val="FF0000"/>
                </a:solidFill>
                <a:latin typeface="Times New Roman" panose="02020603050405020304" pitchFamily="18" charset="0"/>
                <a:cs typeface="Times New Roman" panose="02020603050405020304" pitchFamily="18" charset="0"/>
              </a:rPr>
              <a:t>subarray</a:t>
            </a:r>
            <a:endParaRPr lang="en-IN" sz="2000" b="1" dirty="0">
              <a:solidFill>
                <a:srgbClr val="FF0000"/>
              </a:solidFill>
              <a:latin typeface="Times New Roman" panose="02020603050405020304" pitchFamily="18" charset="0"/>
              <a:cs typeface="Times New Roman" panose="02020603050405020304" pitchFamily="18" charset="0"/>
            </a:endParaRPr>
          </a:p>
        </p:txBody>
      </p:sp>
      <p:cxnSp>
        <p:nvCxnSpPr>
          <p:cNvPr id="13" name="Straight Connector 12"/>
          <p:cNvCxnSpPr/>
          <p:nvPr/>
        </p:nvCxnSpPr>
        <p:spPr>
          <a:xfrm>
            <a:off x="2367851" y="4435394"/>
            <a:ext cx="0" cy="41106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890953" y="4846455"/>
            <a:ext cx="0" cy="41106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4307546"/>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Decrease </a:t>
            </a:r>
            <a:r>
              <a:rPr lang="en-IN" sz="2000" b="1" dirty="0">
                <a:solidFill>
                  <a:srgbClr val="C00000"/>
                </a:solidFill>
                <a:latin typeface="Times New Roman" panose="02020603050405020304" pitchFamily="18" charset="0"/>
                <a:cs typeface="Times New Roman" panose="02020603050405020304" pitchFamily="18" charset="0"/>
              </a:rPr>
              <a:t>and Conquer</a:t>
            </a:r>
          </a:p>
        </p:txBody>
      </p:sp>
      <p:sp>
        <p:nvSpPr>
          <p:cNvPr id="3" name="Subtitle 2"/>
          <p:cNvSpPr>
            <a:spLocks noGrp="1"/>
          </p:cNvSpPr>
          <p:nvPr>
            <p:ph type="subTitle" idx="1"/>
          </p:nvPr>
        </p:nvSpPr>
        <p:spPr>
          <a:xfrm>
            <a:off x="177051" y="732885"/>
            <a:ext cx="11797552" cy="5627707"/>
          </a:xfrm>
        </p:spPr>
        <p:txBody>
          <a:bodyPr>
            <a:normAutofit/>
          </a:bodyPr>
          <a:lstStyle/>
          <a:p>
            <a:pPr algn="just"/>
            <a:r>
              <a:rPr lang="en-IN" b="1" dirty="0" smtClean="0">
                <a:solidFill>
                  <a:srgbClr val="0070C0"/>
                </a:solidFill>
                <a:latin typeface="Times New Roman" panose="02020603050405020304" pitchFamily="18" charset="0"/>
                <a:cs typeface="Times New Roman" panose="02020603050405020304" pitchFamily="18" charset="0"/>
              </a:rPr>
              <a:t>Insertion Algorithm</a:t>
            </a:r>
          </a:p>
          <a:p>
            <a:pPr algn="just"/>
            <a:r>
              <a:rPr lang="en-IN" b="1" dirty="0" err="1" smtClean="0">
                <a:solidFill>
                  <a:srgbClr val="0070C0"/>
                </a:solidFill>
                <a:latin typeface="Times New Roman" panose="02020603050405020304" pitchFamily="18" charset="0"/>
                <a:cs typeface="Times New Roman" panose="02020603050405020304" pitchFamily="18" charset="0"/>
              </a:rPr>
              <a:t>InsertionSort</a:t>
            </a:r>
            <a:r>
              <a:rPr lang="en-IN" b="1" dirty="0" smtClean="0">
                <a:solidFill>
                  <a:srgbClr val="0070C0"/>
                </a:solidFill>
                <a:latin typeface="Times New Roman" panose="02020603050405020304" pitchFamily="18" charset="0"/>
                <a:cs typeface="Times New Roman" panose="02020603050405020304" pitchFamily="18" charset="0"/>
              </a:rPr>
              <a:t>(A[0…..n-1])</a:t>
            </a:r>
          </a:p>
          <a:p>
            <a:pPr algn="just"/>
            <a:r>
              <a:rPr lang="en-IN" b="1" dirty="0" smtClean="0">
                <a:solidFill>
                  <a:srgbClr val="0070C0"/>
                </a:solidFill>
                <a:latin typeface="Times New Roman" panose="02020603050405020304" pitchFamily="18" charset="0"/>
                <a:cs typeface="Times New Roman" panose="02020603050405020304" pitchFamily="18" charset="0"/>
              </a:rPr>
              <a:t>//input an array A[0….n-1]</a:t>
            </a:r>
          </a:p>
          <a:p>
            <a:pPr algn="just"/>
            <a:r>
              <a:rPr lang="en-IN" b="1" dirty="0" smtClean="0">
                <a:solidFill>
                  <a:srgbClr val="0070C0"/>
                </a:solidFill>
                <a:latin typeface="Times New Roman" panose="02020603050405020304" pitchFamily="18" charset="0"/>
                <a:cs typeface="Times New Roman" panose="02020603050405020304" pitchFamily="18" charset="0"/>
              </a:rPr>
              <a:t>//Output sorted array </a:t>
            </a:r>
            <a:r>
              <a:rPr lang="en-IN" b="1" dirty="0">
                <a:solidFill>
                  <a:srgbClr val="0070C0"/>
                </a:solidFill>
                <a:latin typeface="Times New Roman" panose="02020603050405020304" pitchFamily="18" charset="0"/>
                <a:cs typeface="Times New Roman" panose="02020603050405020304" pitchFamily="18" charset="0"/>
              </a:rPr>
              <a:t>A[0….n-1</a:t>
            </a:r>
            <a:r>
              <a:rPr lang="en-IN" b="1" dirty="0" smtClean="0">
                <a:solidFill>
                  <a:srgbClr val="0070C0"/>
                </a:solidFill>
                <a:latin typeface="Times New Roman" panose="02020603050405020304" pitchFamily="18" charset="0"/>
                <a:cs typeface="Times New Roman" panose="02020603050405020304" pitchFamily="18" charset="0"/>
              </a:rPr>
              <a:t>]</a:t>
            </a:r>
          </a:p>
          <a:p>
            <a:pPr algn="just"/>
            <a:r>
              <a:rPr lang="en-IN" b="1" dirty="0">
                <a:solidFill>
                  <a:srgbClr val="0070C0"/>
                </a:solidFill>
                <a:latin typeface="Times New Roman" panose="02020603050405020304" pitchFamily="18" charset="0"/>
                <a:cs typeface="Times New Roman" panose="02020603050405020304" pitchFamily="18" charset="0"/>
              </a:rPr>
              <a:t>f</a:t>
            </a:r>
            <a:r>
              <a:rPr lang="en-IN" b="1" dirty="0" smtClean="0">
                <a:solidFill>
                  <a:srgbClr val="0070C0"/>
                </a:solidFill>
                <a:latin typeface="Times New Roman" panose="02020603050405020304" pitchFamily="18" charset="0"/>
                <a:cs typeface="Times New Roman" panose="02020603050405020304" pitchFamily="18" charset="0"/>
              </a:rPr>
              <a:t>or i</a:t>
            </a:r>
            <a:r>
              <a:rPr lang="en-IN" b="1" dirty="0" smtClean="0">
                <a:solidFill>
                  <a:srgbClr val="0070C0"/>
                </a:solidFill>
                <a:latin typeface="Times New Roman" panose="02020603050405020304" pitchFamily="18" charset="0"/>
                <a:cs typeface="Times New Roman" panose="02020603050405020304" pitchFamily="18" charset="0"/>
                <a:sym typeface="Wingdings" pitchFamily="2" charset="2"/>
              </a:rPr>
              <a:t> 1 to n-1 do</a:t>
            </a:r>
          </a:p>
          <a:p>
            <a:pPr algn="just"/>
            <a:r>
              <a:rPr lang="en-IN" b="1" dirty="0">
                <a:solidFill>
                  <a:srgbClr val="0070C0"/>
                </a:solidFill>
                <a:latin typeface="Times New Roman" panose="02020603050405020304" pitchFamily="18" charset="0"/>
                <a:cs typeface="Times New Roman" panose="02020603050405020304" pitchFamily="18" charset="0"/>
                <a:sym typeface="Wingdings" pitchFamily="2" charset="2"/>
              </a:rPr>
              <a:t> </a:t>
            </a:r>
            <a:r>
              <a:rPr lang="en-IN" b="1" dirty="0" smtClean="0">
                <a:solidFill>
                  <a:srgbClr val="0070C0"/>
                </a:solidFill>
                <a:latin typeface="Times New Roman" panose="02020603050405020304" pitchFamily="18" charset="0"/>
                <a:cs typeface="Times New Roman" panose="02020603050405020304" pitchFamily="18" charset="0"/>
                <a:sym typeface="Wingdings" pitchFamily="2" charset="2"/>
              </a:rPr>
              <a:t>    </a:t>
            </a:r>
            <a:r>
              <a:rPr lang="en-IN" b="1" dirty="0" err="1" smtClean="0">
                <a:solidFill>
                  <a:srgbClr val="0070C0"/>
                </a:solidFill>
                <a:latin typeface="Times New Roman" panose="02020603050405020304" pitchFamily="18" charset="0"/>
                <a:cs typeface="Times New Roman" panose="02020603050405020304" pitchFamily="18" charset="0"/>
                <a:sym typeface="Wingdings" pitchFamily="2" charset="2"/>
              </a:rPr>
              <a:t>vA</a:t>
            </a:r>
            <a:r>
              <a:rPr lang="en-IN" b="1" dirty="0" smtClean="0">
                <a:solidFill>
                  <a:srgbClr val="0070C0"/>
                </a:solidFill>
                <a:latin typeface="Times New Roman" panose="02020603050405020304" pitchFamily="18" charset="0"/>
                <a:cs typeface="Times New Roman" panose="02020603050405020304" pitchFamily="18" charset="0"/>
                <a:sym typeface="Wingdings" pitchFamily="2" charset="2"/>
              </a:rPr>
              <a:t>[i]</a:t>
            </a:r>
          </a:p>
          <a:p>
            <a:pPr algn="just"/>
            <a:r>
              <a:rPr lang="en-IN" b="1" dirty="0">
                <a:solidFill>
                  <a:srgbClr val="0070C0"/>
                </a:solidFill>
                <a:latin typeface="Times New Roman" panose="02020603050405020304" pitchFamily="18" charset="0"/>
                <a:cs typeface="Times New Roman" panose="02020603050405020304" pitchFamily="18" charset="0"/>
                <a:sym typeface="Wingdings" pitchFamily="2" charset="2"/>
              </a:rPr>
              <a:t> </a:t>
            </a:r>
            <a:r>
              <a:rPr lang="en-IN" b="1" dirty="0" smtClean="0">
                <a:solidFill>
                  <a:srgbClr val="0070C0"/>
                </a:solidFill>
                <a:latin typeface="Times New Roman" panose="02020603050405020304" pitchFamily="18" charset="0"/>
                <a:cs typeface="Times New Roman" panose="02020603050405020304" pitchFamily="18" charset="0"/>
                <a:sym typeface="Wingdings" pitchFamily="2" charset="2"/>
              </a:rPr>
              <a:t>    ji-1</a:t>
            </a:r>
          </a:p>
          <a:p>
            <a:pPr algn="just"/>
            <a:r>
              <a:rPr lang="en-IN" b="1" dirty="0">
                <a:solidFill>
                  <a:srgbClr val="0070C0"/>
                </a:solidFill>
                <a:latin typeface="Times New Roman" panose="02020603050405020304" pitchFamily="18" charset="0"/>
                <a:cs typeface="Times New Roman" panose="02020603050405020304" pitchFamily="18" charset="0"/>
                <a:sym typeface="Wingdings" pitchFamily="2" charset="2"/>
              </a:rPr>
              <a:t> </a:t>
            </a:r>
            <a:r>
              <a:rPr lang="en-IN" b="1" dirty="0" smtClean="0">
                <a:solidFill>
                  <a:srgbClr val="0070C0"/>
                </a:solidFill>
                <a:latin typeface="Times New Roman" panose="02020603050405020304" pitchFamily="18" charset="0"/>
                <a:cs typeface="Times New Roman" panose="02020603050405020304" pitchFamily="18" charset="0"/>
                <a:sym typeface="Wingdings" pitchFamily="2" charset="2"/>
              </a:rPr>
              <a:t>    while  j ≥ 0 and A[j]&gt;v do</a:t>
            </a:r>
          </a:p>
          <a:p>
            <a:pPr algn="just"/>
            <a:r>
              <a:rPr lang="en-IN" b="1" dirty="0">
                <a:solidFill>
                  <a:srgbClr val="0070C0"/>
                </a:solidFill>
                <a:latin typeface="Times New Roman" panose="02020603050405020304" pitchFamily="18" charset="0"/>
                <a:cs typeface="Times New Roman" panose="02020603050405020304" pitchFamily="18" charset="0"/>
                <a:sym typeface="Wingdings" pitchFamily="2" charset="2"/>
              </a:rPr>
              <a:t> </a:t>
            </a:r>
            <a:r>
              <a:rPr lang="en-IN" b="1" dirty="0" smtClean="0">
                <a:solidFill>
                  <a:srgbClr val="0070C0"/>
                </a:solidFill>
                <a:latin typeface="Times New Roman" panose="02020603050405020304" pitchFamily="18" charset="0"/>
                <a:cs typeface="Times New Roman" panose="02020603050405020304" pitchFamily="18" charset="0"/>
                <a:sym typeface="Wingdings" pitchFamily="2" charset="2"/>
              </a:rPr>
              <a:t>             A[j+1]A[j]</a:t>
            </a:r>
          </a:p>
          <a:p>
            <a:pPr algn="just"/>
            <a:r>
              <a:rPr lang="en-IN" b="1" dirty="0">
                <a:solidFill>
                  <a:srgbClr val="0070C0"/>
                </a:solidFill>
                <a:latin typeface="Times New Roman" panose="02020603050405020304" pitchFamily="18" charset="0"/>
                <a:cs typeface="Times New Roman" panose="02020603050405020304" pitchFamily="18" charset="0"/>
                <a:sym typeface="Wingdings" pitchFamily="2" charset="2"/>
              </a:rPr>
              <a:t> </a:t>
            </a:r>
            <a:r>
              <a:rPr lang="en-IN" b="1" dirty="0" smtClean="0">
                <a:solidFill>
                  <a:srgbClr val="0070C0"/>
                </a:solidFill>
                <a:latin typeface="Times New Roman" panose="02020603050405020304" pitchFamily="18" charset="0"/>
                <a:cs typeface="Times New Roman" panose="02020603050405020304" pitchFamily="18" charset="0"/>
                <a:sym typeface="Wingdings" pitchFamily="2" charset="2"/>
              </a:rPr>
              <a:t>             jj-1</a:t>
            </a:r>
          </a:p>
          <a:p>
            <a:pPr algn="just"/>
            <a:r>
              <a:rPr lang="en-IN" b="1" dirty="0">
                <a:solidFill>
                  <a:srgbClr val="0070C0"/>
                </a:solidFill>
                <a:latin typeface="Times New Roman" panose="02020603050405020304" pitchFamily="18" charset="0"/>
                <a:cs typeface="Times New Roman" panose="02020603050405020304" pitchFamily="18" charset="0"/>
                <a:sym typeface="Wingdings" pitchFamily="2" charset="2"/>
              </a:rPr>
              <a:t> </a:t>
            </a:r>
            <a:r>
              <a:rPr lang="en-IN" b="1" dirty="0" smtClean="0">
                <a:solidFill>
                  <a:srgbClr val="0070C0"/>
                </a:solidFill>
                <a:latin typeface="Times New Roman" panose="02020603050405020304" pitchFamily="18" charset="0"/>
                <a:cs typeface="Times New Roman" panose="02020603050405020304" pitchFamily="18" charset="0"/>
                <a:sym typeface="Wingdings" pitchFamily="2" charset="2"/>
              </a:rPr>
              <a:t>    A[j+1]v</a:t>
            </a:r>
            <a:endParaRPr lang="en-IN" b="1" dirty="0">
              <a:solidFill>
                <a:srgbClr val="0070C0"/>
              </a:solidFill>
              <a:latin typeface="Times New Roman" panose="02020603050405020304" pitchFamily="18" charset="0"/>
              <a:cs typeface="Times New Roman" panose="02020603050405020304" pitchFamily="18" charset="0"/>
            </a:endParaRPr>
          </a:p>
          <a:p>
            <a:pPr algn="just"/>
            <a:endParaRPr lang="en-IN" b="1" dirty="0" smtClean="0">
              <a:solidFill>
                <a:srgbClr val="0070C0"/>
              </a:solidFill>
              <a:latin typeface="Times New Roman" panose="02020603050405020304" pitchFamily="18" charset="0"/>
              <a:cs typeface="Times New Roman" panose="02020603050405020304" pitchFamily="18" charset="0"/>
            </a:endParaRPr>
          </a:p>
          <a:p>
            <a:pPr algn="just">
              <a:lnSpc>
                <a:spcPct val="100000"/>
              </a:lnSpc>
              <a:spcBef>
                <a:spcPts val="0"/>
              </a:spcBef>
            </a:pPr>
            <a:endParaRPr lang="en-IN" sz="2000" b="1" dirty="0" smtClean="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129</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562B5BF0-711C-42E9-9BC7-A12DCA3A49BF}" type="datetime1">
              <a:rPr lang="en-IN" smtClean="0"/>
              <a:t>21-03-2026</a:t>
            </a:fld>
            <a:endParaRPr lang="en-IN"/>
          </a:p>
        </p:txBody>
      </p:sp>
      <mc:AlternateContent xmlns:mc="http://schemas.openxmlformats.org/markup-compatibility/2006" xmlns:a14="http://schemas.microsoft.com/office/drawing/2010/main">
        <mc:Choice Requires="a14">
          <p:sp>
            <p:nvSpPr>
              <p:cNvPr id="9" name="TextBox 8"/>
              <p:cNvSpPr txBox="1"/>
              <p:nvPr/>
            </p:nvSpPr>
            <p:spPr>
              <a:xfrm>
                <a:off x="5478162" y="1416908"/>
                <a:ext cx="5865341" cy="2399631"/>
              </a:xfrm>
              <a:prstGeom prst="rect">
                <a:avLst/>
              </a:prstGeom>
              <a:noFill/>
            </p:spPr>
            <p:txBody>
              <a:bodyPr wrap="square" rtlCol="0">
                <a:spAutoFit/>
              </a:bodyPr>
              <a:lstStyle/>
              <a:p>
                <a:pPr marL="0" lvl="3" indent="0">
                  <a:spcBef>
                    <a:spcPts val="1000"/>
                  </a:spcBef>
                  <a:buNone/>
                </a:pPr>
                <a:r>
                  <a:rPr lang="en-IN" sz="2000" b="1" dirty="0" smtClean="0">
                    <a:solidFill>
                      <a:srgbClr val="002060"/>
                    </a:solidFill>
                    <a:latin typeface="Times New Roman" panose="02020603050405020304" pitchFamily="18" charset="0"/>
                    <a:cs typeface="Times New Roman" panose="02020603050405020304" pitchFamily="18" charset="0"/>
                  </a:rPr>
                  <a:t>Time complexity</a:t>
                </a:r>
              </a:p>
              <a:p>
                <a:r>
                  <a:rPr lang="en-IN" sz="2400" b="1" dirty="0">
                    <a:solidFill>
                      <a:srgbClr val="002060"/>
                    </a:solidFill>
                    <a:latin typeface="Times New Roman" panose="02020603050405020304" pitchFamily="18" charset="0"/>
                    <a:cs typeface="Times New Roman" panose="02020603050405020304" pitchFamily="18" charset="0"/>
                  </a:rPr>
                  <a:t>C(n) </a:t>
                </a:r>
                <a14:m>
                  <m:oMath xmlns:m="http://schemas.openxmlformats.org/officeDocument/2006/math">
                    <m:r>
                      <a:rPr lang="en-IN" sz="2400" b="1">
                        <a:solidFill>
                          <a:srgbClr val="002060"/>
                        </a:solidFill>
                        <a:latin typeface="Cambria Math"/>
                        <a:cs typeface="Times New Roman" panose="02020603050405020304" pitchFamily="18" charset="0"/>
                      </a:rPr>
                      <m:t>=</m:t>
                    </m:r>
                    <m:nary>
                      <m:naryPr>
                        <m:chr m:val="∑"/>
                        <m:ctrlPr>
                          <a:rPr lang="en-IN" sz="2400" b="1" i="1">
                            <a:solidFill>
                              <a:srgbClr val="002060"/>
                            </a:solidFill>
                            <a:latin typeface="Cambria Math"/>
                            <a:cs typeface="Times New Roman" panose="02020603050405020304" pitchFamily="18" charset="0"/>
                          </a:rPr>
                        </m:ctrlPr>
                      </m:naryPr>
                      <m:sub>
                        <m:r>
                          <a:rPr lang="en-IN" sz="2400" b="1">
                            <a:solidFill>
                              <a:srgbClr val="002060"/>
                            </a:solidFill>
                            <a:latin typeface="Cambria Math"/>
                            <a:cs typeface="Times New Roman" panose="02020603050405020304" pitchFamily="18" charset="0"/>
                          </a:rPr>
                          <m:t>𝑖</m:t>
                        </m:r>
                        <m:r>
                          <a:rPr lang="pt-BR" sz="2400" b="1">
                            <a:solidFill>
                              <a:srgbClr val="002060"/>
                            </a:solidFill>
                            <a:latin typeface="Cambria Math"/>
                            <a:cs typeface="Times New Roman" panose="02020603050405020304" pitchFamily="18" charset="0"/>
                          </a:rPr>
                          <m:t>=</m:t>
                        </m:r>
                        <m:r>
                          <a:rPr lang="en-IN" sz="2400" b="1" i="1" smtClean="0">
                            <a:solidFill>
                              <a:srgbClr val="002060"/>
                            </a:solidFill>
                            <a:latin typeface="Cambria Math"/>
                            <a:cs typeface="Times New Roman" panose="02020603050405020304" pitchFamily="18" charset="0"/>
                          </a:rPr>
                          <m:t>𝟏</m:t>
                        </m:r>
                      </m:sub>
                      <m:sup>
                        <m:r>
                          <a:rPr lang="en-IN" sz="2400" b="1">
                            <a:solidFill>
                              <a:srgbClr val="002060"/>
                            </a:solidFill>
                            <a:latin typeface="Cambria Math"/>
                            <a:cs typeface="Times New Roman" panose="02020603050405020304" pitchFamily="18" charset="0"/>
                          </a:rPr>
                          <m:t>𝑛</m:t>
                        </m:r>
                        <m:r>
                          <a:rPr lang="en-IN" sz="2400" b="1">
                            <a:solidFill>
                              <a:srgbClr val="002060"/>
                            </a:solidFill>
                            <a:latin typeface="Cambria Math"/>
                            <a:cs typeface="Times New Roman" panose="02020603050405020304" pitchFamily="18" charset="0"/>
                          </a:rPr>
                          <m:t>−</m:t>
                        </m:r>
                        <m:r>
                          <a:rPr lang="en-IN" sz="2400" b="1" i="0" smtClean="0">
                            <a:solidFill>
                              <a:srgbClr val="002060"/>
                            </a:solidFill>
                            <a:latin typeface="Cambria Math"/>
                            <a:cs typeface="Times New Roman" panose="02020603050405020304" pitchFamily="18" charset="0"/>
                          </a:rPr>
                          <m:t>𝟏</m:t>
                        </m:r>
                      </m:sup>
                      <m:e>
                        <m:nary>
                          <m:naryPr>
                            <m:chr m:val="∑"/>
                            <m:ctrlPr>
                              <a:rPr lang="en-IN" sz="2400" b="1" i="1">
                                <a:solidFill>
                                  <a:srgbClr val="002060"/>
                                </a:solidFill>
                                <a:latin typeface="Cambria Math"/>
                                <a:cs typeface="Times New Roman" panose="02020603050405020304" pitchFamily="18" charset="0"/>
                              </a:rPr>
                            </m:ctrlPr>
                          </m:naryPr>
                          <m:sub>
                            <m:r>
                              <a:rPr lang="en-IN" sz="2400" b="1">
                                <a:solidFill>
                                  <a:srgbClr val="002060"/>
                                </a:solidFill>
                                <a:latin typeface="Cambria Math"/>
                                <a:cs typeface="Times New Roman" panose="02020603050405020304" pitchFamily="18" charset="0"/>
                              </a:rPr>
                              <m:t>𝐣</m:t>
                            </m:r>
                            <m:r>
                              <a:rPr lang="en-IN" sz="2400" b="1">
                                <a:solidFill>
                                  <a:srgbClr val="002060"/>
                                </a:solidFill>
                                <a:latin typeface="Cambria Math"/>
                                <a:cs typeface="Times New Roman" panose="02020603050405020304" pitchFamily="18" charset="0"/>
                              </a:rPr>
                              <m:t>=</m:t>
                            </m:r>
                            <m:r>
                              <a:rPr lang="en-IN" sz="2400" b="1">
                                <a:solidFill>
                                  <a:srgbClr val="002060"/>
                                </a:solidFill>
                                <a:latin typeface="Cambria Math"/>
                                <a:cs typeface="Times New Roman" panose="02020603050405020304" pitchFamily="18" charset="0"/>
                              </a:rPr>
                              <m:t>𝟎</m:t>
                            </m:r>
                          </m:sub>
                          <m:sup>
                            <m:r>
                              <a:rPr lang="en-IN" sz="2400" b="1" i="0" smtClean="0">
                                <a:solidFill>
                                  <a:srgbClr val="002060"/>
                                </a:solidFill>
                                <a:latin typeface="Cambria Math"/>
                                <a:cs typeface="Times New Roman" panose="02020603050405020304" pitchFamily="18" charset="0"/>
                              </a:rPr>
                              <m:t>𝐢</m:t>
                            </m:r>
                            <m:r>
                              <a:rPr lang="en-IN" sz="2400" b="1" i="0" smtClean="0">
                                <a:solidFill>
                                  <a:srgbClr val="002060"/>
                                </a:solidFill>
                                <a:latin typeface="Cambria Math"/>
                                <a:cs typeface="Times New Roman" panose="02020603050405020304" pitchFamily="18" charset="0"/>
                              </a:rPr>
                              <m:t>−</m:t>
                            </m:r>
                            <m:r>
                              <a:rPr lang="en-IN" sz="2400" b="1" i="0" smtClean="0">
                                <a:solidFill>
                                  <a:srgbClr val="002060"/>
                                </a:solidFill>
                                <a:latin typeface="Cambria Math"/>
                                <a:cs typeface="Times New Roman" panose="02020603050405020304" pitchFamily="18" charset="0"/>
                              </a:rPr>
                              <m:t>𝟏</m:t>
                            </m:r>
                          </m:sup>
                          <m:e>
                            <m:r>
                              <a:rPr lang="en-IN" sz="2400" b="1">
                                <a:solidFill>
                                  <a:srgbClr val="002060"/>
                                </a:solidFill>
                                <a:latin typeface="Cambria Math"/>
                                <a:cs typeface="Times New Roman" panose="02020603050405020304" pitchFamily="18" charset="0"/>
                              </a:rPr>
                              <m:t>1</m:t>
                            </m:r>
                          </m:e>
                        </m:nary>
                      </m:e>
                    </m:nary>
                  </m:oMath>
                </a14:m>
                <a:endParaRPr lang="pt-BR" sz="4800" b="1" dirty="0">
                  <a:solidFill>
                    <a:srgbClr val="002060"/>
                  </a:solidFill>
                  <a:latin typeface="Times New Roman" panose="02020603050405020304" pitchFamily="18" charset="0"/>
                  <a:cs typeface="Times New Roman" panose="02020603050405020304" pitchFamily="18" charset="0"/>
                </a:endParaRPr>
              </a:p>
              <a:p>
                <a:r>
                  <a:rPr lang="pt-BR" sz="2800" b="1"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nary>
                      <m:naryPr>
                        <m:chr m:val="∑"/>
                        <m:ctrlPr>
                          <a:rPr lang="en-IN" sz="2400" b="1" i="1">
                            <a:solidFill>
                              <a:srgbClr val="002060"/>
                            </a:solidFill>
                            <a:latin typeface="Cambria Math"/>
                            <a:cs typeface="Times New Roman" panose="02020603050405020304" pitchFamily="18" charset="0"/>
                          </a:rPr>
                        </m:ctrlPr>
                      </m:naryPr>
                      <m:sub>
                        <m:r>
                          <a:rPr lang="en-IN" sz="2400" b="1">
                            <a:solidFill>
                              <a:srgbClr val="002060"/>
                            </a:solidFill>
                            <a:latin typeface="Cambria Math"/>
                            <a:cs typeface="Times New Roman" panose="02020603050405020304" pitchFamily="18" charset="0"/>
                          </a:rPr>
                          <m:t>𝑖</m:t>
                        </m:r>
                        <m:r>
                          <a:rPr lang="pt-BR" sz="2400" b="1">
                            <a:solidFill>
                              <a:srgbClr val="002060"/>
                            </a:solidFill>
                            <a:latin typeface="Cambria Math"/>
                            <a:cs typeface="Times New Roman" panose="02020603050405020304" pitchFamily="18" charset="0"/>
                          </a:rPr>
                          <m:t>=</m:t>
                        </m:r>
                        <m:r>
                          <a:rPr lang="en-IN" sz="2400" b="1" i="1" smtClean="0">
                            <a:solidFill>
                              <a:srgbClr val="002060"/>
                            </a:solidFill>
                            <a:latin typeface="Cambria Math"/>
                            <a:cs typeface="Times New Roman" panose="02020603050405020304" pitchFamily="18" charset="0"/>
                          </a:rPr>
                          <m:t>𝟏</m:t>
                        </m:r>
                      </m:sub>
                      <m:sup>
                        <m:r>
                          <a:rPr lang="en-IN" sz="2400" b="1">
                            <a:solidFill>
                              <a:srgbClr val="002060"/>
                            </a:solidFill>
                            <a:latin typeface="Cambria Math"/>
                            <a:cs typeface="Times New Roman" panose="02020603050405020304" pitchFamily="18" charset="0"/>
                          </a:rPr>
                          <m:t>𝑛</m:t>
                        </m:r>
                        <m:r>
                          <a:rPr lang="en-IN" sz="2400" b="1">
                            <a:solidFill>
                              <a:srgbClr val="002060"/>
                            </a:solidFill>
                            <a:latin typeface="Cambria Math"/>
                            <a:cs typeface="Times New Roman" panose="02020603050405020304" pitchFamily="18" charset="0"/>
                          </a:rPr>
                          <m:t>−</m:t>
                        </m:r>
                        <m:r>
                          <a:rPr lang="en-IN" sz="2400" b="1" i="1" smtClean="0">
                            <a:solidFill>
                              <a:srgbClr val="002060"/>
                            </a:solidFill>
                            <a:latin typeface="Cambria Math"/>
                            <a:cs typeface="Times New Roman" panose="02020603050405020304" pitchFamily="18" charset="0"/>
                          </a:rPr>
                          <m:t>𝟏</m:t>
                        </m:r>
                      </m:sup>
                      <m:e>
                        <m:r>
                          <a:rPr lang="en-IN" sz="2400" b="1" i="1" smtClean="0">
                            <a:solidFill>
                              <a:srgbClr val="002060"/>
                            </a:solidFill>
                            <a:latin typeface="Cambria Math"/>
                            <a:cs typeface="Times New Roman" panose="02020603050405020304" pitchFamily="18" charset="0"/>
                          </a:rPr>
                          <m:t>𝒊</m:t>
                        </m:r>
                      </m:e>
                    </m:nary>
                    <m:r>
                      <a:rPr lang="en-IN" sz="2400" b="1" i="1">
                        <a:solidFill>
                          <a:srgbClr val="002060"/>
                        </a:solidFill>
                        <a:latin typeface="Cambria Math"/>
                        <a:cs typeface="Times New Roman" panose="02020603050405020304" pitchFamily="18" charset="0"/>
                      </a:rPr>
                      <m:t>=</m:t>
                    </m:r>
                    <m:f>
                      <m:fPr>
                        <m:ctrlPr>
                          <a:rPr lang="en-IN" sz="2400" b="1" i="1">
                            <a:solidFill>
                              <a:srgbClr val="002060"/>
                            </a:solidFill>
                            <a:latin typeface="Cambria Math"/>
                            <a:cs typeface="Times New Roman" panose="02020603050405020304" pitchFamily="18" charset="0"/>
                          </a:rPr>
                        </m:ctrlPr>
                      </m:fPr>
                      <m:num>
                        <m:r>
                          <a:rPr lang="en-IN" sz="2400" b="1" i="1">
                            <a:solidFill>
                              <a:srgbClr val="002060"/>
                            </a:solidFill>
                            <a:latin typeface="Cambria Math"/>
                            <a:cs typeface="Times New Roman" panose="02020603050405020304" pitchFamily="18" charset="0"/>
                          </a:rPr>
                          <m:t>𝒏</m:t>
                        </m:r>
                        <m:r>
                          <a:rPr lang="en-IN" sz="2400" b="1" i="1">
                            <a:solidFill>
                              <a:srgbClr val="002060"/>
                            </a:solidFill>
                            <a:latin typeface="Cambria Math"/>
                            <a:cs typeface="Times New Roman" panose="02020603050405020304" pitchFamily="18" charset="0"/>
                          </a:rPr>
                          <m:t>(</m:t>
                        </m:r>
                        <m:r>
                          <a:rPr lang="en-IN" sz="2400" b="1" i="1">
                            <a:solidFill>
                              <a:srgbClr val="002060"/>
                            </a:solidFill>
                            <a:latin typeface="Cambria Math"/>
                            <a:cs typeface="Times New Roman" panose="02020603050405020304" pitchFamily="18" charset="0"/>
                          </a:rPr>
                          <m:t>𝒏</m:t>
                        </m:r>
                        <m:r>
                          <a:rPr lang="en-IN" sz="2400" b="1" i="1">
                            <a:solidFill>
                              <a:srgbClr val="002060"/>
                            </a:solidFill>
                            <a:latin typeface="Cambria Math"/>
                            <a:cs typeface="Times New Roman" panose="02020603050405020304" pitchFamily="18" charset="0"/>
                          </a:rPr>
                          <m:t>−</m:t>
                        </m:r>
                        <m:r>
                          <a:rPr lang="en-IN" sz="2400" b="1" i="1">
                            <a:solidFill>
                              <a:srgbClr val="002060"/>
                            </a:solidFill>
                            <a:latin typeface="Cambria Math"/>
                            <a:cs typeface="Times New Roman" panose="02020603050405020304" pitchFamily="18" charset="0"/>
                          </a:rPr>
                          <m:t>𝟏</m:t>
                        </m:r>
                        <m:r>
                          <a:rPr lang="en-IN" sz="2400" b="1" i="1">
                            <a:solidFill>
                              <a:srgbClr val="002060"/>
                            </a:solidFill>
                            <a:latin typeface="Cambria Math"/>
                            <a:cs typeface="Times New Roman" panose="02020603050405020304" pitchFamily="18" charset="0"/>
                          </a:rPr>
                          <m:t>) </m:t>
                        </m:r>
                      </m:num>
                      <m:den>
                        <m:r>
                          <a:rPr lang="en-IN" sz="2400" b="1" i="1">
                            <a:solidFill>
                              <a:srgbClr val="002060"/>
                            </a:solidFill>
                            <a:latin typeface="Cambria Math"/>
                            <a:cs typeface="Times New Roman" panose="02020603050405020304" pitchFamily="18" charset="0"/>
                          </a:rPr>
                          <m:t>𝟐</m:t>
                        </m:r>
                      </m:den>
                    </m:f>
                  </m:oMath>
                </a14:m>
                <a:endParaRPr lang="en-IN" sz="2400" b="1" dirty="0">
                  <a:solidFill>
                    <a:srgbClr val="002060"/>
                  </a:solidFill>
                  <a:cs typeface="Times New Roman" panose="02020603050405020304" pitchFamily="18" charset="0"/>
                </a:endParaRPr>
              </a:p>
              <a:p>
                <a:endParaRPr lang="en-IN" sz="2400" b="1" dirty="0">
                  <a:solidFill>
                    <a:srgbClr val="002060"/>
                  </a:solidFill>
                  <a:latin typeface="Times New Roman" panose="02020603050405020304" pitchFamily="18" charset="0"/>
                  <a:cs typeface="Times New Roman" panose="02020603050405020304" pitchFamily="18" charset="0"/>
                </a:endParaRPr>
              </a:p>
              <a:p>
                <a:r>
                  <a:rPr lang="pt-BR" sz="2400" b="1" dirty="0">
                    <a:solidFill>
                      <a:srgbClr val="002060"/>
                    </a:solidFill>
                    <a:latin typeface="Times New Roman" panose="02020603050405020304" pitchFamily="18" charset="0"/>
                    <a:cs typeface="Times New Roman" panose="02020603050405020304" pitchFamily="18" charset="0"/>
                  </a:rPr>
                  <a:t>        Time complexity is O(n</a:t>
                </a:r>
                <a:r>
                  <a:rPr lang="pt-BR" sz="2400" b="1" baseline="30000" dirty="0">
                    <a:solidFill>
                      <a:srgbClr val="002060"/>
                    </a:solidFill>
                    <a:latin typeface="Times New Roman" panose="02020603050405020304" pitchFamily="18" charset="0"/>
                    <a:cs typeface="Times New Roman" panose="02020603050405020304" pitchFamily="18" charset="0"/>
                  </a:rPr>
                  <a:t>2</a:t>
                </a:r>
                <a:r>
                  <a:rPr lang="pt-BR" sz="2400" b="1" dirty="0">
                    <a:solidFill>
                      <a:srgbClr val="002060"/>
                    </a:solidFill>
                    <a:latin typeface="Times New Roman" panose="02020603050405020304" pitchFamily="18" charset="0"/>
                    <a:cs typeface="Times New Roman" panose="02020603050405020304" pitchFamily="18" charset="0"/>
                  </a:rPr>
                  <a:t>)</a:t>
                </a:r>
              </a:p>
              <a:p>
                <a:endParaRPr lang="en-IN" dirty="0"/>
              </a:p>
            </p:txBody>
          </p:sp>
        </mc:Choice>
        <mc:Fallback xmlns="">
          <p:sp>
            <p:nvSpPr>
              <p:cNvPr id="9" name="TextBox 8"/>
              <p:cNvSpPr txBox="1">
                <a:spLocks noRot="1" noChangeAspect="1" noMove="1" noResize="1" noEditPoints="1" noAdjustHandles="1" noChangeArrowheads="1" noChangeShapeType="1" noTextEdit="1"/>
              </p:cNvSpPr>
              <p:nvPr/>
            </p:nvSpPr>
            <p:spPr>
              <a:xfrm>
                <a:off x="5478162" y="1416908"/>
                <a:ext cx="5865341" cy="2399631"/>
              </a:xfrm>
              <a:prstGeom prst="rect">
                <a:avLst/>
              </a:prstGeom>
              <a:blipFill rotWithShape="1">
                <a:blip r:embed="rId5"/>
                <a:stretch>
                  <a:fillRect l="-2183" t="-1269" b="-3046"/>
                </a:stretch>
              </a:blipFill>
            </p:spPr>
            <p:txBody>
              <a:bodyPr/>
              <a:lstStyle/>
              <a:p>
                <a:r>
                  <a:rPr lang="en-IN">
                    <a:noFill/>
                  </a:rPr>
                  <a:t> </a:t>
                </a:r>
              </a:p>
            </p:txBody>
          </p:sp>
        </mc:Fallback>
      </mc:AlternateContent>
    </p:spTree>
    <p:extLst>
      <p:ext uri="{BB962C8B-B14F-4D97-AF65-F5344CB8AC3E}">
        <p14:creationId xmlns:p14="http://schemas.microsoft.com/office/powerpoint/2010/main" val="1951359809"/>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Decrease and Conquer               						(Topological sorting)</a:t>
            </a:r>
            <a:endParaRPr lang="en-IN" sz="3200" b="1" dirty="0">
              <a:solidFill>
                <a:srgbClr val="002060"/>
              </a:solidFill>
            </a:endParaRPr>
          </a:p>
        </p:txBody>
      </p:sp>
      <p:sp>
        <p:nvSpPr>
          <p:cNvPr id="3" name="Subtitle 2"/>
          <p:cNvSpPr>
            <a:spLocks noGrp="1"/>
          </p:cNvSpPr>
          <p:nvPr>
            <p:ph type="subTitle" idx="1"/>
          </p:nvPr>
        </p:nvSpPr>
        <p:spPr>
          <a:xfrm>
            <a:off x="177051" y="732885"/>
            <a:ext cx="11797552" cy="5627707"/>
          </a:xfrm>
        </p:spPr>
        <p:txBody>
          <a:bodyPr>
            <a:normAutofit/>
          </a:bodyPr>
          <a:lstStyle/>
          <a:p>
            <a:pPr algn="just"/>
            <a:r>
              <a:rPr lang="en-IN" b="1" dirty="0" smtClean="0">
                <a:solidFill>
                  <a:srgbClr val="C00000"/>
                </a:solidFill>
                <a:latin typeface="Times New Roman" panose="02020603050405020304" pitchFamily="18" charset="0"/>
                <a:cs typeface="Times New Roman" panose="02020603050405020304" pitchFamily="18" charset="0"/>
              </a:rPr>
              <a:t>Topological sorting</a:t>
            </a:r>
          </a:p>
          <a:p>
            <a:pPr marL="342900" indent="-342900" algn="just">
              <a:buFont typeface="Arial" panose="020B0604020202020204" pitchFamily="34" charset="0"/>
              <a:buChar char="•"/>
            </a:pPr>
            <a:r>
              <a:rPr lang="en-US" b="1" dirty="0" smtClean="0">
                <a:solidFill>
                  <a:srgbClr val="0070C0"/>
                </a:solidFill>
                <a:latin typeface="Times New Roman" panose="02020603050405020304" pitchFamily="18" charset="0"/>
                <a:cs typeface="Times New Roman" panose="02020603050405020304" pitchFamily="18" charset="0"/>
              </a:rPr>
              <a:t>Directed </a:t>
            </a:r>
            <a:r>
              <a:rPr lang="en-US" b="1" dirty="0">
                <a:solidFill>
                  <a:srgbClr val="0070C0"/>
                </a:solidFill>
                <a:latin typeface="Times New Roman" panose="02020603050405020304" pitchFamily="18" charset="0"/>
                <a:cs typeface="Times New Roman" panose="02020603050405020304" pitchFamily="18" charset="0"/>
              </a:rPr>
              <a:t>A</a:t>
            </a:r>
            <a:r>
              <a:rPr lang="en-US" b="1" dirty="0" smtClean="0">
                <a:solidFill>
                  <a:srgbClr val="0070C0"/>
                </a:solidFill>
                <a:latin typeface="Times New Roman" panose="02020603050405020304" pitchFamily="18" charset="0"/>
                <a:cs typeface="Times New Roman" panose="02020603050405020304" pitchFamily="18" charset="0"/>
              </a:rPr>
              <a:t>cyclic Graph </a:t>
            </a:r>
            <a:r>
              <a:rPr lang="en-US" b="1" dirty="0">
                <a:solidFill>
                  <a:srgbClr val="0070C0"/>
                </a:solidFill>
                <a:latin typeface="Times New Roman" panose="02020603050405020304" pitchFamily="18" charset="0"/>
                <a:cs typeface="Times New Roman" panose="02020603050405020304" pitchFamily="18" charset="0"/>
              </a:rPr>
              <a:t>(</a:t>
            </a:r>
            <a:r>
              <a:rPr lang="en-US" b="1" dirty="0" smtClean="0">
                <a:solidFill>
                  <a:srgbClr val="0070C0"/>
                </a:solidFill>
                <a:latin typeface="Times New Roman" panose="02020603050405020304" pitchFamily="18" charset="0"/>
                <a:cs typeface="Times New Roman" panose="02020603050405020304" pitchFamily="18" charset="0"/>
              </a:rPr>
              <a:t>DAG) </a:t>
            </a:r>
            <a:r>
              <a:rPr lang="en-US" b="1" dirty="0">
                <a:solidFill>
                  <a:srgbClr val="002060"/>
                </a:solidFill>
                <a:latin typeface="Times New Roman" panose="02020603050405020304" pitchFamily="18" charset="0"/>
                <a:cs typeface="Times New Roman" panose="02020603050405020304" pitchFamily="18" charset="0"/>
              </a:rPr>
              <a:t>is a directed graph with </a:t>
            </a:r>
            <a:r>
              <a:rPr lang="en-US" b="1" dirty="0">
                <a:solidFill>
                  <a:srgbClr val="FF0000"/>
                </a:solidFill>
                <a:latin typeface="Times New Roman" panose="02020603050405020304" pitchFamily="18" charset="0"/>
                <a:cs typeface="Times New Roman" panose="02020603050405020304" pitchFamily="18" charset="0"/>
              </a:rPr>
              <a:t>no directed cycles. </a:t>
            </a:r>
            <a:r>
              <a:rPr lang="en-US" b="1" dirty="0">
                <a:solidFill>
                  <a:srgbClr val="002060"/>
                </a:solidFill>
                <a:latin typeface="Times New Roman" panose="02020603050405020304" pitchFamily="18" charset="0"/>
                <a:cs typeface="Times New Roman" panose="02020603050405020304" pitchFamily="18" charset="0"/>
              </a:rPr>
              <a:t>That is, it consists of vertices and edges </a:t>
            </a:r>
            <a:r>
              <a:rPr lang="en-US" b="1" dirty="0" smtClean="0">
                <a:solidFill>
                  <a:srgbClr val="002060"/>
                </a:solidFill>
                <a:latin typeface="Times New Roman" panose="02020603050405020304" pitchFamily="18" charset="0"/>
                <a:cs typeface="Times New Roman" panose="02020603050405020304" pitchFamily="18" charset="0"/>
              </a:rPr>
              <a:t>with </a:t>
            </a:r>
            <a:r>
              <a:rPr lang="en-US" b="1" dirty="0">
                <a:solidFill>
                  <a:srgbClr val="002060"/>
                </a:solidFill>
                <a:latin typeface="Times New Roman" panose="02020603050405020304" pitchFamily="18" charset="0"/>
                <a:cs typeface="Times New Roman" panose="02020603050405020304" pitchFamily="18" charset="0"/>
              </a:rPr>
              <a:t>each edge directed from one vertex to another, such that following those directions will never form a closed loop. </a:t>
            </a:r>
            <a:endParaRPr lang="en-US" b="1" dirty="0" smtClean="0">
              <a:solidFill>
                <a:srgbClr val="002060"/>
              </a:solidFill>
              <a:latin typeface="Times New Roman" panose="02020603050405020304" pitchFamily="18" charset="0"/>
              <a:cs typeface="Times New Roman" panose="02020603050405020304" pitchFamily="18" charset="0"/>
            </a:endParaRPr>
          </a:p>
          <a:p>
            <a:r>
              <a:rPr lang="en-US" sz="2800" b="1" dirty="0" smtClean="0">
                <a:solidFill>
                  <a:srgbClr val="FF0000"/>
                </a:solidFill>
                <a:latin typeface="Times New Roman" panose="02020603050405020304" pitchFamily="18" charset="0"/>
                <a:cs typeface="Times New Roman" panose="02020603050405020304" pitchFamily="18" charset="0"/>
              </a:rPr>
              <a:t>Topological sorting is performed only on </a:t>
            </a:r>
            <a:r>
              <a:rPr lang="en-US" sz="2800" b="1" dirty="0">
                <a:solidFill>
                  <a:srgbClr val="FF0000"/>
                </a:solidFill>
                <a:latin typeface="Times New Roman" panose="02020603050405020304" pitchFamily="18" charset="0"/>
                <a:cs typeface="Times New Roman" panose="02020603050405020304" pitchFamily="18" charset="0"/>
              </a:rPr>
              <a:t>Directed </a:t>
            </a:r>
            <a:r>
              <a:rPr lang="en-US" sz="2800" b="1" dirty="0" smtClean="0">
                <a:solidFill>
                  <a:srgbClr val="FF0000"/>
                </a:solidFill>
                <a:latin typeface="Times New Roman" panose="02020603050405020304" pitchFamily="18" charset="0"/>
                <a:cs typeface="Times New Roman" panose="02020603050405020304" pitchFamily="18" charset="0"/>
              </a:rPr>
              <a:t>Acyclic Graph </a:t>
            </a:r>
            <a:r>
              <a:rPr lang="en-US" sz="2800" b="1" dirty="0">
                <a:solidFill>
                  <a:srgbClr val="FF0000"/>
                </a:solidFill>
                <a:latin typeface="Times New Roman" panose="02020603050405020304" pitchFamily="18" charset="0"/>
                <a:cs typeface="Times New Roman" panose="02020603050405020304" pitchFamily="18" charset="0"/>
              </a:rPr>
              <a:t>(DAG)</a:t>
            </a:r>
            <a:endParaRPr lang="en-IN" sz="2800" b="1" dirty="0">
              <a:solidFill>
                <a:srgbClr val="FF0000"/>
              </a:solidFill>
              <a:latin typeface="Times New Roman" panose="02020603050405020304" pitchFamily="18" charset="0"/>
              <a:cs typeface="Times New Roman" panose="02020603050405020304" pitchFamily="18" charset="0"/>
            </a:endParaRPr>
          </a:p>
          <a:p>
            <a:pPr algn="just"/>
            <a:r>
              <a:rPr lang="en-IN" b="1" dirty="0" smtClean="0">
                <a:solidFill>
                  <a:srgbClr val="0070C0"/>
                </a:solidFill>
                <a:latin typeface="Times New Roman" panose="02020603050405020304" pitchFamily="18" charset="0"/>
                <a:cs typeface="Times New Roman" panose="02020603050405020304" pitchFamily="18" charset="0"/>
              </a:rPr>
              <a:t>Definition of </a:t>
            </a:r>
            <a:r>
              <a:rPr lang="en-US" b="1" dirty="0" smtClean="0">
                <a:solidFill>
                  <a:srgbClr val="0070C0"/>
                </a:solidFill>
                <a:latin typeface="Times New Roman" panose="02020603050405020304" pitchFamily="18" charset="0"/>
                <a:cs typeface="Times New Roman" panose="02020603050405020304" pitchFamily="18" charset="0"/>
              </a:rPr>
              <a:t>Topological </a:t>
            </a:r>
            <a:r>
              <a:rPr lang="en-US" b="1" dirty="0">
                <a:solidFill>
                  <a:srgbClr val="0070C0"/>
                </a:solidFill>
                <a:latin typeface="Times New Roman" panose="02020603050405020304" pitchFamily="18" charset="0"/>
                <a:cs typeface="Times New Roman" panose="02020603050405020304" pitchFamily="18" charset="0"/>
              </a:rPr>
              <a:t>sorting </a:t>
            </a:r>
            <a:endParaRPr lang="en-US" b="1" dirty="0" smtClean="0">
              <a:solidFill>
                <a:srgbClr val="0070C0"/>
              </a:solidFill>
              <a:latin typeface="Times New Roman" panose="02020603050405020304" pitchFamily="18" charset="0"/>
              <a:cs typeface="Times New Roman" panose="02020603050405020304" pitchFamily="18" charset="0"/>
            </a:endParaRPr>
          </a:p>
          <a:p>
            <a:pPr algn="just"/>
            <a:r>
              <a:rPr lang="en-US" b="1" dirty="0">
                <a:solidFill>
                  <a:srgbClr val="002060"/>
                </a:solidFill>
                <a:latin typeface="Times New Roman" panose="02020603050405020304" pitchFamily="18" charset="0"/>
                <a:cs typeface="Times New Roman" panose="02020603050405020304" pitchFamily="18" charset="0"/>
              </a:rPr>
              <a:t>Given with a DAG listing the </a:t>
            </a:r>
            <a:r>
              <a:rPr lang="en-US" b="1" dirty="0" smtClean="0">
                <a:solidFill>
                  <a:srgbClr val="002060"/>
                </a:solidFill>
                <a:latin typeface="Times New Roman" panose="02020603050405020304" pitchFamily="18" charset="0"/>
                <a:cs typeface="Times New Roman" panose="02020603050405020304" pitchFamily="18" charset="0"/>
              </a:rPr>
              <a:t>vertices </a:t>
            </a:r>
            <a:r>
              <a:rPr lang="en-US" b="1" dirty="0">
                <a:solidFill>
                  <a:srgbClr val="002060"/>
                </a:solidFill>
                <a:latin typeface="Times New Roman" panose="02020603050405020304" pitchFamily="18" charset="0"/>
                <a:cs typeface="Times New Roman" panose="02020603050405020304" pitchFamily="18" charset="0"/>
              </a:rPr>
              <a:t>in such an order that for every edge in the graph, the vertex where the edge starts is listed before the vertex where the edge ends</a:t>
            </a:r>
            <a:r>
              <a:rPr lang="en-US" b="1" dirty="0" smtClean="0">
                <a:solidFill>
                  <a:srgbClr val="002060"/>
                </a:solidFill>
                <a:latin typeface="Times New Roman" panose="02020603050405020304" pitchFamily="18" charset="0"/>
                <a:cs typeface="Times New Roman" panose="02020603050405020304" pitchFamily="18" charset="0"/>
              </a:rPr>
              <a:t>.</a:t>
            </a:r>
          </a:p>
          <a:p>
            <a:pPr algn="just"/>
            <a:r>
              <a:rPr lang="en-US" b="1" dirty="0" smtClean="0">
                <a:solidFill>
                  <a:srgbClr val="002060"/>
                </a:solidFill>
                <a:latin typeface="Times New Roman" panose="02020603050405020304" pitchFamily="18" charset="0"/>
                <a:cs typeface="Times New Roman" panose="02020603050405020304" pitchFamily="18" charset="0"/>
              </a:rPr>
              <a:t>OR</a:t>
            </a:r>
          </a:p>
          <a:p>
            <a:pPr algn="just"/>
            <a:r>
              <a:rPr lang="en-US" b="1" dirty="0">
                <a:solidFill>
                  <a:srgbClr val="C00000"/>
                </a:solidFill>
                <a:latin typeface="Times New Roman" panose="02020603050405020304" pitchFamily="18" charset="0"/>
                <a:cs typeface="Times New Roman" panose="02020603050405020304" pitchFamily="18" charset="0"/>
              </a:rPr>
              <a:t>Topological sorting for Directed Acyclic Graph (DAG) is a linear ordering of vertices such that for every directed </a:t>
            </a:r>
            <a:r>
              <a:rPr lang="en-US" b="1" dirty="0">
                <a:solidFill>
                  <a:srgbClr val="00B0F0"/>
                </a:solidFill>
                <a:latin typeface="Times New Roman" panose="02020603050405020304" pitchFamily="18" charset="0"/>
                <a:cs typeface="Times New Roman" panose="02020603050405020304" pitchFamily="18" charset="0"/>
              </a:rPr>
              <a:t>edge u v, vertex u</a:t>
            </a:r>
            <a:r>
              <a:rPr lang="en-US" b="1" dirty="0">
                <a:solidFill>
                  <a:srgbClr val="C00000"/>
                </a:solidFill>
                <a:latin typeface="Times New Roman" panose="02020603050405020304" pitchFamily="18" charset="0"/>
                <a:cs typeface="Times New Roman" panose="02020603050405020304" pitchFamily="18" charset="0"/>
              </a:rPr>
              <a:t> comes </a:t>
            </a:r>
            <a:r>
              <a:rPr lang="en-US" b="1" dirty="0">
                <a:solidFill>
                  <a:srgbClr val="00B0F0"/>
                </a:solidFill>
                <a:latin typeface="Times New Roman" panose="02020603050405020304" pitchFamily="18" charset="0"/>
                <a:cs typeface="Times New Roman" panose="02020603050405020304" pitchFamily="18" charset="0"/>
              </a:rPr>
              <a:t>before v</a:t>
            </a:r>
            <a:r>
              <a:rPr lang="en-US" b="1" dirty="0">
                <a:solidFill>
                  <a:srgbClr val="C00000"/>
                </a:solidFill>
                <a:latin typeface="Times New Roman" panose="02020603050405020304" pitchFamily="18" charset="0"/>
                <a:cs typeface="Times New Roman" panose="02020603050405020304" pitchFamily="18" charset="0"/>
              </a:rPr>
              <a:t> in the ordering. </a:t>
            </a:r>
            <a:endParaRPr lang="en-US" b="1" dirty="0" smtClean="0">
              <a:solidFill>
                <a:srgbClr val="C00000"/>
              </a:solidFill>
              <a:latin typeface="Times New Roman" panose="02020603050405020304" pitchFamily="18" charset="0"/>
              <a:cs typeface="Times New Roman" panose="02020603050405020304" pitchFamily="18" charset="0"/>
            </a:endParaRPr>
          </a:p>
          <a:p>
            <a:pPr algn="just"/>
            <a:r>
              <a:rPr lang="en-US" dirty="0"/>
              <a:t> </a:t>
            </a:r>
            <a:r>
              <a:rPr lang="en-US" b="1" dirty="0">
                <a:solidFill>
                  <a:srgbClr val="FF0000"/>
                </a:solidFill>
                <a:latin typeface="Times New Roman" panose="02020603050405020304" pitchFamily="18" charset="0"/>
                <a:cs typeface="Times New Roman" panose="02020603050405020304" pitchFamily="18" charset="0"/>
              </a:rPr>
              <a:t>There can be more than one topological sorting for a graph. </a:t>
            </a: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130</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4B627FD5-5313-4F43-8C1A-38096DB7D5E7}" type="datetime1">
              <a:rPr lang="en-IN" smtClean="0"/>
              <a:t>21-03-2026</a:t>
            </a:fld>
            <a:endParaRPr lang="en-IN"/>
          </a:p>
        </p:txBody>
      </p:sp>
    </p:spTree>
    <p:extLst>
      <p:ext uri="{BB962C8B-B14F-4D97-AF65-F5344CB8AC3E}">
        <p14:creationId xmlns:p14="http://schemas.microsoft.com/office/powerpoint/2010/main" val="1001830623"/>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Decrease and Conquer               						(Topological sorting)</a:t>
            </a:r>
            <a:endParaRPr lang="en-IN" sz="3200" b="1" dirty="0">
              <a:solidFill>
                <a:srgbClr val="002060"/>
              </a:solidFill>
            </a:endParaRPr>
          </a:p>
        </p:txBody>
      </p:sp>
      <p:sp>
        <p:nvSpPr>
          <p:cNvPr id="3" name="Subtitle 2"/>
          <p:cNvSpPr>
            <a:spLocks noGrp="1"/>
          </p:cNvSpPr>
          <p:nvPr>
            <p:ph type="subTitle" idx="1"/>
          </p:nvPr>
        </p:nvSpPr>
        <p:spPr>
          <a:xfrm>
            <a:off x="177051" y="732885"/>
            <a:ext cx="11797552" cy="5627707"/>
          </a:xfrm>
        </p:spPr>
        <p:txBody>
          <a:bodyPr>
            <a:normAutofit lnSpcReduction="10000"/>
          </a:bodyPr>
          <a:lstStyle/>
          <a:p>
            <a:pPr algn="just"/>
            <a:r>
              <a:rPr lang="en-US" b="1" dirty="0" smtClean="0">
                <a:solidFill>
                  <a:srgbClr val="FF0000"/>
                </a:solidFill>
                <a:latin typeface="Times New Roman" panose="02020603050405020304" pitchFamily="18" charset="0"/>
                <a:cs typeface="Times New Roman" panose="02020603050405020304" pitchFamily="18" charset="0"/>
              </a:rPr>
              <a:t>Topological sorting of DAG is performed with two methods</a:t>
            </a:r>
          </a:p>
          <a:p>
            <a:pPr marL="457200" indent="-457200" algn="just">
              <a:buFont typeface="+mj-lt"/>
              <a:buAutoNum type="arabicPeriod"/>
            </a:pPr>
            <a:r>
              <a:rPr lang="en-US" b="1" dirty="0" smtClean="0">
                <a:solidFill>
                  <a:srgbClr val="002060"/>
                </a:solidFill>
                <a:latin typeface="Times New Roman" panose="02020603050405020304" pitchFamily="18" charset="0"/>
                <a:cs typeface="Times New Roman" panose="02020603050405020304" pitchFamily="18" charset="0"/>
              </a:rPr>
              <a:t>Depth-First </a:t>
            </a:r>
            <a:r>
              <a:rPr lang="en-US" b="1" dirty="0">
                <a:solidFill>
                  <a:srgbClr val="002060"/>
                </a:solidFill>
                <a:latin typeface="Times New Roman" panose="02020603050405020304" pitchFamily="18" charset="0"/>
                <a:cs typeface="Times New Roman" panose="02020603050405020304" pitchFamily="18" charset="0"/>
              </a:rPr>
              <a:t>S</a:t>
            </a:r>
            <a:r>
              <a:rPr lang="en-US" b="1" dirty="0" smtClean="0">
                <a:solidFill>
                  <a:srgbClr val="002060"/>
                </a:solidFill>
                <a:latin typeface="Times New Roman" panose="02020603050405020304" pitchFamily="18" charset="0"/>
                <a:cs typeface="Times New Roman" panose="02020603050405020304" pitchFamily="18" charset="0"/>
              </a:rPr>
              <a:t>earch (DFS) traversal</a:t>
            </a:r>
          </a:p>
          <a:p>
            <a:pPr marL="457200" indent="-457200" algn="just">
              <a:buFont typeface="+mj-lt"/>
              <a:buAutoNum type="arabicPeriod"/>
            </a:pPr>
            <a:r>
              <a:rPr lang="en-US" b="1" dirty="0" smtClean="0">
                <a:solidFill>
                  <a:srgbClr val="002060"/>
                </a:solidFill>
                <a:latin typeface="Times New Roman" panose="02020603050405020304" pitchFamily="18" charset="0"/>
                <a:cs typeface="Times New Roman" panose="02020603050405020304" pitchFamily="18" charset="0"/>
              </a:rPr>
              <a:t>Source removal method</a:t>
            </a:r>
          </a:p>
          <a:p>
            <a:pPr algn="just"/>
            <a:r>
              <a:rPr lang="en-US" sz="2800" b="1" dirty="0">
                <a:solidFill>
                  <a:srgbClr val="0070C0"/>
                </a:solidFill>
                <a:latin typeface="Times New Roman" panose="02020603050405020304" pitchFamily="18" charset="0"/>
                <a:cs typeface="Times New Roman" panose="02020603050405020304" pitchFamily="18" charset="0"/>
              </a:rPr>
              <a:t>Topological sorting with </a:t>
            </a:r>
            <a:r>
              <a:rPr lang="en-US" sz="2800" b="1" dirty="0" smtClean="0">
                <a:solidFill>
                  <a:srgbClr val="0070C0"/>
                </a:solidFill>
                <a:latin typeface="Times New Roman" panose="02020603050405020304" pitchFamily="18" charset="0"/>
                <a:cs typeface="Times New Roman" panose="02020603050405020304" pitchFamily="18" charset="0"/>
              </a:rPr>
              <a:t>Depth-First </a:t>
            </a:r>
            <a:r>
              <a:rPr lang="en-US" sz="2800" b="1" dirty="0">
                <a:solidFill>
                  <a:srgbClr val="0070C0"/>
                </a:solidFill>
                <a:latin typeface="Times New Roman" panose="02020603050405020304" pitchFamily="18" charset="0"/>
                <a:cs typeface="Times New Roman" panose="02020603050405020304" pitchFamily="18" charset="0"/>
              </a:rPr>
              <a:t>Search (DFS) </a:t>
            </a:r>
            <a:r>
              <a:rPr lang="en-US" sz="2800" b="1" dirty="0" smtClean="0">
                <a:solidFill>
                  <a:srgbClr val="0070C0"/>
                </a:solidFill>
                <a:latin typeface="Times New Roman" panose="02020603050405020304" pitchFamily="18" charset="0"/>
                <a:cs typeface="Times New Roman" panose="02020603050405020304" pitchFamily="18" charset="0"/>
              </a:rPr>
              <a:t>traversal</a:t>
            </a:r>
          </a:p>
          <a:p>
            <a:pPr algn="just"/>
            <a:r>
              <a:rPr lang="en-US" b="1" dirty="0" smtClean="0">
                <a:solidFill>
                  <a:srgbClr val="C00000"/>
                </a:solidFill>
                <a:latin typeface="Times New Roman" panose="02020603050405020304" pitchFamily="18" charset="0"/>
                <a:cs typeface="Times New Roman" panose="02020603050405020304" pitchFamily="18" charset="0"/>
              </a:rPr>
              <a:t>Steps to perform </a:t>
            </a:r>
            <a:r>
              <a:rPr lang="en-US" b="1" dirty="0">
                <a:solidFill>
                  <a:srgbClr val="C00000"/>
                </a:solidFill>
                <a:latin typeface="Times New Roman" panose="02020603050405020304" pitchFamily="18" charset="0"/>
                <a:cs typeface="Times New Roman" panose="02020603050405020304" pitchFamily="18" charset="0"/>
              </a:rPr>
              <a:t>Topological sorting with Depth-First Search </a:t>
            </a:r>
            <a:endParaRPr lang="en-US" b="1" dirty="0" smtClean="0">
              <a:solidFill>
                <a:srgbClr val="C00000"/>
              </a:solidFill>
              <a:latin typeface="Times New Roman" panose="02020603050405020304" pitchFamily="18" charset="0"/>
              <a:cs typeface="Times New Roman" panose="02020603050405020304" pitchFamily="18" charset="0"/>
            </a:endParaRPr>
          </a:p>
          <a:p>
            <a:pPr lvl="1" algn="just">
              <a:lnSpc>
                <a:spcPct val="150000"/>
              </a:lnSpc>
            </a:pPr>
            <a:r>
              <a:rPr lang="en-US" sz="2400" b="1" dirty="0" smtClean="0">
                <a:solidFill>
                  <a:srgbClr val="002060"/>
                </a:solidFill>
                <a:latin typeface="Times New Roman" panose="02020603050405020304" pitchFamily="18" charset="0"/>
                <a:cs typeface="Times New Roman" panose="02020603050405020304" pitchFamily="18" charset="0"/>
              </a:rPr>
              <a:t>Step 1: select any arbitrary vertex in a given graph</a:t>
            </a:r>
          </a:p>
          <a:p>
            <a:pPr lvl="1" algn="just">
              <a:lnSpc>
                <a:spcPct val="150000"/>
              </a:lnSpc>
            </a:pPr>
            <a:r>
              <a:rPr lang="en-US" sz="2400" b="1" dirty="0" smtClean="0">
                <a:solidFill>
                  <a:srgbClr val="002060"/>
                </a:solidFill>
                <a:latin typeface="Times New Roman" panose="02020603050405020304" pitchFamily="18" charset="0"/>
                <a:cs typeface="Times New Roman" panose="02020603050405020304" pitchFamily="18" charset="0"/>
              </a:rPr>
              <a:t>Step 2: When a vertex is visited first time, it is</a:t>
            </a:r>
            <a:r>
              <a:rPr lang="en-US" sz="2400" b="1" dirty="0" smtClean="0">
                <a:solidFill>
                  <a:srgbClr val="FF0000"/>
                </a:solidFill>
                <a:latin typeface="Times New Roman" panose="02020603050405020304" pitchFamily="18" charset="0"/>
                <a:cs typeface="Times New Roman" panose="02020603050405020304" pitchFamily="18" charset="0"/>
              </a:rPr>
              <a:t> pushed on to the stack </a:t>
            </a:r>
          </a:p>
          <a:p>
            <a:pPr lvl="1" algn="just">
              <a:lnSpc>
                <a:spcPct val="150000"/>
              </a:lnSpc>
            </a:pPr>
            <a:r>
              <a:rPr lang="en-US" sz="2400" b="1" dirty="0" smtClean="0">
                <a:solidFill>
                  <a:srgbClr val="002060"/>
                </a:solidFill>
                <a:latin typeface="Times New Roman" panose="02020603050405020304" pitchFamily="18" charset="0"/>
                <a:cs typeface="Times New Roman" panose="02020603050405020304" pitchFamily="18" charset="0"/>
              </a:rPr>
              <a:t>Step 3: When vertex becomes </a:t>
            </a:r>
            <a:r>
              <a:rPr lang="en-US" sz="2400" b="1" dirty="0" smtClean="0">
                <a:solidFill>
                  <a:srgbClr val="FF0000"/>
                </a:solidFill>
                <a:latin typeface="Times New Roman" panose="02020603050405020304" pitchFamily="18" charset="0"/>
                <a:cs typeface="Times New Roman" panose="02020603050405020304" pitchFamily="18" charset="0"/>
              </a:rPr>
              <a:t>dead end </a:t>
            </a:r>
            <a:r>
              <a:rPr lang="en-US" sz="2400" b="1" dirty="0" smtClean="0">
                <a:solidFill>
                  <a:srgbClr val="002060"/>
                </a:solidFill>
                <a:latin typeface="Times New Roman" panose="02020603050405020304" pitchFamily="18" charset="0"/>
                <a:cs typeface="Times New Roman" panose="02020603050405020304" pitchFamily="18" charset="0"/>
              </a:rPr>
              <a:t>(not possible to proceed further from that vertex) </a:t>
            </a:r>
            <a:r>
              <a:rPr lang="en-US" sz="2400" b="1" dirty="0" smtClean="0">
                <a:solidFill>
                  <a:srgbClr val="FF0000"/>
                </a:solidFill>
                <a:latin typeface="Times New Roman" panose="02020603050405020304" pitchFamily="18" charset="0"/>
                <a:cs typeface="Times New Roman" panose="02020603050405020304" pitchFamily="18" charset="0"/>
              </a:rPr>
              <a:t>it is removed from the stack </a:t>
            </a:r>
            <a:endParaRPr lang="en-US" sz="2400" b="1" dirty="0">
              <a:solidFill>
                <a:srgbClr val="FF0000"/>
              </a:solidFill>
              <a:latin typeface="Times New Roman" panose="02020603050405020304" pitchFamily="18" charset="0"/>
              <a:cs typeface="Times New Roman" panose="02020603050405020304" pitchFamily="18" charset="0"/>
            </a:endParaRPr>
          </a:p>
          <a:p>
            <a:pPr lvl="1" algn="just">
              <a:lnSpc>
                <a:spcPct val="150000"/>
              </a:lnSpc>
            </a:pPr>
            <a:r>
              <a:rPr lang="en-US" sz="2400" b="1" dirty="0" smtClean="0">
                <a:solidFill>
                  <a:srgbClr val="002060"/>
                </a:solidFill>
                <a:latin typeface="Times New Roman" panose="02020603050405020304" pitchFamily="18" charset="0"/>
                <a:cs typeface="Times New Roman" panose="02020603050405020304" pitchFamily="18" charset="0"/>
              </a:rPr>
              <a:t>Step 4: Repeat the step 2 and 3 for all the vertices in the graph </a:t>
            </a:r>
          </a:p>
          <a:p>
            <a:pPr lvl="1" algn="just">
              <a:lnSpc>
                <a:spcPct val="150000"/>
              </a:lnSpc>
            </a:pPr>
            <a:r>
              <a:rPr lang="en-US" sz="2400" b="1" dirty="0" smtClean="0">
                <a:solidFill>
                  <a:srgbClr val="002060"/>
                </a:solidFill>
                <a:latin typeface="Times New Roman" panose="02020603050405020304" pitchFamily="18" charset="0"/>
                <a:cs typeface="Times New Roman" panose="02020603050405020304" pitchFamily="18" charset="0"/>
              </a:rPr>
              <a:t>Step 5: </a:t>
            </a:r>
            <a:r>
              <a:rPr lang="en-US" sz="2400" b="1" dirty="0" smtClean="0">
                <a:solidFill>
                  <a:srgbClr val="FF0000"/>
                </a:solidFill>
                <a:latin typeface="Times New Roman" panose="02020603050405020304" pitchFamily="18" charset="0"/>
                <a:cs typeface="Times New Roman" panose="02020603050405020304" pitchFamily="18" charset="0"/>
              </a:rPr>
              <a:t>Reverse the </a:t>
            </a:r>
            <a:r>
              <a:rPr lang="en-US" sz="2400" b="1" dirty="0" smtClean="0">
                <a:solidFill>
                  <a:srgbClr val="002060"/>
                </a:solidFill>
                <a:latin typeface="Times New Roman" panose="02020603050405020304" pitchFamily="18" charset="0"/>
                <a:cs typeface="Times New Roman" panose="02020603050405020304" pitchFamily="18" charset="0"/>
              </a:rPr>
              <a:t>order of </a:t>
            </a:r>
            <a:r>
              <a:rPr lang="en-US" sz="2400" b="1" dirty="0" smtClean="0">
                <a:solidFill>
                  <a:srgbClr val="FF0000"/>
                </a:solidFill>
                <a:latin typeface="Times New Roman" panose="02020603050405020304" pitchFamily="18" charset="0"/>
                <a:cs typeface="Times New Roman" panose="02020603050405020304" pitchFamily="18" charset="0"/>
              </a:rPr>
              <a:t>deleted items </a:t>
            </a:r>
            <a:r>
              <a:rPr lang="en-US" sz="2400" b="1" dirty="0" smtClean="0">
                <a:solidFill>
                  <a:srgbClr val="002060"/>
                </a:solidFill>
                <a:latin typeface="Times New Roman" panose="02020603050405020304" pitchFamily="18" charset="0"/>
                <a:cs typeface="Times New Roman" panose="02020603050405020304" pitchFamily="18" charset="0"/>
              </a:rPr>
              <a:t>to get the topological sequence</a:t>
            </a:r>
            <a:endParaRPr lang="en-US" sz="24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131</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6865C160-1990-4FBC-A3BF-2E823A6CAC67}" type="datetime1">
              <a:rPr lang="en-IN" smtClean="0"/>
              <a:t>21-03-2026</a:t>
            </a:fld>
            <a:endParaRPr lang="en-IN"/>
          </a:p>
        </p:txBody>
      </p:sp>
    </p:spTree>
    <p:extLst>
      <p:ext uri="{BB962C8B-B14F-4D97-AF65-F5344CB8AC3E}">
        <p14:creationId xmlns:p14="http://schemas.microsoft.com/office/powerpoint/2010/main" val="2164490646"/>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8" y="172943"/>
            <a:ext cx="9144000" cy="402648"/>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DIVIDE AND CONQUER- </a:t>
            </a:r>
            <a:r>
              <a:rPr lang="en-IN" sz="2000" b="1" dirty="0" smtClean="0">
                <a:solidFill>
                  <a:srgbClr val="002060"/>
                </a:solidFill>
                <a:latin typeface="Times New Roman" panose="02020603050405020304" pitchFamily="18" charset="0"/>
                <a:cs typeface="Times New Roman" panose="02020603050405020304" pitchFamily="18" charset="0"/>
              </a:rPr>
              <a:t>Decrease and Conquer               						(Topological sorting)</a:t>
            </a:r>
            <a:endParaRPr lang="en-IN" sz="3200" b="1" dirty="0">
              <a:solidFill>
                <a:srgbClr val="002060"/>
              </a:solidFill>
            </a:endParaRPr>
          </a:p>
        </p:txBody>
      </p:sp>
      <p:sp>
        <p:nvSpPr>
          <p:cNvPr id="3" name="Subtitle 2"/>
          <p:cNvSpPr>
            <a:spLocks noGrp="1"/>
          </p:cNvSpPr>
          <p:nvPr>
            <p:ph type="subTitle" idx="1"/>
          </p:nvPr>
        </p:nvSpPr>
        <p:spPr>
          <a:xfrm>
            <a:off x="107576" y="732885"/>
            <a:ext cx="12084424" cy="5627707"/>
          </a:xfrm>
        </p:spPr>
        <p:txBody>
          <a:bodyPr>
            <a:normAutofit/>
          </a:bodyPr>
          <a:lstStyle/>
          <a:p>
            <a:pPr algn="just"/>
            <a:r>
              <a:rPr lang="en-US" sz="2000" b="1" dirty="0" smtClean="0">
                <a:solidFill>
                  <a:srgbClr val="0070C0"/>
                </a:solidFill>
                <a:latin typeface="Times New Roman" panose="02020603050405020304" pitchFamily="18" charset="0"/>
                <a:cs typeface="Times New Roman" panose="02020603050405020304" pitchFamily="18" charset="0"/>
              </a:rPr>
              <a:t>Problem1: A</a:t>
            </a:r>
            <a:r>
              <a:rPr lang="en-US" sz="2000" b="1" dirty="0" smtClean="0">
                <a:solidFill>
                  <a:srgbClr val="002060"/>
                </a:solidFill>
                <a:latin typeface="Times New Roman" panose="02020603050405020304" pitchFamily="18" charset="0"/>
                <a:cs typeface="Times New Roman" panose="02020603050405020304" pitchFamily="18" charset="0"/>
              </a:rPr>
              <a:t>pply </a:t>
            </a:r>
            <a:r>
              <a:rPr lang="en-US" sz="2000" b="1" dirty="0">
                <a:solidFill>
                  <a:srgbClr val="002060"/>
                </a:solidFill>
                <a:latin typeface="Times New Roman" panose="02020603050405020304" pitchFamily="18" charset="0"/>
                <a:cs typeface="Times New Roman" panose="02020603050405020304" pitchFamily="18" charset="0"/>
              </a:rPr>
              <a:t>Depth-First Search </a:t>
            </a:r>
            <a:r>
              <a:rPr lang="en-US" sz="2000" b="1" dirty="0" smtClean="0">
                <a:solidFill>
                  <a:srgbClr val="002060"/>
                </a:solidFill>
                <a:latin typeface="Times New Roman" panose="02020603050405020304" pitchFamily="18" charset="0"/>
                <a:cs typeface="Times New Roman" panose="02020603050405020304" pitchFamily="18" charset="0"/>
              </a:rPr>
              <a:t>based algorithm to solve Topological </a:t>
            </a:r>
            <a:r>
              <a:rPr lang="en-US" sz="2000" b="1" dirty="0">
                <a:solidFill>
                  <a:srgbClr val="002060"/>
                </a:solidFill>
                <a:latin typeface="Times New Roman" panose="02020603050405020304" pitchFamily="18" charset="0"/>
                <a:cs typeface="Times New Roman" panose="02020603050405020304" pitchFamily="18" charset="0"/>
              </a:rPr>
              <a:t>sorting </a:t>
            </a:r>
            <a:r>
              <a:rPr lang="en-US" sz="2000" b="1" dirty="0" smtClean="0">
                <a:solidFill>
                  <a:srgbClr val="002060"/>
                </a:solidFill>
                <a:latin typeface="Times New Roman" panose="02020603050405020304" pitchFamily="18" charset="0"/>
                <a:cs typeface="Times New Roman" panose="02020603050405020304" pitchFamily="18" charset="0"/>
              </a:rPr>
              <a:t>problem for the following graph.</a:t>
            </a:r>
          </a:p>
          <a:p>
            <a:pPr algn="just"/>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Solution: Let us consider start with a vertex </a:t>
            </a:r>
            <a:r>
              <a:rPr lang="en-US" sz="2000" b="1" dirty="0" smtClean="0">
                <a:solidFill>
                  <a:srgbClr val="FF0000"/>
                </a:solidFill>
                <a:latin typeface="Times New Roman" panose="02020603050405020304" pitchFamily="18" charset="0"/>
                <a:cs typeface="Times New Roman" panose="02020603050405020304" pitchFamily="18" charset="0"/>
              </a:rPr>
              <a:t>a</a:t>
            </a:r>
          </a:p>
          <a:p>
            <a:pPr algn="just"/>
            <a:r>
              <a:rPr lang="en-US" sz="2000" b="1" dirty="0" smtClean="0">
                <a:solidFill>
                  <a:srgbClr val="FF0000"/>
                </a:solidFill>
                <a:latin typeface="Times New Roman" panose="02020603050405020304" pitchFamily="18" charset="0"/>
                <a:cs typeface="Times New Roman" panose="02020603050405020304" pitchFamily="18" charset="0"/>
              </a:rPr>
              <a:t>Consider the table like this </a:t>
            </a: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132</a:t>
            </a:fld>
            <a:endParaRPr lang="en-IN" sz="1600" b="1" dirty="0">
              <a:solidFill>
                <a:srgbClr val="002060"/>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5"/>
          <a:stretch>
            <a:fillRect/>
          </a:stretch>
        </p:blipFill>
        <p:spPr>
          <a:xfrm>
            <a:off x="1827397" y="1122444"/>
            <a:ext cx="4162425" cy="1971675"/>
          </a:xfrm>
          <a:prstGeom prst="rect">
            <a:avLst/>
          </a:prstGeom>
        </p:spPr>
      </p:pic>
      <p:sp>
        <p:nvSpPr>
          <p:cNvPr id="9" name="Date Placeholder 8"/>
          <p:cNvSpPr>
            <a:spLocks noGrp="1"/>
          </p:cNvSpPr>
          <p:nvPr>
            <p:ph type="dt" sz="half" idx="10"/>
          </p:nvPr>
        </p:nvSpPr>
        <p:spPr/>
        <p:txBody>
          <a:bodyPr/>
          <a:lstStyle/>
          <a:p>
            <a:fld id="{12667721-939D-4381-A00C-D249A3631B76}" type="datetime1">
              <a:rPr lang="en-IN" smtClean="0"/>
              <a:t>21-03-2026</a:t>
            </a:fld>
            <a:endParaRPr lang="en-IN"/>
          </a:p>
        </p:txBody>
      </p:sp>
    </p:spTree>
    <p:extLst>
      <p:ext uri="{BB962C8B-B14F-4D97-AF65-F5344CB8AC3E}">
        <p14:creationId xmlns:p14="http://schemas.microsoft.com/office/powerpoint/2010/main" val="3299090817"/>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7" y="209195"/>
            <a:ext cx="9144000" cy="643197"/>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a:solidFill>
                  <a:srgbClr val="C00000"/>
                </a:solidFill>
                <a:latin typeface="Times New Roman" panose="02020603050405020304" pitchFamily="18" charset="0"/>
                <a:cs typeface="Times New Roman" panose="02020603050405020304" pitchFamily="18" charset="0"/>
              </a:rPr>
              <a:t> </a:t>
            </a:r>
            <a:r>
              <a:rPr lang="en-IN" sz="2400" b="1" dirty="0">
                <a:solidFill>
                  <a:srgbClr val="002060"/>
                </a:solidFill>
                <a:latin typeface="Times New Roman" panose="02020603050405020304" pitchFamily="18" charset="0"/>
                <a:cs typeface="Times New Roman" panose="02020603050405020304" pitchFamily="18" charset="0"/>
              </a:rPr>
              <a:t>(Topological sorting)     </a:t>
            </a:r>
            <a:r>
              <a:rPr lang="en-IN" sz="2400" b="1" dirty="0" smtClean="0">
                <a:solidFill>
                  <a:srgbClr val="002060"/>
                </a:solidFill>
                <a:latin typeface="Times New Roman" panose="02020603050405020304" pitchFamily="18" charset="0"/>
                <a:cs typeface="Times New Roman" panose="02020603050405020304" pitchFamily="18" charset="0"/>
              </a:rPr>
              <a:t>						</a:t>
            </a:r>
            <a:endParaRPr lang="en-IN" sz="3600" b="1" dirty="0">
              <a:solidFill>
                <a:srgbClr val="002060"/>
              </a:solidFill>
            </a:endParaRPr>
          </a:p>
        </p:txBody>
      </p:sp>
      <p:sp>
        <p:nvSpPr>
          <p:cNvPr id="3" name="Subtitle 2"/>
          <p:cNvSpPr>
            <a:spLocks noGrp="1"/>
          </p:cNvSpPr>
          <p:nvPr>
            <p:ph type="subTitle" idx="1"/>
          </p:nvPr>
        </p:nvSpPr>
        <p:spPr>
          <a:xfrm>
            <a:off x="177051" y="732885"/>
            <a:ext cx="11797552" cy="5627707"/>
          </a:xfrm>
        </p:spPr>
        <p:txBody>
          <a:bodyPr>
            <a:normAutofit/>
          </a:bodyPr>
          <a:lstStyle/>
          <a:p>
            <a:pPr algn="just"/>
            <a:endParaRPr lang="en-US" sz="24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133</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501019171"/>
              </p:ext>
            </p:extLst>
          </p:nvPr>
        </p:nvGraphicFramePr>
        <p:xfrm>
          <a:off x="177051" y="2084774"/>
          <a:ext cx="11176750" cy="4264716"/>
        </p:xfrm>
        <a:graphic>
          <a:graphicData uri="http://schemas.openxmlformats.org/drawingml/2006/table">
            <a:tbl>
              <a:tblPr firstRow="1" bandRow="1">
                <a:tableStyleId>{5C22544A-7EE6-4342-B048-85BDC9FD1C3A}</a:tableStyleId>
              </a:tblPr>
              <a:tblGrid>
                <a:gridCol w="2252384"/>
                <a:gridCol w="1981201"/>
                <a:gridCol w="4043083"/>
                <a:gridCol w="2900082"/>
              </a:tblGrid>
              <a:tr h="710786">
                <a:tc>
                  <a:txBody>
                    <a:bodyPr/>
                    <a:lstStyle/>
                    <a:p>
                      <a:r>
                        <a:rPr lang="en-IN" dirty="0" smtClean="0">
                          <a:solidFill>
                            <a:srgbClr val="002060"/>
                          </a:solidFill>
                        </a:rPr>
                        <a:t>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V=</a:t>
                      </a:r>
                      <a:r>
                        <a:rPr lang="en-IN" dirty="0" err="1" smtClean="0">
                          <a:solidFill>
                            <a:srgbClr val="002060"/>
                          </a:solidFill>
                        </a:rPr>
                        <a:t>adj</a:t>
                      </a:r>
                      <a:r>
                        <a:rPr lang="en-IN" dirty="0" smtClean="0">
                          <a:solidFill>
                            <a:srgbClr val="002060"/>
                          </a:solidFill>
                        </a:rPr>
                        <a:t>(S[top])</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Nodes Visited (S)</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Pop (stack)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 </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9" name="TextBox 8"/>
          <p:cNvSpPr txBox="1"/>
          <p:nvPr/>
        </p:nvSpPr>
        <p:spPr>
          <a:xfrm>
            <a:off x="349623" y="2915565"/>
            <a:ext cx="726141" cy="369332"/>
          </a:xfrm>
          <a:prstGeom prst="rect">
            <a:avLst/>
          </a:prstGeom>
          <a:noFill/>
        </p:spPr>
        <p:txBody>
          <a:bodyPr wrap="square" rtlCol="0">
            <a:spAutoFit/>
          </a:bodyPr>
          <a:lstStyle/>
          <a:p>
            <a:r>
              <a:rPr lang="en-IN" dirty="0" smtClean="0"/>
              <a:t>---</a:t>
            </a:r>
            <a:endParaRPr lang="en-IN" dirty="0"/>
          </a:p>
        </p:txBody>
      </p:sp>
      <p:sp>
        <p:nvSpPr>
          <p:cNvPr id="10" name="TextBox 9"/>
          <p:cNvSpPr txBox="1"/>
          <p:nvPr/>
        </p:nvSpPr>
        <p:spPr>
          <a:xfrm>
            <a:off x="3054308" y="2910160"/>
            <a:ext cx="726141" cy="369332"/>
          </a:xfrm>
          <a:prstGeom prst="rect">
            <a:avLst/>
          </a:prstGeom>
          <a:noFill/>
        </p:spPr>
        <p:txBody>
          <a:bodyPr wrap="square" rtlCol="0">
            <a:spAutoFit/>
          </a:bodyPr>
          <a:lstStyle/>
          <a:p>
            <a:r>
              <a:rPr lang="en-IN" dirty="0" smtClean="0"/>
              <a:t>---</a:t>
            </a:r>
            <a:endParaRPr lang="en-IN" dirty="0"/>
          </a:p>
        </p:txBody>
      </p:sp>
      <p:sp>
        <p:nvSpPr>
          <p:cNvPr id="11" name="TextBox 10"/>
          <p:cNvSpPr txBox="1"/>
          <p:nvPr/>
        </p:nvSpPr>
        <p:spPr>
          <a:xfrm>
            <a:off x="4589931" y="2796983"/>
            <a:ext cx="3643026" cy="923330"/>
          </a:xfrm>
          <a:prstGeom prst="rect">
            <a:avLst/>
          </a:prstGeom>
          <a:noFill/>
        </p:spPr>
        <p:txBody>
          <a:bodyPr wrap="square" rtlCol="0">
            <a:spAutoFit/>
          </a:bodyPr>
          <a:lstStyle/>
          <a:p>
            <a:r>
              <a:rPr lang="en-IN" dirty="0"/>
              <a:t>a</a:t>
            </a:r>
            <a:r>
              <a:rPr lang="en-IN" dirty="0" smtClean="0">
                <a:solidFill>
                  <a:srgbClr val="FF0000"/>
                </a:solidFill>
              </a:rPr>
              <a:t> </a:t>
            </a:r>
          </a:p>
          <a:p>
            <a:r>
              <a:rPr lang="en-IN" dirty="0" smtClean="0"/>
              <a:t>(a </a:t>
            </a:r>
            <a:r>
              <a:rPr lang="en-IN" dirty="0"/>
              <a:t>is visited push </a:t>
            </a:r>
            <a:r>
              <a:rPr lang="en-IN" dirty="0" smtClean="0"/>
              <a:t>a </a:t>
            </a:r>
            <a:r>
              <a:rPr lang="en-IN" dirty="0"/>
              <a:t>on </a:t>
            </a:r>
            <a:r>
              <a:rPr lang="en-IN" dirty="0" smtClean="0"/>
              <a:t>stack) </a:t>
            </a:r>
            <a:endParaRPr lang="en-IN" dirty="0"/>
          </a:p>
          <a:p>
            <a:endParaRPr lang="en-IN" dirty="0"/>
          </a:p>
        </p:txBody>
      </p:sp>
      <p:sp>
        <p:nvSpPr>
          <p:cNvPr id="14" name="TextBox 13"/>
          <p:cNvSpPr txBox="1"/>
          <p:nvPr/>
        </p:nvSpPr>
        <p:spPr>
          <a:xfrm>
            <a:off x="259976" y="3625745"/>
            <a:ext cx="726141" cy="369332"/>
          </a:xfrm>
          <a:prstGeom prst="rect">
            <a:avLst/>
          </a:prstGeom>
          <a:noFill/>
        </p:spPr>
        <p:txBody>
          <a:bodyPr wrap="square" rtlCol="0">
            <a:spAutoFit/>
          </a:bodyPr>
          <a:lstStyle/>
          <a:p>
            <a:r>
              <a:rPr lang="en-IN" dirty="0" smtClean="0"/>
              <a:t>a</a:t>
            </a:r>
            <a:endParaRPr lang="en-IN" dirty="0"/>
          </a:p>
        </p:txBody>
      </p:sp>
      <p:sp>
        <p:nvSpPr>
          <p:cNvPr id="15" name="TextBox 14"/>
          <p:cNvSpPr txBox="1"/>
          <p:nvPr/>
        </p:nvSpPr>
        <p:spPr>
          <a:xfrm>
            <a:off x="2496114" y="3569296"/>
            <a:ext cx="3122374" cy="646331"/>
          </a:xfrm>
          <a:prstGeom prst="rect">
            <a:avLst/>
          </a:prstGeom>
          <a:noFill/>
        </p:spPr>
        <p:txBody>
          <a:bodyPr wrap="square" rtlCol="0">
            <a:spAutoFit/>
          </a:bodyPr>
          <a:lstStyle/>
          <a:p>
            <a:r>
              <a:rPr lang="en-IN" dirty="0" smtClean="0"/>
              <a:t>  b </a:t>
            </a:r>
          </a:p>
          <a:p>
            <a:r>
              <a:rPr lang="en-IN" dirty="0" smtClean="0"/>
              <a:t>(b is adjacent to a)</a:t>
            </a:r>
            <a:endParaRPr lang="en-IN" dirty="0"/>
          </a:p>
        </p:txBody>
      </p:sp>
      <p:sp>
        <p:nvSpPr>
          <p:cNvPr id="17" name="TextBox 16"/>
          <p:cNvSpPr txBox="1"/>
          <p:nvPr/>
        </p:nvSpPr>
        <p:spPr>
          <a:xfrm>
            <a:off x="4589931" y="3539339"/>
            <a:ext cx="3666561" cy="646331"/>
          </a:xfrm>
          <a:prstGeom prst="rect">
            <a:avLst/>
          </a:prstGeom>
          <a:noFill/>
        </p:spPr>
        <p:txBody>
          <a:bodyPr wrap="square" rtlCol="0">
            <a:spAutoFit/>
          </a:bodyPr>
          <a:lstStyle/>
          <a:p>
            <a:r>
              <a:rPr lang="en-IN" dirty="0"/>
              <a:t>a</a:t>
            </a:r>
            <a:r>
              <a:rPr lang="en-IN" dirty="0" smtClean="0"/>
              <a:t>, b </a:t>
            </a:r>
          </a:p>
          <a:p>
            <a:r>
              <a:rPr lang="en-IN" dirty="0" smtClean="0"/>
              <a:t>(b is visited push b on stack) </a:t>
            </a:r>
            <a:endParaRPr lang="en-IN" dirty="0"/>
          </a:p>
        </p:txBody>
      </p:sp>
      <p:pic>
        <p:nvPicPr>
          <p:cNvPr id="18" name="Picture 17"/>
          <p:cNvPicPr>
            <a:picLocks noChangeAspect="1"/>
          </p:cNvPicPr>
          <p:nvPr/>
        </p:nvPicPr>
        <p:blipFill>
          <a:blip r:embed="rId5"/>
          <a:stretch>
            <a:fillRect/>
          </a:stretch>
        </p:blipFill>
        <p:spPr>
          <a:xfrm>
            <a:off x="2875145" y="714385"/>
            <a:ext cx="2745726" cy="1300607"/>
          </a:xfrm>
          <a:prstGeom prst="rect">
            <a:avLst/>
          </a:prstGeom>
        </p:spPr>
      </p:pic>
      <p:sp>
        <p:nvSpPr>
          <p:cNvPr id="19" name="TextBox 18"/>
          <p:cNvSpPr txBox="1"/>
          <p:nvPr/>
        </p:nvSpPr>
        <p:spPr>
          <a:xfrm>
            <a:off x="251011" y="4368635"/>
            <a:ext cx="726141" cy="369332"/>
          </a:xfrm>
          <a:prstGeom prst="rect">
            <a:avLst/>
          </a:prstGeom>
          <a:noFill/>
        </p:spPr>
        <p:txBody>
          <a:bodyPr wrap="square" rtlCol="0">
            <a:spAutoFit/>
          </a:bodyPr>
          <a:lstStyle/>
          <a:p>
            <a:r>
              <a:rPr lang="en-IN" dirty="0"/>
              <a:t>a</a:t>
            </a:r>
            <a:r>
              <a:rPr lang="en-IN" dirty="0" smtClean="0"/>
              <a:t>,  b</a:t>
            </a:r>
            <a:endParaRPr lang="en-IN" dirty="0"/>
          </a:p>
        </p:txBody>
      </p:sp>
      <p:sp>
        <p:nvSpPr>
          <p:cNvPr id="20" name="TextBox 19"/>
          <p:cNvSpPr txBox="1"/>
          <p:nvPr/>
        </p:nvSpPr>
        <p:spPr>
          <a:xfrm>
            <a:off x="2496114" y="4267560"/>
            <a:ext cx="2093817" cy="923330"/>
          </a:xfrm>
          <a:prstGeom prst="rect">
            <a:avLst/>
          </a:prstGeom>
          <a:noFill/>
        </p:spPr>
        <p:txBody>
          <a:bodyPr wrap="square" rtlCol="0">
            <a:spAutoFit/>
          </a:bodyPr>
          <a:lstStyle/>
          <a:p>
            <a:r>
              <a:rPr lang="en-IN" dirty="0" smtClean="0"/>
              <a:t> e</a:t>
            </a:r>
          </a:p>
          <a:p>
            <a:r>
              <a:rPr lang="en-IN" dirty="0" smtClean="0"/>
              <a:t>(e </a:t>
            </a:r>
            <a:r>
              <a:rPr lang="en-IN" dirty="0"/>
              <a:t>is adjacent to </a:t>
            </a:r>
            <a:r>
              <a:rPr lang="en-IN" dirty="0" smtClean="0"/>
              <a:t>b)</a:t>
            </a:r>
            <a:endParaRPr lang="en-IN" dirty="0"/>
          </a:p>
          <a:p>
            <a:endParaRPr lang="en-IN" dirty="0"/>
          </a:p>
        </p:txBody>
      </p:sp>
      <p:sp>
        <p:nvSpPr>
          <p:cNvPr id="21" name="TextBox 20"/>
          <p:cNvSpPr txBox="1"/>
          <p:nvPr/>
        </p:nvSpPr>
        <p:spPr>
          <a:xfrm>
            <a:off x="4555120" y="4199390"/>
            <a:ext cx="3666561" cy="646331"/>
          </a:xfrm>
          <a:prstGeom prst="rect">
            <a:avLst/>
          </a:prstGeom>
          <a:noFill/>
        </p:spPr>
        <p:txBody>
          <a:bodyPr wrap="square" rtlCol="0">
            <a:spAutoFit/>
          </a:bodyPr>
          <a:lstStyle/>
          <a:p>
            <a:r>
              <a:rPr lang="en-IN" dirty="0"/>
              <a:t>a</a:t>
            </a:r>
            <a:r>
              <a:rPr lang="en-IN" dirty="0" smtClean="0"/>
              <a:t>, b, e</a:t>
            </a:r>
          </a:p>
          <a:p>
            <a:r>
              <a:rPr lang="en-IN" dirty="0" smtClean="0"/>
              <a:t>(e is visited push e on stack) </a:t>
            </a:r>
            <a:endParaRPr lang="en-IN" dirty="0"/>
          </a:p>
        </p:txBody>
      </p:sp>
      <p:sp>
        <p:nvSpPr>
          <p:cNvPr id="22" name="TextBox 21"/>
          <p:cNvSpPr txBox="1"/>
          <p:nvPr/>
        </p:nvSpPr>
        <p:spPr>
          <a:xfrm>
            <a:off x="259976" y="5111553"/>
            <a:ext cx="968189" cy="369332"/>
          </a:xfrm>
          <a:prstGeom prst="rect">
            <a:avLst/>
          </a:prstGeom>
          <a:noFill/>
        </p:spPr>
        <p:txBody>
          <a:bodyPr wrap="square" rtlCol="0">
            <a:spAutoFit/>
          </a:bodyPr>
          <a:lstStyle/>
          <a:p>
            <a:r>
              <a:rPr lang="en-IN" dirty="0"/>
              <a:t>a</a:t>
            </a:r>
            <a:r>
              <a:rPr lang="en-IN" dirty="0" smtClean="0"/>
              <a:t>,  b, e</a:t>
            </a:r>
            <a:endParaRPr lang="en-IN" dirty="0"/>
          </a:p>
        </p:txBody>
      </p:sp>
      <p:sp>
        <p:nvSpPr>
          <p:cNvPr id="23" name="TextBox 22"/>
          <p:cNvSpPr txBox="1"/>
          <p:nvPr/>
        </p:nvSpPr>
        <p:spPr>
          <a:xfrm>
            <a:off x="2496115" y="4919422"/>
            <a:ext cx="1591792" cy="923330"/>
          </a:xfrm>
          <a:prstGeom prst="rect">
            <a:avLst/>
          </a:prstGeom>
          <a:noFill/>
        </p:spPr>
        <p:txBody>
          <a:bodyPr wrap="square" rtlCol="0">
            <a:spAutoFit/>
          </a:bodyPr>
          <a:lstStyle/>
          <a:p>
            <a:r>
              <a:rPr lang="en-IN" dirty="0" smtClean="0"/>
              <a:t> No node is adjacent   to e</a:t>
            </a:r>
          </a:p>
          <a:p>
            <a:endParaRPr lang="en-IN" dirty="0"/>
          </a:p>
        </p:txBody>
      </p:sp>
      <p:sp>
        <p:nvSpPr>
          <p:cNvPr id="24" name="TextBox 23"/>
          <p:cNvSpPr txBox="1"/>
          <p:nvPr/>
        </p:nvSpPr>
        <p:spPr>
          <a:xfrm>
            <a:off x="228598" y="5809817"/>
            <a:ext cx="968189" cy="369332"/>
          </a:xfrm>
          <a:prstGeom prst="rect">
            <a:avLst/>
          </a:prstGeom>
          <a:noFill/>
        </p:spPr>
        <p:txBody>
          <a:bodyPr wrap="square" rtlCol="0">
            <a:spAutoFit/>
          </a:bodyPr>
          <a:lstStyle/>
          <a:p>
            <a:r>
              <a:rPr lang="en-IN" dirty="0"/>
              <a:t>a</a:t>
            </a:r>
            <a:r>
              <a:rPr lang="en-IN" dirty="0" smtClean="0"/>
              <a:t>,  b</a:t>
            </a:r>
            <a:endParaRPr lang="en-IN" dirty="0"/>
          </a:p>
        </p:txBody>
      </p:sp>
      <p:sp>
        <p:nvSpPr>
          <p:cNvPr id="25" name="TextBox 24"/>
          <p:cNvSpPr txBox="1"/>
          <p:nvPr/>
        </p:nvSpPr>
        <p:spPr>
          <a:xfrm>
            <a:off x="2493238" y="5603437"/>
            <a:ext cx="2093817" cy="923330"/>
          </a:xfrm>
          <a:prstGeom prst="rect">
            <a:avLst/>
          </a:prstGeom>
          <a:noFill/>
        </p:spPr>
        <p:txBody>
          <a:bodyPr wrap="square" rtlCol="0">
            <a:spAutoFit/>
          </a:bodyPr>
          <a:lstStyle/>
          <a:p>
            <a:r>
              <a:rPr lang="en-IN" dirty="0" smtClean="0"/>
              <a:t> g</a:t>
            </a:r>
          </a:p>
          <a:p>
            <a:r>
              <a:rPr lang="en-IN" dirty="0" smtClean="0"/>
              <a:t>(g </a:t>
            </a:r>
            <a:r>
              <a:rPr lang="en-IN" dirty="0"/>
              <a:t>is adjacent to </a:t>
            </a:r>
            <a:r>
              <a:rPr lang="en-IN" dirty="0" smtClean="0"/>
              <a:t>b)</a:t>
            </a:r>
            <a:endParaRPr lang="en-IN" dirty="0"/>
          </a:p>
          <a:p>
            <a:endParaRPr lang="en-IN" dirty="0"/>
          </a:p>
        </p:txBody>
      </p:sp>
      <p:sp>
        <p:nvSpPr>
          <p:cNvPr id="26" name="TextBox 25"/>
          <p:cNvSpPr txBox="1"/>
          <p:nvPr/>
        </p:nvSpPr>
        <p:spPr>
          <a:xfrm>
            <a:off x="4589931" y="5623774"/>
            <a:ext cx="3666561" cy="646331"/>
          </a:xfrm>
          <a:prstGeom prst="rect">
            <a:avLst/>
          </a:prstGeom>
          <a:noFill/>
        </p:spPr>
        <p:txBody>
          <a:bodyPr wrap="square" rtlCol="0">
            <a:spAutoFit/>
          </a:bodyPr>
          <a:lstStyle/>
          <a:p>
            <a:r>
              <a:rPr lang="en-IN" dirty="0"/>
              <a:t>a</a:t>
            </a:r>
            <a:r>
              <a:rPr lang="en-IN" dirty="0" smtClean="0"/>
              <a:t>, b, e, g</a:t>
            </a:r>
          </a:p>
          <a:p>
            <a:r>
              <a:rPr lang="en-IN" dirty="0" smtClean="0"/>
              <a:t>(g is visited push g on stack) </a:t>
            </a:r>
            <a:endParaRPr lang="en-IN" dirty="0"/>
          </a:p>
        </p:txBody>
      </p:sp>
      <p:sp>
        <p:nvSpPr>
          <p:cNvPr id="27" name="TextBox 26"/>
          <p:cNvSpPr txBox="1"/>
          <p:nvPr/>
        </p:nvSpPr>
        <p:spPr>
          <a:xfrm>
            <a:off x="4555119" y="4941087"/>
            <a:ext cx="3666561" cy="646331"/>
          </a:xfrm>
          <a:prstGeom prst="rect">
            <a:avLst/>
          </a:prstGeom>
          <a:noFill/>
        </p:spPr>
        <p:txBody>
          <a:bodyPr wrap="square" rtlCol="0">
            <a:spAutoFit/>
          </a:bodyPr>
          <a:lstStyle/>
          <a:p>
            <a:r>
              <a:rPr lang="en-IN" dirty="0"/>
              <a:t>a</a:t>
            </a:r>
            <a:r>
              <a:rPr lang="en-IN" dirty="0" smtClean="0"/>
              <a:t>, b, e</a:t>
            </a:r>
          </a:p>
          <a:p>
            <a:endParaRPr lang="en-IN" dirty="0"/>
          </a:p>
        </p:txBody>
      </p:sp>
      <p:sp>
        <p:nvSpPr>
          <p:cNvPr id="28" name="TextBox 27"/>
          <p:cNvSpPr txBox="1"/>
          <p:nvPr/>
        </p:nvSpPr>
        <p:spPr>
          <a:xfrm>
            <a:off x="8610600" y="5079586"/>
            <a:ext cx="968189" cy="369332"/>
          </a:xfrm>
          <a:prstGeom prst="rect">
            <a:avLst/>
          </a:prstGeom>
          <a:noFill/>
        </p:spPr>
        <p:txBody>
          <a:bodyPr wrap="square" rtlCol="0">
            <a:spAutoFit/>
          </a:bodyPr>
          <a:lstStyle/>
          <a:p>
            <a:r>
              <a:rPr lang="en-IN" dirty="0" smtClean="0"/>
              <a:t>e</a:t>
            </a:r>
            <a:endParaRPr lang="en-IN" dirty="0"/>
          </a:p>
        </p:txBody>
      </p:sp>
      <p:sp>
        <p:nvSpPr>
          <p:cNvPr id="12" name="Date Placeholder 11"/>
          <p:cNvSpPr>
            <a:spLocks noGrp="1"/>
          </p:cNvSpPr>
          <p:nvPr>
            <p:ph type="dt" sz="half" idx="10"/>
          </p:nvPr>
        </p:nvSpPr>
        <p:spPr/>
        <p:txBody>
          <a:bodyPr/>
          <a:lstStyle/>
          <a:p>
            <a:fld id="{037BE9D0-FF21-4C9E-89D3-9622A425CBED}" type="datetime1">
              <a:rPr lang="en-IN" smtClean="0"/>
              <a:t>21-03-2026</a:t>
            </a:fld>
            <a:endParaRPr lang="en-IN"/>
          </a:p>
        </p:txBody>
      </p:sp>
    </p:spTree>
    <p:extLst>
      <p:ext uri="{BB962C8B-B14F-4D97-AF65-F5344CB8AC3E}">
        <p14:creationId xmlns:p14="http://schemas.microsoft.com/office/powerpoint/2010/main" val="114585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4" grpId="0"/>
      <p:bldP spid="15" grpId="0"/>
      <p:bldP spid="17" grpId="0"/>
      <p:bldP spid="19" grpId="0"/>
      <p:bldP spid="20" grpId="0"/>
      <p:bldP spid="21" grpId="0"/>
      <p:bldP spid="22" grpId="0"/>
      <p:bldP spid="23" grpId="0"/>
      <p:bldP spid="24" grpId="0"/>
      <p:bldP spid="25" grpId="0"/>
      <p:bldP spid="26" grpId="0"/>
      <p:bldP spid="27" grpId="0"/>
      <p:bldP spid="28"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7051" y="732885"/>
            <a:ext cx="11797552" cy="5627707"/>
          </a:xfrm>
        </p:spPr>
        <p:txBody>
          <a:bodyPr>
            <a:normAutofit/>
          </a:bodyPr>
          <a:lstStyle/>
          <a:p>
            <a:pPr algn="just"/>
            <a:endParaRPr lang="en-US" sz="24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134</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98045299"/>
              </p:ext>
            </p:extLst>
          </p:nvPr>
        </p:nvGraphicFramePr>
        <p:xfrm>
          <a:off x="177051" y="2084774"/>
          <a:ext cx="11176750" cy="4264716"/>
        </p:xfrm>
        <a:graphic>
          <a:graphicData uri="http://schemas.openxmlformats.org/drawingml/2006/table">
            <a:tbl>
              <a:tblPr firstRow="1" bandRow="1">
                <a:tableStyleId>{5C22544A-7EE6-4342-B048-85BDC9FD1C3A}</a:tableStyleId>
              </a:tblPr>
              <a:tblGrid>
                <a:gridCol w="2252384"/>
                <a:gridCol w="1981201"/>
                <a:gridCol w="4043083"/>
                <a:gridCol w="2900082"/>
              </a:tblGrid>
              <a:tr h="710786">
                <a:tc>
                  <a:txBody>
                    <a:bodyPr/>
                    <a:lstStyle/>
                    <a:p>
                      <a:r>
                        <a:rPr lang="en-IN" dirty="0" smtClean="0">
                          <a:solidFill>
                            <a:srgbClr val="002060"/>
                          </a:solidFill>
                        </a:rPr>
                        <a:t>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V=</a:t>
                      </a:r>
                      <a:r>
                        <a:rPr lang="en-IN" dirty="0" err="1" smtClean="0">
                          <a:solidFill>
                            <a:srgbClr val="002060"/>
                          </a:solidFill>
                        </a:rPr>
                        <a:t>adj</a:t>
                      </a:r>
                      <a:r>
                        <a:rPr lang="en-IN" dirty="0" smtClean="0">
                          <a:solidFill>
                            <a:srgbClr val="002060"/>
                          </a:solidFill>
                        </a:rPr>
                        <a:t>(S[top])</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Nodes Visited (S)</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Pop (stack)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 </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12" name="TextBox 11"/>
          <p:cNvSpPr txBox="1"/>
          <p:nvPr/>
        </p:nvSpPr>
        <p:spPr>
          <a:xfrm>
            <a:off x="9619129" y="2526267"/>
            <a:ext cx="726141" cy="369332"/>
          </a:xfrm>
          <a:prstGeom prst="rect">
            <a:avLst/>
          </a:prstGeom>
          <a:noFill/>
        </p:spPr>
        <p:txBody>
          <a:bodyPr wrap="square" rtlCol="0">
            <a:spAutoFit/>
          </a:bodyPr>
          <a:lstStyle/>
          <a:p>
            <a:r>
              <a:rPr lang="en-IN" dirty="0" smtClean="0"/>
              <a:t>---</a:t>
            </a:r>
            <a:endParaRPr lang="en-IN" dirty="0"/>
          </a:p>
        </p:txBody>
      </p:sp>
      <p:sp>
        <p:nvSpPr>
          <p:cNvPr id="14" name="TextBox 13"/>
          <p:cNvSpPr txBox="1"/>
          <p:nvPr/>
        </p:nvSpPr>
        <p:spPr>
          <a:xfrm>
            <a:off x="259976" y="3625745"/>
            <a:ext cx="1326777" cy="369332"/>
          </a:xfrm>
          <a:prstGeom prst="rect">
            <a:avLst/>
          </a:prstGeom>
          <a:noFill/>
        </p:spPr>
        <p:txBody>
          <a:bodyPr wrap="square" rtlCol="0">
            <a:spAutoFit/>
          </a:bodyPr>
          <a:lstStyle/>
          <a:p>
            <a:r>
              <a:rPr lang="en-IN" dirty="0" smtClean="0"/>
              <a:t>a, b, g, f</a:t>
            </a:r>
            <a:endParaRPr lang="en-IN" dirty="0"/>
          </a:p>
        </p:txBody>
      </p:sp>
      <p:sp>
        <p:nvSpPr>
          <p:cNvPr id="17" name="TextBox 16"/>
          <p:cNvSpPr txBox="1"/>
          <p:nvPr/>
        </p:nvSpPr>
        <p:spPr>
          <a:xfrm>
            <a:off x="4589931" y="3539339"/>
            <a:ext cx="3666561" cy="369332"/>
          </a:xfrm>
          <a:prstGeom prst="rect">
            <a:avLst/>
          </a:prstGeom>
          <a:noFill/>
        </p:spPr>
        <p:txBody>
          <a:bodyPr wrap="square" rtlCol="0">
            <a:spAutoFit/>
          </a:bodyPr>
          <a:lstStyle/>
          <a:p>
            <a:r>
              <a:rPr lang="en-IN" dirty="0"/>
              <a:t>a</a:t>
            </a:r>
            <a:r>
              <a:rPr lang="en-IN" dirty="0" smtClean="0"/>
              <a:t>, b, e, g, f </a:t>
            </a:r>
          </a:p>
        </p:txBody>
      </p:sp>
      <p:pic>
        <p:nvPicPr>
          <p:cNvPr id="18" name="Picture 17"/>
          <p:cNvPicPr>
            <a:picLocks noChangeAspect="1"/>
          </p:cNvPicPr>
          <p:nvPr/>
        </p:nvPicPr>
        <p:blipFill>
          <a:blip r:embed="rId5"/>
          <a:stretch>
            <a:fillRect/>
          </a:stretch>
        </p:blipFill>
        <p:spPr>
          <a:xfrm>
            <a:off x="8392650" y="601787"/>
            <a:ext cx="2745726" cy="1300607"/>
          </a:xfrm>
          <a:prstGeom prst="rect">
            <a:avLst/>
          </a:prstGeom>
        </p:spPr>
      </p:pic>
      <p:sp>
        <p:nvSpPr>
          <p:cNvPr id="19" name="TextBox 18"/>
          <p:cNvSpPr txBox="1"/>
          <p:nvPr/>
        </p:nvSpPr>
        <p:spPr>
          <a:xfrm>
            <a:off x="251011" y="4368635"/>
            <a:ext cx="977154" cy="369332"/>
          </a:xfrm>
          <a:prstGeom prst="rect">
            <a:avLst/>
          </a:prstGeom>
          <a:noFill/>
        </p:spPr>
        <p:txBody>
          <a:bodyPr wrap="square" rtlCol="0">
            <a:spAutoFit/>
          </a:bodyPr>
          <a:lstStyle/>
          <a:p>
            <a:r>
              <a:rPr lang="en-IN" dirty="0"/>
              <a:t>a</a:t>
            </a:r>
            <a:r>
              <a:rPr lang="en-IN" dirty="0" smtClean="0"/>
              <a:t>,  b, g</a:t>
            </a:r>
            <a:endParaRPr lang="en-IN" dirty="0"/>
          </a:p>
        </p:txBody>
      </p:sp>
      <p:sp>
        <p:nvSpPr>
          <p:cNvPr id="22" name="TextBox 21"/>
          <p:cNvSpPr txBox="1"/>
          <p:nvPr/>
        </p:nvSpPr>
        <p:spPr>
          <a:xfrm>
            <a:off x="259976" y="5111553"/>
            <a:ext cx="968189" cy="369332"/>
          </a:xfrm>
          <a:prstGeom prst="rect">
            <a:avLst/>
          </a:prstGeom>
          <a:noFill/>
        </p:spPr>
        <p:txBody>
          <a:bodyPr wrap="square" rtlCol="0">
            <a:spAutoFit/>
          </a:bodyPr>
          <a:lstStyle/>
          <a:p>
            <a:r>
              <a:rPr lang="en-IN" dirty="0"/>
              <a:t>a</a:t>
            </a:r>
            <a:r>
              <a:rPr lang="en-IN" dirty="0" smtClean="0"/>
              <a:t>,  b</a:t>
            </a:r>
            <a:endParaRPr lang="en-IN" dirty="0"/>
          </a:p>
        </p:txBody>
      </p:sp>
      <p:sp>
        <p:nvSpPr>
          <p:cNvPr id="23" name="TextBox 22"/>
          <p:cNvSpPr txBox="1"/>
          <p:nvPr/>
        </p:nvSpPr>
        <p:spPr>
          <a:xfrm>
            <a:off x="2496115" y="4919422"/>
            <a:ext cx="1591792" cy="923330"/>
          </a:xfrm>
          <a:prstGeom prst="rect">
            <a:avLst/>
          </a:prstGeom>
          <a:noFill/>
        </p:spPr>
        <p:txBody>
          <a:bodyPr wrap="square" rtlCol="0">
            <a:spAutoFit/>
          </a:bodyPr>
          <a:lstStyle/>
          <a:p>
            <a:r>
              <a:rPr lang="en-IN" dirty="0" smtClean="0"/>
              <a:t> No node is adjacent   to b</a:t>
            </a:r>
          </a:p>
          <a:p>
            <a:endParaRPr lang="en-IN" dirty="0"/>
          </a:p>
        </p:txBody>
      </p:sp>
      <p:sp>
        <p:nvSpPr>
          <p:cNvPr id="24" name="TextBox 23"/>
          <p:cNvSpPr txBox="1"/>
          <p:nvPr/>
        </p:nvSpPr>
        <p:spPr>
          <a:xfrm>
            <a:off x="228598" y="5809817"/>
            <a:ext cx="968189" cy="369332"/>
          </a:xfrm>
          <a:prstGeom prst="rect">
            <a:avLst/>
          </a:prstGeom>
          <a:noFill/>
        </p:spPr>
        <p:txBody>
          <a:bodyPr wrap="square" rtlCol="0">
            <a:spAutoFit/>
          </a:bodyPr>
          <a:lstStyle/>
          <a:p>
            <a:r>
              <a:rPr lang="en-IN" dirty="0" smtClean="0"/>
              <a:t>a</a:t>
            </a:r>
            <a:endParaRPr lang="en-IN" dirty="0"/>
          </a:p>
        </p:txBody>
      </p:sp>
      <p:sp>
        <p:nvSpPr>
          <p:cNvPr id="25" name="TextBox 24"/>
          <p:cNvSpPr txBox="1"/>
          <p:nvPr/>
        </p:nvSpPr>
        <p:spPr>
          <a:xfrm>
            <a:off x="2493238" y="5603437"/>
            <a:ext cx="2093817" cy="923330"/>
          </a:xfrm>
          <a:prstGeom prst="rect">
            <a:avLst/>
          </a:prstGeom>
          <a:noFill/>
        </p:spPr>
        <p:txBody>
          <a:bodyPr wrap="square" rtlCol="0">
            <a:spAutoFit/>
          </a:bodyPr>
          <a:lstStyle/>
          <a:p>
            <a:r>
              <a:rPr lang="en-IN" dirty="0" smtClean="0"/>
              <a:t> c</a:t>
            </a:r>
          </a:p>
          <a:p>
            <a:r>
              <a:rPr lang="en-IN" dirty="0" smtClean="0"/>
              <a:t>(c </a:t>
            </a:r>
            <a:r>
              <a:rPr lang="en-IN" dirty="0"/>
              <a:t>is adjacent to </a:t>
            </a:r>
            <a:r>
              <a:rPr lang="en-IN" dirty="0" smtClean="0"/>
              <a:t>a)</a:t>
            </a:r>
            <a:endParaRPr lang="en-IN" dirty="0"/>
          </a:p>
          <a:p>
            <a:endParaRPr lang="en-IN" dirty="0"/>
          </a:p>
        </p:txBody>
      </p:sp>
      <p:sp>
        <p:nvSpPr>
          <p:cNvPr id="26" name="TextBox 25"/>
          <p:cNvSpPr txBox="1"/>
          <p:nvPr/>
        </p:nvSpPr>
        <p:spPr>
          <a:xfrm>
            <a:off x="4589931" y="5623774"/>
            <a:ext cx="3666561" cy="646331"/>
          </a:xfrm>
          <a:prstGeom prst="rect">
            <a:avLst/>
          </a:prstGeom>
          <a:noFill/>
        </p:spPr>
        <p:txBody>
          <a:bodyPr wrap="square" rtlCol="0">
            <a:spAutoFit/>
          </a:bodyPr>
          <a:lstStyle/>
          <a:p>
            <a:r>
              <a:rPr lang="en-IN" dirty="0"/>
              <a:t>a</a:t>
            </a:r>
            <a:r>
              <a:rPr lang="en-IN" dirty="0" smtClean="0"/>
              <a:t>, b, e, g, f, c</a:t>
            </a:r>
          </a:p>
          <a:p>
            <a:r>
              <a:rPr lang="en-IN" dirty="0" smtClean="0"/>
              <a:t>(c is visited push c on stack) </a:t>
            </a:r>
            <a:endParaRPr lang="en-IN" dirty="0"/>
          </a:p>
        </p:txBody>
      </p:sp>
      <p:sp>
        <p:nvSpPr>
          <p:cNvPr id="27" name="TextBox 26"/>
          <p:cNvSpPr txBox="1"/>
          <p:nvPr/>
        </p:nvSpPr>
        <p:spPr>
          <a:xfrm>
            <a:off x="304799" y="2879957"/>
            <a:ext cx="968189" cy="369332"/>
          </a:xfrm>
          <a:prstGeom prst="rect">
            <a:avLst/>
          </a:prstGeom>
          <a:noFill/>
        </p:spPr>
        <p:txBody>
          <a:bodyPr wrap="square" rtlCol="0">
            <a:spAutoFit/>
          </a:bodyPr>
          <a:lstStyle/>
          <a:p>
            <a:r>
              <a:rPr lang="en-IN" dirty="0"/>
              <a:t>a</a:t>
            </a:r>
            <a:r>
              <a:rPr lang="en-IN" dirty="0" smtClean="0"/>
              <a:t>,  b, g</a:t>
            </a:r>
            <a:endParaRPr lang="en-IN" dirty="0"/>
          </a:p>
        </p:txBody>
      </p:sp>
      <p:sp>
        <p:nvSpPr>
          <p:cNvPr id="28" name="TextBox 27"/>
          <p:cNvSpPr txBox="1"/>
          <p:nvPr/>
        </p:nvSpPr>
        <p:spPr>
          <a:xfrm>
            <a:off x="2383491" y="2716314"/>
            <a:ext cx="2093817" cy="923330"/>
          </a:xfrm>
          <a:prstGeom prst="rect">
            <a:avLst/>
          </a:prstGeom>
          <a:noFill/>
        </p:spPr>
        <p:txBody>
          <a:bodyPr wrap="square" rtlCol="0">
            <a:spAutoFit/>
          </a:bodyPr>
          <a:lstStyle/>
          <a:p>
            <a:r>
              <a:rPr lang="en-IN" dirty="0" smtClean="0"/>
              <a:t> f</a:t>
            </a:r>
          </a:p>
          <a:p>
            <a:r>
              <a:rPr lang="en-IN" dirty="0" smtClean="0"/>
              <a:t>(f </a:t>
            </a:r>
            <a:r>
              <a:rPr lang="en-IN" dirty="0"/>
              <a:t>is adjacent to g</a:t>
            </a:r>
            <a:r>
              <a:rPr lang="en-IN" dirty="0" smtClean="0"/>
              <a:t>)</a:t>
            </a:r>
            <a:endParaRPr lang="en-IN" dirty="0"/>
          </a:p>
          <a:p>
            <a:endParaRPr lang="en-IN" dirty="0"/>
          </a:p>
        </p:txBody>
      </p:sp>
      <p:sp>
        <p:nvSpPr>
          <p:cNvPr id="29" name="TextBox 28"/>
          <p:cNvSpPr txBox="1"/>
          <p:nvPr/>
        </p:nvSpPr>
        <p:spPr>
          <a:xfrm>
            <a:off x="4581528" y="2716691"/>
            <a:ext cx="3666561" cy="646331"/>
          </a:xfrm>
          <a:prstGeom prst="rect">
            <a:avLst/>
          </a:prstGeom>
          <a:noFill/>
        </p:spPr>
        <p:txBody>
          <a:bodyPr wrap="square" rtlCol="0">
            <a:spAutoFit/>
          </a:bodyPr>
          <a:lstStyle/>
          <a:p>
            <a:r>
              <a:rPr lang="en-IN" dirty="0"/>
              <a:t>a</a:t>
            </a:r>
            <a:r>
              <a:rPr lang="en-IN" dirty="0" smtClean="0"/>
              <a:t>, b, e, g, f</a:t>
            </a:r>
          </a:p>
          <a:p>
            <a:r>
              <a:rPr lang="en-IN" dirty="0" smtClean="0"/>
              <a:t>(f is visited push f on stack) </a:t>
            </a:r>
            <a:endParaRPr lang="en-IN" dirty="0"/>
          </a:p>
        </p:txBody>
      </p:sp>
      <p:sp>
        <p:nvSpPr>
          <p:cNvPr id="30" name="TextBox 29"/>
          <p:cNvSpPr txBox="1"/>
          <p:nvPr/>
        </p:nvSpPr>
        <p:spPr>
          <a:xfrm>
            <a:off x="2496115" y="4209192"/>
            <a:ext cx="1591792" cy="923330"/>
          </a:xfrm>
          <a:prstGeom prst="rect">
            <a:avLst/>
          </a:prstGeom>
          <a:noFill/>
        </p:spPr>
        <p:txBody>
          <a:bodyPr wrap="square" rtlCol="0">
            <a:spAutoFit/>
          </a:bodyPr>
          <a:lstStyle/>
          <a:p>
            <a:r>
              <a:rPr lang="en-IN" dirty="0" smtClean="0"/>
              <a:t> No node is adjacent   to g</a:t>
            </a:r>
          </a:p>
          <a:p>
            <a:endParaRPr lang="en-IN" dirty="0"/>
          </a:p>
        </p:txBody>
      </p:sp>
      <p:sp>
        <p:nvSpPr>
          <p:cNvPr id="31" name="TextBox 30"/>
          <p:cNvSpPr txBox="1"/>
          <p:nvPr/>
        </p:nvSpPr>
        <p:spPr>
          <a:xfrm>
            <a:off x="8610600" y="4994560"/>
            <a:ext cx="968189" cy="369332"/>
          </a:xfrm>
          <a:prstGeom prst="rect">
            <a:avLst/>
          </a:prstGeom>
          <a:noFill/>
        </p:spPr>
        <p:txBody>
          <a:bodyPr wrap="square" rtlCol="0">
            <a:spAutoFit/>
          </a:bodyPr>
          <a:lstStyle/>
          <a:p>
            <a:r>
              <a:rPr lang="en-IN" dirty="0" smtClean="0"/>
              <a:t>b</a:t>
            </a:r>
            <a:endParaRPr lang="en-IN" dirty="0"/>
          </a:p>
        </p:txBody>
      </p:sp>
      <p:sp>
        <p:nvSpPr>
          <p:cNvPr id="32" name="TextBox 31"/>
          <p:cNvSpPr txBox="1"/>
          <p:nvPr/>
        </p:nvSpPr>
        <p:spPr>
          <a:xfrm>
            <a:off x="8610599" y="3632770"/>
            <a:ext cx="968189" cy="369332"/>
          </a:xfrm>
          <a:prstGeom prst="rect">
            <a:avLst/>
          </a:prstGeom>
          <a:noFill/>
        </p:spPr>
        <p:txBody>
          <a:bodyPr wrap="square" rtlCol="0">
            <a:spAutoFit/>
          </a:bodyPr>
          <a:lstStyle/>
          <a:p>
            <a:r>
              <a:rPr lang="en-IN" dirty="0" smtClean="0"/>
              <a:t>f</a:t>
            </a:r>
            <a:endParaRPr lang="en-IN" dirty="0"/>
          </a:p>
        </p:txBody>
      </p:sp>
      <p:sp>
        <p:nvSpPr>
          <p:cNvPr id="33" name="TextBox 32"/>
          <p:cNvSpPr txBox="1"/>
          <p:nvPr/>
        </p:nvSpPr>
        <p:spPr>
          <a:xfrm>
            <a:off x="2645638" y="3600503"/>
            <a:ext cx="1591792" cy="923330"/>
          </a:xfrm>
          <a:prstGeom prst="rect">
            <a:avLst/>
          </a:prstGeom>
          <a:noFill/>
        </p:spPr>
        <p:txBody>
          <a:bodyPr wrap="square" rtlCol="0">
            <a:spAutoFit/>
          </a:bodyPr>
          <a:lstStyle/>
          <a:p>
            <a:r>
              <a:rPr lang="en-IN" dirty="0" smtClean="0"/>
              <a:t> No node is adjacent   to f</a:t>
            </a:r>
          </a:p>
          <a:p>
            <a:endParaRPr lang="en-IN" dirty="0"/>
          </a:p>
        </p:txBody>
      </p:sp>
      <p:sp>
        <p:nvSpPr>
          <p:cNvPr id="34" name="TextBox 33"/>
          <p:cNvSpPr txBox="1"/>
          <p:nvPr/>
        </p:nvSpPr>
        <p:spPr>
          <a:xfrm>
            <a:off x="8615080" y="4410745"/>
            <a:ext cx="968189" cy="369332"/>
          </a:xfrm>
          <a:prstGeom prst="rect">
            <a:avLst/>
          </a:prstGeom>
          <a:noFill/>
        </p:spPr>
        <p:txBody>
          <a:bodyPr wrap="square" rtlCol="0">
            <a:spAutoFit/>
          </a:bodyPr>
          <a:lstStyle/>
          <a:p>
            <a:r>
              <a:rPr lang="en-IN" dirty="0" smtClean="0"/>
              <a:t>g</a:t>
            </a:r>
            <a:endParaRPr lang="en-IN" dirty="0"/>
          </a:p>
        </p:txBody>
      </p:sp>
      <p:sp>
        <p:nvSpPr>
          <p:cNvPr id="35" name="TextBox 34"/>
          <p:cNvSpPr txBox="1"/>
          <p:nvPr/>
        </p:nvSpPr>
        <p:spPr>
          <a:xfrm>
            <a:off x="4726089" y="5051327"/>
            <a:ext cx="3666561" cy="369332"/>
          </a:xfrm>
          <a:prstGeom prst="rect">
            <a:avLst/>
          </a:prstGeom>
          <a:noFill/>
        </p:spPr>
        <p:txBody>
          <a:bodyPr wrap="square" rtlCol="0">
            <a:spAutoFit/>
          </a:bodyPr>
          <a:lstStyle/>
          <a:p>
            <a:r>
              <a:rPr lang="en-IN" dirty="0"/>
              <a:t>a</a:t>
            </a:r>
            <a:r>
              <a:rPr lang="en-IN" dirty="0" smtClean="0"/>
              <a:t>, b, e, g, f </a:t>
            </a:r>
          </a:p>
        </p:txBody>
      </p:sp>
      <p:sp>
        <p:nvSpPr>
          <p:cNvPr id="36" name="TextBox 35"/>
          <p:cNvSpPr txBox="1"/>
          <p:nvPr/>
        </p:nvSpPr>
        <p:spPr>
          <a:xfrm>
            <a:off x="4573690" y="4343837"/>
            <a:ext cx="3666561" cy="369332"/>
          </a:xfrm>
          <a:prstGeom prst="rect">
            <a:avLst/>
          </a:prstGeom>
          <a:noFill/>
        </p:spPr>
        <p:txBody>
          <a:bodyPr wrap="square" rtlCol="0">
            <a:spAutoFit/>
          </a:bodyPr>
          <a:lstStyle/>
          <a:p>
            <a:r>
              <a:rPr lang="en-IN" dirty="0"/>
              <a:t>a</a:t>
            </a:r>
            <a:r>
              <a:rPr lang="en-IN" dirty="0" smtClean="0"/>
              <a:t>, b, e, g, f </a:t>
            </a:r>
          </a:p>
        </p:txBody>
      </p:sp>
      <p:sp>
        <p:nvSpPr>
          <p:cNvPr id="37"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2400" b="1" smtClean="0">
                <a:solidFill>
                  <a:srgbClr val="C00000"/>
                </a:solidFill>
                <a:latin typeface="Times New Roman" panose="02020603050405020304" pitchFamily="18" charset="0"/>
                <a:cs typeface="Times New Roman" panose="02020603050405020304" pitchFamily="18" charset="0"/>
              </a:rPr>
              <a:t/>
            </a:r>
            <a:br>
              <a:rPr lang="en-IN" sz="2400" b="1" smtClean="0">
                <a:solidFill>
                  <a:srgbClr val="C00000"/>
                </a:solidFill>
                <a:latin typeface="Times New Roman" panose="02020603050405020304" pitchFamily="18" charset="0"/>
                <a:cs typeface="Times New Roman" panose="02020603050405020304" pitchFamily="18" charset="0"/>
              </a:rPr>
            </a:br>
            <a:r>
              <a:rPr lang="en-IN" sz="2000" b="1" smtClean="0">
                <a:solidFill>
                  <a:srgbClr val="C00000"/>
                </a:solidFill>
                <a:latin typeface="Times New Roman" panose="02020603050405020304" pitchFamily="18" charset="0"/>
                <a:cs typeface="Times New Roman" panose="02020603050405020304" pitchFamily="18" charset="0"/>
              </a:rPr>
              <a:t>MODULE 2 : </a:t>
            </a:r>
            <a:r>
              <a:rPr lang="en-IN" sz="2400" b="1" smtClean="0">
                <a:solidFill>
                  <a:srgbClr val="C00000"/>
                </a:solidFill>
                <a:latin typeface="Times New Roman" panose="02020603050405020304" pitchFamily="18" charset="0"/>
                <a:cs typeface="Times New Roman" panose="02020603050405020304" pitchFamily="18" charset="0"/>
              </a:rPr>
              <a:t>Decrease and Conquer   </a:t>
            </a:r>
            <a:r>
              <a:rPr lang="en-IN" sz="2400" b="1"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sp>
        <p:nvSpPr>
          <p:cNvPr id="2" name="Date Placeholder 1"/>
          <p:cNvSpPr>
            <a:spLocks noGrp="1"/>
          </p:cNvSpPr>
          <p:nvPr>
            <p:ph type="dt" sz="half" idx="10"/>
          </p:nvPr>
        </p:nvSpPr>
        <p:spPr/>
        <p:txBody>
          <a:bodyPr/>
          <a:lstStyle/>
          <a:p>
            <a:fld id="{6CD3877D-5361-437E-8167-19DF65E93538}" type="datetime1">
              <a:rPr lang="en-IN" smtClean="0"/>
              <a:t>21-03-2026</a:t>
            </a:fld>
            <a:endParaRPr lang="en-IN"/>
          </a:p>
        </p:txBody>
      </p:sp>
    </p:spTree>
    <p:extLst>
      <p:ext uri="{BB962C8B-B14F-4D97-AF65-F5344CB8AC3E}">
        <p14:creationId xmlns:p14="http://schemas.microsoft.com/office/powerpoint/2010/main" val="2055241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9"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7051" y="732885"/>
            <a:ext cx="11797552" cy="5627707"/>
          </a:xfrm>
        </p:spPr>
        <p:txBody>
          <a:bodyPr>
            <a:normAutofit/>
          </a:bodyPr>
          <a:lstStyle/>
          <a:p>
            <a:pPr algn="just"/>
            <a:endParaRPr lang="en-US" sz="24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135</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715199323"/>
              </p:ext>
            </p:extLst>
          </p:nvPr>
        </p:nvGraphicFramePr>
        <p:xfrm>
          <a:off x="177050" y="1685078"/>
          <a:ext cx="11176750" cy="4084376"/>
        </p:xfrm>
        <a:graphic>
          <a:graphicData uri="http://schemas.openxmlformats.org/drawingml/2006/table">
            <a:tbl>
              <a:tblPr firstRow="1" bandRow="1">
                <a:tableStyleId>{5C22544A-7EE6-4342-B048-85BDC9FD1C3A}</a:tableStyleId>
              </a:tblPr>
              <a:tblGrid>
                <a:gridCol w="2252384"/>
                <a:gridCol w="1981201"/>
                <a:gridCol w="4043083"/>
                <a:gridCol w="2900082"/>
              </a:tblGrid>
              <a:tr h="710786">
                <a:tc>
                  <a:txBody>
                    <a:bodyPr/>
                    <a:lstStyle/>
                    <a:p>
                      <a:r>
                        <a:rPr lang="en-IN" dirty="0" smtClean="0">
                          <a:solidFill>
                            <a:srgbClr val="002060"/>
                          </a:solidFill>
                        </a:rPr>
                        <a:t>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V=</a:t>
                      </a:r>
                      <a:r>
                        <a:rPr lang="en-IN" dirty="0" err="1" smtClean="0">
                          <a:solidFill>
                            <a:srgbClr val="002060"/>
                          </a:solidFill>
                        </a:rPr>
                        <a:t>adj</a:t>
                      </a:r>
                      <a:r>
                        <a:rPr lang="en-IN" dirty="0" smtClean="0">
                          <a:solidFill>
                            <a:srgbClr val="002060"/>
                          </a:solidFill>
                        </a:rPr>
                        <a:t>(S[top])</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Nodes Visited (S)</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Pop (stack)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530446">
                <a:tc gridSpan="4">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 </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gridSpan="4">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14" name="TextBox 13"/>
          <p:cNvSpPr txBox="1"/>
          <p:nvPr/>
        </p:nvSpPr>
        <p:spPr>
          <a:xfrm>
            <a:off x="336276" y="3261916"/>
            <a:ext cx="1326777" cy="369332"/>
          </a:xfrm>
          <a:prstGeom prst="rect">
            <a:avLst/>
          </a:prstGeom>
          <a:noFill/>
        </p:spPr>
        <p:txBody>
          <a:bodyPr wrap="square" rtlCol="0">
            <a:spAutoFit/>
          </a:bodyPr>
          <a:lstStyle/>
          <a:p>
            <a:r>
              <a:rPr lang="en-IN" dirty="0" smtClean="0"/>
              <a:t>a</a:t>
            </a:r>
            <a:endParaRPr lang="en-IN" dirty="0"/>
          </a:p>
        </p:txBody>
      </p:sp>
      <p:sp>
        <p:nvSpPr>
          <p:cNvPr id="17" name="TextBox 16"/>
          <p:cNvSpPr txBox="1"/>
          <p:nvPr/>
        </p:nvSpPr>
        <p:spPr>
          <a:xfrm>
            <a:off x="4576264" y="3261645"/>
            <a:ext cx="3666561" cy="369332"/>
          </a:xfrm>
          <a:prstGeom prst="rect">
            <a:avLst/>
          </a:prstGeom>
          <a:noFill/>
        </p:spPr>
        <p:txBody>
          <a:bodyPr wrap="square" rtlCol="0">
            <a:spAutoFit/>
          </a:bodyPr>
          <a:lstStyle/>
          <a:p>
            <a:r>
              <a:rPr lang="en-IN" dirty="0"/>
              <a:t>a</a:t>
            </a:r>
            <a:r>
              <a:rPr lang="en-IN" dirty="0" smtClean="0"/>
              <a:t>, b, e, g, f, c </a:t>
            </a:r>
          </a:p>
        </p:txBody>
      </p:sp>
      <p:pic>
        <p:nvPicPr>
          <p:cNvPr id="18" name="Picture 17"/>
          <p:cNvPicPr>
            <a:picLocks noChangeAspect="1"/>
          </p:cNvPicPr>
          <p:nvPr/>
        </p:nvPicPr>
        <p:blipFill>
          <a:blip r:embed="rId5"/>
          <a:stretch>
            <a:fillRect/>
          </a:stretch>
        </p:blipFill>
        <p:spPr>
          <a:xfrm>
            <a:off x="8392650" y="210675"/>
            <a:ext cx="2745726" cy="1300607"/>
          </a:xfrm>
          <a:prstGeom prst="rect">
            <a:avLst/>
          </a:prstGeom>
        </p:spPr>
      </p:pic>
      <p:sp>
        <p:nvSpPr>
          <p:cNvPr id="22" name="TextBox 21"/>
          <p:cNvSpPr txBox="1"/>
          <p:nvPr/>
        </p:nvSpPr>
        <p:spPr>
          <a:xfrm>
            <a:off x="336276" y="4465933"/>
            <a:ext cx="968189" cy="369332"/>
          </a:xfrm>
          <a:prstGeom prst="rect">
            <a:avLst/>
          </a:prstGeom>
          <a:noFill/>
        </p:spPr>
        <p:txBody>
          <a:bodyPr wrap="square" rtlCol="0">
            <a:spAutoFit/>
          </a:bodyPr>
          <a:lstStyle/>
          <a:p>
            <a:r>
              <a:rPr lang="en-IN" dirty="0" smtClean="0"/>
              <a:t>d</a:t>
            </a:r>
            <a:endParaRPr lang="en-IN" dirty="0"/>
          </a:p>
        </p:txBody>
      </p:sp>
      <p:sp>
        <p:nvSpPr>
          <p:cNvPr id="23" name="TextBox 22"/>
          <p:cNvSpPr txBox="1"/>
          <p:nvPr/>
        </p:nvSpPr>
        <p:spPr>
          <a:xfrm>
            <a:off x="2493238" y="4242730"/>
            <a:ext cx="2012024" cy="923330"/>
          </a:xfrm>
          <a:prstGeom prst="rect">
            <a:avLst/>
          </a:prstGeom>
          <a:noFill/>
        </p:spPr>
        <p:txBody>
          <a:bodyPr wrap="square" rtlCol="0">
            <a:spAutoFit/>
          </a:bodyPr>
          <a:lstStyle/>
          <a:p>
            <a:r>
              <a:rPr lang="en-IN" dirty="0" smtClean="0"/>
              <a:t> all nodes adjacent d are already visited </a:t>
            </a:r>
            <a:endParaRPr lang="en-IN" dirty="0"/>
          </a:p>
        </p:txBody>
      </p:sp>
      <p:sp>
        <p:nvSpPr>
          <p:cNvPr id="26" name="TextBox 25"/>
          <p:cNvSpPr txBox="1"/>
          <p:nvPr/>
        </p:nvSpPr>
        <p:spPr>
          <a:xfrm>
            <a:off x="394447" y="5054318"/>
            <a:ext cx="10591519" cy="923330"/>
          </a:xfrm>
          <a:prstGeom prst="rect">
            <a:avLst/>
          </a:prstGeom>
          <a:noFill/>
        </p:spPr>
        <p:txBody>
          <a:bodyPr wrap="square" rtlCol="0">
            <a:spAutoFit/>
          </a:bodyPr>
          <a:lstStyle/>
          <a:p>
            <a:r>
              <a:rPr lang="en-IN" dirty="0" smtClean="0">
                <a:solidFill>
                  <a:srgbClr val="002060"/>
                </a:solidFill>
              </a:rPr>
              <a:t>The </a:t>
            </a:r>
            <a:r>
              <a:rPr lang="en-IN" dirty="0" err="1">
                <a:solidFill>
                  <a:srgbClr val="002060"/>
                </a:solidFill>
              </a:rPr>
              <a:t>poped</a:t>
            </a:r>
            <a:r>
              <a:rPr lang="en-IN" dirty="0">
                <a:solidFill>
                  <a:srgbClr val="002060"/>
                </a:solidFill>
              </a:rPr>
              <a:t> order is:   e, f, g, b, c, a, d  (reverse of </a:t>
            </a:r>
            <a:r>
              <a:rPr lang="en-IN" dirty="0" err="1">
                <a:solidFill>
                  <a:srgbClr val="002060"/>
                </a:solidFill>
              </a:rPr>
              <a:t>poped</a:t>
            </a:r>
            <a:r>
              <a:rPr lang="en-IN" dirty="0">
                <a:solidFill>
                  <a:srgbClr val="002060"/>
                </a:solidFill>
              </a:rPr>
              <a:t> order is Topological sorting</a:t>
            </a:r>
            <a:r>
              <a:rPr lang="en-IN" dirty="0" smtClean="0">
                <a:solidFill>
                  <a:srgbClr val="002060"/>
                </a:solidFill>
              </a:rPr>
              <a:t>)</a:t>
            </a:r>
          </a:p>
          <a:p>
            <a:r>
              <a:rPr lang="en-IN" dirty="0" smtClean="0">
                <a:solidFill>
                  <a:srgbClr val="002060"/>
                </a:solidFill>
              </a:rPr>
              <a:t>Resultant Topological sorting is : </a:t>
            </a:r>
            <a:r>
              <a:rPr lang="en-IN" dirty="0" smtClean="0">
                <a:solidFill>
                  <a:srgbClr val="FF0000"/>
                </a:solidFill>
              </a:rPr>
              <a:t>d, a, c, b, g, f, e</a:t>
            </a:r>
            <a:endParaRPr lang="en-IN" dirty="0">
              <a:solidFill>
                <a:srgbClr val="FF0000"/>
              </a:solidFill>
            </a:endParaRPr>
          </a:p>
          <a:p>
            <a:endParaRPr lang="en-IN" dirty="0">
              <a:solidFill>
                <a:srgbClr val="002060"/>
              </a:solidFill>
            </a:endParaRPr>
          </a:p>
        </p:txBody>
      </p:sp>
      <p:sp>
        <p:nvSpPr>
          <p:cNvPr id="27" name="TextBox 26"/>
          <p:cNvSpPr txBox="1"/>
          <p:nvPr/>
        </p:nvSpPr>
        <p:spPr>
          <a:xfrm>
            <a:off x="304799" y="2575517"/>
            <a:ext cx="968189" cy="369332"/>
          </a:xfrm>
          <a:prstGeom prst="rect">
            <a:avLst/>
          </a:prstGeom>
          <a:noFill/>
        </p:spPr>
        <p:txBody>
          <a:bodyPr wrap="square" rtlCol="0">
            <a:spAutoFit/>
          </a:bodyPr>
          <a:lstStyle/>
          <a:p>
            <a:r>
              <a:rPr lang="en-IN" dirty="0"/>
              <a:t>a</a:t>
            </a:r>
            <a:r>
              <a:rPr lang="en-IN" dirty="0" smtClean="0"/>
              <a:t>, c </a:t>
            </a:r>
            <a:endParaRPr lang="en-IN" dirty="0"/>
          </a:p>
        </p:txBody>
      </p:sp>
      <p:sp>
        <p:nvSpPr>
          <p:cNvPr id="29" name="TextBox 28"/>
          <p:cNvSpPr txBox="1"/>
          <p:nvPr/>
        </p:nvSpPr>
        <p:spPr>
          <a:xfrm>
            <a:off x="4589931" y="2506624"/>
            <a:ext cx="3666561" cy="369332"/>
          </a:xfrm>
          <a:prstGeom prst="rect">
            <a:avLst/>
          </a:prstGeom>
          <a:noFill/>
        </p:spPr>
        <p:txBody>
          <a:bodyPr wrap="square" rtlCol="0">
            <a:spAutoFit/>
          </a:bodyPr>
          <a:lstStyle/>
          <a:p>
            <a:r>
              <a:rPr lang="en-IN" dirty="0"/>
              <a:t>a</a:t>
            </a:r>
            <a:r>
              <a:rPr lang="en-IN" dirty="0" smtClean="0"/>
              <a:t>, b, e, g, f, c</a:t>
            </a:r>
          </a:p>
        </p:txBody>
      </p:sp>
      <p:sp>
        <p:nvSpPr>
          <p:cNvPr id="31" name="TextBox 30"/>
          <p:cNvSpPr txBox="1"/>
          <p:nvPr/>
        </p:nvSpPr>
        <p:spPr>
          <a:xfrm>
            <a:off x="8827166" y="4338844"/>
            <a:ext cx="968189" cy="369332"/>
          </a:xfrm>
          <a:prstGeom prst="rect">
            <a:avLst/>
          </a:prstGeom>
          <a:noFill/>
        </p:spPr>
        <p:txBody>
          <a:bodyPr wrap="square" rtlCol="0">
            <a:spAutoFit/>
          </a:bodyPr>
          <a:lstStyle/>
          <a:p>
            <a:r>
              <a:rPr lang="en-IN" dirty="0" smtClean="0"/>
              <a:t>d</a:t>
            </a:r>
            <a:endParaRPr lang="en-IN" dirty="0"/>
          </a:p>
        </p:txBody>
      </p:sp>
      <p:sp>
        <p:nvSpPr>
          <p:cNvPr id="32" name="TextBox 31"/>
          <p:cNvSpPr txBox="1"/>
          <p:nvPr/>
        </p:nvSpPr>
        <p:spPr>
          <a:xfrm>
            <a:off x="8797324" y="3150015"/>
            <a:ext cx="968189" cy="369332"/>
          </a:xfrm>
          <a:prstGeom prst="rect">
            <a:avLst/>
          </a:prstGeom>
          <a:noFill/>
        </p:spPr>
        <p:txBody>
          <a:bodyPr wrap="square" rtlCol="0">
            <a:spAutoFit/>
          </a:bodyPr>
          <a:lstStyle/>
          <a:p>
            <a:r>
              <a:rPr lang="en-IN" dirty="0" smtClean="0"/>
              <a:t>a</a:t>
            </a:r>
            <a:endParaRPr lang="en-IN" dirty="0"/>
          </a:p>
        </p:txBody>
      </p:sp>
      <p:sp>
        <p:nvSpPr>
          <p:cNvPr id="33" name="TextBox 32"/>
          <p:cNvSpPr txBox="1"/>
          <p:nvPr/>
        </p:nvSpPr>
        <p:spPr>
          <a:xfrm>
            <a:off x="2603691" y="3096093"/>
            <a:ext cx="1591792" cy="923330"/>
          </a:xfrm>
          <a:prstGeom prst="rect">
            <a:avLst/>
          </a:prstGeom>
          <a:noFill/>
        </p:spPr>
        <p:txBody>
          <a:bodyPr wrap="square" rtlCol="0">
            <a:spAutoFit/>
          </a:bodyPr>
          <a:lstStyle/>
          <a:p>
            <a:r>
              <a:rPr lang="en-IN" dirty="0" smtClean="0"/>
              <a:t> No node is adjacent   to a</a:t>
            </a:r>
          </a:p>
          <a:p>
            <a:endParaRPr lang="en-IN" dirty="0"/>
          </a:p>
        </p:txBody>
      </p:sp>
      <p:sp>
        <p:nvSpPr>
          <p:cNvPr id="35" name="TextBox 34"/>
          <p:cNvSpPr txBox="1"/>
          <p:nvPr/>
        </p:nvSpPr>
        <p:spPr>
          <a:xfrm>
            <a:off x="4682313" y="4334943"/>
            <a:ext cx="3666561" cy="369332"/>
          </a:xfrm>
          <a:prstGeom prst="rect">
            <a:avLst/>
          </a:prstGeom>
          <a:noFill/>
        </p:spPr>
        <p:txBody>
          <a:bodyPr wrap="square" rtlCol="0">
            <a:spAutoFit/>
          </a:bodyPr>
          <a:lstStyle/>
          <a:p>
            <a:r>
              <a:rPr lang="en-IN" dirty="0"/>
              <a:t>a</a:t>
            </a:r>
            <a:r>
              <a:rPr lang="en-IN" dirty="0" smtClean="0"/>
              <a:t>, b, e, g, f, c, d </a:t>
            </a:r>
          </a:p>
        </p:txBody>
      </p:sp>
      <p:sp>
        <p:nvSpPr>
          <p:cNvPr id="37" name="TextBox 36"/>
          <p:cNvSpPr txBox="1"/>
          <p:nvPr/>
        </p:nvSpPr>
        <p:spPr>
          <a:xfrm>
            <a:off x="2603691" y="2341601"/>
            <a:ext cx="1591792" cy="923330"/>
          </a:xfrm>
          <a:prstGeom prst="rect">
            <a:avLst/>
          </a:prstGeom>
          <a:noFill/>
        </p:spPr>
        <p:txBody>
          <a:bodyPr wrap="square" rtlCol="0">
            <a:spAutoFit/>
          </a:bodyPr>
          <a:lstStyle/>
          <a:p>
            <a:r>
              <a:rPr lang="en-IN" dirty="0" smtClean="0"/>
              <a:t> No node is adjacent   to c</a:t>
            </a:r>
          </a:p>
          <a:p>
            <a:endParaRPr lang="en-IN" dirty="0"/>
          </a:p>
        </p:txBody>
      </p:sp>
      <p:sp>
        <p:nvSpPr>
          <p:cNvPr id="38" name="TextBox 37"/>
          <p:cNvSpPr txBox="1"/>
          <p:nvPr/>
        </p:nvSpPr>
        <p:spPr>
          <a:xfrm>
            <a:off x="8797324" y="2438674"/>
            <a:ext cx="968189" cy="369332"/>
          </a:xfrm>
          <a:prstGeom prst="rect">
            <a:avLst/>
          </a:prstGeom>
          <a:noFill/>
        </p:spPr>
        <p:txBody>
          <a:bodyPr wrap="square" rtlCol="0">
            <a:spAutoFit/>
          </a:bodyPr>
          <a:lstStyle/>
          <a:p>
            <a:r>
              <a:rPr lang="en-IN" dirty="0" smtClean="0"/>
              <a:t>c</a:t>
            </a:r>
            <a:endParaRPr lang="en-IN" dirty="0"/>
          </a:p>
        </p:txBody>
      </p:sp>
      <p:sp>
        <p:nvSpPr>
          <p:cNvPr id="39" name="TextBox 38"/>
          <p:cNvSpPr txBox="1"/>
          <p:nvPr/>
        </p:nvSpPr>
        <p:spPr>
          <a:xfrm>
            <a:off x="1808627" y="3910851"/>
            <a:ext cx="8534399" cy="400110"/>
          </a:xfrm>
          <a:prstGeom prst="rect">
            <a:avLst/>
          </a:prstGeom>
          <a:noFill/>
        </p:spPr>
        <p:txBody>
          <a:bodyPr wrap="square" rtlCol="0">
            <a:spAutoFit/>
          </a:bodyPr>
          <a:lstStyle/>
          <a:p>
            <a:r>
              <a:rPr lang="en-IN" dirty="0" smtClean="0"/>
              <a:t> </a:t>
            </a:r>
            <a:r>
              <a:rPr lang="en-IN" sz="2000" dirty="0" smtClean="0">
                <a:solidFill>
                  <a:srgbClr val="FF0000"/>
                </a:solidFill>
              </a:rPr>
              <a:t>now stack is empty, next consider any unvisited node which is not visited</a:t>
            </a:r>
            <a:endParaRPr lang="en-IN" sz="2000" dirty="0">
              <a:solidFill>
                <a:srgbClr val="FF0000"/>
              </a:solidFill>
            </a:endParaRPr>
          </a:p>
        </p:txBody>
      </p:sp>
      <p:sp>
        <p:nvSpPr>
          <p:cNvPr id="25"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2400" b="1" smtClean="0">
                <a:solidFill>
                  <a:srgbClr val="C00000"/>
                </a:solidFill>
                <a:latin typeface="Times New Roman" panose="02020603050405020304" pitchFamily="18" charset="0"/>
                <a:cs typeface="Times New Roman" panose="02020603050405020304" pitchFamily="18" charset="0"/>
              </a:rPr>
              <a:t/>
            </a:r>
            <a:br>
              <a:rPr lang="en-IN" sz="2400" b="1" smtClean="0">
                <a:solidFill>
                  <a:srgbClr val="C00000"/>
                </a:solidFill>
                <a:latin typeface="Times New Roman" panose="02020603050405020304" pitchFamily="18" charset="0"/>
                <a:cs typeface="Times New Roman" panose="02020603050405020304" pitchFamily="18" charset="0"/>
              </a:rPr>
            </a:br>
            <a:r>
              <a:rPr lang="en-IN" sz="2000" b="1" smtClean="0">
                <a:solidFill>
                  <a:srgbClr val="C00000"/>
                </a:solidFill>
                <a:latin typeface="Times New Roman" panose="02020603050405020304" pitchFamily="18" charset="0"/>
                <a:cs typeface="Times New Roman" panose="02020603050405020304" pitchFamily="18" charset="0"/>
              </a:rPr>
              <a:t>MODULE 2 : </a:t>
            </a:r>
            <a:r>
              <a:rPr lang="en-IN" sz="2400" b="1" smtClean="0">
                <a:solidFill>
                  <a:srgbClr val="C00000"/>
                </a:solidFill>
                <a:latin typeface="Times New Roman" panose="02020603050405020304" pitchFamily="18" charset="0"/>
                <a:cs typeface="Times New Roman" panose="02020603050405020304" pitchFamily="18" charset="0"/>
              </a:rPr>
              <a:t>Decrease and Conquer   </a:t>
            </a:r>
            <a:r>
              <a:rPr lang="en-IN" sz="2400" b="1"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sp>
        <p:nvSpPr>
          <p:cNvPr id="2" name="Date Placeholder 1"/>
          <p:cNvSpPr>
            <a:spLocks noGrp="1"/>
          </p:cNvSpPr>
          <p:nvPr>
            <p:ph type="dt" sz="half" idx="10"/>
          </p:nvPr>
        </p:nvSpPr>
        <p:spPr/>
        <p:txBody>
          <a:bodyPr/>
          <a:lstStyle/>
          <a:p>
            <a:fld id="{048C041E-6C52-48B6-BF2D-81665EA1EBC6}" type="datetime1">
              <a:rPr lang="en-IN" smtClean="0"/>
              <a:t>21-03-2026</a:t>
            </a:fld>
            <a:endParaRPr lang="en-IN"/>
          </a:p>
        </p:txBody>
      </p:sp>
    </p:spTree>
    <p:extLst>
      <p:ext uri="{BB962C8B-B14F-4D97-AF65-F5344CB8AC3E}">
        <p14:creationId xmlns:p14="http://schemas.microsoft.com/office/powerpoint/2010/main" val="152267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22" grpId="0"/>
      <p:bldP spid="23" grpId="0"/>
      <p:bldP spid="26" grpId="0"/>
      <p:bldP spid="27" grpId="0"/>
      <p:bldP spid="29" grpId="0"/>
      <p:bldP spid="31" grpId="0"/>
      <p:bldP spid="32" grpId="0"/>
      <p:bldP spid="33" grpId="0"/>
      <p:bldP spid="35" grpId="0"/>
      <p:bldP spid="37" grpId="0"/>
      <p:bldP spid="38" grpId="0"/>
      <p:bldP spid="39"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7576" y="732885"/>
            <a:ext cx="12084424" cy="5627707"/>
          </a:xfrm>
        </p:spPr>
        <p:txBody>
          <a:bodyPr>
            <a:normAutofit/>
          </a:bodyPr>
          <a:lstStyle/>
          <a:p>
            <a:pPr algn="just"/>
            <a:r>
              <a:rPr lang="en-US" sz="2000" b="1" dirty="0" smtClean="0">
                <a:solidFill>
                  <a:srgbClr val="0070C0"/>
                </a:solidFill>
                <a:latin typeface="Times New Roman" panose="02020603050405020304" pitchFamily="18" charset="0"/>
                <a:cs typeface="Times New Roman" panose="02020603050405020304" pitchFamily="18" charset="0"/>
              </a:rPr>
              <a:t>Problem2: </a:t>
            </a:r>
            <a:r>
              <a:rPr lang="en-US" sz="2000" b="1" dirty="0">
                <a:solidFill>
                  <a:srgbClr val="002060"/>
                </a:solidFill>
                <a:latin typeface="Times New Roman" panose="02020603050405020304" pitchFamily="18" charset="0"/>
                <a:cs typeface="Times New Roman" panose="02020603050405020304" pitchFamily="18" charset="0"/>
              </a:rPr>
              <a:t>Apply the DFS-based algorithm to solve the topological sorting problem </a:t>
            </a:r>
            <a:r>
              <a:rPr lang="en-US" sz="2000" b="1" dirty="0" smtClean="0">
                <a:solidFill>
                  <a:srgbClr val="002060"/>
                </a:solidFill>
                <a:latin typeface="Times New Roman" panose="02020603050405020304" pitchFamily="18" charset="0"/>
                <a:cs typeface="Times New Roman" panose="02020603050405020304" pitchFamily="18" charset="0"/>
              </a:rPr>
              <a:t>for </a:t>
            </a:r>
            <a:r>
              <a:rPr lang="en-IN" sz="2000" b="1" dirty="0" smtClean="0">
                <a:solidFill>
                  <a:srgbClr val="002060"/>
                </a:solidFill>
                <a:latin typeface="Times New Roman" panose="02020603050405020304" pitchFamily="18" charset="0"/>
                <a:cs typeface="Times New Roman" panose="02020603050405020304" pitchFamily="18" charset="0"/>
              </a:rPr>
              <a:t>the </a:t>
            </a:r>
            <a:r>
              <a:rPr lang="en-IN" sz="2000" b="1" dirty="0">
                <a:solidFill>
                  <a:srgbClr val="002060"/>
                </a:solidFill>
                <a:latin typeface="Times New Roman" panose="02020603050405020304" pitchFamily="18" charset="0"/>
                <a:cs typeface="Times New Roman" panose="02020603050405020304" pitchFamily="18" charset="0"/>
              </a:rPr>
              <a:t>following </a:t>
            </a:r>
            <a:r>
              <a:rPr lang="en-IN" sz="2000" b="1" dirty="0" smtClean="0">
                <a:solidFill>
                  <a:srgbClr val="002060"/>
                </a:solidFill>
                <a:latin typeface="Times New Roman" panose="02020603050405020304" pitchFamily="18" charset="0"/>
                <a:cs typeface="Times New Roman" panose="02020603050405020304" pitchFamily="18" charset="0"/>
              </a:rPr>
              <a:t>digraph:</a:t>
            </a:r>
          </a:p>
          <a:p>
            <a:pPr algn="just"/>
            <a:r>
              <a:rPr lang="en-US" sz="2000" b="1" dirty="0">
                <a:solidFill>
                  <a:srgbClr val="002060"/>
                </a:solidFill>
                <a:latin typeface="Times New Roman" panose="02020603050405020304" pitchFamily="18" charset="0"/>
                <a:cs typeface="Times New Roman" panose="02020603050405020304" pitchFamily="18" charset="0"/>
              </a:rPr>
              <a:t>June/July-2019 (</a:t>
            </a:r>
            <a:r>
              <a:rPr lang="en-US" sz="2000" b="1" dirty="0" smtClean="0">
                <a:solidFill>
                  <a:srgbClr val="002060"/>
                </a:solidFill>
                <a:latin typeface="Times New Roman" panose="02020603050405020304" pitchFamily="18" charset="0"/>
                <a:cs typeface="Times New Roman" panose="02020603050405020304" pitchFamily="18" charset="0"/>
              </a:rPr>
              <a:t>17CS43</a:t>
            </a:r>
            <a:r>
              <a:rPr lang="en-US" sz="2000" b="1" dirty="0">
                <a:solidFill>
                  <a:srgbClr val="002060"/>
                </a:solidFill>
                <a:latin typeface="Times New Roman" panose="02020603050405020304" pitchFamily="18" charset="0"/>
                <a:cs typeface="Times New Roman" panose="02020603050405020304" pitchFamily="18" charset="0"/>
              </a:rPr>
              <a:t>)</a:t>
            </a: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Solution: Let us consider start with a vertex </a:t>
            </a:r>
            <a:r>
              <a:rPr lang="en-US" sz="2000" b="1" dirty="0">
                <a:solidFill>
                  <a:srgbClr val="FF0000"/>
                </a:solidFill>
                <a:latin typeface="Times New Roman" panose="02020603050405020304" pitchFamily="18" charset="0"/>
                <a:cs typeface="Times New Roman" panose="02020603050405020304" pitchFamily="18" charset="0"/>
              </a:rPr>
              <a:t>1</a:t>
            </a:r>
            <a:endParaRPr lang="en-US" sz="2000" b="1" dirty="0" smtClean="0">
              <a:solidFill>
                <a:srgbClr val="FF0000"/>
              </a:solidFill>
              <a:latin typeface="Times New Roman" panose="02020603050405020304" pitchFamily="18" charset="0"/>
              <a:cs typeface="Times New Roman" panose="02020603050405020304" pitchFamily="18" charset="0"/>
            </a:endParaRPr>
          </a:p>
          <a:p>
            <a:pPr algn="just"/>
            <a:r>
              <a:rPr lang="en-US" sz="2000" b="1" dirty="0" smtClean="0">
                <a:solidFill>
                  <a:srgbClr val="FF0000"/>
                </a:solidFill>
                <a:latin typeface="Times New Roman" panose="02020603050405020304" pitchFamily="18" charset="0"/>
                <a:cs typeface="Times New Roman" panose="02020603050405020304" pitchFamily="18" charset="0"/>
              </a:rPr>
              <a:t>Consider the table like this </a:t>
            </a: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136</a:t>
            </a:fld>
            <a:endParaRPr lang="en-IN" sz="1600" b="1" dirty="0">
              <a:solidFill>
                <a:srgbClr val="002060"/>
              </a:solidFill>
              <a:latin typeface="Times New Roman" panose="02020603050405020304" pitchFamily="18" charset="0"/>
              <a:cs typeface="Times New Roman" panose="02020603050405020304" pitchFamily="18" charset="0"/>
            </a:endParaRPr>
          </a:p>
        </p:txBody>
      </p:sp>
      <p:pic>
        <p:nvPicPr>
          <p:cNvPr id="1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1607" y="1291176"/>
            <a:ext cx="2233757" cy="1415303"/>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2400" b="1" smtClean="0">
                <a:solidFill>
                  <a:srgbClr val="C00000"/>
                </a:solidFill>
                <a:latin typeface="Times New Roman" panose="02020603050405020304" pitchFamily="18" charset="0"/>
                <a:cs typeface="Times New Roman" panose="02020603050405020304" pitchFamily="18" charset="0"/>
              </a:rPr>
              <a:t/>
            </a:r>
            <a:br>
              <a:rPr lang="en-IN" sz="2400" b="1" smtClean="0">
                <a:solidFill>
                  <a:srgbClr val="C00000"/>
                </a:solidFill>
                <a:latin typeface="Times New Roman" panose="02020603050405020304" pitchFamily="18" charset="0"/>
                <a:cs typeface="Times New Roman" panose="02020603050405020304" pitchFamily="18" charset="0"/>
              </a:rPr>
            </a:br>
            <a:r>
              <a:rPr lang="en-IN" sz="2000" b="1" smtClean="0">
                <a:solidFill>
                  <a:srgbClr val="C00000"/>
                </a:solidFill>
                <a:latin typeface="Times New Roman" panose="02020603050405020304" pitchFamily="18" charset="0"/>
                <a:cs typeface="Times New Roman" panose="02020603050405020304" pitchFamily="18" charset="0"/>
              </a:rPr>
              <a:t>MODULE 2 : </a:t>
            </a:r>
            <a:r>
              <a:rPr lang="en-IN" sz="2400" b="1" smtClean="0">
                <a:solidFill>
                  <a:srgbClr val="C00000"/>
                </a:solidFill>
                <a:latin typeface="Times New Roman" panose="02020603050405020304" pitchFamily="18" charset="0"/>
                <a:cs typeface="Times New Roman" panose="02020603050405020304" pitchFamily="18" charset="0"/>
              </a:rPr>
              <a:t>Decrease and Conquer   </a:t>
            </a:r>
            <a:r>
              <a:rPr lang="en-IN" sz="2400" b="1"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sp>
        <p:nvSpPr>
          <p:cNvPr id="2" name="Date Placeholder 1"/>
          <p:cNvSpPr>
            <a:spLocks noGrp="1"/>
          </p:cNvSpPr>
          <p:nvPr>
            <p:ph type="dt" sz="half" idx="10"/>
          </p:nvPr>
        </p:nvSpPr>
        <p:spPr/>
        <p:txBody>
          <a:bodyPr/>
          <a:lstStyle/>
          <a:p>
            <a:fld id="{62F8FCBB-5349-4C74-AA8F-D6664400449D}" type="datetime1">
              <a:rPr lang="en-IN" smtClean="0"/>
              <a:t>21-03-2026</a:t>
            </a:fld>
            <a:endParaRPr lang="en-IN"/>
          </a:p>
        </p:txBody>
      </p:sp>
    </p:spTree>
    <p:extLst>
      <p:ext uri="{BB962C8B-B14F-4D97-AF65-F5344CB8AC3E}">
        <p14:creationId xmlns:p14="http://schemas.microsoft.com/office/powerpoint/2010/main" val="3626280921"/>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7051" y="732885"/>
            <a:ext cx="11797552" cy="5627707"/>
          </a:xfrm>
        </p:spPr>
        <p:txBody>
          <a:bodyPr>
            <a:normAutofit/>
          </a:bodyPr>
          <a:lstStyle/>
          <a:p>
            <a:pPr algn="just"/>
            <a:endParaRPr lang="en-US" sz="24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137</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24913351"/>
              </p:ext>
            </p:extLst>
          </p:nvPr>
        </p:nvGraphicFramePr>
        <p:xfrm>
          <a:off x="177051" y="2030203"/>
          <a:ext cx="11191120" cy="4066728"/>
        </p:xfrm>
        <a:graphic>
          <a:graphicData uri="http://schemas.openxmlformats.org/drawingml/2006/table">
            <a:tbl>
              <a:tblPr firstRow="1" bandRow="1">
                <a:tableStyleId>{5C22544A-7EE6-4342-B048-85BDC9FD1C3A}</a:tableStyleId>
              </a:tblPr>
              <a:tblGrid>
                <a:gridCol w="2252384"/>
                <a:gridCol w="1981203"/>
                <a:gridCol w="4043084"/>
                <a:gridCol w="2914449"/>
              </a:tblGrid>
              <a:tr h="533703">
                <a:tc>
                  <a:txBody>
                    <a:bodyPr/>
                    <a:lstStyle/>
                    <a:p>
                      <a:r>
                        <a:rPr lang="en-IN" dirty="0" smtClean="0">
                          <a:solidFill>
                            <a:srgbClr val="002060"/>
                          </a:solidFill>
                        </a:rPr>
                        <a:t>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V=</a:t>
                      </a:r>
                      <a:r>
                        <a:rPr lang="en-IN" dirty="0" err="1" smtClean="0">
                          <a:solidFill>
                            <a:srgbClr val="002060"/>
                          </a:solidFill>
                        </a:rPr>
                        <a:t>adj</a:t>
                      </a:r>
                      <a:r>
                        <a:rPr lang="en-IN" dirty="0" smtClean="0">
                          <a:solidFill>
                            <a:srgbClr val="002060"/>
                          </a:solidFill>
                        </a:rPr>
                        <a:t>(S[top])</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Nodes Visited (S)</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Pop (stack)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636857">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652244">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51803">
                <a:tc grid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solidFill>
                            <a:srgbClr val="FF0000"/>
                          </a:solidFill>
                        </a:rPr>
                        <a:t>now stack is empty, next consider any unvisited node which is not visited, let us consider node 2</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460809">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 </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5916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412842">
                <a:tc grid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solidFill>
                            <a:srgbClr val="FF0000"/>
                          </a:solidFill>
                        </a:rPr>
                        <a:t>now stack is empty, next consider any unvisited node which is not visited, let us consider node 3</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4128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9" name="TextBox 8"/>
          <p:cNvSpPr txBox="1"/>
          <p:nvPr/>
        </p:nvSpPr>
        <p:spPr>
          <a:xfrm>
            <a:off x="324887" y="2713955"/>
            <a:ext cx="726141" cy="369332"/>
          </a:xfrm>
          <a:prstGeom prst="rect">
            <a:avLst/>
          </a:prstGeom>
          <a:noFill/>
        </p:spPr>
        <p:txBody>
          <a:bodyPr wrap="square" rtlCol="0">
            <a:spAutoFit/>
          </a:bodyPr>
          <a:lstStyle/>
          <a:p>
            <a:r>
              <a:rPr lang="en-IN" dirty="0" smtClean="0"/>
              <a:t>---</a:t>
            </a:r>
            <a:endParaRPr lang="en-IN" dirty="0"/>
          </a:p>
        </p:txBody>
      </p:sp>
      <p:sp>
        <p:nvSpPr>
          <p:cNvPr id="10" name="TextBox 9"/>
          <p:cNvSpPr txBox="1"/>
          <p:nvPr/>
        </p:nvSpPr>
        <p:spPr>
          <a:xfrm>
            <a:off x="2961123" y="2748050"/>
            <a:ext cx="726141" cy="369332"/>
          </a:xfrm>
          <a:prstGeom prst="rect">
            <a:avLst/>
          </a:prstGeom>
          <a:noFill/>
        </p:spPr>
        <p:txBody>
          <a:bodyPr wrap="square" rtlCol="0">
            <a:spAutoFit/>
          </a:bodyPr>
          <a:lstStyle/>
          <a:p>
            <a:r>
              <a:rPr lang="en-IN" dirty="0" smtClean="0"/>
              <a:t>---</a:t>
            </a:r>
            <a:endParaRPr lang="en-IN" dirty="0"/>
          </a:p>
        </p:txBody>
      </p:sp>
      <p:sp>
        <p:nvSpPr>
          <p:cNvPr id="11" name="TextBox 10"/>
          <p:cNvSpPr txBox="1"/>
          <p:nvPr/>
        </p:nvSpPr>
        <p:spPr>
          <a:xfrm>
            <a:off x="4555119" y="2575121"/>
            <a:ext cx="3643026" cy="646331"/>
          </a:xfrm>
          <a:prstGeom prst="rect">
            <a:avLst/>
          </a:prstGeom>
          <a:noFill/>
        </p:spPr>
        <p:txBody>
          <a:bodyPr wrap="square" rtlCol="0">
            <a:spAutoFit/>
          </a:bodyPr>
          <a:lstStyle/>
          <a:p>
            <a:r>
              <a:rPr lang="en-IN" dirty="0" smtClean="0"/>
              <a:t>1 </a:t>
            </a:r>
          </a:p>
          <a:p>
            <a:r>
              <a:rPr lang="en-IN" dirty="0" smtClean="0"/>
              <a:t>(1 </a:t>
            </a:r>
            <a:r>
              <a:rPr lang="en-IN" dirty="0"/>
              <a:t>is visited push 1</a:t>
            </a:r>
            <a:r>
              <a:rPr lang="en-IN" dirty="0" smtClean="0"/>
              <a:t> </a:t>
            </a:r>
            <a:r>
              <a:rPr lang="en-IN" dirty="0"/>
              <a:t>on </a:t>
            </a:r>
            <a:r>
              <a:rPr lang="en-IN" dirty="0" smtClean="0"/>
              <a:t>stack)</a:t>
            </a:r>
            <a:endParaRPr lang="en-IN" dirty="0"/>
          </a:p>
        </p:txBody>
      </p:sp>
      <p:sp>
        <p:nvSpPr>
          <p:cNvPr id="14" name="TextBox 13"/>
          <p:cNvSpPr txBox="1"/>
          <p:nvPr/>
        </p:nvSpPr>
        <p:spPr>
          <a:xfrm>
            <a:off x="324887" y="3348582"/>
            <a:ext cx="726141" cy="369332"/>
          </a:xfrm>
          <a:prstGeom prst="rect">
            <a:avLst/>
          </a:prstGeom>
          <a:noFill/>
        </p:spPr>
        <p:txBody>
          <a:bodyPr wrap="square" rtlCol="0">
            <a:spAutoFit/>
          </a:bodyPr>
          <a:lstStyle/>
          <a:p>
            <a:r>
              <a:rPr lang="en-IN" dirty="0"/>
              <a:t>1</a:t>
            </a:r>
          </a:p>
        </p:txBody>
      </p:sp>
      <p:sp>
        <p:nvSpPr>
          <p:cNvPr id="17" name="TextBox 16"/>
          <p:cNvSpPr txBox="1"/>
          <p:nvPr/>
        </p:nvSpPr>
        <p:spPr>
          <a:xfrm>
            <a:off x="4578654" y="3338802"/>
            <a:ext cx="3666561" cy="369332"/>
          </a:xfrm>
          <a:prstGeom prst="rect">
            <a:avLst/>
          </a:prstGeom>
          <a:noFill/>
        </p:spPr>
        <p:txBody>
          <a:bodyPr wrap="square" rtlCol="0">
            <a:spAutoFit/>
          </a:bodyPr>
          <a:lstStyle/>
          <a:p>
            <a:r>
              <a:rPr lang="en-IN" dirty="0"/>
              <a:t>1</a:t>
            </a:r>
            <a:r>
              <a:rPr lang="en-IN" dirty="0" smtClean="0"/>
              <a:t> </a:t>
            </a:r>
          </a:p>
        </p:txBody>
      </p:sp>
      <p:sp>
        <p:nvSpPr>
          <p:cNvPr id="19" name="TextBox 18"/>
          <p:cNvSpPr txBox="1"/>
          <p:nvPr/>
        </p:nvSpPr>
        <p:spPr>
          <a:xfrm>
            <a:off x="425823" y="4722675"/>
            <a:ext cx="726141" cy="369332"/>
          </a:xfrm>
          <a:prstGeom prst="rect">
            <a:avLst/>
          </a:prstGeom>
          <a:noFill/>
        </p:spPr>
        <p:txBody>
          <a:bodyPr wrap="square" rtlCol="0">
            <a:spAutoFit/>
          </a:bodyPr>
          <a:lstStyle/>
          <a:p>
            <a:r>
              <a:rPr lang="en-IN" dirty="0" smtClean="0"/>
              <a:t>2</a:t>
            </a:r>
            <a:endParaRPr lang="en-IN" dirty="0"/>
          </a:p>
        </p:txBody>
      </p:sp>
      <p:sp>
        <p:nvSpPr>
          <p:cNvPr id="23" name="TextBox 22"/>
          <p:cNvSpPr txBox="1"/>
          <p:nvPr/>
        </p:nvSpPr>
        <p:spPr>
          <a:xfrm>
            <a:off x="2551833" y="4584175"/>
            <a:ext cx="1591792" cy="646331"/>
          </a:xfrm>
          <a:prstGeom prst="rect">
            <a:avLst/>
          </a:prstGeom>
          <a:noFill/>
        </p:spPr>
        <p:txBody>
          <a:bodyPr wrap="square" rtlCol="0">
            <a:spAutoFit/>
          </a:bodyPr>
          <a:lstStyle/>
          <a:p>
            <a:r>
              <a:rPr lang="en-IN" dirty="0" smtClean="0"/>
              <a:t> No node is adjacent   to </a:t>
            </a:r>
            <a:r>
              <a:rPr lang="en-IN" dirty="0"/>
              <a:t>2</a:t>
            </a:r>
          </a:p>
        </p:txBody>
      </p:sp>
      <p:pic>
        <p:nvPicPr>
          <p:cNvPr id="29"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2070" y="629090"/>
            <a:ext cx="2233757" cy="1415303"/>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p:cNvSpPr txBox="1"/>
          <p:nvPr/>
        </p:nvSpPr>
        <p:spPr>
          <a:xfrm>
            <a:off x="2551833" y="3265706"/>
            <a:ext cx="1591792" cy="646331"/>
          </a:xfrm>
          <a:prstGeom prst="rect">
            <a:avLst/>
          </a:prstGeom>
          <a:noFill/>
        </p:spPr>
        <p:txBody>
          <a:bodyPr wrap="square" rtlCol="0">
            <a:spAutoFit/>
          </a:bodyPr>
          <a:lstStyle/>
          <a:p>
            <a:r>
              <a:rPr lang="en-IN" dirty="0" smtClean="0"/>
              <a:t> No node is adjacent   to 1</a:t>
            </a:r>
            <a:endParaRPr lang="en-IN" dirty="0"/>
          </a:p>
        </p:txBody>
      </p:sp>
      <p:sp>
        <p:nvSpPr>
          <p:cNvPr id="31" name="TextBox 30"/>
          <p:cNvSpPr txBox="1"/>
          <p:nvPr/>
        </p:nvSpPr>
        <p:spPr>
          <a:xfrm>
            <a:off x="8680244" y="3372758"/>
            <a:ext cx="968189" cy="369332"/>
          </a:xfrm>
          <a:prstGeom prst="rect">
            <a:avLst/>
          </a:prstGeom>
          <a:noFill/>
        </p:spPr>
        <p:txBody>
          <a:bodyPr wrap="square" rtlCol="0">
            <a:spAutoFit/>
          </a:bodyPr>
          <a:lstStyle/>
          <a:p>
            <a:r>
              <a:rPr lang="en-IN" dirty="0" smtClean="0"/>
              <a:t>1</a:t>
            </a:r>
            <a:endParaRPr lang="en-IN" dirty="0"/>
          </a:p>
        </p:txBody>
      </p:sp>
      <p:sp>
        <p:nvSpPr>
          <p:cNvPr id="33" name="TextBox 32"/>
          <p:cNvSpPr txBox="1"/>
          <p:nvPr/>
        </p:nvSpPr>
        <p:spPr>
          <a:xfrm>
            <a:off x="8610600" y="4806300"/>
            <a:ext cx="968189" cy="369332"/>
          </a:xfrm>
          <a:prstGeom prst="rect">
            <a:avLst/>
          </a:prstGeom>
          <a:noFill/>
        </p:spPr>
        <p:txBody>
          <a:bodyPr wrap="square" rtlCol="0">
            <a:spAutoFit/>
          </a:bodyPr>
          <a:lstStyle/>
          <a:p>
            <a:r>
              <a:rPr lang="en-IN" dirty="0" smtClean="0"/>
              <a:t>2</a:t>
            </a:r>
            <a:endParaRPr lang="en-IN" dirty="0"/>
          </a:p>
        </p:txBody>
      </p:sp>
      <p:sp>
        <p:nvSpPr>
          <p:cNvPr id="36" name="TextBox 35"/>
          <p:cNvSpPr txBox="1"/>
          <p:nvPr/>
        </p:nvSpPr>
        <p:spPr>
          <a:xfrm>
            <a:off x="4685126" y="4795764"/>
            <a:ext cx="3666561" cy="369332"/>
          </a:xfrm>
          <a:prstGeom prst="rect">
            <a:avLst/>
          </a:prstGeom>
          <a:noFill/>
        </p:spPr>
        <p:txBody>
          <a:bodyPr wrap="square" rtlCol="0">
            <a:spAutoFit/>
          </a:bodyPr>
          <a:lstStyle/>
          <a:p>
            <a:r>
              <a:rPr lang="en-IN" dirty="0" smtClean="0"/>
              <a:t>1, 2 </a:t>
            </a:r>
          </a:p>
        </p:txBody>
      </p:sp>
      <p:sp>
        <p:nvSpPr>
          <p:cNvPr id="37" name="TextBox 36"/>
          <p:cNvSpPr txBox="1"/>
          <p:nvPr/>
        </p:nvSpPr>
        <p:spPr>
          <a:xfrm>
            <a:off x="4638053" y="4301129"/>
            <a:ext cx="3666561" cy="369332"/>
          </a:xfrm>
          <a:prstGeom prst="rect">
            <a:avLst/>
          </a:prstGeom>
          <a:noFill/>
        </p:spPr>
        <p:txBody>
          <a:bodyPr wrap="square" rtlCol="0">
            <a:spAutoFit/>
          </a:bodyPr>
          <a:lstStyle/>
          <a:p>
            <a:r>
              <a:rPr lang="en-IN" dirty="0" smtClean="0"/>
              <a:t>1, 2 </a:t>
            </a:r>
          </a:p>
        </p:txBody>
      </p:sp>
      <p:sp>
        <p:nvSpPr>
          <p:cNvPr id="38" name="TextBox 37"/>
          <p:cNvSpPr txBox="1"/>
          <p:nvPr/>
        </p:nvSpPr>
        <p:spPr>
          <a:xfrm>
            <a:off x="4685126" y="5696015"/>
            <a:ext cx="3666561" cy="369332"/>
          </a:xfrm>
          <a:prstGeom prst="rect">
            <a:avLst/>
          </a:prstGeom>
          <a:noFill/>
        </p:spPr>
        <p:txBody>
          <a:bodyPr wrap="square" rtlCol="0">
            <a:spAutoFit/>
          </a:bodyPr>
          <a:lstStyle/>
          <a:p>
            <a:r>
              <a:rPr lang="en-IN" dirty="0" smtClean="0"/>
              <a:t>1, 2, 3 </a:t>
            </a:r>
          </a:p>
        </p:txBody>
      </p:sp>
      <p:sp>
        <p:nvSpPr>
          <p:cNvPr id="39"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3200" b="1" smtClean="0">
                <a:solidFill>
                  <a:srgbClr val="002060"/>
                </a:solidFill>
                <a:latin typeface="Times New Roman" panose="02020603050405020304" pitchFamily="18" charset="0"/>
                <a:cs typeface="Times New Roman" panose="02020603050405020304" pitchFamily="18" charset="0"/>
              </a:rPr>
              <a:t/>
            </a:r>
            <a:br>
              <a:rPr lang="en-IN" sz="3200" b="1" smtClean="0">
                <a:solidFill>
                  <a:srgbClr val="002060"/>
                </a:solidFill>
                <a:latin typeface="Times New Roman" panose="02020603050405020304" pitchFamily="18" charset="0"/>
                <a:cs typeface="Times New Roman" panose="02020603050405020304" pitchFamily="18" charset="0"/>
              </a:rPr>
            </a:br>
            <a:r>
              <a:rPr lang="en-IN" sz="2400" b="1" smtClean="0">
                <a:solidFill>
                  <a:srgbClr val="C00000"/>
                </a:solidFill>
                <a:latin typeface="Times New Roman" panose="02020603050405020304" pitchFamily="18" charset="0"/>
                <a:cs typeface="Times New Roman" panose="02020603050405020304" pitchFamily="18" charset="0"/>
              </a:rPr>
              <a:t/>
            </a:r>
            <a:br>
              <a:rPr lang="en-IN" sz="2400" b="1" smtClean="0">
                <a:solidFill>
                  <a:srgbClr val="C00000"/>
                </a:solidFill>
                <a:latin typeface="Times New Roman" panose="02020603050405020304" pitchFamily="18" charset="0"/>
                <a:cs typeface="Times New Roman" panose="02020603050405020304" pitchFamily="18" charset="0"/>
              </a:rPr>
            </a:br>
            <a:r>
              <a:rPr lang="en-IN" sz="2000" b="1" smtClean="0">
                <a:solidFill>
                  <a:srgbClr val="C00000"/>
                </a:solidFill>
                <a:latin typeface="Times New Roman" panose="02020603050405020304" pitchFamily="18" charset="0"/>
                <a:cs typeface="Times New Roman" panose="02020603050405020304" pitchFamily="18" charset="0"/>
              </a:rPr>
              <a:t>MODULE 2 : </a:t>
            </a:r>
            <a:r>
              <a:rPr lang="en-IN" sz="2400" b="1" smtClean="0">
                <a:solidFill>
                  <a:srgbClr val="C00000"/>
                </a:solidFill>
                <a:latin typeface="Times New Roman" panose="02020603050405020304" pitchFamily="18" charset="0"/>
                <a:cs typeface="Times New Roman" panose="02020603050405020304" pitchFamily="18" charset="0"/>
              </a:rPr>
              <a:t>Decrease and Conquer   </a:t>
            </a:r>
            <a:r>
              <a:rPr lang="en-IN" sz="2400" b="1"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sp>
        <p:nvSpPr>
          <p:cNvPr id="2" name="Date Placeholder 1"/>
          <p:cNvSpPr>
            <a:spLocks noGrp="1"/>
          </p:cNvSpPr>
          <p:nvPr>
            <p:ph type="dt" sz="half" idx="10"/>
          </p:nvPr>
        </p:nvSpPr>
        <p:spPr/>
        <p:txBody>
          <a:bodyPr/>
          <a:lstStyle/>
          <a:p>
            <a:fld id="{21BF13F9-219A-4F05-B8EF-10EC5EED8C1C}" type="datetime1">
              <a:rPr lang="en-IN" smtClean="0"/>
              <a:t>21-03-2026</a:t>
            </a:fld>
            <a:endParaRPr lang="en-IN"/>
          </a:p>
        </p:txBody>
      </p:sp>
    </p:spTree>
    <p:extLst>
      <p:ext uri="{BB962C8B-B14F-4D97-AF65-F5344CB8AC3E}">
        <p14:creationId xmlns:p14="http://schemas.microsoft.com/office/powerpoint/2010/main" val="3184785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4" grpId="0"/>
      <p:bldP spid="17" grpId="0"/>
      <p:bldP spid="19" grpId="0"/>
      <p:bldP spid="23" grpId="0"/>
      <p:bldP spid="30" grpId="0"/>
      <p:bldP spid="31" grpId="0"/>
      <p:bldP spid="33" grpId="0"/>
      <p:bldP spid="36" grpId="0"/>
      <p:bldP spid="37" grpId="0"/>
      <p:bldP spid="38"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86753" y="-28642"/>
            <a:ext cx="9144000" cy="632287"/>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a:solidFill>
                  <a:srgbClr val="002060"/>
                </a:solidFill>
                <a:latin typeface="Times New Roman" panose="02020603050405020304" pitchFamily="18" charset="0"/>
                <a:cs typeface="Times New Roman" panose="02020603050405020304" pitchFamily="18" charset="0"/>
              </a:rPr>
              <a:t>(Topological sorting)         </a:t>
            </a:r>
            <a:r>
              <a:rPr lang="en-IN" sz="2000" b="1" dirty="0" smtClean="0">
                <a:solidFill>
                  <a:srgbClr val="002060"/>
                </a:solidFill>
                <a:latin typeface="Times New Roman" panose="02020603050405020304" pitchFamily="18" charset="0"/>
                <a:cs typeface="Times New Roman" panose="02020603050405020304" pitchFamily="18" charset="0"/>
              </a:rPr>
              <a:t>						</a:t>
            </a:r>
            <a:endParaRPr lang="en-IN" sz="3200" b="1" dirty="0">
              <a:solidFill>
                <a:srgbClr val="002060"/>
              </a:solidFill>
            </a:endParaRPr>
          </a:p>
        </p:txBody>
      </p:sp>
      <p:sp>
        <p:nvSpPr>
          <p:cNvPr id="3" name="Subtitle 2"/>
          <p:cNvSpPr>
            <a:spLocks noGrp="1"/>
          </p:cNvSpPr>
          <p:nvPr>
            <p:ph type="subTitle" idx="1"/>
          </p:nvPr>
        </p:nvSpPr>
        <p:spPr>
          <a:xfrm>
            <a:off x="177051" y="732885"/>
            <a:ext cx="11797552" cy="5627707"/>
          </a:xfrm>
        </p:spPr>
        <p:txBody>
          <a:bodyPr>
            <a:normAutofit/>
          </a:bodyPr>
          <a:lstStyle/>
          <a:p>
            <a:pPr algn="just"/>
            <a:endParaRPr lang="en-US" sz="24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138</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787195136"/>
              </p:ext>
            </p:extLst>
          </p:nvPr>
        </p:nvGraphicFramePr>
        <p:xfrm>
          <a:off x="177051" y="2084774"/>
          <a:ext cx="11176750" cy="3788024"/>
        </p:xfrm>
        <a:graphic>
          <a:graphicData uri="http://schemas.openxmlformats.org/drawingml/2006/table">
            <a:tbl>
              <a:tblPr firstRow="1" bandRow="1">
                <a:tableStyleId>{5C22544A-7EE6-4342-B048-85BDC9FD1C3A}</a:tableStyleId>
              </a:tblPr>
              <a:tblGrid>
                <a:gridCol w="2252384"/>
                <a:gridCol w="1981201"/>
                <a:gridCol w="4043083"/>
                <a:gridCol w="2900082"/>
              </a:tblGrid>
              <a:tr h="710786">
                <a:tc>
                  <a:txBody>
                    <a:bodyPr/>
                    <a:lstStyle/>
                    <a:p>
                      <a:r>
                        <a:rPr lang="en-IN" dirty="0" smtClean="0">
                          <a:solidFill>
                            <a:srgbClr val="002060"/>
                          </a:solidFill>
                        </a:rPr>
                        <a:t>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V=</a:t>
                      </a:r>
                      <a:r>
                        <a:rPr lang="en-IN" dirty="0" err="1" smtClean="0">
                          <a:solidFill>
                            <a:srgbClr val="002060"/>
                          </a:solidFill>
                        </a:rPr>
                        <a:t>adj</a:t>
                      </a:r>
                      <a:r>
                        <a:rPr lang="en-IN" dirty="0" smtClean="0">
                          <a:solidFill>
                            <a:srgbClr val="002060"/>
                          </a:solidFill>
                        </a:rPr>
                        <a:t>(S[top])</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Nodes Visited (S)</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Pop (stack)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gridSpan="4">
                  <a:txBody>
                    <a:bodyPr/>
                    <a:lstStyle/>
                    <a:p>
                      <a:r>
                        <a:rPr lang="en-IN" dirty="0" smtClean="0">
                          <a:solidFill>
                            <a:srgbClr val="002060"/>
                          </a:solidFill>
                        </a:rPr>
                        <a:t> The </a:t>
                      </a:r>
                      <a:r>
                        <a:rPr lang="en-IN" dirty="0" err="1" smtClean="0">
                          <a:solidFill>
                            <a:srgbClr val="002060"/>
                          </a:solidFill>
                        </a:rPr>
                        <a:t>poped</a:t>
                      </a:r>
                      <a:r>
                        <a:rPr lang="en-IN" dirty="0" smtClean="0">
                          <a:solidFill>
                            <a:srgbClr val="002060"/>
                          </a:solidFill>
                        </a:rPr>
                        <a:t> order is: 1, 2, 4, 3 (reverse of </a:t>
                      </a:r>
                      <a:r>
                        <a:rPr lang="en-IN" dirty="0" err="1" smtClean="0">
                          <a:solidFill>
                            <a:srgbClr val="002060"/>
                          </a:solidFill>
                        </a:rPr>
                        <a:t>poped</a:t>
                      </a:r>
                      <a:r>
                        <a:rPr lang="en-IN" dirty="0" smtClean="0">
                          <a:solidFill>
                            <a:srgbClr val="002060"/>
                          </a:solidFill>
                        </a:rPr>
                        <a:t> order is Topological sorting)</a:t>
                      </a:r>
                    </a:p>
                    <a:p>
                      <a:r>
                        <a:rPr lang="en-IN" dirty="0" smtClean="0">
                          <a:solidFill>
                            <a:srgbClr val="002060"/>
                          </a:solidFill>
                        </a:rPr>
                        <a:t>Resultant Topological sorting is : </a:t>
                      </a:r>
                      <a:r>
                        <a:rPr lang="en-IN" sz="2000" b="1" dirty="0" smtClean="0">
                          <a:solidFill>
                            <a:srgbClr val="FF0000"/>
                          </a:solidFill>
                        </a:rPr>
                        <a:t>3, 4, 2, 1</a:t>
                      </a:r>
                    </a:p>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12" name="TextBox 11"/>
          <p:cNvSpPr txBox="1"/>
          <p:nvPr/>
        </p:nvSpPr>
        <p:spPr>
          <a:xfrm>
            <a:off x="9619129" y="2526267"/>
            <a:ext cx="726141" cy="369332"/>
          </a:xfrm>
          <a:prstGeom prst="rect">
            <a:avLst/>
          </a:prstGeom>
          <a:noFill/>
        </p:spPr>
        <p:txBody>
          <a:bodyPr wrap="square" rtlCol="0">
            <a:spAutoFit/>
          </a:bodyPr>
          <a:lstStyle/>
          <a:p>
            <a:r>
              <a:rPr lang="en-IN" dirty="0" smtClean="0"/>
              <a:t>---</a:t>
            </a:r>
            <a:endParaRPr lang="en-IN" dirty="0"/>
          </a:p>
        </p:txBody>
      </p:sp>
      <p:sp>
        <p:nvSpPr>
          <p:cNvPr id="14" name="TextBox 13"/>
          <p:cNvSpPr txBox="1"/>
          <p:nvPr/>
        </p:nvSpPr>
        <p:spPr>
          <a:xfrm>
            <a:off x="259976" y="3625745"/>
            <a:ext cx="1326777" cy="369332"/>
          </a:xfrm>
          <a:prstGeom prst="rect">
            <a:avLst/>
          </a:prstGeom>
          <a:noFill/>
        </p:spPr>
        <p:txBody>
          <a:bodyPr wrap="square" rtlCol="0">
            <a:spAutoFit/>
          </a:bodyPr>
          <a:lstStyle/>
          <a:p>
            <a:r>
              <a:rPr lang="en-IN" dirty="0" smtClean="0"/>
              <a:t>3, 4</a:t>
            </a:r>
            <a:endParaRPr lang="en-IN" dirty="0"/>
          </a:p>
        </p:txBody>
      </p:sp>
      <p:sp>
        <p:nvSpPr>
          <p:cNvPr id="17" name="TextBox 16"/>
          <p:cNvSpPr txBox="1"/>
          <p:nvPr/>
        </p:nvSpPr>
        <p:spPr>
          <a:xfrm>
            <a:off x="4589931" y="3539339"/>
            <a:ext cx="3666561" cy="369332"/>
          </a:xfrm>
          <a:prstGeom prst="rect">
            <a:avLst/>
          </a:prstGeom>
          <a:noFill/>
        </p:spPr>
        <p:txBody>
          <a:bodyPr wrap="square" rtlCol="0">
            <a:spAutoFit/>
          </a:bodyPr>
          <a:lstStyle/>
          <a:p>
            <a:r>
              <a:rPr lang="en-IN" dirty="0" smtClean="0"/>
              <a:t>1, 2, 3, 4</a:t>
            </a:r>
          </a:p>
        </p:txBody>
      </p:sp>
      <p:sp>
        <p:nvSpPr>
          <p:cNvPr id="19" name="TextBox 18"/>
          <p:cNvSpPr txBox="1"/>
          <p:nvPr/>
        </p:nvSpPr>
        <p:spPr>
          <a:xfrm>
            <a:off x="251011" y="4368635"/>
            <a:ext cx="977154" cy="369332"/>
          </a:xfrm>
          <a:prstGeom prst="rect">
            <a:avLst/>
          </a:prstGeom>
          <a:noFill/>
        </p:spPr>
        <p:txBody>
          <a:bodyPr wrap="square" rtlCol="0">
            <a:spAutoFit/>
          </a:bodyPr>
          <a:lstStyle/>
          <a:p>
            <a:r>
              <a:rPr lang="en-IN" dirty="0" smtClean="0"/>
              <a:t>3</a:t>
            </a:r>
            <a:endParaRPr lang="en-IN" dirty="0"/>
          </a:p>
        </p:txBody>
      </p:sp>
      <p:sp>
        <p:nvSpPr>
          <p:cNvPr id="27" name="TextBox 26"/>
          <p:cNvSpPr txBox="1"/>
          <p:nvPr/>
        </p:nvSpPr>
        <p:spPr>
          <a:xfrm>
            <a:off x="304799" y="2879957"/>
            <a:ext cx="968189" cy="369332"/>
          </a:xfrm>
          <a:prstGeom prst="rect">
            <a:avLst/>
          </a:prstGeom>
          <a:noFill/>
        </p:spPr>
        <p:txBody>
          <a:bodyPr wrap="square" rtlCol="0">
            <a:spAutoFit/>
          </a:bodyPr>
          <a:lstStyle/>
          <a:p>
            <a:r>
              <a:rPr lang="en-IN" dirty="0"/>
              <a:t>3</a:t>
            </a:r>
          </a:p>
        </p:txBody>
      </p:sp>
      <p:sp>
        <p:nvSpPr>
          <p:cNvPr id="28" name="TextBox 27"/>
          <p:cNvSpPr txBox="1"/>
          <p:nvPr/>
        </p:nvSpPr>
        <p:spPr>
          <a:xfrm>
            <a:off x="2383491" y="2716314"/>
            <a:ext cx="2093817" cy="923330"/>
          </a:xfrm>
          <a:prstGeom prst="rect">
            <a:avLst/>
          </a:prstGeom>
          <a:noFill/>
        </p:spPr>
        <p:txBody>
          <a:bodyPr wrap="square" rtlCol="0">
            <a:spAutoFit/>
          </a:bodyPr>
          <a:lstStyle/>
          <a:p>
            <a:r>
              <a:rPr lang="en-IN" dirty="0" smtClean="0"/>
              <a:t> 4</a:t>
            </a:r>
          </a:p>
          <a:p>
            <a:r>
              <a:rPr lang="en-IN" dirty="0" smtClean="0"/>
              <a:t>(4 </a:t>
            </a:r>
            <a:r>
              <a:rPr lang="en-IN" dirty="0"/>
              <a:t>is adjacent to </a:t>
            </a:r>
            <a:r>
              <a:rPr lang="en-IN" dirty="0" smtClean="0"/>
              <a:t>3)</a:t>
            </a:r>
            <a:endParaRPr lang="en-IN" dirty="0"/>
          </a:p>
          <a:p>
            <a:endParaRPr lang="en-IN" dirty="0"/>
          </a:p>
        </p:txBody>
      </p:sp>
      <p:sp>
        <p:nvSpPr>
          <p:cNvPr id="29" name="TextBox 28"/>
          <p:cNvSpPr txBox="1"/>
          <p:nvPr/>
        </p:nvSpPr>
        <p:spPr>
          <a:xfrm>
            <a:off x="4581528" y="2716691"/>
            <a:ext cx="3666561" cy="646331"/>
          </a:xfrm>
          <a:prstGeom prst="rect">
            <a:avLst/>
          </a:prstGeom>
          <a:noFill/>
        </p:spPr>
        <p:txBody>
          <a:bodyPr wrap="square" rtlCol="0">
            <a:spAutoFit/>
          </a:bodyPr>
          <a:lstStyle/>
          <a:p>
            <a:r>
              <a:rPr lang="en-IN" dirty="0" smtClean="0"/>
              <a:t>1, 2, 3, 4</a:t>
            </a:r>
          </a:p>
          <a:p>
            <a:r>
              <a:rPr lang="en-IN" dirty="0" smtClean="0"/>
              <a:t>(4 is visited push 4 on stack) </a:t>
            </a:r>
            <a:endParaRPr lang="en-IN" dirty="0"/>
          </a:p>
        </p:txBody>
      </p:sp>
      <p:sp>
        <p:nvSpPr>
          <p:cNvPr id="30" name="TextBox 29"/>
          <p:cNvSpPr txBox="1"/>
          <p:nvPr/>
        </p:nvSpPr>
        <p:spPr>
          <a:xfrm>
            <a:off x="2496115" y="4209192"/>
            <a:ext cx="1591792" cy="923330"/>
          </a:xfrm>
          <a:prstGeom prst="rect">
            <a:avLst/>
          </a:prstGeom>
          <a:noFill/>
        </p:spPr>
        <p:txBody>
          <a:bodyPr wrap="square" rtlCol="0">
            <a:spAutoFit/>
          </a:bodyPr>
          <a:lstStyle/>
          <a:p>
            <a:r>
              <a:rPr lang="en-IN" dirty="0" smtClean="0"/>
              <a:t> No node is adjacent   to 3</a:t>
            </a:r>
          </a:p>
          <a:p>
            <a:endParaRPr lang="en-IN" dirty="0"/>
          </a:p>
        </p:txBody>
      </p:sp>
      <p:sp>
        <p:nvSpPr>
          <p:cNvPr id="32" name="TextBox 31"/>
          <p:cNvSpPr txBox="1"/>
          <p:nvPr/>
        </p:nvSpPr>
        <p:spPr>
          <a:xfrm>
            <a:off x="8610599" y="3632770"/>
            <a:ext cx="968189" cy="369332"/>
          </a:xfrm>
          <a:prstGeom prst="rect">
            <a:avLst/>
          </a:prstGeom>
          <a:noFill/>
        </p:spPr>
        <p:txBody>
          <a:bodyPr wrap="square" rtlCol="0">
            <a:spAutoFit/>
          </a:bodyPr>
          <a:lstStyle/>
          <a:p>
            <a:r>
              <a:rPr lang="en-IN" dirty="0" smtClean="0"/>
              <a:t>4</a:t>
            </a:r>
            <a:endParaRPr lang="en-IN" dirty="0"/>
          </a:p>
        </p:txBody>
      </p:sp>
      <p:sp>
        <p:nvSpPr>
          <p:cNvPr id="33" name="TextBox 32"/>
          <p:cNvSpPr txBox="1"/>
          <p:nvPr/>
        </p:nvSpPr>
        <p:spPr>
          <a:xfrm>
            <a:off x="2645638" y="3600503"/>
            <a:ext cx="1591792" cy="923330"/>
          </a:xfrm>
          <a:prstGeom prst="rect">
            <a:avLst/>
          </a:prstGeom>
          <a:noFill/>
        </p:spPr>
        <p:txBody>
          <a:bodyPr wrap="square" rtlCol="0">
            <a:spAutoFit/>
          </a:bodyPr>
          <a:lstStyle/>
          <a:p>
            <a:r>
              <a:rPr lang="en-IN" dirty="0" smtClean="0"/>
              <a:t> No node is adjacent   to 4</a:t>
            </a:r>
          </a:p>
          <a:p>
            <a:endParaRPr lang="en-IN" dirty="0"/>
          </a:p>
        </p:txBody>
      </p:sp>
      <p:sp>
        <p:nvSpPr>
          <p:cNvPr id="34" name="TextBox 33"/>
          <p:cNvSpPr txBox="1"/>
          <p:nvPr/>
        </p:nvSpPr>
        <p:spPr>
          <a:xfrm>
            <a:off x="8615080" y="4410745"/>
            <a:ext cx="968189" cy="369332"/>
          </a:xfrm>
          <a:prstGeom prst="rect">
            <a:avLst/>
          </a:prstGeom>
          <a:noFill/>
        </p:spPr>
        <p:txBody>
          <a:bodyPr wrap="square" rtlCol="0">
            <a:spAutoFit/>
          </a:bodyPr>
          <a:lstStyle/>
          <a:p>
            <a:r>
              <a:rPr lang="en-IN" dirty="0" smtClean="0"/>
              <a:t>3</a:t>
            </a:r>
            <a:endParaRPr lang="en-IN" dirty="0"/>
          </a:p>
        </p:txBody>
      </p:sp>
      <p:sp>
        <p:nvSpPr>
          <p:cNvPr id="36" name="TextBox 35"/>
          <p:cNvSpPr txBox="1"/>
          <p:nvPr/>
        </p:nvSpPr>
        <p:spPr>
          <a:xfrm>
            <a:off x="4573690" y="4343837"/>
            <a:ext cx="3666561" cy="369332"/>
          </a:xfrm>
          <a:prstGeom prst="rect">
            <a:avLst/>
          </a:prstGeom>
          <a:noFill/>
        </p:spPr>
        <p:txBody>
          <a:bodyPr wrap="square" rtlCol="0">
            <a:spAutoFit/>
          </a:bodyPr>
          <a:lstStyle/>
          <a:p>
            <a:r>
              <a:rPr lang="en-IN" dirty="0" smtClean="0"/>
              <a:t>1, 2, 3, 4</a:t>
            </a:r>
          </a:p>
        </p:txBody>
      </p:sp>
      <p:pic>
        <p:nvPicPr>
          <p:cNvPr id="37" name="Picture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25155" y="605436"/>
            <a:ext cx="2233757" cy="1415303"/>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8"/>
          <p:cNvSpPr>
            <a:spLocks noGrp="1"/>
          </p:cNvSpPr>
          <p:nvPr>
            <p:ph type="dt" sz="half" idx="10"/>
          </p:nvPr>
        </p:nvSpPr>
        <p:spPr/>
        <p:txBody>
          <a:bodyPr/>
          <a:lstStyle/>
          <a:p>
            <a:fld id="{95B11910-CD0B-43E2-9990-6F48BC4D00A9}" type="datetime1">
              <a:rPr lang="en-IN" smtClean="0"/>
              <a:t>21-03-2026</a:t>
            </a:fld>
            <a:endParaRPr lang="en-IN"/>
          </a:p>
        </p:txBody>
      </p:sp>
    </p:spTree>
    <p:extLst>
      <p:ext uri="{BB962C8B-B14F-4D97-AF65-F5344CB8AC3E}">
        <p14:creationId xmlns:p14="http://schemas.microsoft.com/office/powerpoint/2010/main" val="3331920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9" grpId="0"/>
      <p:bldP spid="27" grpId="0"/>
      <p:bldP spid="28" grpId="0"/>
      <p:bldP spid="29" grpId="0"/>
      <p:bldP spid="30" grpId="0"/>
      <p:bldP spid="32" grpId="0"/>
      <p:bldP spid="33" grpId="0"/>
      <p:bldP spid="34" grpId="0"/>
      <p:bldP spid="36"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7576" y="732885"/>
            <a:ext cx="12084424" cy="5627707"/>
          </a:xfrm>
        </p:spPr>
        <p:txBody>
          <a:bodyPr>
            <a:normAutofit/>
          </a:bodyPr>
          <a:lstStyle/>
          <a:p>
            <a:pPr algn="just"/>
            <a:r>
              <a:rPr lang="en-US" sz="2000" b="1" dirty="0" smtClean="0">
                <a:solidFill>
                  <a:srgbClr val="0070C0"/>
                </a:solidFill>
                <a:latin typeface="Times New Roman" panose="02020603050405020304" pitchFamily="18" charset="0"/>
                <a:cs typeface="Times New Roman" panose="02020603050405020304" pitchFamily="18" charset="0"/>
              </a:rPr>
              <a:t>Problem2: </a:t>
            </a:r>
            <a:r>
              <a:rPr lang="en-US" sz="2000" b="1" dirty="0">
                <a:solidFill>
                  <a:srgbClr val="002060"/>
                </a:solidFill>
                <a:latin typeface="Times New Roman" panose="02020603050405020304" pitchFamily="18" charset="0"/>
                <a:cs typeface="Times New Roman" panose="02020603050405020304" pitchFamily="18" charset="0"/>
              </a:rPr>
              <a:t>Apply the DFS-based algorithm to solve the topological sorting problem </a:t>
            </a:r>
            <a:r>
              <a:rPr lang="en-US" sz="2000" b="1" dirty="0" smtClean="0">
                <a:solidFill>
                  <a:srgbClr val="002060"/>
                </a:solidFill>
                <a:latin typeface="Times New Roman" panose="02020603050405020304" pitchFamily="18" charset="0"/>
                <a:cs typeface="Times New Roman" panose="02020603050405020304" pitchFamily="18" charset="0"/>
              </a:rPr>
              <a:t>for </a:t>
            </a:r>
            <a:r>
              <a:rPr lang="en-IN" sz="2000" b="1" dirty="0" smtClean="0">
                <a:solidFill>
                  <a:srgbClr val="002060"/>
                </a:solidFill>
                <a:latin typeface="Times New Roman" panose="02020603050405020304" pitchFamily="18" charset="0"/>
                <a:cs typeface="Times New Roman" panose="02020603050405020304" pitchFamily="18" charset="0"/>
              </a:rPr>
              <a:t>the </a:t>
            </a:r>
            <a:r>
              <a:rPr lang="en-IN" sz="2000" b="1" dirty="0">
                <a:solidFill>
                  <a:srgbClr val="002060"/>
                </a:solidFill>
                <a:latin typeface="Times New Roman" panose="02020603050405020304" pitchFamily="18" charset="0"/>
                <a:cs typeface="Times New Roman" panose="02020603050405020304" pitchFamily="18" charset="0"/>
              </a:rPr>
              <a:t>following </a:t>
            </a:r>
            <a:r>
              <a:rPr lang="en-IN" sz="2000" b="1" dirty="0" smtClean="0">
                <a:solidFill>
                  <a:srgbClr val="002060"/>
                </a:solidFill>
                <a:latin typeface="Times New Roman" panose="02020603050405020304" pitchFamily="18" charset="0"/>
                <a:cs typeface="Times New Roman" panose="02020603050405020304" pitchFamily="18" charset="0"/>
              </a:rPr>
              <a:t>digraph:</a:t>
            </a:r>
          </a:p>
          <a:p>
            <a:pPr algn="just"/>
            <a:r>
              <a:rPr lang="en-US" sz="2000" b="1" dirty="0">
                <a:solidFill>
                  <a:srgbClr val="002060"/>
                </a:solidFill>
                <a:latin typeface="Times New Roman" panose="02020603050405020304" pitchFamily="18" charset="0"/>
                <a:cs typeface="Times New Roman" panose="02020603050405020304" pitchFamily="18" charset="0"/>
              </a:rPr>
              <a:t>June/July-2019 (</a:t>
            </a:r>
            <a:r>
              <a:rPr lang="en-US" sz="2000" b="1" dirty="0" smtClean="0">
                <a:solidFill>
                  <a:srgbClr val="002060"/>
                </a:solidFill>
                <a:latin typeface="Times New Roman" panose="02020603050405020304" pitchFamily="18" charset="0"/>
                <a:cs typeface="Times New Roman" panose="02020603050405020304" pitchFamily="18" charset="0"/>
              </a:rPr>
              <a:t>17CS43) (same problem with different vertex as starting vertex</a:t>
            </a:r>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Solution: Let us consider start with a vertex 3</a:t>
            </a:r>
            <a:endParaRPr lang="en-US" sz="2000" b="1" dirty="0" smtClean="0">
              <a:solidFill>
                <a:srgbClr val="FF0000"/>
              </a:solidFill>
              <a:latin typeface="Times New Roman" panose="02020603050405020304" pitchFamily="18" charset="0"/>
              <a:cs typeface="Times New Roman" panose="02020603050405020304" pitchFamily="18" charset="0"/>
            </a:endParaRPr>
          </a:p>
          <a:p>
            <a:pPr algn="just"/>
            <a:r>
              <a:rPr lang="en-US" sz="2000" b="1" dirty="0" smtClean="0">
                <a:solidFill>
                  <a:srgbClr val="FF0000"/>
                </a:solidFill>
                <a:latin typeface="Times New Roman" panose="02020603050405020304" pitchFamily="18" charset="0"/>
                <a:cs typeface="Times New Roman" panose="02020603050405020304" pitchFamily="18" charset="0"/>
              </a:rPr>
              <a:t>Consider the table like this </a:t>
            </a: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139</a:t>
            </a:fld>
            <a:endParaRPr lang="en-IN" sz="1600" b="1" dirty="0">
              <a:solidFill>
                <a:srgbClr val="002060"/>
              </a:solidFill>
              <a:latin typeface="Times New Roman" panose="02020603050405020304" pitchFamily="18" charset="0"/>
              <a:cs typeface="Times New Roman" panose="02020603050405020304" pitchFamily="18" charset="0"/>
            </a:endParaRPr>
          </a:p>
        </p:txBody>
      </p:sp>
      <p:pic>
        <p:nvPicPr>
          <p:cNvPr id="1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5419" y="1685623"/>
            <a:ext cx="2233757" cy="1415303"/>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sp>
        <p:nvSpPr>
          <p:cNvPr id="2" name="Date Placeholder 1"/>
          <p:cNvSpPr>
            <a:spLocks noGrp="1"/>
          </p:cNvSpPr>
          <p:nvPr>
            <p:ph type="dt" sz="half" idx="10"/>
          </p:nvPr>
        </p:nvSpPr>
        <p:spPr/>
        <p:txBody>
          <a:bodyPr/>
          <a:lstStyle/>
          <a:p>
            <a:fld id="{CE1CF9A4-252C-40DC-B2BF-B589458B3E38}" type="datetime1">
              <a:rPr lang="en-IN" smtClean="0"/>
              <a:t>21-03-2026</a:t>
            </a:fld>
            <a:endParaRPr lang="en-IN"/>
          </a:p>
        </p:txBody>
      </p:sp>
    </p:spTree>
    <p:extLst>
      <p:ext uri="{BB962C8B-B14F-4D97-AF65-F5344CB8AC3E}">
        <p14:creationId xmlns:p14="http://schemas.microsoft.com/office/powerpoint/2010/main" val="4041620676"/>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7051" y="732885"/>
            <a:ext cx="11797552" cy="5627707"/>
          </a:xfrm>
        </p:spPr>
        <p:txBody>
          <a:bodyPr>
            <a:normAutofit/>
          </a:bodyPr>
          <a:lstStyle/>
          <a:p>
            <a:pPr algn="just"/>
            <a:endParaRPr lang="en-US" sz="24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140</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621211909"/>
              </p:ext>
            </p:extLst>
          </p:nvPr>
        </p:nvGraphicFramePr>
        <p:xfrm>
          <a:off x="177051" y="2084774"/>
          <a:ext cx="11176750" cy="4264716"/>
        </p:xfrm>
        <a:graphic>
          <a:graphicData uri="http://schemas.openxmlformats.org/drawingml/2006/table">
            <a:tbl>
              <a:tblPr firstRow="1" bandRow="1">
                <a:tableStyleId>{5C22544A-7EE6-4342-B048-85BDC9FD1C3A}</a:tableStyleId>
              </a:tblPr>
              <a:tblGrid>
                <a:gridCol w="2252384"/>
                <a:gridCol w="1981201"/>
                <a:gridCol w="4043083"/>
                <a:gridCol w="2900082"/>
              </a:tblGrid>
              <a:tr h="710786">
                <a:tc>
                  <a:txBody>
                    <a:bodyPr/>
                    <a:lstStyle/>
                    <a:p>
                      <a:r>
                        <a:rPr lang="en-IN" dirty="0" smtClean="0">
                          <a:solidFill>
                            <a:srgbClr val="002060"/>
                          </a:solidFill>
                        </a:rPr>
                        <a:t>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V=</a:t>
                      </a:r>
                      <a:r>
                        <a:rPr lang="en-IN" dirty="0" err="1" smtClean="0">
                          <a:solidFill>
                            <a:srgbClr val="002060"/>
                          </a:solidFill>
                        </a:rPr>
                        <a:t>adj</a:t>
                      </a:r>
                      <a:r>
                        <a:rPr lang="en-IN" dirty="0" smtClean="0">
                          <a:solidFill>
                            <a:srgbClr val="002060"/>
                          </a:solidFill>
                        </a:rPr>
                        <a:t>(S[top])</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Nodes Visited (S)</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Pop (stack)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 </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9" name="TextBox 8"/>
          <p:cNvSpPr txBox="1"/>
          <p:nvPr/>
        </p:nvSpPr>
        <p:spPr>
          <a:xfrm>
            <a:off x="349623" y="2915565"/>
            <a:ext cx="726141" cy="369332"/>
          </a:xfrm>
          <a:prstGeom prst="rect">
            <a:avLst/>
          </a:prstGeom>
          <a:noFill/>
        </p:spPr>
        <p:txBody>
          <a:bodyPr wrap="square" rtlCol="0">
            <a:spAutoFit/>
          </a:bodyPr>
          <a:lstStyle/>
          <a:p>
            <a:r>
              <a:rPr lang="en-IN" dirty="0" smtClean="0"/>
              <a:t>---</a:t>
            </a:r>
            <a:endParaRPr lang="en-IN" dirty="0"/>
          </a:p>
        </p:txBody>
      </p:sp>
      <p:sp>
        <p:nvSpPr>
          <p:cNvPr id="10" name="TextBox 9"/>
          <p:cNvSpPr txBox="1"/>
          <p:nvPr/>
        </p:nvSpPr>
        <p:spPr>
          <a:xfrm>
            <a:off x="3054308" y="2910160"/>
            <a:ext cx="726141" cy="369332"/>
          </a:xfrm>
          <a:prstGeom prst="rect">
            <a:avLst/>
          </a:prstGeom>
          <a:noFill/>
        </p:spPr>
        <p:txBody>
          <a:bodyPr wrap="square" rtlCol="0">
            <a:spAutoFit/>
          </a:bodyPr>
          <a:lstStyle/>
          <a:p>
            <a:r>
              <a:rPr lang="en-IN" dirty="0" smtClean="0"/>
              <a:t>---</a:t>
            </a:r>
            <a:endParaRPr lang="en-IN" dirty="0"/>
          </a:p>
        </p:txBody>
      </p:sp>
      <p:sp>
        <p:nvSpPr>
          <p:cNvPr id="11" name="TextBox 10"/>
          <p:cNvSpPr txBox="1"/>
          <p:nvPr/>
        </p:nvSpPr>
        <p:spPr>
          <a:xfrm>
            <a:off x="4589931" y="2796983"/>
            <a:ext cx="3643026" cy="923330"/>
          </a:xfrm>
          <a:prstGeom prst="rect">
            <a:avLst/>
          </a:prstGeom>
          <a:noFill/>
        </p:spPr>
        <p:txBody>
          <a:bodyPr wrap="square" rtlCol="0">
            <a:spAutoFit/>
          </a:bodyPr>
          <a:lstStyle/>
          <a:p>
            <a:r>
              <a:rPr lang="en-IN" dirty="0"/>
              <a:t>3</a:t>
            </a:r>
            <a:r>
              <a:rPr lang="en-IN" dirty="0" smtClean="0">
                <a:solidFill>
                  <a:srgbClr val="FF0000"/>
                </a:solidFill>
              </a:rPr>
              <a:t> </a:t>
            </a:r>
          </a:p>
          <a:p>
            <a:r>
              <a:rPr lang="en-IN" dirty="0" smtClean="0"/>
              <a:t>(3 </a:t>
            </a:r>
            <a:r>
              <a:rPr lang="en-IN" dirty="0"/>
              <a:t>is visited push 3</a:t>
            </a:r>
            <a:r>
              <a:rPr lang="en-IN" dirty="0" smtClean="0"/>
              <a:t> </a:t>
            </a:r>
            <a:r>
              <a:rPr lang="en-IN" dirty="0"/>
              <a:t>on </a:t>
            </a:r>
            <a:r>
              <a:rPr lang="en-IN" dirty="0" smtClean="0"/>
              <a:t>stack) </a:t>
            </a:r>
            <a:endParaRPr lang="en-IN" dirty="0"/>
          </a:p>
          <a:p>
            <a:endParaRPr lang="en-IN" dirty="0"/>
          </a:p>
        </p:txBody>
      </p:sp>
      <p:sp>
        <p:nvSpPr>
          <p:cNvPr id="14" name="TextBox 13"/>
          <p:cNvSpPr txBox="1"/>
          <p:nvPr/>
        </p:nvSpPr>
        <p:spPr>
          <a:xfrm>
            <a:off x="259976" y="3625745"/>
            <a:ext cx="726141" cy="369332"/>
          </a:xfrm>
          <a:prstGeom prst="rect">
            <a:avLst/>
          </a:prstGeom>
          <a:noFill/>
        </p:spPr>
        <p:txBody>
          <a:bodyPr wrap="square" rtlCol="0">
            <a:spAutoFit/>
          </a:bodyPr>
          <a:lstStyle/>
          <a:p>
            <a:r>
              <a:rPr lang="en-IN" dirty="0" smtClean="0"/>
              <a:t>3</a:t>
            </a:r>
            <a:endParaRPr lang="en-IN" dirty="0"/>
          </a:p>
        </p:txBody>
      </p:sp>
      <p:sp>
        <p:nvSpPr>
          <p:cNvPr id="15" name="TextBox 14"/>
          <p:cNvSpPr txBox="1"/>
          <p:nvPr/>
        </p:nvSpPr>
        <p:spPr>
          <a:xfrm>
            <a:off x="2496114" y="3569296"/>
            <a:ext cx="3122374" cy="646331"/>
          </a:xfrm>
          <a:prstGeom prst="rect">
            <a:avLst/>
          </a:prstGeom>
          <a:noFill/>
        </p:spPr>
        <p:txBody>
          <a:bodyPr wrap="square" rtlCol="0">
            <a:spAutoFit/>
          </a:bodyPr>
          <a:lstStyle/>
          <a:p>
            <a:r>
              <a:rPr lang="en-IN" dirty="0" smtClean="0"/>
              <a:t>  1 </a:t>
            </a:r>
          </a:p>
          <a:p>
            <a:r>
              <a:rPr lang="en-IN" dirty="0" smtClean="0"/>
              <a:t>(1 is adjacent to 3)</a:t>
            </a:r>
            <a:endParaRPr lang="en-IN" dirty="0"/>
          </a:p>
        </p:txBody>
      </p:sp>
      <p:sp>
        <p:nvSpPr>
          <p:cNvPr id="17" name="TextBox 16"/>
          <p:cNvSpPr txBox="1"/>
          <p:nvPr/>
        </p:nvSpPr>
        <p:spPr>
          <a:xfrm>
            <a:off x="4589931" y="3539339"/>
            <a:ext cx="3666561" cy="646331"/>
          </a:xfrm>
          <a:prstGeom prst="rect">
            <a:avLst/>
          </a:prstGeom>
          <a:noFill/>
        </p:spPr>
        <p:txBody>
          <a:bodyPr wrap="square" rtlCol="0">
            <a:spAutoFit/>
          </a:bodyPr>
          <a:lstStyle/>
          <a:p>
            <a:r>
              <a:rPr lang="en-IN" dirty="0" smtClean="0"/>
              <a:t>3, 1 </a:t>
            </a:r>
          </a:p>
          <a:p>
            <a:r>
              <a:rPr lang="en-IN" dirty="0" smtClean="0"/>
              <a:t>( 1 is visited push 1 on stack) </a:t>
            </a:r>
            <a:endParaRPr lang="en-IN" dirty="0"/>
          </a:p>
        </p:txBody>
      </p:sp>
      <p:sp>
        <p:nvSpPr>
          <p:cNvPr id="19" name="TextBox 18"/>
          <p:cNvSpPr txBox="1"/>
          <p:nvPr/>
        </p:nvSpPr>
        <p:spPr>
          <a:xfrm>
            <a:off x="251011" y="4368635"/>
            <a:ext cx="726141" cy="369332"/>
          </a:xfrm>
          <a:prstGeom prst="rect">
            <a:avLst/>
          </a:prstGeom>
          <a:noFill/>
        </p:spPr>
        <p:txBody>
          <a:bodyPr wrap="square" rtlCol="0">
            <a:spAutoFit/>
          </a:bodyPr>
          <a:lstStyle/>
          <a:p>
            <a:r>
              <a:rPr lang="en-IN" dirty="0" smtClean="0"/>
              <a:t>3, 1</a:t>
            </a:r>
            <a:endParaRPr lang="en-IN" dirty="0"/>
          </a:p>
        </p:txBody>
      </p:sp>
      <p:sp>
        <p:nvSpPr>
          <p:cNvPr id="21" name="TextBox 20"/>
          <p:cNvSpPr txBox="1"/>
          <p:nvPr/>
        </p:nvSpPr>
        <p:spPr>
          <a:xfrm>
            <a:off x="4555120" y="4199390"/>
            <a:ext cx="3666561" cy="646331"/>
          </a:xfrm>
          <a:prstGeom prst="rect">
            <a:avLst/>
          </a:prstGeom>
          <a:noFill/>
        </p:spPr>
        <p:txBody>
          <a:bodyPr wrap="square" rtlCol="0">
            <a:spAutoFit/>
          </a:bodyPr>
          <a:lstStyle/>
          <a:p>
            <a:r>
              <a:rPr lang="en-IN" dirty="0"/>
              <a:t>3, 1 </a:t>
            </a:r>
          </a:p>
          <a:p>
            <a:endParaRPr lang="en-IN" dirty="0"/>
          </a:p>
        </p:txBody>
      </p:sp>
      <p:sp>
        <p:nvSpPr>
          <p:cNvPr id="22" name="TextBox 21"/>
          <p:cNvSpPr txBox="1"/>
          <p:nvPr/>
        </p:nvSpPr>
        <p:spPr>
          <a:xfrm>
            <a:off x="259976" y="5111553"/>
            <a:ext cx="968189" cy="369332"/>
          </a:xfrm>
          <a:prstGeom prst="rect">
            <a:avLst/>
          </a:prstGeom>
          <a:noFill/>
        </p:spPr>
        <p:txBody>
          <a:bodyPr wrap="square" rtlCol="0">
            <a:spAutoFit/>
          </a:bodyPr>
          <a:lstStyle/>
          <a:p>
            <a:r>
              <a:rPr lang="en-IN" dirty="0"/>
              <a:t>3</a:t>
            </a:r>
          </a:p>
        </p:txBody>
      </p:sp>
      <p:sp>
        <p:nvSpPr>
          <p:cNvPr id="23" name="TextBox 22"/>
          <p:cNvSpPr txBox="1"/>
          <p:nvPr/>
        </p:nvSpPr>
        <p:spPr>
          <a:xfrm>
            <a:off x="2574407" y="4245584"/>
            <a:ext cx="1591792" cy="923330"/>
          </a:xfrm>
          <a:prstGeom prst="rect">
            <a:avLst/>
          </a:prstGeom>
          <a:noFill/>
        </p:spPr>
        <p:txBody>
          <a:bodyPr wrap="square" rtlCol="0">
            <a:spAutoFit/>
          </a:bodyPr>
          <a:lstStyle/>
          <a:p>
            <a:r>
              <a:rPr lang="en-IN" dirty="0" smtClean="0"/>
              <a:t> No node is adjacent   to 1</a:t>
            </a:r>
          </a:p>
          <a:p>
            <a:endParaRPr lang="en-IN" dirty="0"/>
          </a:p>
        </p:txBody>
      </p:sp>
      <p:sp>
        <p:nvSpPr>
          <p:cNvPr id="24" name="TextBox 23"/>
          <p:cNvSpPr txBox="1"/>
          <p:nvPr/>
        </p:nvSpPr>
        <p:spPr>
          <a:xfrm>
            <a:off x="228598" y="5809817"/>
            <a:ext cx="968189" cy="369332"/>
          </a:xfrm>
          <a:prstGeom prst="rect">
            <a:avLst/>
          </a:prstGeom>
          <a:noFill/>
        </p:spPr>
        <p:txBody>
          <a:bodyPr wrap="square" rtlCol="0">
            <a:spAutoFit/>
          </a:bodyPr>
          <a:lstStyle/>
          <a:p>
            <a:r>
              <a:rPr lang="en-IN" dirty="0" smtClean="0"/>
              <a:t>3, 4</a:t>
            </a:r>
            <a:endParaRPr lang="en-IN" dirty="0"/>
          </a:p>
        </p:txBody>
      </p:sp>
      <p:sp>
        <p:nvSpPr>
          <p:cNvPr id="25" name="TextBox 24"/>
          <p:cNvSpPr txBox="1"/>
          <p:nvPr/>
        </p:nvSpPr>
        <p:spPr>
          <a:xfrm>
            <a:off x="2461302" y="4895611"/>
            <a:ext cx="2093817" cy="923330"/>
          </a:xfrm>
          <a:prstGeom prst="rect">
            <a:avLst/>
          </a:prstGeom>
          <a:noFill/>
        </p:spPr>
        <p:txBody>
          <a:bodyPr wrap="square" rtlCol="0">
            <a:spAutoFit/>
          </a:bodyPr>
          <a:lstStyle/>
          <a:p>
            <a:r>
              <a:rPr lang="en-IN" dirty="0" smtClean="0"/>
              <a:t> 4</a:t>
            </a:r>
          </a:p>
          <a:p>
            <a:r>
              <a:rPr lang="en-IN" dirty="0" smtClean="0"/>
              <a:t>(4 </a:t>
            </a:r>
            <a:r>
              <a:rPr lang="en-IN" dirty="0"/>
              <a:t>is adjacent to </a:t>
            </a:r>
            <a:r>
              <a:rPr lang="en-IN" dirty="0" smtClean="0"/>
              <a:t>3)</a:t>
            </a:r>
            <a:endParaRPr lang="en-IN" dirty="0"/>
          </a:p>
          <a:p>
            <a:endParaRPr lang="en-IN" dirty="0"/>
          </a:p>
        </p:txBody>
      </p:sp>
      <p:sp>
        <p:nvSpPr>
          <p:cNvPr id="26" name="TextBox 25"/>
          <p:cNvSpPr txBox="1"/>
          <p:nvPr/>
        </p:nvSpPr>
        <p:spPr>
          <a:xfrm>
            <a:off x="4589931" y="5623774"/>
            <a:ext cx="3666561" cy="923330"/>
          </a:xfrm>
          <a:prstGeom prst="rect">
            <a:avLst/>
          </a:prstGeom>
          <a:noFill/>
        </p:spPr>
        <p:txBody>
          <a:bodyPr wrap="square" rtlCol="0">
            <a:spAutoFit/>
          </a:bodyPr>
          <a:lstStyle/>
          <a:p>
            <a:r>
              <a:rPr lang="en-IN" dirty="0" smtClean="0"/>
              <a:t>3, 1, 4, 2</a:t>
            </a:r>
          </a:p>
          <a:p>
            <a:r>
              <a:rPr lang="en-IN" dirty="0"/>
              <a:t>( </a:t>
            </a:r>
            <a:r>
              <a:rPr lang="en-IN" dirty="0" smtClean="0"/>
              <a:t>2 </a:t>
            </a:r>
            <a:r>
              <a:rPr lang="en-IN" dirty="0"/>
              <a:t>is visited push </a:t>
            </a:r>
            <a:r>
              <a:rPr lang="en-IN" dirty="0" smtClean="0"/>
              <a:t>2 </a:t>
            </a:r>
            <a:r>
              <a:rPr lang="en-IN" dirty="0"/>
              <a:t>on stack) </a:t>
            </a:r>
          </a:p>
          <a:p>
            <a:endParaRPr lang="en-IN" dirty="0" smtClean="0"/>
          </a:p>
        </p:txBody>
      </p:sp>
      <p:sp>
        <p:nvSpPr>
          <p:cNvPr id="27" name="TextBox 26"/>
          <p:cNvSpPr txBox="1"/>
          <p:nvPr/>
        </p:nvSpPr>
        <p:spPr>
          <a:xfrm>
            <a:off x="4555119" y="4901255"/>
            <a:ext cx="3666561" cy="646331"/>
          </a:xfrm>
          <a:prstGeom prst="rect">
            <a:avLst/>
          </a:prstGeom>
          <a:noFill/>
        </p:spPr>
        <p:txBody>
          <a:bodyPr wrap="square" rtlCol="0">
            <a:spAutoFit/>
          </a:bodyPr>
          <a:lstStyle/>
          <a:p>
            <a:r>
              <a:rPr lang="en-IN" dirty="0" smtClean="0"/>
              <a:t>3, 1, 4</a:t>
            </a:r>
          </a:p>
          <a:p>
            <a:r>
              <a:rPr lang="en-IN" dirty="0"/>
              <a:t>( </a:t>
            </a:r>
            <a:r>
              <a:rPr lang="en-IN" dirty="0" smtClean="0"/>
              <a:t>4 </a:t>
            </a:r>
            <a:r>
              <a:rPr lang="en-IN" dirty="0"/>
              <a:t>is visited push </a:t>
            </a:r>
            <a:r>
              <a:rPr lang="en-IN" dirty="0" smtClean="0"/>
              <a:t>4 </a:t>
            </a:r>
            <a:r>
              <a:rPr lang="en-IN" dirty="0"/>
              <a:t>on stack) </a:t>
            </a:r>
          </a:p>
        </p:txBody>
      </p:sp>
      <p:pic>
        <p:nvPicPr>
          <p:cNvPr id="29"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8148" y="697333"/>
            <a:ext cx="2233757" cy="1415303"/>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p:cNvSpPr txBox="1"/>
          <p:nvPr/>
        </p:nvSpPr>
        <p:spPr>
          <a:xfrm>
            <a:off x="8610600" y="4256538"/>
            <a:ext cx="968189" cy="369332"/>
          </a:xfrm>
          <a:prstGeom prst="rect">
            <a:avLst/>
          </a:prstGeom>
          <a:noFill/>
        </p:spPr>
        <p:txBody>
          <a:bodyPr wrap="square" rtlCol="0">
            <a:spAutoFit/>
          </a:bodyPr>
          <a:lstStyle/>
          <a:p>
            <a:r>
              <a:rPr lang="en-IN" dirty="0" smtClean="0"/>
              <a:t>1</a:t>
            </a:r>
            <a:endParaRPr lang="en-IN" dirty="0"/>
          </a:p>
        </p:txBody>
      </p:sp>
      <p:sp>
        <p:nvSpPr>
          <p:cNvPr id="32" name="TextBox 31"/>
          <p:cNvSpPr txBox="1"/>
          <p:nvPr/>
        </p:nvSpPr>
        <p:spPr>
          <a:xfrm>
            <a:off x="2478708" y="5652871"/>
            <a:ext cx="2093817" cy="923330"/>
          </a:xfrm>
          <a:prstGeom prst="rect">
            <a:avLst/>
          </a:prstGeom>
          <a:noFill/>
        </p:spPr>
        <p:txBody>
          <a:bodyPr wrap="square" rtlCol="0">
            <a:spAutoFit/>
          </a:bodyPr>
          <a:lstStyle/>
          <a:p>
            <a:r>
              <a:rPr lang="en-IN" dirty="0" smtClean="0"/>
              <a:t> </a:t>
            </a:r>
            <a:r>
              <a:rPr lang="en-IN" dirty="0"/>
              <a:t>2</a:t>
            </a:r>
            <a:endParaRPr lang="en-IN" dirty="0" smtClean="0"/>
          </a:p>
          <a:p>
            <a:r>
              <a:rPr lang="en-IN" dirty="0" smtClean="0"/>
              <a:t>(2 </a:t>
            </a:r>
            <a:r>
              <a:rPr lang="en-IN" dirty="0"/>
              <a:t>is adjacent to </a:t>
            </a:r>
            <a:r>
              <a:rPr lang="en-IN" dirty="0" smtClean="0"/>
              <a:t>4)</a:t>
            </a:r>
            <a:endParaRPr lang="en-IN" dirty="0"/>
          </a:p>
          <a:p>
            <a:endParaRPr lang="en-IN" dirty="0"/>
          </a:p>
        </p:txBody>
      </p:sp>
      <p:sp>
        <p:nvSpPr>
          <p:cNvPr id="33"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sp>
        <p:nvSpPr>
          <p:cNvPr id="2" name="Date Placeholder 1"/>
          <p:cNvSpPr>
            <a:spLocks noGrp="1"/>
          </p:cNvSpPr>
          <p:nvPr>
            <p:ph type="dt" sz="half" idx="10"/>
          </p:nvPr>
        </p:nvSpPr>
        <p:spPr/>
        <p:txBody>
          <a:bodyPr/>
          <a:lstStyle/>
          <a:p>
            <a:fld id="{2E3132CA-89BB-45F7-A24C-FFD07A287D01}" type="datetime1">
              <a:rPr lang="en-IN" smtClean="0"/>
              <a:t>21-03-2026</a:t>
            </a:fld>
            <a:endParaRPr lang="en-IN"/>
          </a:p>
        </p:txBody>
      </p:sp>
    </p:spTree>
    <p:extLst>
      <p:ext uri="{BB962C8B-B14F-4D97-AF65-F5344CB8AC3E}">
        <p14:creationId xmlns:p14="http://schemas.microsoft.com/office/powerpoint/2010/main" val="2159025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4" grpId="0"/>
      <p:bldP spid="15" grpId="0"/>
      <p:bldP spid="17" grpId="0"/>
      <p:bldP spid="19" grpId="0"/>
      <p:bldP spid="21" grpId="0"/>
      <p:bldP spid="22" grpId="0"/>
      <p:bldP spid="23" grpId="0"/>
      <p:bldP spid="24" grpId="0"/>
      <p:bldP spid="25" grpId="0"/>
      <p:bldP spid="26" grpId="0"/>
      <p:bldP spid="27" grpId="0"/>
      <p:bldP spid="30" grpId="0"/>
      <p:bldP spid="32"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86753" y="-28642"/>
            <a:ext cx="9144000" cy="632287"/>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a:solidFill>
                  <a:srgbClr val="002060"/>
                </a:solidFill>
                <a:latin typeface="Times New Roman" panose="02020603050405020304" pitchFamily="18" charset="0"/>
                <a:cs typeface="Times New Roman" panose="02020603050405020304" pitchFamily="18" charset="0"/>
              </a:rPr>
              <a:t>(Topological sorting)         </a:t>
            </a:r>
            <a:r>
              <a:rPr lang="en-IN" sz="2000" b="1" dirty="0" smtClean="0">
                <a:solidFill>
                  <a:srgbClr val="002060"/>
                </a:solidFill>
                <a:latin typeface="Times New Roman" panose="02020603050405020304" pitchFamily="18" charset="0"/>
                <a:cs typeface="Times New Roman" panose="02020603050405020304" pitchFamily="18" charset="0"/>
              </a:rPr>
              <a:t>						</a:t>
            </a:r>
            <a:endParaRPr lang="en-IN" sz="3200" b="1" dirty="0">
              <a:solidFill>
                <a:srgbClr val="002060"/>
              </a:solidFill>
            </a:endParaRPr>
          </a:p>
        </p:txBody>
      </p:sp>
      <p:sp>
        <p:nvSpPr>
          <p:cNvPr id="3" name="Subtitle 2"/>
          <p:cNvSpPr>
            <a:spLocks noGrp="1"/>
          </p:cNvSpPr>
          <p:nvPr>
            <p:ph type="subTitle" idx="1"/>
          </p:nvPr>
        </p:nvSpPr>
        <p:spPr>
          <a:xfrm>
            <a:off x="177051" y="732885"/>
            <a:ext cx="11797552" cy="5627707"/>
          </a:xfrm>
        </p:spPr>
        <p:txBody>
          <a:bodyPr>
            <a:normAutofit/>
          </a:bodyPr>
          <a:lstStyle/>
          <a:p>
            <a:pPr algn="just"/>
            <a:endParaRPr lang="en-US" sz="24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141</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418053355"/>
              </p:ext>
            </p:extLst>
          </p:nvPr>
        </p:nvGraphicFramePr>
        <p:xfrm>
          <a:off x="177051" y="2084774"/>
          <a:ext cx="11176750" cy="3708770"/>
        </p:xfrm>
        <a:graphic>
          <a:graphicData uri="http://schemas.openxmlformats.org/drawingml/2006/table">
            <a:tbl>
              <a:tblPr firstRow="1" bandRow="1">
                <a:tableStyleId>{5C22544A-7EE6-4342-B048-85BDC9FD1C3A}</a:tableStyleId>
              </a:tblPr>
              <a:tblGrid>
                <a:gridCol w="2252384"/>
                <a:gridCol w="1981201"/>
                <a:gridCol w="4043083"/>
                <a:gridCol w="2900082"/>
              </a:tblGrid>
              <a:tr h="631532">
                <a:tc>
                  <a:txBody>
                    <a:bodyPr/>
                    <a:lstStyle/>
                    <a:p>
                      <a:r>
                        <a:rPr lang="en-IN" dirty="0" smtClean="0">
                          <a:solidFill>
                            <a:srgbClr val="002060"/>
                          </a:solidFill>
                        </a:rPr>
                        <a:t>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V=</a:t>
                      </a:r>
                      <a:r>
                        <a:rPr lang="en-IN" dirty="0" err="1" smtClean="0">
                          <a:solidFill>
                            <a:srgbClr val="002060"/>
                          </a:solidFill>
                        </a:rPr>
                        <a:t>adj</a:t>
                      </a:r>
                      <a:r>
                        <a:rPr lang="en-IN" dirty="0" smtClean="0">
                          <a:solidFill>
                            <a:srgbClr val="002060"/>
                          </a:solidFill>
                        </a:rPr>
                        <a:t>(S[top])</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Nodes Visited (S)</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Pop (stack)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gridSpan="4">
                  <a:txBody>
                    <a:bodyPr/>
                    <a:lstStyle/>
                    <a:p>
                      <a:r>
                        <a:rPr lang="en-IN" dirty="0" smtClean="0">
                          <a:solidFill>
                            <a:srgbClr val="002060"/>
                          </a:solidFill>
                        </a:rPr>
                        <a:t> The </a:t>
                      </a:r>
                      <a:r>
                        <a:rPr lang="en-IN" dirty="0" err="1" smtClean="0">
                          <a:solidFill>
                            <a:srgbClr val="002060"/>
                          </a:solidFill>
                        </a:rPr>
                        <a:t>poped</a:t>
                      </a:r>
                      <a:r>
                        <a:rPr lang="en-IN" dirty="0" smtClean="0">
                          <a:solidFill>
                            <a:srgbClr val="002060"/>
                          </a:solidFill>
                        </a:rPr>
                        <a:t> order is: 1, 2, 4, 3 (reverse of </a:t>
                      </a:r>
                      <a:r>
                        <a:rPr lang="en-IN" dirty="0" err="1" smtClean="0">
                          <a:solidFill>
                            <a:srgbClr val="002060"/>
                          </a:solidFill>
                        </a:rPr>
                        <a:t>poped</a:t>
                      </a:r>
                      <a:r>
                        <a:rPr lang="en-IN" dirty="0" smtClean="0">
                          <a:solidFill>
                            <a:srgbClr val="002060"/>
                          </a:solidFill>
                        </a:rPr>
                        <a:t> order is Topological sorting)</a:t>
                      </a:r>
                    </a:p>
                    <a:p>
                      <a:r>
                        <a:rPr lang="en-IN" dirty="0" smtClean="0">
                          <a:solidFill>
                            <a:srgbClr val="002060"/>
                          </a:solidFill>
                        </a:rPr>
                        <a:t>Resultant Topological sorting is : </a:t>
                      </a:r>
                      <a:r>
                        <a:rPr lang="en-IN" sz="2000" b="1" dirty="0" smtClean="0">
                          <a:solidFill>
                            <a:srgbClr val="FF0000"/>
                          </a:solidFill>
                        </a:rPr>
                        <a:t>3, 4, 2, 1</a:t>
                      </a:r>
                    </a:p>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12" name="TextBox 11"/>
          <p:cNvSpPr txBox="1"/>
          <p:nvPr/>
        </p:nvSpPr>
        <p:spPr>
          <a:xfrm>
            <a:off x="9619129" y="2526267"/>
            <a:ext cx="726141" cy="369332"/>
          </a:xfrm>
          <a:prstGeom prst="rect">
            <a:avLst/>
          </a:prstGeom>
          <a:noFill/>
        </p:spPr>
        <p:txBody>
          <a:bodyPr wrap="square" rtlCol="0">
            <a:spAutoFit/>
          </a:bodyPr>
          <a:lstStyle/>
          <a:p>
            <a:r>
              <a:rPr lang="en-IN" dirty="0" smtClean="0"/>
              <a:t>---</a:t>
            </a:r>
            <a:endParaRPr lang="en-IN" dirty="0"/>
          </a:p>
        </p:txBody>
      </p:sp>
      <p:sp>
        <p:nvSpPr>
          <p:cNvPr id="14" name="TextBox 13"/>
          <p:cNvSpPr txBox="1"/>
          <p:nvPr/>
        </p:nvSpPr>
        <p:spPr>
          <a:xfrm>
            <a:off x="259976" y="3625745"/>
            <a:ext cx="1326777" cy="369332"/>
          </a:xfrm>
          <a:prstGeom prst="rect">
            <a:avLst/>
          </a:prstGeom>
          <a:noFill/>
        </p:spPr>
        <p:txBody>
          <a:bodyPr wrap="square" rtlCol="0">
            <a:spAutoFit/>
          </a:bodyPr>
          <a:lstStyle/>
          <a:p>
            <a:r>
              <a:rPr lang="en-IN" dirty="0" smtClean="0"/>
              <a:t>3, 4</a:t>
            </a:r>
            <a:endParaRPr lang="en-IN" dirty="0"/>
          </a:p>
        </p:txBody>
      </p:sp>
      <p:sp>
        <p:nvSpPr>
          <p:cNvPr id="17" name="TextBox 16"/>
          <p:cNvSpPr txBox="1"/>
          <p:nvPr/>
        </p:nvSpPr>
        <p:spPr>
          <a:xfrm>
            <a:off x="4589931" y="3539339"/>
            <a:ext cx="3666561" cy="369332"/>
          </a:xfrm>
          <a:prstGeom prst="rect">
            <a:avLst/>
          </a:prstGeom>
          <a:noFill/>
        </p:spPr>
        <p:txBody>
          <a:bodyPr wrap="square" rtlCol="0">
            <a:spAutoFit/>
          </a:bodyPr>
          <a:lstStyle/>
          <a:p>
            <a:r>
              <a:rPr lang="en-IN" dirty="0"/>
              <a:t>3, 1, 4, 2</a:t>
            </a:r>
          </a:p>
        </p:txBody>
      </p:sp>
      <p:sp>
        <p:nvSpPr>
          <p:cNvPr id="19" name="TextBox 18"/>
          <p:cNvSpPr txBox="1"/>
          <p:nvPr/>
        </p:nvSpPr>
        <p:spPr>
          <a:xfrm>
            <a:off x="251011" y="4368635"/>
            <a:ext cx="977154" cy="369332"/>
          </a:xfrm>
          <a:prstGeom prst="rect">
            <a:avLst/>
          </a:prstGeom>
          <a:noFill/>
        </p:spPr>
        <p:txBody>
          <a:bodyPr wrap="square" rtlCol="0">
            <a:spAutoFit/>
          </a:bodyPr>
          <a:lstStyle/>
          <a:p>
            <a:r>
              <a:rPr lang="en-IN" dirty="0" smtClean="0"/>
              <a:t>3</a:t>
            </a:r>
            <a:endParaRPr lang="en-IN" dirty="0"/>
          </a:p>
        </p:txBody>
      </p:sp>
      <p:sp>
        <p:nvSpPr>
          <p:cNvPr id="27" name="TextBox 26"/>
          <p:cNvSpPr txBox="1"/>
          <p:nvPr/>
        </p:nvSpPr>
        <p:spPr>
          <a:xfrm>
            <a:off x="304799" y="2879957"/>
            <a:ext cx="968189" cy="369332"/>
          </a:xfrm>
          <a:prstGeom prst="rect">
            <a:avLst/>
          </a:prstGeom>
          <a:noFill/>
        </p:spPr>
        <p:txBody>
          <a:bodyPr wrap="square" rtlCol="0">
            <a:spAutoFit/>
          </a:bodyPr>
          <a:lstStyle/>
          <a:p>
            <a:r>
              <a:rPr lang="en-IN" dirty="0" smtClean="0"/>
              <a:t>3, 4, 2</a:t>
            </a:r>
            <a:endParaRPr lang="en-IN" dirty="0"/>
          </a:p>
        </p:txBody>
      </p:sp>
      <p:sp>
        <p:nvSpPr>
          <p:cNvPr id="29" name="TextBox 28"/>
          <p:cNvSpPr txBox="1"/>
          <p:nvPr/>
        </p:nvSpPr>
        <p:spPr>
          <a:xfrm>
            <a:off x="4581528" y="2716691"/>
            <a:ext cx="3666561" cy="369332"/>
          </a:xfrm>
          <a:prstGeom prst="rect">
            <a:avLst/>
          </a:prstGeom>
          <a:noFill/>
        </p:spPr>
        <p:txBody>
          <a:bodyPr wrap="square" rtlCol="0">
            <a:spAutoFit/>
          </a:bodyPr>
          <a:lstStyle/>
          <a:p>
            <a:r>
              <a:rPr lang="en-IN" dirty="0" smtClean="0"/>
              <a:t>3, 1, 4, 2</a:t>
            </a:r>
          </a:p>
        </p:txBody>
      </p:sp>
      <p:sp>
        <p:nvSpPr>
          <p:cNvPr id="30" name="TextBox 29"/>
          <p:cNvSpPr txBox="1"/>
          <p:nvPr/>
        </p:nvSpPr>
        <p:spPr>
          <a:xfrm>
            <a:off x="2496115" y="4209192"/>
            <a:ext cx="1591792" cy="923330"/>
          </a:xfrm>
          <a:prstGeom prst="rect">
            <a:avLst/>
          </a:prstGeom>
          <a:noFill/>
        </p:spPr>
        <p:txBody>
          <a:bodyPr wrap="square" rtlCol="0">
            <a:spAutoFit/>
          </a:bodyPr>
          <a:lstStyle/>
          <a:p>
            <a:r>
              <a:rPr lang="en-IN" dirty="0" smtClean="0"/>
              <a:t> No node is adjacent   to 3</a:t>
            </a:r>
          </a:p>
          <a:p>
            <a:endParaRPr lang="en-IN" dirty="0"/>
          </a:p>
        </p:txBody>
      </p:sp>
      <p:sp>
        <p:nvSpPr>
          <p:cNvPr id="32" name="TextBox 31"/>
          <p:cNvSpPr txBox="1"/>
          <p:nvPr/>
        </p:nvSpPr>
        <p:spPr>
          <a:xfrm>
            <a:off x="8610599" y="3632770"/>
            <a:ext cx="968189" cy="369332"/>
          </a:xfrm>
          <a:prstGeom prst="rect">
            <a:avLst/>
          </a:prstGeom>
          <a:noFill/>
        </p:spPr>
        <p:txBody>
          <a:bodyPr wrap="square" rtlCol="0">
            <a:spAutoFit/>
          </a:bodyPr>
          <a:lstStyle/>
          <a:p>
            <a:r>
              <a:rPr lang="en-IN" dirty="0" smtClean="0"/>
              <a:t>4</a:t>
            </a:r>
            <a:endParaRPr lang="en-IN" dirty="0"/>
          </a:p>
        </p:txBody>
      </p:sp>
      <p:sp>
        <p:nvSpPr>
          <p:cNvPr id="33" name="TextBox 32"/>
          <p:cNvSpPr txBox="1"/>
          <p:nvPr/>
        </p:nvSpPr>
        <p:spPr>
          <a:xfrm>
            <a:off x="2510402" y="2849502"/>
            <a:ext cx="1591792" cy="923330"/>
          </a:xfrm>
          <a:prstGeom prst="rect">
            <a:avLst/>
          </a:prstGeom>
          <a:noFill/>
        </p:spPr>
        <p:txBody>
          <a:bodyPr wrap="square" rtlCol="0">
            <a:spAutoFit/>
          </a:bodyPr>
          <a:lstStyle/>
          <a:p>
            <a:r>
              <a:rPr lang="en-IN" dirty="0" smtClean="0"/>
              <a:t> No node is adjacent   to </a:t>
            </a:r>
            <a:r>
              <a:rPr lang="en-IN" dirty="0"/>
              <a:t>2</a:t>
            </a:r>
            <a:endParaRPr lang="en-IN" dirty="0" smtClean="0"/>
          </a:p>
          <a:p>
            <a:endParaRPr lang="en-IN" dirty="0"/>
          </a:p>
        </p:txBody>
      </p:sp>
      <p:sp>
        <p:nvSpPr>
          <p:cNvPr id="34" name="TextBox 33"/>
          <p:cNvSpPr txBox="1"/>
          <p:nvPr/>
        </p:nvSpPr>
        <p:spPr>
          <a:xfrm>
            <a:off x="8615080" y="4410745"/>
            <a:ext cx="968189" cy="369332"/>
          </a:xfrm>
          <a:prstGeom prst="rect">
            <a:avLst/>
          </a:prstGeom>
          <a:noFill/>
        </p:spPr>
        <p:txBody>
          <a:bodyPr wrap="square" rtlCol="0">
            <a:spAutoFit/>
          </a:bodyPr>
          <a:lstStyle/>
          <a:p>
            <a:r>
              <a:rPr lang="en-IN" dirty="0" smtClean="0"/>
              <a:t>3</a:t>
            </a:r>
            <a:endParaRPr lang="en-IN" dirty="0"/>
          </a:p>
        </p:txBody>
      </p:sp>
      <p:sp>
        <p:nvSpPr>
          <p:cNvPr id="36" name="TextBox 35"/>
          <p:cNvSpPr txBox="1"/>
          <p:nvPr/>
        </p:nvSpPr>
        <p:spPr>
          <a:xfrm>
            <a:off x="4573690" y="4343837"/>
            <a:ext cx="3666561" cy="369332"/>
          </a:xfrm>
          <a:prstGeom prst="rect">
            <a:avLst/>
          </a:prstGeom>
          <a:noFill/>
        </p:spPr>
        <p:txBody>
          <a:bodyPr wrap="square" rtlCol="0">
            <a:spAutoFit/>
          </a:bodyPr>
          <a:lstStyle/>
          <a:p>
            <a:r>
              <a:rPr lang="en-IN" dirty="0"/>
              <a:t>3, 1, 4, 2</a:t>
            </a:r>
          </a:p>
        </p:txBody>
      </p:sp>
      <p:pic>
        <p:nvPicPr>
          <p:cNvPr id="37" name="Picture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25155" y="605436"/>
            <a:ext cx="2233757" cy="1415303"/>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p:cNvSpPr txBox="1"/>
          <p:nvPr/>
        </p:nvSpPr>
        <p:spPr>
          <a:xfrm>
            <a:off x="8578661" y="2817574"/>
            <a:ext cx="968189" cy="369332"/>
          </a:xfrm>
          <a:prstGeom prst="rect">
            <a:avLst/>
          </a:prstGeom>
          <a:noFill/>
        </p:spPr>
        <p:txBody>
          <a:bodyPr wrap="square" rtlCol="0">
            <a:spAutoFit/>
          </a:bodyPr>
          <a:lstStyle/>
          <a:p>
            <a:r>
              <a:rPr lang="en-IN" dirty="0" smtClean="0"/>
              <a:t>2</a:t>
            </a:r>
            <a:endParaRPr lang="en-IN" dirty="0"/>
          </a:p>
        </p:txBody>
      </p:sp>
      <p:sp>
        <p:nvSpPr>
          <p:cNvPr id="23" name="TextBox 22"/>
          <p:cNvSpPr txBox="1"/>
          <p:nvPr/>
        </p:nvSpPr>
        <p:spPr>
          <a:xfrm>
            <a:off x="2607069" y="3458682"/>
            <a:ext cx="1591792" cy="923330"/>
          </a:xfrm>
          <a:prstGeom prst="rect">
            <a:avLst/>
          </a:prstGeom>
          <a:noFill/>
        </p:spPr>
        <p:txBody>
          <a:bodyPr wrap="square" rtlCol="0">
            <a:spAutoFit/>
          </a:bodyPr>
          <a:lstStyle/>
          <a:p>
            <a:r>
              <a:rPr lang="en-IN" dirty="0" smtClean="0"/>
              <a:t> No node is adjacent   to 4</a:t>
            </a:r>
          </a:p>
          <a:p>
            <a:endParaRPr lang="en-IN" dirty="0"/>
          </a:p>
        </p:txBody>
      </p:sp>
      <p:sp>
        <p:nvSpPr>
          <p:cNvPr id="9" name="Date Placeholder 8"/>
          <p:cNvSpPr>
            <a:spLocks noGrp="1"/>
          </p:cNvSpPr>
          <p:nvPr>
            <p:ph type="dt" sz="half" idx="10"/>
          </p:nvPr>
        </p:nvSpPr>
        <p:spPr/>
        <p:txBody>
          <a:bodyPr/>
          <a:lstStyle/>
          <a:p>
            <a:fld id="{7BD8B8D3-E30E-4A38-82FD-698EF64D0888}" type="datetime1">
              <a:rPr lang="en-IN" smtClean="0"/>
              <a:t>21-03-2026</a:t>
            </a:fld>
            <a:endParaRPr lang="en-IN"/>
          </a:p>
        </p:txBody>
      </p:sp>
    </p:spTree>
    <p:extLst>
      <p:ext uri="{BB962C8B-B14F-4D97-AF65-F5344CB8AC3E}">
        <p14:creationId xmlns:p14="http://schemas.microsoft.com/office/powerpoint/2010/main" val="2756466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9" grpId="0"/>
      <p:bldP spid="27" grpId="0"/>
      <p:bldP spid="29" grpId="0"/>
      <p:bldP spid="30" grpId="0"/>
      <p:bldP spid="32" grpId="0"/>
      <p:bldP spid="33" grpId="0"/>
      <p:bldP spid="34" grpId="0"/>
      <p:bldP spid="36" grpId="0"/>
      <p:bldP spid="22" grpId="0"/>
      <p:bldP spid="23"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7576" y="732885"/>
            <a:ext cx="12084424" cy="5627707"/>
          </a:xfrm>
        </p:spPr>
        <p:txBody>
          <a:bodyPr>
            <a:normAutofit/>
          </a:bodyPr>
          <a:lstStyle/>
          <a:p>
            <a:pPr algn="just"/>
            <a:r>
              <a:rPr lang="en-US" sz="2000" b="1" dirty="0" smtClean="0">
                <a:solidFill>
                  <a:srgbClr val="0070C0"/>
                </a:solidFill>
                <a:latin typeface="Times New Roman" panose="02020603050405020304" pitchFamily="18" charset="0"/>
                <a:cs typeface="Times New Roman" panose="02020603050405020304" pitchFamily="18" charset="0"/>
              </a:rPr>
              <a:t>Problem2: </a:t>
            </a:r>
            <a:r>
              <a:rPr lang="en-US" sz="2000" b="1" dirty="0">
                <a:solidFill>
                  <a:srgbClr val="002060"/>
                </a:solidFill>
                <a:latin typeface="Times New Roman" panose="02020603050405020304" pitchFamily="18" charset="0"/>
                <a:cs typeface="Times New Roman" panose="02020603050405020304" pitchFamily="18" charset="0"/>
              </a:rPr>
              <a:t>Apply the DFS-based algorithm to solve the topological sorting problem </a:t>
            </a:r>
            <a:r>
              <a:rPr lang="en-US" sz="2000" b="1" dirty="0" smtClean="0">
                <a:solidFill>
                  <a:srgbClr val="002060"/>
                </a:solidFill>
                <a:latin typeface="Times New Roman" panose="02020603050405020304" pitchFamily="18" charset="0"/>
                <a:cs typeface="Times New Roman" panose="02020603050405020304" pitchFamily="18" charset="0"/>
              </a:rPr>
              <a:t>for </a:t>
            </a:r>
            <a:r>
              <a:rPr lang="en-IN" sz="2000" b="1" dirty="0" smtClean="0">
                <a:solidFill>
                  <a:srgbClr val="002060"/>
                </a:solidFill>
                <a:latin typeface="Times New Roman" panose="02020603050405020304" pitchFamily="18" charset="0"/>
                <a:cs typeface="Times New Roman" panose="02020603050405020304" pitchFamily="18" charset="0"/>
              </a:rPr>
              <a:t>the </a:t>
            </a:r>
            <a:r>
              <a:rPr lang="en-IN" sz="2000" b="1" dirty="0">
                <a:solidFill>
                  <a:srgbClr val="002060"/>
                </a:solidFill>
                <a:latin typeface="Times New Roman" panose="02020603050405020304" pitchFamily="18" charset="0"/>
                <a:cs typeface="Times New Roman" panose="02020603050405020304" pitchFamily="18" charset="0"/>
              </a:rPr>
              <a:t>following </a:t>
            </a:r>
            <a:r>
              <a:rPr lang="en-IN" sz="2000" b="1" dirty="0" smtClean="0">
                <a:solidFill>
                  <a:srgbClr val="002060"/>
                </a:solidFill>
                <a:latin typeface="Times New Roman" panose="02020603050405020304" pitchFamily="18" charset="0"/>
                <a:cs typeface="Times New Roman" panose="02020603050405020304" pitchFamily="18" charset="0"/>
              </a:rPr>
              <a:t>digraph:</a:t>
            </a: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endParaRPr lang="en-US" sz="2000" b="1" dirty="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Solution: Let us consider start with a vertex </a:t>
            </a:r>
            <a:r>
              <a:rPr lang="en-US" sz="2000" b="1" dirty="0">
                <a:solidFill>
                  <a:srgbClr val="FF0000"/>
                </a:solidFill>
                <a:latin typeface="Times New Roman" panose="02020603050405020304" pitchFamily="18" charset="0"/>
                <a:cs typeface="Times New Roman" panose="02020603050405020304" pitchFamily="18" charset="0"/>
              </a:rPr>
              <a:t>e</a:t>
            </a:r>
            <a:endParaRPr lang="en-US" sz="2000" b="1" dirty="0" smtClean="0">
              <a:solidFill>
                <a:srgbClr val="FF0000"/>
              </a:solidFill>
              <a:latin typeface="Times New Roman" panose="02020603050405020304" pitchFamily="18" charset="0"/>
              <a:cs typeface="Times New Roman" panose="02020603050405020304" pitchFamily="18" charset="0"/>
            </a:endParaRPr>
          </a:p>
          <a:p>
            <a:pPr algn="just"/>
            <a:r>
              <a:rPr lang="en-US" sz="2000" b="1" dirty="0" smtClean="0">
                <a:solidFill>
                  <a:srgbClr val="FF0000"/>
                </a:solidFill>
                <a:latin typeface="Times New Roman" panose="02020603050405020304" pitchFamily="18" charset="0"/>
                <a:cs typeface="Times New Roman" panose="02020603050405020304" pitchFamily="18" charset="0"/>
              </a:rPr>
              <a:t>Consider the table like this </a:t>
            </a: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142</a:t>
            </a:fld>
            <a:endParaRPr lang="en-IN" sz="1600" b="1" dirty="0">
              <a:solidFill>
                <a:srgbClr val="002060"/>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5"/>
          <a:stretch>
            <a:fillRect/>
          </a:stretch>
        </p:blipFill>
        <p:spPr>
          <a:xfrm>
            <a:off x="3490351" y="1135156"/>
            <a:ext cx="2085695" cy="2199640"/>
          </a:xfrm>
          <a:prstGeom prst="rect">
            <a:avLst/>
          </a:prstGeom>
        </p:spPr>
      </p:pic>
      <p:sp>
        <p:nvSpPr>
          <p:cNvPr id="11"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sp>
        <p:nvSpPr>
          <p:cNvPr id="2" name="Date Placeholder 1"/>
          <p:cNvSpPr>
            <a:spLocks noGrp="1"/>
          </p:cNvSpPr>
          <p:nvPr>
            <p:ph type="dt" sz="half" idx="10"/>
          </p:nvPr>
        </p:nvSpPr>
        <p:spPr/>
        <p:txBody>
          <a:bodyPr/>
          <a:lstStyle/>
          <a:p>
            <a:fld id="{408A6EF0-630E-4DC1-A948-D947FE2D7EAD}" type="datetime1">
              <a:rPr lang="en-IN" smtClean="0"/>
              <a:t>21-03-2026</a:t>
            </a:fld>
            <a:endParaRPr lang="en-IN"/>
          </a:p>
        </p:txBody>
      </p:sp>
    </p:spTree>
    <p:extLst>
      <p:ext uri="{BB962C8B-B14F-4D97-AF65-F5344CB8AC3E}">
        <p14:creationId xmlns:p14="http://schemas.microsoft.com/office/powerpoint/2010/main" val="394585192"/>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7" y="209195"/>
            <a:ext cx="9144000" cy="643197"/>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a:solidFill>
                  <a:srgbClr val="C00000"/>
                </a:solidFill>
                <a:latin typeface="Times New Roman" panose="02020603050405020304" pitchFamily="18" charset="0"/>
                <a:cs typeface="Times New Roman" panose="02020603050405020304" pitchFamily="18" charset="0"/>
              </a:rPr>
              <a:t> </a:t>
            </a:r>
            <a:r>
              <a:rPr lang="en-IN" sz="2400" b="1" dirty="0">
                <a:solidFill>
                  <a:srgbClr val="002060"/>
                </a:solidFill>
                <a:latin typeface="Times New Roman" panose="02020603050405020304" pitchFamily="18" charset="0"/>
                <a:cs typeface="Times New Roman" panose="02020603050405020304" pitchFamily="18" charset="0"/>
              </a:rPr>
              <a:t>(Topological sorting)     </a:t>
            </a:r>
            <a:r>
              <a:rPr lang="en-IN" sz="2400" b="1" dirty="0" smtClean="0">
                <a:solidFill>
                  <a:srgbClr val="002060"/>
                </a:solidFill>
                <a:latin typeface="Times New Roman" panose="02020603050405020304" pitchFamily="18" charset="0"/>
                <a:cs typeface="Times New Roman" panose="02020603050405020304" pitchFamily="18" charset="0"/>
              </a:rPr>
              <a:t>						</a:t>
            </a:r>
            <a:endParaRPr lang="en-IN" sz="3600" b="1" dirty="0">
              <a:solidFill>
                <a:srgbClr val="002060"/>
              </a:solidFill>
            </a:endParaRPr>
          </a:p>
        </p:txBody>
      </p:sp>
      <p:sp>
        <p:nvSpPr>
          <p:cNvPr id="3" name="Subtitle 2"/>
          <p:cNvSpPr>
            <a:spLocks noGrp="1"/>
          </p:cNvSpPr>
          <p:nvPr>
            <p:ph type="subTitle" idx="1"/>
          </p:nvPr>
        </p:nvSpPr>
        <p:spPr>
          <a:xfrm>
            <a:off x="177051" y="493059"/>
            <a:ext cx="11797552" cy="5867533"/>
          </a:xfrm>
        </p:spPr>
        <p:txBody>
          <a:bodyPr>
            <a:normAutofit/>
          </a:bodyPr>
          <a:lstStyle/>
          <a:p>
            <a:pPr algn="just"/>
            <a:endParaRPr lang="en-US" sz="24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143</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980917525"/>
              </p:ext>
            </p:extLst>
          </p:nvPr>
        </p:nvGraphicFramePr>
        <p:xfrm>
          <a:off x="177051" y="2084774"/>
          <a:ext cx="11176750" cy="3979274"/>
        </p:xfrm>
        <a:graphic>
          <a:graphicData uri="http://schemas.openxmlformats.org/drawingml/2006/table">
            <a:tbl>
              <a:tblPr firstRow="1" bandRow="1">
                <a:tableStyleId>{5C22544A-7EE6-4342-B048-85BDC9FD1C3A}</a:tableStyleId>
              </a:tblPr>
              <a:tblGrid>
                <a:gridCol w="2252384"/>
                <a:gridCol w="1981201"/>
                <a:gridCol w="4043083"/>
                <a:gridCol w="2900082"/>
              </a:tblGrid>
              <a:tr h="425344">
                <a:tc>
                  <a:txBody>
                    <a:bodyPr/>
                    <a:lstStyle/>
                    <a:p>
                      <a:r>
                        <a:rPr lang="en-IN" dirty="0" smtClean="0">
                          <a:solidFill>
                            <a:srgbClr val="002060"/>
                          </a:solidFill>
                        </a:rPr>
                        <a:t>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V=</a:t>
                      </a:r>
                      <a:r>
                        <a:rPr lang="en-IN" dirty="0" err="1" smtClean="0">
                          <a:solidFill>
                            <a:srgbClr val="002060"/>
                          </a:solidFill>
                        </a:rPr>
                        <a:t>adj</a:t>
                      </a:r>
                      <a:r>
                        <a:rPr lang="en-IN" dirty="0" smtClean="0">
                          <a:solidFill>
                            <a:srgbClr val="002060"/>
                          </a:solidFill>
                        </a:rPr>
                        <a:t>(S[top])</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Nodes Visited (S)</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Pop (stack)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 </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grid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solidFill>
                            <a:srgbClr val="FF0000"/>
                          </a:solidFill>
                        </a:rPr>
                        <a:t>now stack is empty, next consider any unvisited node which is not visited, let us consider node a</a:t>
                      </a:r>
                      <a:endParaRPr lang="en-IN" dirty="0" smtClean="0">
                        <a:solidFill>
                          <a:srgbClr val="002060"/>
                        </a:solidFill>
                      </a:endParaRPr>
                    </a:p>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9" name="TextBox 8"/>
          <p:cNvSpPr txBox="1"/>
          <p:nvPr/>
        </p:nvSpPr>
        <p:spPr>
          <a:xfrm>
            <a:off x="259976" y="2612317"/>
            <a:ext cx="726141" cy="369332"/>
          </a:xfrm>
          <a:prstGeom prst="rect">
            <a:avLst/>
          </a:prstGeom>
          <a:noFill/>
        </p:spPr>
        <p:txBody>
          <a:bodyPr wrap="square" rtlCol="0">
            <a:spAutoFit/>
          </a:bodyPr>
          <a:lstStyle/>
          <a:p>
            <a:r>
              <a:rPr lang="en-IN" dirty="0" smtClean="0"/>
              <a:t>---</a:t>
            </a:r>
            <a:endParaRPr lang="en-IN" dirty="0"/>
          </a:p>
        </p:txBody>
      </p:sp>
      <p:sp>
        <p:nvSpPr>
          <p:cNvPr id="10" name="TextBox 9"/>
          <p:cNvSpPr txBox="1"/>
          <p:nvPr/>
        </p:nvSpPr>
        <p:spPr>
          <a:xfrm>
            <a:off x="2652860" y="2598997"/>
            <a:ext cx="726141" cy="369332"/>
          </a:xfrm>
          <a:prstGeom prst="rect">
            <a:avLst/>
          </a:prstGeom>
          <a:noFill/>
        </p:spPr>
        <p:txBody>
          <a:bodyPr wrap="square" rtlCol="0">
            <a:spAutoFit/>
          </a:bodyPr>
          <a:lstStyle/>
          <a:p>
            <a:r>
              <a:rPr lang="en-IN" dirty="0" smtClean="0"/>
              <a:t>---</a:t>
            </a:r>
            <a:endParaRPr lang="en-IN" dirty="0"/>
          </a:p>
        </p:txBody>
      </p:sp>
      <p:sp>
        <p:nvSpPr>
          <p:cNvPr id="11" name="TextBox 10"/>
          <p:cNvSpPr txBox="1"/>
          <p:nvPr/>
        </p:nvSpPr>
        <p:spPr>
          <a:xfrm>
            <a:off x="4535804" y="2533500"/>
            <a:ext cx="3643026" cy="923330"/>
          </a:xfrm>
          <a:prstGeom prst="rect">
            <a:avLst/>
          </a:prstGeom>
          <a:noFill/>
        </p:spPr>
        <p:txBody>
          <a:bodyPr wrap="square" rtlCol="0">
            <a:spAutoFit/>
          </a:bodyPr>
          <a:lstStyle/>
          <a:p>
            <a:r>
              <a:rPr lang="en-IN" dirty="0" smtClean="0"/>
              <a:t>e</a:t>
            </a:r>
            <a:endParaRPr lang="en-IN" dirty="0" smtClean="0">
              <a:solidFill>
                <a:srgbClr val="FF0000"/>
              </a:solidFill>
            </a:endParaRPr>
          </a:p>
          <a:p>
            <a:r>
              <a:rPr lang="en-IN" dirty="0" smtClean="0"/>
              <a:t>(e </a:t>
            </a:r>
            <a:r>
              <a:rPr lang="en-IN" dirty="0"/>
              <a:t>is visited push </a:t>
            </a:r>
            <a:r>
              <a:rPr lang="en-IN" dirty="0" smtClean="0"/>
              <a:t>a </a:t>
            </a:r>
            <a:r>
              <a:rPr lang="en-IN" dirty="0"/>
              <a:t>on </a:t>
            </a:r>
            <a:r>
              <a:rPr lang="en-IN" dirty="0" smtClean="0"/>
              <a:t>stack) </a:t>
            </a:r>
            <a:endParaRPr lang="en-IN" dirty="0"/>
          </a:p>
          <a:p>
            <a:endParaRPr lang="en-IN" dirty="0"/>
          </a:p>
        </p:txBody>
      </p:sp>
      <p:sp>
        <p:nvSpPr>
          <p:cNvPr id="14" name="TextBox 13"/>
          <p:cNvSpPr txBox="1"/>
          <p:nvPr/>
        </p:nvSpPr>
        <p:spPr>
          <a:xfrm>
            <a:off x="251011" y="3244772"/>
            <a:ext cx="726141" cy="369332"/>
          </a:xfrm>
          <a:prstGeom prst="rect">
            <a:avLst/>
          </a:prstGeom>
          <a:noFill/>
        </p:spPr>
        <p:txBody>
          <a:bodyPr wrap="square" rtlCol="0">
            <a:spAutoFit/>
          </a:bodyPr>
          <a:lstStyle/>
          <a:p>
            <a:r>
              <a:rPr lang="en-IN" dirty="0"/>
              <a:t>e</a:t>
            </a:r>
          </a:p>
        </p:txBody>
      </p:sp>
      <p:sp>
        <p:nvSpPr>
          <p:cNvPr id="15" name="TextBox 14"/>
          <p:cNvSpPr txBox="1"/>
          <p:nvPr/>
        </p:nvSpPr>
        <p:spPr>
          <a:xfrm>
            <a:off x="2396216" y="3216752"/>
            <a:ext cx="3122374" cy="646331"/>
          </a:xfrm>
          <a:prstGeom prst="rect">
            <a:avLst/>
          </a:prstGeom>
          <a:noFill/>
        </p:spPr>
        <p:txBody>
          <a:bodyPr wrap="square" rtlCol="0">
            <a:spAutoFit/>
          </a:bodyPr>
          <a:lstStyle/>
          <a:p>
            <a:r>
              <a:rPr lang="en-IN" dirty="0" smtClean="0"/>
              <a:t>  f </a:t>
            </a:r>
          </a:p>
          <a:p>
            <a:r>
              <a:rPr lang="en-IN" dirty="0" smtClean="0"/>
              <a:t>(f is adjacent to e)</a:t>
            </a:r>
            <a:endParaRPr lang="en-IN" dirty="0"/>
          </a:p>
        </p:txBody>
      </p:sp>
      <p:sp>
        <p:nvSpPr>
          <p:cNvPr id="17" name="TextBox 16"/>
          <p:cNvSpPr txBox="1"/>
          <p:nvPr/>
        </p:nvSpPr>
        <p:spPr>
          <a:xfrm>
            <a:off x="4535804" y="3244772"/>
            <a:ext cx="3666561" cy="646331"/>
          </a:xfrm>
          <a:prstGeom prst="rect">
            <a:avLst/>
          </a:prstGeom>
          <a:noFill/>
        </p:spPr>
        <p:txBody>
          <a:bodyPr wrap="square" rtlCol="0">
            <a:spAutoFit/>
          </a:bodyPr>
          <a:lstStyle/>
          <a:p>
            <a:r>
              <a:rPr lang="en-IN" dirty="0"/>
              <a:t>e</a:t>
            </a:r>
            <a:r>
              <a:rPr lang="en-IN" dirty="0" smtClean="0"/>
              <a:t>, f</a:t>
            </a:r>
          </a:p>
          <a:p>
            <a:r>
              <a:rPr lang="en-IN" dirty="0" smtClean="0"/>
              <a:t>(f is visited push f on stack) </a:t>
            </a:r>
            <a:endParaRPr lang="en-IN" dirty="0"/>
          </a:p>
        </p:txBody>
      </p:sp>
      <p:sp>
        <p:nvSpPr>
          <p:cNvPr id="19" name="TextBox 18"/>
          <p:cNvSpPr txBox="1"/>
          <p:nvPr/>
        </p:nvSpPr>
        <p:spPr>
          <a:xfrm>
            <a:off x="259976" y="4001427"/>
            <a:ext cx="726141" cy="369332"/>
          </a:xfrm>
          <a:prstGeom prst="rect">
            <a:avLst/>
          </a:prstGeom>
          <a:noFill/>
        </p:spPr>
        <p:txBody>
          <a:bodyPr wrap="square" rtlCol="0">
            <a:spAutoFit/>
          </a:bodyPr>
          <a:lstStyle/>
          <a:p>
            <a:r>
              <a:rPr lang="en-IN" dirty="0"/>
              <a:t>e</a:t>
            </a:r>
            <a:r>
              <a:rPr lang="en-IN" dirty="0" smtClean="0"/>
              <a:t>, f</a:t>
            </a:r>
            <a:endParaRPr lang="en-IN" dirty="0"/>
          </a:p>
        </p:txBody>
      </p:sp>
      <p:sp>
        <p:nvSpPr>
          <p:cNvPr id="21" name="TextBox 20"/>
          <p:cNvSpPr txBox="1"/>
          <p:nvPr/>
        </p:nvSpPr>
        <p:spPr>
          <a:xfrm>
            <a:off x="4512269" y="3958709"/>
            <a:ext cx="3666561" cy="369332"/>
          </a:xfrm>
          <a:prstGeom prst="rect">
            <a:avLst/>
          </a:prstGeom>
          <a:noFill/>
        </p:spPr>
        <p:txBody>
          <a:bodyPr wrap="square" rtlCol="0">
            <a:spAutoFit/>
          </a:bodyPr>
          <a:lstStyle/>
          <a:p>
            <a:r>
              <a:rPr lang="en-IN" dirty="0"/>
              <a:t>e</a:t>
            </a:r>
            <a:r>
              <a:rPr lang="en-IN" dirty="0" smtClean="0"/>
              <a:t>, f</a:t>
            </a:r>
          </a:p>
        </p:txBody>
      </p:sp>
      <p:sp>
        <p:nvSpPr>
          <p:cNvPr id="22" name="TextBox 21"/>
          <p:cNvSpPr txBox="1"/>
          <p:nvPr/>
        </p:nvSpPr>
        <p:spPr>
          <a:xfrm>
            <a:off x="259976" y="4822154"/>
            <a:ext cx="968189" cy="369332"/>
          </a:xfrm>
          <a:prstGeom prst="rect">
            <a:avLst/>
          </a:prstGeom>
          <a:noFill/>
        </p:spPr>
        <p:txBody>
          <a:bodyPr wrap="square" rtlCol="0">
            <a:spAutoFit/>
          </a:bodyPr>
          <a:lstStyle/>
          <a:p>
            <a:r>
              <a:rPr lang="en-IN" dirty="0" smtClean="0"/>
              <a:t>e</a:t>
            </a:r>
            <a:endParaRPr lang="en-IN" dirty="0"/>
          </a:p>
        </p:txBody>
      </p:sp>
      <p:sp>
        <p:nvSpPr>
          <p:cNvPr id="23" name="TextBox 22"/>
          <p:cNvSpPr txBox="1"/>
          <p:nvPr/>
        </p:nvSpPr>
        <p:spPr>
          <a:xfrm>
            <a:off x="2493238" y="3991062"/>
            <a:ext cx="1591792" cy="646331"/>
          </a:xfrm>
          <a:prstGeom prst="rect">
            <a:avLst/>
          </a:prstGeom>
          <a:noFill/>
        </p:spPr>
        <p:txBody>
          <a:bodyPr wrap="square" rtlCol="0">
            <a:spAutoFit/>
          </a:bodyPr>
          <a:lstStyle/>
          <a:p>
            <a:r>
              <a:rPr lang="en-IN" dirty="0" smtClean="0"/>
              <a:t> No node is adjacent  to f</a:t>
            </a:r>
            <a:endParaRPr lang="en-IN" dirty="0"/>
          </a:p>
        </p:txBody>
      </p:sp>
      <p:sp>
        <p:nvSpPr>
          <p:cNvPr id="27" name="TextBox 26"/>
          <p:cNvSpPr txBox="1"/>
          <p:nvPr/>
        </p:nvSpPr>
        <p:spPr>
          <a:xfrm>
            <a:off x="4442013" y="4691404"/>
            <a:ext cx="3666561" cy="646331"/>
          </a:xfrm>
          <a:prstGeom prst="rect">
            <a:avLst/>
          </a:prstGeom>
          <a:noFill/>
        </p:spPr>
        <p:txBody>
          <a:bodyPr wrap="square" rtlCol="0">
            <a:spAutoFit/>
          </a:bodyPr>
          <a:lstStyle/>
          <a:p>
            <a:r>
              <a:rPr lang="en-IN" dirty="0"/>
              <a:t>e</a:t>
            </a:r>
            <a:r>
              <a:rPr lang="en-IN" dirty="0" smtClean="0"/>
              <a:t>, f</a:t>
            </a:r>
          </a:p>
          <a:p>
            <a:endParaRPr lang="en-IN" dirty="0"/>
          </a:p>
        </p:txBody>
      </p:sp>
      <p:sp>
        <p:nvSpPr>
          <p:cNvPr id="28" name="TextBox 27"/>
          <p:cNvSpPr txBox="1"/>
          <p:nvPr/>
        </p:nvSpPr>
        <p:spPr>
          <a:xfrm>
            <a:off x="8606069" y="4003098"/>
            <a:ext cx="968189" cy="369332"/>
          </a:xfrm>
          <a:prstGeom prst="rect">
            <a:avLst/>
          </a:prstGeom>
          <a:noFill/>
        </p:spPr>
        <p:txBody>
          <a:bodyPr wrap="square" rtlCol="0">
            <a:spAutoFit/>
          </a:bodyPr>
          <a:lstStyle/>
          <a:p>
            <a:r>
              <a:rPr lang="en-IN" dirty="0" smtClean="0"/>
              <a:t>f</a:t>
            </a:r>
            <a:endParaRPr lang="en-IN" dirty="0"/>
          </a:p>
        </p:txBody>
      </p:sp>
      <p:pic>
        <p:nvPicPr>
          <p:cNvPr id="29" name="Picture 28"/>
          <p:cNvPicPr>
            <a:picLocks noChangeAspect="1"/>
          </p:cNvPicPr>
          <p:nvPr/>
        </p:nvPicPr>
        <p:blipFill>
          <a:blip r:embed="rId5"/>
          <a:stretch>
            <a:fillRect/>
          </a:stretch>
        </p:blipFill>
        <p:spPr>
          <a:xfrm>
            <a:off x="3417378" y="493059"/>
            <a:ext cx="2857916" cy="1548507"/>
          </a:xfrm>
          <a:prstGeom prst="rect">
            <a:avLst/>
          </a:prstGeom>
        </p:spPr>
      </p:pic>
      <p:sp>
        <p:nvSpPr>
          <p:cNvPr id="30" name="TextBox 29"/>
          <p:cNvSpPr txBox="1"/>
          <p:nvPr/>
        </p:nvSpPr>
        <p:spPr>
          <a:xfrm>
            <a:off x="2488407" y="4697840"/>
            <a:ext cx="1591792" cy="646331"/>
          </a:xfrm>
          <a:prstGeom prst="rect">
            <a:avLst/>
          </a:prstGeom>
          <a:noFill/>
        </p:spPr>
        <p:txBody>
          <a:bodyPr wrap="square" rtlCol="0">
            <a:spAutoFit/>
          </a:bodyPr>
          <a:lstStyle/>
          <a:p>
            <a:r>
              <a:rPr lang="en-IN" dirty="0" smtClean="0"/>
              <a:t> No node is adjacent  to e</a:t>
            </a:r>
            <a:endParaRPr lang="en-IN" dirty="0"/>
          </a:p>
        </p:txBody>
      </p:sp>
      <p:sp>
        <p:nvSpPr>
          <p:cNvPr id="31" name="TextBox 30"/>
          <p:cNvSpPr txBox="1"/>
          <p:nvPr/>
        </p:nvSpPr>
        <p:spPr>
          <a:xfrm>
            <a:off x="8606069" y="4810392"/>
            <a:ext cx="968189" cy="369332"/>
          </a:xfrm>
          <a:prstGeom prst="rect">
            <a:avLst/>
          </a:prstGeom>
          <a:noFill/>
        </p:spPr>
        <p:txBody>
          <a:bodyPr wrap="square" rtlCol="0">
            <a:spAutoFit/>
          </a:bodyPr>
          <a:lstStyle/>
          <a:p>
            <a:r>
              <a:rPr lang="en-IN" dirty="0"/>
              <a:t>e</a:t>
            </a:r>
          </a:p>
        </p:txBody>
      </p:sp>
      <p:sp>
        <p:nvSpPr>
          <p:cNvPr id="12" name="Date Placeholder 11"/>
          <p:cNvSpPr>
            <a:spLocks noGrp="1"/>
          </p:cNvSpPr>
          <p:nvPr>
            <p:ph type="dt" sz="half" idx="10"/>
          </p:nvPr>
        </p:nvSpPr>
        <p:spPr/>
        <p:txBody>
          <a:bodyPr/>
          <a:lstStyle/>
          <a:p>
            <a:fld id="{7B8850C8-B6FC-47B1-AC91-6148EBCAB1EA}" type="datetime1">
              <a:rPr lang="en-IN" smtClean="0"/>
              <a:t>21-03-2026</a:t>
            </a:fld>
            <a:endParaRPr lang="en-IN"/>
          </a:p>
        </p:txBody>
      </p:sp>
    </p:spTree>
    <p:extLst>
      <p:ext uri="{BB962C8B-B14F-4D97-AF65-F5344CB8AC3E}">
        <p14:creationId xmlns:p14="http://schemas.microsoft.com/office/powerpoint/2010/main" val="201774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4" grpId="0"/>
      <p:bldP spid="15" grpId="0"/>
      <p:bldP spid="17" grpId="0"/>
      <p:bldP spid="19" grpId="0"/>
      <p:bldP spid="21" grpId="0"/>
      <p:bldP spid="22" grpId="0"/>
      <p:bldP spid="23" grpId="0"/>
      <p:bldP spid="27" grpId="0"/>
      <p:bldP spid="28" grpId="0"/>
      <p:bldP spid="30" grpId="0"/>
      <p:bldP spid="31"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7051" y="732885"/>
            <a:ext cx="11797552" cy="5627707"/>
          </a:xfrm>
        </p:spPr>
        <p:txBody>
          <a:bodyPr>
            <a:normAutofit/>
          </a:bodyPr>
          <a:lstStyle/>
          <a:p>
            <a:pPr algn="just"/>
            <a:endParaRPr lang="en-US" sz="24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144</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621211909"/>
              </p:ext>
            </p:extLst>
          </p:nvPr>
        </p:nvGraphicFramePr>
        <p:xfrm>
          <a:off x="177051" y="2084774"/>
          <a:ext cx="11176750" cy="4264716"/>
        </p:xfrm>
        <a:graphic>
          <a:graphicData uri="http://schemas.openxmlformats.org/drawingml/2006/table">
            <a:tbl>
              <a:tblPr firstRow="1" bandRow="1">
                <a:tableStyleId>{5C22544A-7EE6-4342-B048-85BDC9FD1C3A}</a:tableStyleId>
              </a:tblPr>
              <a:tblGrid>
                <a:gridCol w="2252384"/>
                <a:gridCol w="1981201"/>
                <a:gridCol w="4043083"/>
                <a:gridCol w="2900082"/>
              </a:tblGrid>
              <a:tr h="710786">
                <a:tc>
                  <a:txBody>
                    <a:bodyPr/>
                    <a:lstStyle/>
                    <a:p>
                      <a:r>
                        <a:rPr lang="en-IN" dirty="0" smtClean="0">
                          <a:solidFill>
                            <a:srgbClr val="002060"/>
                          </a:solidFill>
                        </a:rPr>
                        <a:t>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V=</a:t>
                      </a:r>
                      <a:r>
                        <a:rPr lang="en-IN" dirty="0" err="1" smtClean="0">
                          <a:solidFill>
                            <a:srgbClr val="002060"/>
                          </a:solidFill>
                        </a:rPr>
                        <a:t>adj</a:t>
                      </a:r>
                      <a:r>
                        <a:rPr lang="en-IN" dirty="0" smtClean="0">
                          <a:solidFill>
                            <a:srgbClr val="002060"/>
                          </a:solidFill>
                        </a:rPr>
                        <a:t>(S[top])</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Nodes Visited (S)</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Pop (stack)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 </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9" name="TextBox 8"/>
          <p:cNvSpPr txBox="1"/>
          <p:nvPr/>
        </p:nvSpPr>
        <p:spPr>
          <a:xfrm>
            <a:off x="349623" y="2915565"/>
            <a:ext cx="726141" cy="369332"/>
          </a:xfrm>
          <a:prstGeom prst="rect">
            <a:avLst/>
          </a:prstGeom>
          <a:noFill/>
        </p:spPr>
        <p:txBody>
          <a:bodyPr wrap="square" rtlCol="0">
            <a:spAutoFit/>
          </a:bodyPr>
          <a:lstStyle/>
          <a:p>
            <a:r>
              <a:rPr lang="en-IN" dirty="0" smtClean="0"/>
              <a:t>---</a:t>
            </a:r>
            <a:endParaRPr lang="en-IN" dirty="0"/>
          </a:p>
        </p:txBody>
      </p:sp>
      <p:sp>
        <p:nvSpPr>
          <p:cNvPr id="10" name="TextBox 9"/>
          <p:cNvSpPr txBox="1"/>
          <p:nvPr/>
        </p:nvSpPr>
        <p:spPr>
          <a:xfrm>
            <a:off x="3054308" y="2910160"/>
            <a:ext cx="726141" cy="369332"/>
          </a:xfrm>
          <a:prstGeom prst="rect">
            <a:avLst/>
          </a:prstGeom>
          <a:noFill/>
        </p:spPr>
        <p:txBody>
          <a:bodyPr wrap="square" rtlCol="0">
            <a:spAutoFit/>
          </a:bodyPr>
          <a:lstStyle/>
          <a:p>
            <a:r>
              <a:rPr lang="en-IN" dirty="0" smtClean="0"/>
              <a:t>---</a:t>
            </a:r>
            <a:endParaRPr lang="en-IN" dirty="0"/>
          </a:p>
        </p:txBody>
      </p:sp>
      <p:sp>
        <p:nvSpPr>
          <p:cNvPr id="11" name="TextBox 10"/>
          <p:cNvSpPr txBox="1"/>
          <p:nvPr/>
        </p:nvSpPr>
        <p:spPr>
          <a:xfrm>
            <a:off x="4589931" y="2796983"/>
            <a:ext cx="3643026" cy="923330"/>
          </a:xfrm>
          <a:prstGeom prst="rect">
            <a:avLst/>
          </a:prstGeom>
          <a:noFill/>
        </p:spPr>
        <p:txBody>
          <a:bodyPr wrap="square" rtlCol="0">
            <a:spAutoFit/>
          </a:bodyPr>
          <a:lstStyle/>
          <a:p>
            <a:r>
              <a:rPr lang="en-IN" dirty="0" smtClean="0"/>
              <a:t>e, f, a</a:t>
            </a:r>
            <a:r>
              <a:rPr lang="en-IN" dirty="0" smtClean="0">
                <a:solidFill>
                  <a:srgbClr val="FF0000"/>
                </a:solidFill>
              </a:rPr>
              <a:t> </a:t>
            </a:r>
          </a:p>
          <a:p>
            <a:r>
              <a:rPr lang="en-IN" dirty="0" smtClean="0"/>
              <a:t>(a </a:t>
            </a:r>
            <a:r>
              <a:rPr lang="en-IN" dirty="0"/>
              <a:t>is visited push </a:t>
            </a:r>
            <a:r>
              <a:rPr lang="en-IN" dirty="0" smtClean="0"/>
              <a:t>a </a:t>
            </a:r>
            <a:r>
              <a:rPr lang="en-IN" dirty="0"/>
              <a:t>on </a:t>
            </a:r>
            <a:r>
              <a:rPr lang="en-IN" dirty="0" smtClean="0"/>
              <a:t>stack) </a:t>
            </a:r>
            <a:endParaRPr lang="en-IN" dirty="0"/>
          </a:p>
          <a:p>
            <a:endParaRPr lang="en-IN" dirty="0"/>
          </a:p>
        </p:txBody>
      </p:sp>
      <p:sp>
        <p:nvSpPr>
          <p:cNvPr id="14" name="TextBox 13"/>
          <p:cNvSpPr txBox="1"/>
          <p:nvPr/>
        </p:nvSpPr>
        <p:spPr>
          <a:xfrm>
            <a:off x="259976" y="3625745"/>
            <a:ext cx="726141" cy="369332"/>
          </a:xfrm>
          <a:prstGeom prst="rect">
            <a:avLst/>
          </a:prstGeom>
          <a:noFill/>
        </p:spPr>
        <p:txBody>
          <a:bodyPr wrap="square" rtlCol="0">
            <a:spAutoFit/>
          </a:bodyPr>
          <a:lstStyle/>
          <a:p>
            <a:r>
              <a:rPr lang="en-IN" dirty="0" smtClean="0"/>
              <a:t>a</a:t>
            </a:r>
            <a:endParaRPr lang="en-IN" dirty="0"/>
          </a:p>
        </p:txBody>
      </p:sp>
      <p:sp>
        <p:nvSpPr>
          <p:cNvPr id="15" name="TextBox 14"/>
          <p:cNvSpPr txBox="1"/>
          <p:nvPr/>
        </p:nvSpPr>
        <p:spPr>
          <a:xfrm>
            <a:off x="2496114" y="3355030"/>
            <a:ext cx="3122374" cy="646331"/>
          </a:xfrm>
          <a:prstGeom prst="rect">
            <a:avLst/>
          </a:prstGeom>
          <a:noFill/>
        </p:spPr>
        <p:txBody>
          <a:bodyPr wrap="square" rtlCol="0">
            <a:spAutoFit/>
          </a:bodyPr>
          <a:lstStyle/>
          <a:p>
            <a:r>
              <a:rPr lang="en-IN" dirty="0" smtClean="0"/>
              <a:t>   </a:t>
            </a:r>
          </a:p>
          <a:p>
            <a:r>
              <a:rPr lang="en-IN" dirty="0" smtClean="0"/>
              <a:t>(c is adjacent to a)</a:t>
            </a:r>
            <a:endParaRPr lang="en-IN" dirty="0"/>
          </a:p>
        </p:txBody>
      </p:sp>
      <p:sp>
        <p:nvSpPr>
          <p:cNvPr id="17" name="TextBox 16"/>
          <p:cNvSpPr txBox="1"/>
          <p:nvPr/>
        </p:nvSpPr>
        <p:spPr>
          <a:xfrm>
            <a:off x="4589931" y="3539339"/>
            <a:ext cx="3666561" cy="646331"/>
          </a:xfrm>
          <a:prstGeom prst="rect">
            <a:avLst/>
          </a:prstGeom>
          <a:noFill/>
        </p:spPr>
        <p:txBody>
          <a:bodyPr wrap="square" rtlCol="0">
            <a:spAutoFit/>
          </a:bodyPr>
          <a:lstStyle/>
          <a:p>
            <a:r>
              <a:rPr lang="en-IN" dirty="0"/>
              <a:t>e, f, a, c</a:t>
            </a:r>
          </a:p>
          <a:p>
            <a:r>
              <a:rPr lang="en-IN" dirty="0" smtClean="0"/>
              <a:t>( c is visited push c on stack) </a:t>
            </a:r>
            <a:endParaRPr lang="en-IN" dirty="0"/>
          </a:p>
        </p:txBody>
      </p:sp>
      <p:sp>
        <p:nvSpPr>
          <p:cNvPr id="19" name="TextBox 18"/>
          <p:cNvSpPr txBox="1"/>
          <p:nvPr/>
        </p:nvSpPr>
        <p:spPr>
          <a:xfrm>
            <a:off x="251011" y="4368635"/>
            <a:ext cx="726141" cy="369332"/>
          </a:xfrm>
          <a:prstGeom prst="rect">
            <a:avLst/>
          </a:prstGeom>
          <a:noFill/>
        </p:spPr>
        <p:txBody>
          <a:bodyPr wrap="square" rtlCol="0">
            <a:spAutoFit/>
          </a:bodyPr>
          <a:lstStyle/>
          <a:p>
            <a:r>
              <a:rPr lang="en-IN" dirty="0"/>
              <a:t>a</a:t>
            </a:r>
            <a:r>
              <a:rPr lang="en-IN" dirty="0" smtClean="0"/>
              <a:t>, c</a:t>
            </a:r>
            <a:endParaRPr lang="en-IN" dirty="0"/>
          </a:p>
        </p:txBody>
      </p:sp>
      <p:sp>
        <p:nvSpPr>
          <p:cNvPr id="22" name="TextBox 21"/>
          <p:cNvSpPr txBox="1"/>
          <p:nvPr/>
        </p:nvSpPr>
        <p:spPr>
          <a:xfrm>
            <a:off x="259976" y="5111553"/>
            <a:ext cx="968189" cy="369332"/>
          </a:xfrm>
          <a:prstGeom prst="rect">
            <a:avLst/>
          </a:prstGeom>
          <a:noFill/>
        </p:spPr>
        <p:txBody>
          <a:bodyPr wrap="square" rtlCol="0">
            <a:spAutoFit/>
          </a:bodyPr>
          <a:lstStyle/>
          <a:p>
            <a:r>
              <a:rPr lang="en-IN" dirty="0"/>
              <a:t>a</a:t>
            </a:r>
            <a:r>
              <a:rPr lang="en-IN" dirty="0" smtClean="0"/>
              <a:t>, c, d</a:t>
            </a:r>
            <a:endParaRPr lang="en-IN" dirty="0"/>
          </a:p>
        </p:txBody>
      </p:sp>
      <p:sp>
        <p:nvSpPr>
          <p:cNvPr id="24" name="TextBox 23"/>
          <p:cNvSpPr txBox="1"/>
          <p:nvPr/>
        </p:nvSpPr>
        <p:spPr>
          <a:xfrm>
            <a:off x="228598" y="5809817"/>
            <a:ext cx="968189" cy="369332"/>
          </a:xfrm>
          <a:prstGeom prst="rect">
            <a:avLst/>
          </a:prstGeom>
          <a:noFill/>
        </p:spPr>
        <p:txBody>
          <a:bodyPr wrap="square" rtlCol="0">
            <a:spAutoFit/>
          </a:bodyPr>
          <a:lstStyle/>
          <a:p>
            <a:r>
              <a:rPr lang="en-IN" dirty="0"/>
              <a:t>a</a:t>
            </a:r>
            <a:r>
              <a:rPr lang="en-IN" dirty="0" smtClean="0"/>
              <a:t>, c</a:t>
            </a:r>
            <a:endParaRPr lang="en-IN" dirty="0"/>
          </a:p>
        </p:txBody>
      </p:sp>
      <p:sp>
        <p:nvSpPr>
          <p:cNvPr id="33"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pic>
        <p:nvPicPr>
          <p:cNvPr id="28" name="Picture 27"/>
          <p:cNvPicPr>
            <a:picLocks noChangeAspect="1"/>
          </p:cNvPicPr>
          <p:nvPr/>
        </p:nvPicPr>
        <p:blipFill>
          <a:blip r:embed="rId5"/>
          <a:stretch>
            <a:fillRect/>
          </a:stretch>
        </p:blipFill>
        <p:spPr>
          <a:xfrm>
            <a:off x="3417378" y="493059"/>
            <a:ext cx="2857916" cy="1548507"/>
          </a:xfrm>
          <a:prstGeom prst="rect">
            <a:avLst/>
          </a:prstGeom>
        </p:spPr>
      </p:pic>
      <p:sp>
        <p:nvSpPr>
          <p:cNvPr id="31" name="TextBox 30"/>
          <p:cNvSpPr txBox="1"/>
          <p:nvPr/>
        </p:nvSpPr>
        <p:spPr>
          <a:xfrm>
            <a:off x="2461302" y="4070615"/>
            <a:ext cx="3122374" cy="646331"/>
          </a:xfrm>
          <a:prstGeom prst="rect">
            <a:avLst/>
          </a:prstGeom>
          <a:noFill/>
        </p:spPr>
        <p:txBody>
          <a:bodyPr wrap="square" rtlCol="0">
            <a:spAutoFit/>
          </a:bodyPr>
          <a:lstStyle/>
          <a:p>
            <a:r>
              <a:rPr lang="en-IN" dirty="0" smtClean="0"/>
              <a:t>   </a:t>
            </a:r>
          </a:p>
          <a:p>
            <a:r>
              <a:rPr lang="en-IN" dirty="0" smtClean="0"/>
              <a:t>(d is adjacent to c)</a:t>
            </a:r>
            <a:endParaRPr lang="en-IN" dirty="0"/>
          </a:p>
        </p:txBody>
      </p:sp>
      <p:sp>
        <p:nvSpPr>
          <p:cNvPr id="34" name="TextBox 33"/>
          <p:cNvSpPr txBox="1"/>
          <p:nvPr/>
        </p:nvSpPr>
        <p:spPr>
          <a:xfrm>
            <a:off x="4582013" y="4196538"/>
            <a:ext cx="3666561" cy="646331"/>
          </a:xfrm>
          <a:prstGeom prst="rect">
            <a:avLst/>
          </a:prstGeom>
          <a:noFill/>
        </p:spPr>
        <p:txBody>
          <a:bodyPr wrap="square" rtlCol="0">
            <a:spAutoFit/>
          </a:bodyPr>
          <a:lstStyle/>
          <a:p>
            <a:r>
              <a:rPr lang="en-IN" dirty="0"/>
              <a:t>e, f, a, </a:t>
            </a:r>
            <a:r>
              <a:rPr lang="en-IN" dirty="0" smtClean="0"/>
              <a:t>c, d</a:t>
            </a:r>
            <a:endParaRPr lang="en-IN" dirty="0"/>
          </a:p>
          <a:p>
            <a:r>
              <a:rPr lang="en-IN" dirty="0" smtClean="0"/>
              <a:t>( d is visited push </a:t>
            </a:r>
            <a:r>
              <a:rPr lang="en-IN" dirty="0"/>
              <a:t>d</a:t>
            </a:r>
            <a:r>
              <a:rPr lang="en-IN" dirty="0" smtClean="0"/>
              <a:t> on stack) </a:t>
            </a:r>
            <a:endParaRPr lang="en-IN" dirty="0"/>
          </a:p>
        </p:txBody>
      </p:sp>
      <p:sp>
        <p:nvSpPr>
          <p:cNvPr id="35" name="TextBox 34"/>
          <p:cNvSpPr txBox="1"/>
          <p:nvPr/>
        </p:nvSpPr>
        <p:spPr>
          <a:xfrm>
            <a:off x="2496114" y="4958320"/>
            <a:ext cx="1591792" cy="646331"/>
          </a:xfrm>
          <a:prstGeom prst="rect">
            <a:avLst/>
          </a:prstGeom>
          <a:noFill/>
        </p:spPr>
        <p:txBody>
          <a:bodyPr wrap="square" rtlCol="0">
            <a:spAutoFit/>
          </a:bodyPr>
          <a:lstStyle/>
          <a:p>
            <a:r>
              <a:rPr lang="en-IN" dirty="0" smtClean="0"/>
              <a:t> No node is adjacent  to d</a:t>
            </a:r>
            <a:endParaRPr lang="en-IN" dirty="0"/>
          </a:p>
        </p:txBody>
      </p:sp>
      <p:sp>
        <p:nvSpPr>
          <p:cNvPr id="36" name="TextBox 35"/>
          <p:cNvSpPr txBox="1"/>
          <p:nvPr/>
        </p:nvSpPr>
        <p:spPr>
          <a:xfrm>
            <a:off x="4589931" y="4981176"/>
            <a:ext cx="3666561" cy="369332"/>
          </a:xfrm>
          <a:prstGeom prst="rect">
            <a:avLst/>
          </a:prstGeom>
          <a:noFill/>
        </p:spPr>
        <p:txBody>
          <a:bodyPr wrap="square" rtlCol="0">
            <a:spAutoFit/>
          </a:bodyPr>
          <a:lstStyle/>
          <a:p>
            <a:r>
              <a:rPr lang="en-IN" dirty="0"/>
              <a:t>e, f, a, </a:t>
            </a:r>
            <a:r>
              <a:rPr lang="en-IN" dirty="0" smtClean="0"/>
              <a:t>c, d</a:t>
            </a:r>
            <a:endParaRPr lang="en-IN" dirty="0"/>
          </a:p>
        </p:txBody>
      </p:sp>
      <p:sp>
        <p:nvSpPr>
          <p:cNvPr id="37" name="TextBox 36"/>
          <p:cNvSpPr txBox="1"/>
          <p:nvPr/>
        </p:nvSpPr>
        <p:spPr>
          <a:xfrm>
            <a:off x="8603861" y="4930099"/>
            <a:ext cx="2093817" cy="369332"/>
          </a:xfrm>
          <a:prstGeom prst="rect">
            <a:avLst/>
          </a:prstGeom>
          <a:noFill/>
        </p:spPr>
        <p:txBody>
          <a:bodyPr wrap="square" rtlCol="0">
            <a:spAutoFit/>
          </a:bodyPr>
          <a:lstStyle/>
          <a:p>
            <a:r>
              <a:rPr lang="en-IN" dirty="0" smtClean="0"/>
              <a:t> d</a:t>
            </a:r>
            <a:endParaRPr lang="en-IN" dirty="0"/>
          </a:p>
        </p:txBody>
      </p:sp>
      <p:sp>
        <p:nvSpPr>
          <p:cNvPr id="38" name="TextBox 37"/>
          <p:cNvSpPr txBox="1"/>
          <p:nvPr/>
        </p:nvSpPr>
        <p:spPr>
          <a:xfrm>
            <a:off x="2496114" y="5684540"/>
            <a:ext cx="1591792" cy="646331"/>
          </a:xfrm>
          <a:prstGeom prst="rect">
            <a:avLst/>
          </a:prstGeom>
          <a:noFill/>
        </p:spPr>
        <p:txBody>
          <a:bodyPr wrap="square" rtlCol="0">
            <a:spAutoFit/>
          </a:bodyPr>
          <a:lstStyle/>
          <a:p>
            <a:r>
              <a:rPr lang="en-IN" dirty="0" smtClean="0"/>
              <a:t> No node is adjacent  to c</a:t>
            </a:r>
            <a:endParaRPr lang="en-IN" dirty="0"/>
          </a:p>
        </p:txBody>
      </p:sp>
      <p:sp>
        <p:nvSpPr>
          <p:cNvPr id="39" name="TextBox 38"/>
          <p:cNvSpPr txBox="1"/>
          <p:nvPr/>
        </p:nvSpPr>
        <p:spPr>
          <a:xfrm>
            <a:off x="4589931" y="5776682"/>
            <a:ext cx="3666561" cy="369332"/>
          </a:xfrm>
          <a:prstGeom prst="rect">
            <a:avLst/>
          </a:prstGeom>
          <a:noFill/>
        </p:spPr>
        <p:txBody>
          <a:bodyPr wrap="square" rtlCol="0">
            <a:spAutoFit/>
          </a:bodyPr>
          <a:lstStyle/>
          <a:p>
            <a:r>
              <a:rPr lang="en-IN" dirty="0"/>
              <a:t>e, f, a, </a:t>
            </a:r>
            <a:r>
              <a:rPr lang="en-IN" dirty="0" smtClean="0"/>
              <a:t>c, d</a:t>
            </a:r>
            <a:endParaRPr lang="en-IN" dirty="0"/>
          </a:p>
        </p:txBody>
      </p:sp>
      <p:sp>
        <p:nvSpPr>
          <p:cNvPr id="40" name="TextBox 39"/>
          <p:cNvSpPr txBox="1"/>
          <p:nvPr/>
        </p:nvSpPr>
        <p:spPr>
          <a:xfrm>
            <a:off x="8610600" y="5717108"/>
            <a:ext cx="2093817" cy="369332"/>
          </a:xfrm>
          <a:prstGeom prst="rect">
            <a:avLst/>
          </a:prstGeom>
          <a:noFill/>
        </p:spPr>
        <p:txBody>
          <a:bodyPr wrap="square" rtlCol="0">
            <a:spAutoFit/>
          </a:bodyPr>
          <a:lstStyle/>
          <a:p>
            <a:r>
              <a:rPr lang="en-IN" dirty="0" smtClean="0"/>
              <a:t> c</a:t>
            </a:r>
            <a:endParaRPr lang="en-IN" dirty="0"/>
          </a:p>
        </p:txBody>
      </p:sp>
      <p:sp>
        <p:nvSpPr>
          <p:cNvPr id="2" name="Date Placeholder 1"/>
          <p:cNvSpPr>
            <a:spLocks noGrp="1"/>
          </p:cNvSpPr>
          <p:nvPr>
            <p:ph type="dt" sz="half" idx="10"/>
          </p:nvPr>
        </p:nvSpPr>
        <p:spPr/>
        <p:txBody>
          <a:bodyPr/>
          <a:lstStyle/>
          <a:p>
            <a:fld id="{E87699B9-0DDC-4787-8ADE-B63A6C45F6FD}" type="datetime1">
              <a:rPr lang="en-IN" smtClean="0"/>
              <a:t>21-03-2026</a:t>
            </a:fld>
            <a:endParaRPr lang="en-IN"/>
          </a:p>
        </p:txBody>
      </p:sp>
    </p:spTree>
    <p:extLst>
      <p:ext uri="{BB962C8B-B14F-4D97-AF65-F5344CB8AC3E}">
        <p14:creationId xmlns:p14="http://schemas.microsoft.com/office/powerpoint/2010/main" val="244556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4" grpId="0"/>
      <p:bldP spid="15" grpId="0"/>
      <p:bldP spid="17" grpId="0"/>
      <p:bldP spid="19" grpId="0"/>
      <p:bldP spid="22" grpId="0"/>
      <p:bldP spid="24" grpId="0"/>
      <p:bldP spid="31" grpId="0"/>
      <p:bldP spid="34" grpId="0"/>
      <p:bldP spid="35" grpId="0"/>
      <p:bldP spid="36" grpId="0"/>
      <p:bldP spid="37" grpId="0"/>
      <p:bldP spid="38" grpId="0"/>
      <p:bldP spid="39" grpId="0"/>
      <p:bldP spid="40"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7051" y="732885"/>
            <a:ext cx="11797552" cy="5627707"/>
          </a:xfrm>
        </p:spPr>
        <p:txBody>
          <a:bodyPr>
            <a:normAutofit/>
          </a:bodyPr>
          <a:lstStyle/>
          <a:p>
            <a:pPr algn="just"/>
            <a:endParaRPr lang="en-US" sz="24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145</a:t>
            </a:fld>
            <a:endParaRPr lang="en-IN" sz="1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4222577907"/>
              </p:ext>
            </p:extLst>
          </p:nvPr>
        </p:nvGraphicFramePr>
        <p:xfrm>
          <a:off x="177051" y="2084774"/>
          <a:ext cx="11176750" cy="4153784"/>
        </p:xfrm>
        <a:graphic>
          <a:graphicData uri="http://schemas.openxmlformats.org/drawingml/2006/table">
            <a:tbl>
              <a:tblPr firstRow="1" bandRow="1">
                <a:tableStyleId>{5C22544A-7EE6-4342-B048-85BDC9FD1C3A}</a:tableStyleId>
              </a:tblPr>
              <a:tblGrid>
                <a:gridCol w="2252384"/>
                <a:gridCol w="1981201"/>
                <a:gridCol w="4043083"/>
                <a:gridCol w="2900082"/>
              </a:tblGrid>
              <a:tr h="710786">
                <a:tc>
                  <a:txBody>
                    <a:bodyPr/>
                    <a:lstStyle/>
                    <a:p>
                      <a:r>
                        <a:rPr lang="en-IN" dirty="0" smtClean="0">
                          <a:solidFill>
                            <a:srgbClr val="002060"/>
                          </a:solidFill>
                        </a:rPr>
                        <a:t>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V=</a:t>
                      </a:r>
                      <a:r>
                        <a:rPr lang="en-IN" dirty="0" err="1" smtClean="0">
                          <a:solidFill>
                            <a:srgbClr val="002060"/>
                          </a:solidFill>
                        </a:rPr>
                        <a:t>adj</a:t>
                      </a:r>
                      <a:r>
                        <a:rPr lang="en-IN" dirty="0" smtClean="0">
                          <a:solidFill>
                            <a:srgbClr val="002060"/>
                          </a:solidFill>
                        </a:rPr>
                        <a:t>(S[top])</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Nodes Visited (S)</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Pop (stack)</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57442">
                <a:tc grid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solidFill>
                            <a:srgbClr val="FF0000"/>
                          </a:solidFill>
                        </a:rPr>
                        <a:t>now stack is empty, next consider any unvisited node which is not visited, let us consider node b</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smtClean="0">
                          <a:solidFill>
                            <a:srgbClr val="002060"/>
                          </a:solidFill>
                        </a:rPr>
                        <a:t> </a:t>
                      </a:r>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710786">
                <a:tc gridSpan="4">
                  <a:txBody>
                    <a:bodyPr/>
                    <a:lstStyle/>
                    <a:p>
                      <a:r>
                        <a:rPr lang="en-IN" dirty="0" smtClean="0">
                          <a:solidFill>
                            <a:srgbClr val="002060"/>
                          </a:solidFill>
                        </a:rPr>
                        <a:t>The </a:t>
                      </a:r>
                      <a:r>
                        <a:rPr lang="en-IN" dirty="0" err="1" smtClean="0">
                          <a:solidFill>
                            <a:srgbClr val="002060"/>
                          </a:solidFill>
                        </a:rPr>
                        <a:t>poped</a:t>
                      </a:r>
                      <a:r>
                        <a:rPr lang="en-IN" dirty="0" smtClean="0">
                          <a:solidFill>
                            <a:srgbClr val="002060"/>
                          </a:solidFill>
                        </a:rPr>
                        <a:t> order is: f, e, d, c, a, b (reverse of </a:t>
                      </a:r>
                      <a:r>
                        <a:rPr lang="en-IN" dirty="0" err="1" smtClean="0">
                          <a:solidFill>
                            <a:srgbClr val="002060"/>
                          </a:solidFill>
                        </a:rPr>
                        <a:t>poped</a:t>
                      </a:r>
                      <a:r>
                        <a:rPr lang="en-IN" dirty="0" smtClean="0">
                          <a:solidFill>
                            <a:srgbClr val="002060"/>
                          </a:solidFill>
                        </a:rPr>
                        <a:t> order is Topological sorting)</a:t>
                      </a:r>
                    </a:p>
                    <a:p>
                      <a:r>
                        <a:rPr lang="en-IN" dirty="0" smtClean="0">
                          <a:solidFill>
                            <a:srgbClr val="002060"/>
                          </a:solidFill>
                        </a:rPr>
                        <a:t>Resultant Topological sorting is : </a:t>
                      </a:r>
                      <a:r>
                        <a:rPr lang="en-IN" sz="2000" b="1" dirty="0" smtClean="0">
                          <a:solidFill>
                            <a:srgbClr val="FF0000"/>
                          </a:solidFill>
                        </a:rPr>
                        <a:t>b, a, c, d, e, f</a:t>
                      </a:r>
                    </a:p>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9" name="TextBox 8"/>
          <p:cNvSpPr txBox="1"/>
          <p:nvPr/>
        </p:nvSpPr>
        <p:spPr>
          <a:xfrm>
            <a:off x="349623" y="2915565"/>
            <a:ext cx="726141" cy="369332"/>
          </a:xfrm>
          <a:prstGeom prst="rect">
            <a:avLst/>
          </a:prstGeom>
          <a:noFill/>
        </p:spPr>
        <p:txBody>
          <a:bodyPr wrap="square" rtlCol="0">
            <a:spAutoFit/>
          </a:bodyPr>
          <a:lstStyle/>
          <a:p>
            <a:r>
              <a:rPr lang="en-IN" dirty="0" smtClean="0"/>
              <a:t>a</a:t>
            </a:r>
            <a:endParaRPr lang="en-IN" dirty="0"/>
          </a:p>
        </p:txBody>
      </p:sp>
      <p:sp>
        <p:nvSpPr>
          <p:cNvPr id="19" name="TextBox 18"/>
          <p:cNvSpPr txBox="1"/>
          <p:nvPr/>
        </p:nvSpPr>
        <p:spPr>
          <a:xfrm>
            <a:off x="349623" y="4070615"/>
            <a:ext cx="726141" cy="369332"/>
          </a:xfrm>
          <a:prstGeom prst="rect">
            <a:avLst/>
          </a:prstGeom>
          <a:noFill/>
        </p:spPr>
        <p:txBody>
          <a:bodyPr wrap="square" rtlCol="0">
            <a:spAutoFit/>
          </a:bodyPr>
          <a:lstStyle/>
          <a:p>
            <a:r>
              <a:rPr lang="en-IN" dirty="0" smtClean="0"/>
              <a:t>---</a:t>
            </a:r>
            <a:endParaRPr lang="en-IN" dirty="0"/>
          </a:p>
        </p:txBody>
      </p:sp>
      <p:sp>
        <p:nvSpPr>
          <p:cNvPr id="22" name="TextBox 21"/>
          <p:cNvSpPr txBox="1"/>
          <p:nvPr/>
        </p:nvSpPr>
        <p:spPr>
          <a:xfrm>
            <a:off x="304799" y="4786200"/>
            <a:ext cx="968189" cy="369332"/>
          </a:xfrm>
          <a:prstGeom prst="rect">
            <a:avLst/>
          </a:prstGeom>
          <a:noFill/>
        </p:spPr>
        <p:txBody>
          <a:bodyPr wrap="square" rtlCol="0">
            <a:spAutoFit/>
          </a:bodyPr>
          <a:lstStyle/>
          <a:p>
            <a:r>
              <a:rPr lang="en-IN" dirty="0" smtClean="0"/>
              <a:t>b</a:t>
            </a:r>
            <a:endParaRPr lang="en-IN" dirty="0"/>
          </a:p>
        </p:txBody>
      </p:sp>
      <p:sp>
        <p:nvSpPr>
          <p:cNvPr id="33"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pic>
        <p:nvPicPr>
          <p:cNvPr id="28" name="Picture 27"/>
          <p:cNvPicPr>
            <a:picLocks noChangeAspect="1"/>
          </p:cNvPicPr>
          <p:nvPr/>
        </p:nvPicPr>
        <p:blipFill>
          <a:blip r:embed="rId5"/>
          <a:stretch>
            <a:fillRect/>
          </a:stretch>
        </p:blipFill>
        <p:spPr>
          <a:xfrm>
            <a:off x="3417378" y="493059"/>
            <a:ext cx="2857916" cy="1548507"/>
          </a:xfrm>
          <a:prstGeom prst="rect">
            <a:avLst/>
          </a:prstGeom>
        </p:spPr>
      </p:pic>
      <p:sp>
        <p:nvSpPr>
          <p:cNvPr id="34" name="TextBox 33"/>
          <p:cNvSpPr txBox="1"/>
          <p:nvPr/>
        </p:nvSpPr>
        <p:spPr>
          <a:xfrm>
            <a:off x="4442013" y="3923079"/>
            <a:ext cx="3666561" cy="646331"/>
          </a:xfrm>
          <a:prstGeom prst="rect">
            <a:avLst/>
          </a:prstGeom>
          <a:noFill/>
        </p:spPr>
        <p:txBody>
          <a:bodyPr wrap="square" rtlCol="0">
            <a:spAutoFit/>
          </a:bodyPr>
          <a:lstStyle/>
          <a:p>
            <a:r>
              <a:rPr lang="en-IN" dirty="0"/>
              <a:t>e, f, a, </a:t>
            </a:r>
            <a:r>
              <a:rPr lang="en-IN" dirty="0" smtClean="0"/>
              <a:t>c, d, b</a:t>
            </a:r>
            <a:endParaRPr lang="en-IN" dirty="0"/>
          </a:p>
          <a:p>
            <a:r>
              <a:rPr lang="en-IN" dirty="0" smtClean="0"/>
              <a:t>( b is visited push b on stack) </a:t>
            </a:r>
            <a:endParaRPr lang="en-IN" dirty="0"/>
          </a:p>
        </p:txBody>
      </p:sp>
      <p:sp>
        <p:nvSpPr>
          <p:cNvPr id="35" name="TextBox 34"/>
          <p:cNvSpPr txBox="1"/>
          <p:nvPr/>
        </p:nvSpPr>
        <p:spPr>
          <a:xfrm>
            <a:off x="2424396" y="4608515"/>
            <a:ext cx="1591792" cy="646331"/>
          </a:xfrm>
          <a:prstGeom prst="rect">
            <a:avLst/>
          </a:prstGeom>
          <a:noFill/>
        </p:spPr>
        <p:txBody>
          <a:bodyPr wrap="square" rtlCol="0">
            <a:spAutoFit/>
          </a:bodyPr>
          <a:lstStyle/>
          <a:p>
            <a:r>
              <a:rPr lang="en-IN" dirty="0" smtClean="0"/>
              <a:t> No node is adjacent  to b</a:t>
            </a:r>
            <a:endParaRPr lang="en-IN" dirty="0"/>
          </a:p>
        </p:txBody>
      </p:sp>
      <p:sp>
        <p:nvSpPr>
          <p:cNvPr id="36" name="TextBox 35"/>
          <p:cNvSpPr txBox="1"/>
          <p:nvPr/>
        </p:nvSpPr>
        <p:spPr>
          <a:xfrm>
            <a:off x="4541538" y="4702550"/>
            <a:ext cx="3666561" cy="369332"/>
          </a:xfrm>
          <a:prstGeom prst="rect">
            <a:avLst/>
          </a:prstGeom>
          <a:noFill/>
        </p:spPr>
        <p:txBody>
          <a:bodyPr wrap="square" rtlCol="0">
            <a:spAutoFit/>
          </a:bodyPr>
          <a:lstStyle/>
          <a:p>
            <a:r>
              <a:rPr lang="en-IN" dirty="0"/>
              <a:t>e, f, a, </a:t>
            </a:r>
            <a:r>
              <a:rPr lang="en-IN" dirty="0" smtClean="0"/>
              <a:t>c, d, b</a:t>
            </a:r>
            <a:endParaRPr lang="en-IN" dirty="0"/>
          </a:p>
        </p:txBody>
      </p:sp>
      <p:sp>
        <p:nvSpPr>
          <p:cNvPr id="37" name="TextBox 36"/>
          <p:cNvSpPr txBox="1"/>
          <p:nvPr/>
        </p:nvSpPr>
        <p:spPr>
          <a:xfrm>
            <a:off x="8567602" y="4724994"/>
            <a:ext cx="2093817" cy="369332"/>
          </a:xfrm>
          <a:prstGeom prst="rect">
            <a:avLst/>
          </a:prstGeom>
          <a:noFill/>
        </p:spPr>
        <p:txBody>
          <a:bodyPr wrap="square" rtlCol="0">
            <a:spAutoFit/>
          </a:bodyPr>
          <a:lstStyle/>
          <a:p>
            <a:r>
              <a:rPr lang="en-IN" dirty="0" smtClean="0"/>
              <a:t> b</a:t>
            </a:r>
            <a:endParaRPr lang="en-IN" dirty="0"/>
          </a:p>
        </p:txBody>
      </p:sp>
      <p:sp>
        <p:nvSpPr>
          <p:cNvPr id="27" name="TextBox 26"/>
          <p:cNvSpPr txBox="1"/>
          <p:nvPr/>
        </p:nvSpPr>
        <p:spPr>
          <a:xfrm>
            <a:off x="2585761" y="2839274"/>
            <a:ext cx="1591792" cy="646331"/>
          </a:xfrm>
          <a:prstGeom prst="rect">
            <a:avLst/>
          </a:prstGeom>
          <a:noFill/>
        </p:spPr>
        <p:txBody>
          <a:bodyPr wrap="square" rtlCol="0">
            <a:spAutoFit/>
          </a:bodyPr>
          <a:lstStyle/>
          <a:p>
            <a:r>
              <a:rPr lang="en-IN" dirty="0" smtClean="0"/>
              <a:t> No node is adjacent  to a</a:t>
            </a:r>
            <a:endParaRPr lang="en-IN" dirty="0"/>
          </a:p>
        </p:txBody>
      </p:sp>
      <p:sp>
        <p:nvSpPr>
          <p:cNvPr id="29" name="TextBox 28"/>
          <p:cNvSpPr txBox="1"/>
          <p:nvPr/>
        </p:nvSpPr>
        <p:spPr>
          <a:xfrm>
            <a:off x="4589931" y="2908162"/>
            <a:ext cx="3666561" cy="369332"/>
          </a:xfrm>
          <a:prstGeom prst="rect">
            <a:avLst/>
          </a:prstGeom>
          <a:noFill/>
        </p:spPr>
        <p:txBody>
          <a:bodyPr wrap="square" rtlCol="0">
            <a:spAutoFit/>
          </a:bodyPr>
          <a:lstStyle/>
          <a:p>
            <a:r>
              <a:rPr lang="en-IN" dirty="0"/>
              <a:t>e, f, a, </a:t>
            </a:r>
            <a:r>
              <a:rPr lang="en-IN" dirty="0" smtClean="0"/>
              <a:t>c, d</a:t>
            </a:r>
            <a:endParaRPr lang="en-IN" dirty="0"/>
          </a:p>
        </p:txBody>
      </p:sp>
      <p:sp>
        <p:nvSpPr>
          <p:cNvPr id="30" name="TextBox 29"/>
          <p:cNvSpPr txBox="1"/>
          <p:nvPr/>
        </p:nvSpPr>
        <p:spPr>
          <a:xfrm>
            <a:off x="8554010" y="2938054"/>
            <a:ext cx="2093817" cy="369332"/>
          </a:xfrm>
          <a:prstGeom prst="rect">
            <a:avLst/>
          </a:prstGeom>
          <a:noFill/>
        </p:spPr>
        <p:txBody>
          <a:bodyPr wrap="square" rtlCol="0">
            <a:spAutoFit/>
          </a:bodyPr>
          <a:lstStyle/>
          <a:p>
            <a:r>
              <a:rPr lang="en-IN" dirty="0" smtClean="0"/>
              <a:t> </a:t>
            </a:r>
            <a:r>
              <a:rPr lang="en-IN" dirty="0"/>
              <a:t>a</a:t>
            </a:r>
          </a:p>
        </p:txBody>
      </p:sp>
      <p:sp>
        <p:nvSpPr>
          <p:cNvPr id="32" name="TextBox 31"/>
          <p:cNvSpPr txBox="1"/>
          <p:nvPr/>
        </p:nvSpPr>
        <p:spPr>
          <a:xfrm>
            <a:off x="2736060" y="3991738"/>
            <a:ext cx="726141" cy="369332"/>
          </a:xfrm>
          <a:prstGeom prst="rect">
            <a:avLst/>
          </a:prstGeom>
          <a:noFill/>
        </p:spPr>
        <p:txBody>
          <a:bodyPr wrap="square" rtlCol="0">
            <a:spAutoFit/>
          </a:bodyPr>
          <a:lstStyle/>
          <a:p>
            <a:r>
              <a:rPr lang="en-IN" dirty="0" smtClean="0"/>
              <a:t>---</a:t>
            </a:r>
            <a:endParaRPr lang="en-IN" dirty="0"/>
          </a:p>
        </p:txBody>
      </p:sp>
      <p:sp>
        <p:nvSpPr>
          <p:cNvPr id="2" name="Date Placeholder 1"/>
          <p:cNvSpPr>
            <a:spLocks noGrp="1"/>
          </p:cNvSpPr>
          <p:nvPr>
            <p:ph type="dt" sz="half" idx="10"/>
          </p:nvPr>
        </p:nvSpPr>
        <p:spPr/>
        <p:txBody>
          <a:bodyPr/>
          <a:lstStyle/>
          <a:p>
            <a:fld id="{E7898E5D-5877-40C9-B71C-9093698EA7B3}" type="datetime1">
              <a:rPr lang="en-IN" smtClean="0"/>
              <a:t>21-03-2026</a:t>
            </a:fld>
            <a:endParaRPr lang="en-IN"/>
          </a:p>
        </p:txBody>
      </p:sp>
    </p:spTree>
    <p:extLst>
      <p:ext uri="{BB962C8B-B14F-4D97-AF65-F5344CB8AC3E}">
        <p14:creationId xmlns:p14="http://schemas.microsoft.com/office/powerpoint/2010/main" val="4292563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P spid="22" grpId="0"/>
      <p:bldP spid="34" grpId="0"/>
      <p:bldP spid="35" grpId="0"/>
      <p:bldP spid="36" grpId="0"/>
      <p:bldP spid="37" grpId="0"/>
      <p:bldP spid="27" grpId="0"/>
      <p:bldP spid="29" grpId="0"/>
      <p:bldP spid="30" grpId="0"/>
      <p:bldP spid="32"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7576" y="732885"/>
            <a:ext cx="12084424" cy="5627707"/>
          </a:xfrm>
        </p:spPr>
        <p:txBody>
          <a:bodyPr>
            <a:normAutofit/>
          </a:bodyPr>
          <a:lstStyle/>
          <a:p>
            <a:pPr algn="just"/>
            <a:r>
              <a:rPr lang="en-US" b="1" dirty="0" smtClean="0">
                <a:solidFill>
                  <a:srgbClr val="FF0000"/>
                </a:solidFill>
                <a:latin typeface="Times New Roman" panose="02020603050405020304" pitchFamily="18" charset="0"/>
                <a:cs typeface="Times New Roman" panose="02020603050405020304" pitchFamily="18" charset="0"/>
              </a:rPr>
              <a:t>Source removal method</a:t>
            </a:r>
          </a:p>
          <a:p>
            <a:pPr algn="just"/>
            <a:r>
              <a:rPr lang="en-US" sz="2000" b="1" dirty="0" smtClean="0">
                <a:solidFill>
                  <a:srgbClr val="002060"/>
                </a:solidFill>
                <a:latin typeface="Times New Roman" panose="02020603050405020304" pitchFamily="18" charset="0"/>
                <a:cs typeface="Times New Roman" panose="02020603050405020304" pitchFamily="18" charset="0"/>
              </a:rPr>
              <a:t>In a given graph, for every vertex </a:t>
            </a:r>
            <a:r>
              <a:rPr lang="en-US" sz="2000" b="1" dirty="0" err="1" smtClean="0">
                <a:solidFill>
                  <a:srgbClr val="002060"/>
                </a:solidFill>
                <a:latin typeface="Times New Roman" panose="02020603050405020304" pitchFamily="18" charset="0"/>
                <a:cs typeface="Times New Roman" panose="02020603050405020304" pitchFamily="18" charset="0"/>
              </a:rPr>
              <a:t>ingree</a:t>
            </a:r>
            <a:r>
              <a:rPr lang="en-US" sz="2000" b="1" dirty="0" smtClean="0">
                <a:solidFill>
                  <a:srgbClr val="002060"/>
                </a:solidFill>
                <a:latin typeface="Times New Roman" panose="02020603050405020304" pitchFamily="18" charset="0"/>
                <a:cs typeface="Times New Roman" panose="02020603050405020304" pitchFamily="18" charset="0"/>
              </a:rPr>
              <a:t> and </a:t>
            </a:r>
            <a:r>
              <a:rPr lang="en-US" sz="2000" b="1" dirty="0" err="1" smtClean="0">
                <a:solidFill>
                  <a:srgbClr val="002060"/>
                </a:solidFill>
                <a:latin typeface="Times New Roman" panose="02020603050405020304" pitchFamily="18" charset="0"/>
                <a:cs typeface="Times New Roman" panose="02020603050405020304" pitchFamily="18" charset="0"/>
              </a:rPr>
              <a:t>outdegree</a:t>
            </a:r>
            <a:r>
              <a:rPr lang="en-US" sz="2000" b="1" dirty="0" smtClean="0">
                <a:solidFill>
                  <a:srgbClr val="002060"/>
                </a:solidFill>
                <a:latin typeface="Times New Roman" panose="02020603050405020304" pitchFamily="18" charset="0"/>
                <a:cs typeface="Times New Roman" panose="02020603050405020304" pitchFamily="18" charset="0"/>
              </a:rPr>
              <a:t> is defined</a:t>
            </a:r>
          </a:p>
          <a:p>
            <a:pPr algn="just"/>
            <a:r>
              <a:rPr lang="en-US" sz="2000" b="1" dirty="0" err="1" smtClean="0">
                <a:solidFill>
                  <a:srgbClr val="002060"/>
                </a:solidFill>
                <a:latin typeface="Times New Roman" panose="02020603050405020304" pitchFamily="18" charset="0"/>
                <a:cs typeface="Times New Roman" panose="02020603050405020304" pitchFamily="18" charset="0"/>
              </a:rPr>
              <a:t>Indegree</a:t>
            </a:r>
            <a:r>
              <a:rPr lang="en-US" sz="2000" b="1" dirty="0" smtClean="0">
                <a:solidFill>
                  <a:srgbClr val="002060"/>
                </a:solidFill>
                <a:latin typeface="Times New Roman" panose="02020603050405020304" pitchFamily="18" charset="0"/>
                <a:cs typeface="Times New Roman" panose="02020603050405020304" pitchFamily="18" charset="0"/>
              </a:rPr>
              <a:t>: No of incoming edges to the vertex is know as </a:t>
            </a:r>
            <a:r>
              <a:rPr lang="en-US" sz="2000" b="1" dirty="0" err="1" smtClean="0">
                <a:solidFill>
                  <a:srgbClr val="002060"/>
                </a:solidFill>
                <a:latin typeface="Times New Roman" panose="02020603050405020304" pitchFamily="18" charset="0"/>
                <a:cs typeface="Times New Roman" panose="02020603050405020304" pitchFamily="18" charset="0"/>
              </a:rPr>
              <a:t>indegree</a:t>
            </a:r>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r>
              <a:rPr lang="en-US" sz="2000" b="1" dirty="0" err="1" smtClean="0">
                <a:solidFill>
                  <a:srgbClr val="002060"/>
                </a:solidFill>
                <a:latin typeface="Times New Roman" panose="02020603050405020304" pitchFamily="18" charset="0"/>
                <a:cs typeface="Times New Roman" panose="02020603050405020304" pitchFamily="18" charset="0"/>
              </a:rPr>
              <a:t>Outdegree</a:t>
            </a:r>
            <a:r>
              <a:rPr lang="en-US" sz="2000" b="1" dirty="0" smtClean="0">
                <a:solidFill>
                  <a:srgbClr val="002060"/>
                </a:solidFill>
                <a:latin typeface="Times New Roman" panose="02020603050405020304" pitchFamily="18" charset="0"/>
                <a:cs typeface="Times New Roman" panose="02020603050405020304" pitchFamily="18" charset="0"/>
              </a:rPr>
              <a:t>: No of outgoing edges   </a:t>
            </a:r>
          </a:p>
          <a:p>
            <a:pPr algn="just"/>
            <a:endParaRPr lang="en-US" sz="2000" b="1" dirty="0" smtClean="0">
              <a:solidFill>
                <a:srgbClr val="FF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b="1" dirty="0" smtClean="0">
              <a:solidFill>
                <a:srgbClr val="C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b="1" dirty="0">
              <a:solidFill>
                <a:srgbClr val="C00000"/>
              </a:solidFill>
              <a:latin typeface="Times New Roman" panose="02020603050405020304" pitchFamily="18" charset="0"/>
              <a:cs typeface="Times New Roman" panose="02020603050405020304" pitchFamily="18" charset="0"/>
            </a:endParaRPr>
          </a:p>
          <a:p>
            <a:pPr algn="just"/>
            <a:endParaRPr lang="en-US" sz="2000" b="1" dirty="0" smtClean="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146</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1"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sp>
        <p:nvSpPr>
          <p:cNvPr id="2" name="Date Placeholder 1"/>
          <p:cNvSpPr>
            <a:spLocks noGrp="1"/>
          </p:cNvSpPr>
          <p:nvPr>
            <p:ph type="dt" sz="half" idx="10"/>
          </p:nvPr>
        </p:nvSpPr>
        <p:spPr/>
        <p:txBody>
          <a:bodyPr/>
          <a:lstStyle/>
          <a:p>
            <a:fld id="{3FC1B578-0574-4C4B-AEA9-5C3E5B7B067C}" type="datetime1">
              <a:rPr lang="en-IN" smtClean="0"/>
              <a:t>21-03-2026</a:t>
            </a:fld>
            <a:endParaRPr lang="en-IN"/>
          </a:p>
        </p:txBody>
      </p:sp>
      <p:pic>
        <p:nvPicPr>
          <p:cNvPr id="9" name="Picture 8"/>
          <p:cNvPicPr>
            <a:picLocks noChangeAspect="1"/>
          </p:cNvPicPr>
          <p:nvPr/>
        </p:nvPicPr>
        <p:blipFill>
          <a:blip r:embed="rId5"/>
          <a:stretch>
            <a:fillRect/>
          </a:stretch>
        </p:blipFill>
        <p:spPr>
          <a:xfrm>
            <a:off x="295593" y="2560158"/>
            <a:ext cx="2006097" cy="1628326"/>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799603655"/>
              </p:ext>
            </p:extLst>
          </p:nvPr>
        </p:nvGraphicFramePr>
        <p:xfrm>
          <a:off x="4249774" y="2560158"/>
          <a:ext cx="3652106" cy="2225040"/>
        </p:xfrm>
        <a:graphic>
          <a:graphicData uri="http://schemas.openxmlformats.org/drawingml/2006/table">
            <a:tbl>
              <a:tblPr firstRow="1" bandRow="1">
                <a:tableStyleId>{5C22544A-7EE6-4342-B048-85BDC9FD1C3A}</a:tableStyleId>
              </a:tblPr>
              <a:tblGrid>
                <a:gridCol w="999523"/>
                <a:gridCol w="1194486"/>
                <a:gridCol w="1458097"/>
              </a:tblGrid>
              <a:tr h="370840">
                <a:tc>
                  <a:txBody>
                    <a:bodyPr/>
                    <a:lstStyle/>
                    <a:p>
                      <a:r>
                        <a:rPr lang="en-IN" dirty="0" smtClean="0">
                          <a:solidFill>
                            <a:srgbClr val="FF0000"/>
                          </a:solidFill>
                        </a:rPr>
                        <a:t>Vertex</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err="1" smtClean="0">
                          <a:solidFill>
                            <a:srgbClr val="FF0000"/>
                          </a:solidFill>
                        </a:rPr>
                        <a:t>Indegree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err="1" smtClean="0">
                          <a:solidFill>
                            <a:srgbClr val="FF0000"/>
                          </a:solidFill>
                        </a:rPr>
                        <a:t>Outdegree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IN" dirty="0" smtClean="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smtClean="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smtClean="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IN" dirty="0" smtClean="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smtClean="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smtClean="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IN" dirty="0" smtClean="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smtClean="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smtClean="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IN" dirty="0" smtClean="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smtClean="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smtClean="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IN" dirty="0" smtClean="0"/>
                        <a:t>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smtClean="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smtClean="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3317019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7576" y="732885"/>
            <a:ext cx="12084424" cy="5627707"/>
          </a:xfrm>
        </p:spPr>
        <p:txBody>
          <a:bodyPr>
            <a:normAutofit/>
          </a:bodyPr>
          <a:lstStyle/>
          <a:p>
            <a:pPr algn="just"/>
            <a:r>
              <a:rPr lang="en-US" sz="2000" b="1" dirty="0" smtClean="0">
                <a:solidFill>
                  <a:srgbClr val="002060"/>
                </a:solidFill>
                <a:latin typeface="Times New Roman" panose="02020603050405020304" pitchFamily="18" charset="0"/>
                <a:cs typeface="Times New Roman" panose="02020603050405020304" pitchFamily="18" charset="0"/>
              </a:rPr>
              <a:t>Source removal method</a:t>
            </a:r>
          </a:p>
          <a:p>
            <a:pPr marL="342900" indent="-342900" algn="just">
              <a:buFont typeface="Arial" panose="020B0604020202020204" pitchFamily="34" charset="0"/>
              <a:buChar char="•"/>
            </a:pPr>
            <a:r>
              <a:rPr lang="en-US" sz="2000" b="1" dirty="0" smtClean="0">
                <a:solidFill>
                  <a:srgbClr val="C00000"/>
                </a:solidFill>
                <a:latin typeface="Times New Roman" panose="02020603050405020304" pitchFamily="18" charset="0"/>
                <a:cs typeface="Times New Roman" panose="02020603050405020304" pitchFamily="18" charset="0"/>
              </a:rPr>
              <a:t>Source removal method is based on decrease and conquer technique.</a:t>
            </a:r>
          </a:p>
          <a:p>
            <a:pPr marL="342900" indent="-342900" algn="just">
              <a:buFont typeface="Arial" panose="020B0604020202020204" pitchFamily="34" charset="0"/>
              <a:buChar char="•"/>
            </a:pPr>
            <a:r>
              <a:rPr lang="en-US" sz="2000" b="1" dirty="0" smtClean="0">
                <a:solidFill>
                  <a:srgbClr val="002060"/>
                </a:solidFill>
                <a:latin typeface="Times New Roman" panose="02020603050405020304" pitchFamily="18" charset="0"/>
                <a:cs typeface="Times New Roman" panose="02020603050405020304" pitchFamily="18" charset="0"/>
              </a:rPr>
              <a:t>In this method, a vertex </a:t>
            </a:r>
            <a:r>
              <a:rPr lang="en-US" sz="2000" b="1" dirty="0" smtClean="0">
                <a:solidFill>
                  <a:srgbClr val="00B0F0"/>
                </a:solidFill>
                <a:latin typeface="Times New Roman" panose="02020603050405020304" pitchFamily="18" charset="0"/>
                <a:cs typeface="Times New Roman" panose="02020603050405020304" pitchFamily="18" charset="0"/>
              </a:rPr>
              <a:t>who’s </a:t>
            </a:r>
            <a:r>
              <a:rPr lang="en-US" sz="2000" b="1" dirty="0" err="1" smtClean="0">
                <a:solidFill>
                  <a:srgbClr val="00B0F0"/>
                </a:solidFill>
                <a:latin typeface="Times New Roman" panose="02020603050405020304" pitchFamily="18" charset="0"/>
                <a:cs typeface="Times New Roman" panose="02020603050405020304" pitchFamily="18" charset="0"/>
              </a:rPr>
              <a:t>indegree</a:t>
            </a:r>
            <a:r>
              <a:rPr lang="en-US" sz="2000" b="1" dirty="0" smtClean="0">
                <a:solidFill>
                  <a:srgbClr val="00B0F0"/>
                </a:solidFill>
                <a:latin typeface="Times New Roman" panose="02020603050405020304" pitchFamily="18" charset="0"/>
                <a:cs typeface="Times New Roman" panose="02020603050405020304" pitchFamily="18" charset="0"/>
              </a:rPr>
              <a:t> is zero is selected  and deleted along with the its all out going edges.</a:t>
            </a:r>
          </a:p>
          <a:p>
            <a:pPr marL="342900" indent="-342900" algn="just">
              <a:buFont typeface="Arial" panose="020B0604020202020204" pitchFamily="34" charset="0"/>
              <a:buChar char="•"/>
            </a:pPr>
            <a:r>
              <a:rPr lang="en-US" sz="2000" b="1" dirty="0" smtClean="0">
                <a:solidFill>
                  <a:srgbClr val="C00000"/>
                </a:solidFill>
                <a:latin typeface="Times New Roman" panose="02020603050405020304" pitchFamily="18" charset="0"/>
                <a:cs typeface="Times New Roman" panose="02020603050405020304" pitchFamily="18" charset="0"/>
              </a:rPr>
              <a:t>If there </a:t>
            </a:r>
            <a:r>
              <a:rPr lang="en-US" sz="2000" b="1" dirty="0">
                <a:solidFill>
                  <a:srgbClr val="C00000"/>
                </a:solidFill>
                <a:latin typeface="Times New Roman" panose="02020603050405020304" pitchFamily="18" charset="0"/>
                <a:cs typeface="Times New Roman" panose="02020603050405020304" pitchFamily="18" charset="0"/>
              </a:rPr>
              <a:t>are several vertices with </a:t>
            </a:r>
            <a:r>
              <a:rPr lang="en-US" sz="2000" b="1" dirty="0" err="1" smtClean="0">
                <a:solidFill>
                  <a:srgbClr val="C00000"/>
                </a:solidFill>
                <a:latin typeface="Times New Roman" panose="02020603050405020304" pitchFamily="18" charset="0"/>
                <a:cs typeface="Times New Roman" panose="02020603050405020304" pitchFamily="18" charset="0"/>
              </a:rPr>
              <a:t>indegree</a:t>
            </a:r>
            <a:r>
              <a:rPr lang="en-US" sz="2000" b="1" dirty="0" smtClean="0">
                <a:solidFill>
                  <a:srgbClr val="C00000"/>
                </a:solidFill>
                <a:latin typeface="Times New Roman" panose="02020603050405020304" pitchFamily="18" charset="0"/>
                <a:cs typeface="Times New Roman" panose="02020603050405020304" pitchFamily="18" charset="0"/>
              </a:rPr>
              <a:t> zero, </a:t>
            </a:r>
            <a:r>
              <a:rPr lang="en-US" sz="2000" b="1" dirty="0">
                <a:solidFill>
                  <a:srgbClr val="C00000"/>
                </a:solidFill>
                <a:latin typeface="Times New Roman" panose="02020603050405020304" pitchFamily="18" charset="0"/>
                <a:cs typeface="Times New Roman" panose="02020603050405020304" pitchFamily="18" charset="0"/>
              </a:rPr>
              <a:t>arbitrarily a vertex is </a:t>
            </a:r>
            <a:r>
              <a:rPr lang="en-US" sz="2000" b="1" dirty="0" smtClean="0">
                <a:solidFill>
                  <a:srgbClr val="C00000"/>
                </a:solidFill>
                <a:latin typeface="Times New Roman" panose="02020603050405020304" pitchFamily="18" charset="0"/>
                <a:cs typeface="Times New Roman" panose="02020603050405020304" pitchFamily="18" charset="0"/>
              </a:rPr>
              <a:t>selected.</a:t>
            </a:r>
          </a:p>
          <a:p>
            <a:pPr marL="342900" indent="-342900" algn="just">
              <a:buFont typeface="Arial" panose="020B0604020202020204" pitchFamily="34" charset="0"/>
              <a:buChar char="•"/>
            </a:pPr>
            <a:r>
              <a:rPr lang="en-US" sz="2000" b="1" dirty="0" smtClean="0">
                <a:solidFill>
                  <a:srgbClr val="C00000"/>
                </a:solidFill>
                <a:latin typeface="Times New Roman" panose="02020603050405020304" pitchFamily="18" charset="0"/>
                <a:cs typeface="Times New Roman" panose="02020603050405020304" pitchFamily="18" charset="0"/>
              </a:rPr>
              <a:t>This procedure repeated </a:t>
            </a:r>
            <a:r>
              <a:rPr lang="en-US" sz="2000" b="1" dirty="0" err="1" smtClean="0">
                <a:solidFill>
                  <a:srgbClr val="C00000"/>
                </a:solidFill>
                <a:latin typeface="Times New Roman" panose="02020603050405020304" pitchFamily="18" charset="0"/>
                <a:cs typeface="Times New Roman" panose="02020603050405020304" pitchFamily="18" charset="0"/>
              </a:rPr>
              <a:t>unitill</a:t>
            </a:r>
            <a:r>
              <a:rPr lang="en-US" sz="2000" b="1" dirty="0" smtClean="0">
                <a:solidFill>
                  <a:srgbClr val="C00000"/>
                </a:solidFill>
                <a:latin typeface="Times New Roman" panose="02020603050405020304" pitchFamily="18" charset="0"/>
                <a:cs typeface="Times New Roman" panose="02020603050405020304" pitchFamily="18" charset="0"/>
              </a:rPr>
              <a:t> all vertices are deleted</a:t>
            </a:r>
          </a:p>
          <a:p>
            <a:pPr marL="342900" indent="-342900" algn="just">
              <a:buFont typeface="Arial" panose="020B0604020202020204" pitchFamily="34" charset="0"/>
              <a:buChar char="•"/>
            </a:pPr>
            <a:r>
              <a:rPr lang="en-US" sz="2000" b="1" dirty="0" smtClean="0">
                <a:solidFill>
                  <a:srgbClr val="C00000"/>
                </a:solidFill>
                <a:latin typeface="Times New Roman" panose="02020603050405020304" pitchFamily="18" charset="0"/>
                <a:cs typeface="Times New Roman" panose="02020603050405020304" pitchFamily="18" charset="0"/>
              </a:rPr>
              <a:t>The order in which the </a:t>
            </a:r>
            <a:r>
              <a:rPr lang="en-US" sz="2000" b="1" dirty="0" smtClean="0">
                <a:solidFill>
                  <a:srgbClr val="00B0F0"/>
                </a:solidFill>
                <a:latin typeface="Times New Roman" panose="02020603050405020304" pitchFamily="18" charset="0"/>
                <a:cs typeface="Times New Roman" panose="02020603050405020304" pitchFamily="18" charset="0"/>
              </a:rPr>
              <a:t>vertices are visited and deleted one by one is </a:t>
            </a:r>
            <a:r>
              <a:rPr lang="en-US" sz="2000" b="1" dirty="0" smtClean="0">
                <a:solidFill>
                  <a:srgbClr val="FF0000"/>
                </a:solidFill>
                <a:latin typeface="Times New Roman" panose="02020603050405020304" pitchFamily="18" charset="0"/>
                <a:cs typeface="Times New Roman" panose="02020603050405020304" pitchFamily="18" charset="0"/>
              </a:rPr>
              <a:t>Topological sorting. </a:t>
            </a:r>
            <a:endParaRPr lang="en-US" sz="2000" b="1" dirty="0">
              <a:solidFill>
                <a:srgbClr val="FF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147</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1"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sp>
        <p:nvSpPr>
          <p:cNvPr id="2" name="Date Placeholder 1"/>
          <p:cNvSpPr>
            <a:spLocks noGrp="1"/>
          </p:cNvSpPr>
          <p:nvPr>
            <p:ph type="dt" sz="half" idx="10"/>
          </p:nvPr>
        </p:nvSpPr>
        <p:spPr/>
        <p:txBody>
          <a:bodyPr/>
          <a:lstStyle/>
          <a:p>
            <a:fld id="{FBBB6107-953D-45A8-B9B0-AB787EC23F24}" type="datetime1">
              <a:rPr lang="en-IN" smtClean="0"/>
              <a:t>21-03-2026</a:t>
            </a:fld>
            <a:endParaRPr lang="en-IN"/>
          </a:p>
        </p:txBody>
      </p:sp>
    </p:spTree>
    <p:extLst>
      <p:ext uri="{BB962C8B-B14F-4D97-AF65-F5344CB8AC3E}">
        <p14:creationId xmlns:p14="http://schemas.microsoft.com/office/powerpoint/2010/main" val="4069523091"/>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7576" y="732885"/>
            <a:ext cx="12084424" cy="5627707"/>
          </a:xfrm>
        </p:spPr>
        <p:txBody>
          <a:bodyPr>
            <a:normAutofit/>
          </a:bodyPr>
          <a:lstStyle/>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Source removal method</a:t>
            </a:r>
          </a:p>
          <a:p>
            <a:pPr algn="just"/>
            <a:r>
              <a:rPr lang="en-US" sz="2000" b="1" dirty="0">
                <a:solidFill>
                  <a:srgbClr val="002060"/>
                </a:solidFill>
                <a:latin typeface="Times New Roman" panose="02020603050405020304" pitchFamily="18" charset="0"/>
                <a:cs typeface="Times New Roman" panose="02020603050405020304" pitchFamily="18" charset="0"/>
              </a:rPr>
              <a:t>Apply the </a:t>
            </a:r>
            <a:r>
              <a:rPr lang="en-US" sz="2000" b="1" dirty="0" smtClean="0">
                <a:solidFill>
                  <a:srgbClr val="002060"/>
                </a:solidFill>
                <a:latin typeface="Times New Roman" panose="02020603050405020304" pitchFamily="18" charset="0"/>
                <a:cs typeface="Times New Roman" panose="02020603050405020304" pitchFamily="18" charset="0"/>
              </a:rPr>
              <a:t>Source removal method algorithm </a:t>
            </a:r>
            <a:r>
              <a:rPr lang="en-US" sz="2000" b="1" dirty="0">
                <a:solidFill>
                  <a:srgbClr val="002060"/>
                </a:solidFill>
                <a:latin typeface="Times New Roman" panose="02020603050405020304" pitchFamily="18" charset="0"/>
                <a:cs typeface="Times New Roman" panose="02020603050405020304" pitchFamily="18" charset="0"/>
              </a:rPr>
              <a:t>to solve the topological sorting problem for </a:t>
            </a:r>
            <a:r>
              <a:rPr lang="en-IN" sz="2000" b="1" dirty="0">
                <a:solidFill>
                  <a:srgbClr val="002060"/>
                </a:solidFill>
                <a:latin typeface="Times New Roman" panose="02020603050405020304" pitchFamily="18" charset="0"/>
                <a:cs typeface="Times New Roman" panose="02020603050405020304" pitchFamily="18" charset="0"/>
              </a:rPr>
              <a:t>the following </a:t>
            </a:r>
            <a:r>
              <a:rPr lang="en-IN" sz="2000" b="1" dirty="0" smtClean="0">
                <a:solidFill>
                  <a:srgbClr val="002060"/>
                </a:solidFill>
                <a:latin typeface="Times New Roman" panose="02020603050405020304" pitchFamily="18" charset="0"/>
                <a:cs typeface="Times New Roman" panose="02020603050405020304" pitchFamily="18" charset="0"/>
              </a:rPr>
              <a:t>digraph</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Solution:</a:t>
            </a:r>
            <a:endParaRPr lang="en-US" sz="2000" b="1" dirty="0" smtClean="0">
              <a:solidFill>
                <a:srgbClr val="FF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148</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1"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pic>
        <p:nvPicPr>
          <p:cNvPr id="2" name="Picture 1"/>
          <p:cNvPicPr>
            <a:picLocks noChangeAspect="1"/>
          </p:cNvPicPr>
          <p:nvPr/>
        </p:nvPicPr>
        <p:blipFill>
          <a:blip r:embed="rId5"/>
          <a:stretch>
            <a:fillRect/>
          </a:stretch>
        </p:blipFill>
        <p:spPr>
          <a:xfrm>
            <a:off x="648822" y="2253603"/>
            <a:ext cx="2032006" cy="1649356"/>
          </a:xfrm>
          <a:prstGeom prst="rect">
            <a:avLst/>
          </a:prstGeom>
        </p:spPr>
      </p:pic>
      <p:sp>
        <p:nvSpPr>
          <p:cNvPr id="6" name="Date Placeholder 5"/>
          <p:cNvSpPr>
            <a:spLocks noGrp="1"/>
          </p:cNvSpPr>
          <p:nvPr>
            <p:ph type="dt" sz="half" idx="10"/>
          </p:nvPr>
        </p:nvSpPr>
        <p:spPr/>
        <p:txBody>
          <a:bodyPr/>
          <a:lstStyle/>
          <a:p>
            <a:fld id="{2EFE56E9-08C3-45D7-A809-2B8971DB9296}" type="datetime1">
              <a:rPr lang="en-IN" smtClean="0"/>
              <a:t>21-03-2026</a:t>
            </a:fld>
            <a:endParaRPr lang="en-IN"/>
          </a:p>
        </p:txBody>
      </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2043" y="3902959"/>
            <a:ext cx="3657600" cy="234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20"/>
          <p:cNvPicPr>
            <a:picLocks noChangeAspect="1"/>
          </p:cNvPicPr>
          <p:nvPr/>
        </p:nvPicPr>
        <p:blipFill>
          <a:blip r:embed="rId5"/>
          <a:stretch>
            <a:fillRect/>
          </a:stretch>
        </p:blipFill>
        <p:spPr>
          <a:xfrm>
            <a:off x="1213114" y="4366609"/>
            <a:ext cx="2032006" cy="1649356"/>
          </a:xfrm>
          <a:prstGeom prst="rect">
            <a:avLst/>
          </a:prstGeom>
        </p:spPr>
      </p:pic>
    </p:spTree>
    <p:extLst>
      <p:ext uri="{BB962C8B-B14F-4D97-AF65-F5344CB8AC3E}">
        <p14:creationId xmlns:p14="http://schemas.microsoft.com/office/powerpoint/2010/main" val="4031401383"/>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7576" y="732885"/>
            <a:ext cx="12084424" cy="5627707"/>
          </a:xfrm>
        </p:spPr>
        <p:txBody>
          <a:bodyPr>
            <a:normAutofit/>
          </a:bodyPr>
          <a:lstStyle/>
          <a:p>
            <a:pPr algn="just"/>
            <a:r>
              <a:rPr lang="en-US" sz="2000" b="1" dirty="0" smtClean="0">
                <a:solidFill>
                  <a:srgbClr val="002060"/>
                </a:solidFill>
                <a:latin typeface="Times New Roman" panose="02020603050405020304" pitchFamily="18" charset="0"/>
                <a:cs typeface="Times New Roman" panose="02020603050405020304" pitchFamily="18" charset="0"/>
              </a:rPr>
              <a:t>Source removal method</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Solution:</a:t>
            </a:r>
            <a:endParaRPr lang="en-US" sz="2000" b="1" dirty="0" smtClean="0">
              <a:solidFill>
                <a:srgbClr val="FF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149</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1"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sp>
        <p:nvSpPr>
          <p:cNvPr id="9" name="TextBox 8"/>
          <p:cNvSpPr txBox="1"/>
          <p:nvPr/>
        </p:nvSpPr>
        <p:spPr>
          <a:xfrm>
            <a:off x="2676222" y="4500620"/>
            <a:ext cx="1183341" cy="369332"/>
          </a:xfrm>
          <a:prstGeom prst="rect">
            <a:avLst/>
          </a:prstGeom>
          <a:noFill/>
        </p:spPr>
        <p:txBody>
          <a:bodyPr wrap="square" rtlCol="0">
            <a:spAutoFit/>
          </a:bodyPr>
          <a:lstStyle/>
          <a:p>
            <a:r>
              <a:rPr lang="en-IN" dirty="0" smtClean="0"/>
              <a:t>Delete 1</a:t>
            </a:r>
            <a:endParaRPr lang="en-IN" dirty="0"/>
          </a:p>
        </p:txBody>
      </p:sp>
      <p:pic>
        <p:nvPicPr>
          <p:cNvPr id="10" name="Picture 9"/>
          <p:cNvPicPr>
            <a:picLocks noChangeAspect="1"/>
          </p:cNvPicPr>
          <p:nvPr/>
        </p:nvPicPr>
        <p:blipFill>
          <a:blip r:embed="rId5"/>
          <a:stretch>
            <a:fillRect/>
          </a:stretch>
        </p:blipFill>
        <p:spPr>
          <a:xfrm>
            <a:off x="394447" y="3639315"/>
            <a:ext cx="2006097" cy="1628326"/>
          </a:xfrm>
          <a:prstGeom prst="rect">
            <a:avLst/>
          </a:prstGeom>
        </p:spPr>
      </p:pic>
      <p:cxnSp>
        <p:nvCxnSpPr>
          <p:cNvPr id="12" name="Straight Arrow Connector 11"/>
          <p:cNvCxnSpPr/>
          <p:nvPr/>
        </p:nvCxnSpPr>
        <p:spPr>
          <a:xfrm flipV="1">
            <a:off x="2820005" y="4301513"/>
            <a:ext cx="950259" cy="896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6"/>
          <a:stretch>
            <a:fillRect/>
          </a:stretch>
        </p:blipFill>
        <p:spPr>
          <a:xfrm>
            <a:off x="3859563" y="3665775"/>
            <a:ext cx="2037806" cy="1501869"/>
          </a:xfrm>
          <a:prstGeom prst="rect">
            <a:avLst/>
          </a:prstGeom>
        </p:spPr>
      </p:pic>
      <p:cxnSp>
        <p:nvCxnSpPr>
          <p:cNvPr id="15" name="Straight Arrow Connector 14"/>
          <p:cNvCxnSpPr/>
          <p:nvPr/>
        </p:nvCxnSpPr>
        <p:spPr>
          <a:xfrm flipV="1">
            <a:off x="6539999" y="4407744"/>
            <a:ext cx="950259" cy="896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423458" y="4562760"/>
            <a:ext cx="1183341" cy="369332"/>
          </a:xfrm>
          <a:prstGeom prst="rect">
            <a:avLst/>
          </a:prstGeom>
          <a:noFill/>
        </p:spPr>
        <p:txBody>
          <a:bodyPr wrap="square" rtlCol="0">
            <a:spAutoFit/>
          </a:bodyPr>
          <a:lstStyle/>
          <a:p>
            <a:r>
              <a:rPr lang="en-IN" dirty="0" smtClean="0"/>
              <a:t>Delete 2</a:t>
            </a:r>
            <a:endParaRPr lang="en-IN" dirty="0"/>
          </a:p>
        </p:txBody>
      </p:sp>
      <p:pic>
        <p:nvPicPr>
          <p:cNvPr id="17" name="Picture 16"/>
          <p:cNvPicPr>
            <a:picLocks noChangeAspect="1"/>
          </p:cNvPicPr>
          <p:nvPr/>
        </p:nvPicPr>
        <p:blipFill>
          <a:blip r:embed="rId7"/>
          <a:stretch>
            <a:fillRect/>
          </a:stretch>
        </p:blipFill>
        <p:spPr>
          <a:xfrm>
            <a:off x="8111951" y="3527564"/>
            <a:ext cx="1416143" cy="1655587"/>
          </a:xfrm>
          <a:prstGeom prst="rect">
            <a:avLst/>
          </a:prstGeom>
        </p:spPr>
      </p:pic>
      <p:sp>
        <p:nvSpPr>
          <p:cNvPr id="18" name="TextBox 17"/>
          <p:cNvSpPr txBox="1"/>
          <p:nvPr/>
        </p:nvSpPr>
        <p:spPr>
          <a:xfrm>
            <a:off x="116919" y="5386836"/>
            <a:ext cx="3792071" cy="646331"/>
          </a:xfrm>
          <a:prstGeom prst="rect">
            <a:avLst/>
          </a:prstGeom>
          <a:noFill/>
        </p:spPr>
        <p:txBody>
          <a:bodyPr wrap="square" rtlCol="0">
            <a:spAutoFit/>
          </a:bodyPr>
          <a:lstStyle/>
          <a:p>
            <a:r>
              <a:rPr lang="en-IN" dirty="0" smtClean="0">
                <a:solidFill>
                  <a:srgbClr val="C00000"/>
                </a:solidFill>
                <a:latin typeface="Times New Roman" panose="02020603050405020304" pitchFamily="18" charset="0"/>
                <a:cs typeface="Times New Roman" panose="02020603050405020304" pitchFamily="18" charset="0"/>
              </a:rPr>
              <a:t>Identify vertices with </a:t>
            </a:r>
            <a:r>
              <a:rPr lang="en-IN" dirty="0" err="1" smtClean="0">
                <a:solidFill>
                  <a:srgbClr val="C00000"/>
                </a:solidFill>
                <a:latin typeface="Times New Roman" panose="02020603050405020304" pitchFamily="18" charset="0"/>
                <a:cs typeface="Times New Roman" panose="02020603050405020304" pitchFamily="18" charset="0"/>
              </a:rPr>
              <a:t>indegree</a:t>
            </a:r>
            <a:r>
              <a:rPr lang="en-IN" dirty="0" smtClean="0">
                <a:solidFill>
                  <a:srgbClr val="C00000"/>
                </a:solidFill>
                <a:latin typeface="Times New Roman" panose="02020603050405020304" pitchFamily="18" charset="0"/>
                <a:cs typeface="Times New Roman" panose="02020603050405020304" pitchFamily="18" charset="0"/>
              </a:rPr>
              <a:t> zero, they are 1 and 2, let select 1</a:t>
            </a:r>
            <a:endParaRPr lang="en-IN" dirty="0">
              <a:solidFill>
                <a:srgbClr val="C0000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3599935" y="5353592"/>
            <a:ext cx="4052187" cy="369332"/>
          </a:xfrm>
          <a:prstGeom prst="rect">
            <a:avLst/>
          </a:prstGeom>
          <a:noFill/>
        </p:spPr>
        <p:txBody>
          <a:bodyPr wrap="square" rtlCol="0">
            <a:spAutoFit/>
          </a:bodyPr>
          <a:lstStyle/>
          <a:p>
            <a:r>
              <a:rPr lang="en-IN" dirty="0">
                <a:solidFill>
                  <a:srgbClr val="C00000"/>
                </a:solidFill>
                <a:latin typeface="Times New Roman" panose="02020603050405020304" pitchFamily="18" charset="0"/>
                <a:cs typeface="Times New Roman" panose="02020603050405020304" pitchFamily="18" charset="0"/>
              </a:rPr>
              <a:t>Identify vertices with </a:t>
            </a:r>
            <a:r>
              <a:rPr lang="en-IN" dirty="0" err="1" smtClean="0">
                <a:solidFill>
                  <a:srgbClr val="C00000"/>
                </a:solidFill>
                <a:latin typeface="Times New Roman" panose="02020603050405020304" pitchFamily="18" charset="0"/>
                <a:cs typeface="Times New Roman" panose="02020603050405020304" pitchFamily="18" charset="0"/>
              </a:rPr>
              <a:t>inderee</a:t>
            </a:r>
            <a:r>
              <a:rPr lang="en-IN" dirty="0" smtClean="0">
                <a:solidFill>
                  <a:srgbClr val="C00000"/>
                </a:solidFill>
                <a:latin typeface="Times New Roman" panose="02020603050405020304" pitchFamily="18" charset="0"/>
                <a:cs typeface="Times New Roman" panose="02020603050405020304" pitchFamily="18" charset="0"/>
              </a:rPr>
              <a:t> zero, </a:t>
            </a:r>
            <a:r>
              <a:rPr lang="en-IN" dirty="0">
                <a:solidFill>
                  <a:srgbClr val="C00000"/>
                </a:solidFill>
                <a:latin typeface="Times New Roman" panose="02020603050405020304" pitchFamily="18" charset="0"/>
                <a:cs typeface="Times New Roman" panose="02020603050405020304" pitchFamily="18" charset="0"/>
              </a:rPr>
              <a:t>it </a:t>
            </a:r>
            <a:r>
              <a:rPr lang="en-IN" dirty="0" smtClean="0">
                <a:solidFill>
                  <a:srgbClr val="C00000"/>
                </a:solidFill>
                <a:latin typeface="Times New Roman" panose="02020603050405020304" pitchFamily="18" charset="0"/>
                <a:cs typeface="Times New Roman" panose="02020603050405020304" pitchFamily="18" charset="0"/>
              </a:rPr>
              <a:t>is 2</a:t>
            </a:r>
            <a:endParaRPr lang="en-IN" dirty="0">
              <a:solidFill>
                <a:srgbClr val="C00000"/>
              </a:solidFill>
              <a:latin typeface="Times New Roman" panose="02020603050405020304" pitchFamily="18" charset="0"/>
              <a:cs typeface="Times New Roman" panose="02020603050405020304" pitchFamily="18" charset="0"/>
            </a:endParaRPr>
          </a:p>
        </p:txBody>
      </p:sp>
      <p:sp>
        <p:nvSpPr>
          <p:cNvPr id="20" name="TextBox 19"/>
          <p:cNvSpPr txBox="1"/>
          <p:nvPr/>
        </p:nvSpPr>
        <p:spPr>
          <a:xfrm>
            <a:off x="7652122" y="5405831"/>
            <a:ext cx="4383359" cy="369332"/>
          </a:xfrm>
          <a:prstGeom prst="rect">
            <a:avLst/>
          </a:prstGeom>
          <a:noFill/>
        </p:spPr>
        <p:txBody>
          <a:bodyPr wrap="square" rtlCol="0">
            <a:spAutoFit/>
          </a:bodyPr>
          <a:lstStyle/>
          <a:p>
            <a:r>
              <a:rPr lang="en-IN" dirty="0">
                <a:solidFill>
                  <a:srgbClr val="C00000"/>
                </a:solidFill>
                <a:latin typeface="Times New Roman" panose="02020603050405020304" pitchFamily="18" charset="0"/>
                <a:cs typeface="Times New Roman" panose="02020603050405020304" pitchFamily="18" charset="0"/>
              </a:rPr>
              <a:t>Identify vertices with </a:t>
            </a:r>
            <a:r>
              <a:rPr lang="en-IN" dirty="0" err="1" smtClean="0">
                <a:solidFill>
                  <a:srgbClr val="C00000"/>
                </a:solidFill>
                <a:latin typeface="Times New Roman" panose="02020603050405020304" pitchFamily="18" charset="0"/>
                <a:cs typeface="Times New Roman" panose="02020603050405020304" pitchFamily="18" charset="0"/>
              </a:rPr>
              <a:t>indegree</a:t>
            </a:r>
            <a:r>
              <a:rPr lang="en-IN" dirty="0" smtClean="0">
                <a:solidFill>
                  <a:srgbClr val="C00000"/>
                </a:solidFill>
                <a:latin typeface="Times New Roman" panose="02020603050405020304" pitchFamily="18" charset="0"/>
                <a:cs typeface="Times New Roman" panose="02020603050405020304" pitchFamily="18" charset="0"/>
              </a:rPr>
              <a:t> zero, </a:t>
            </a:r>
            <a:r>
              <a:rPr lang="en-IN" dirty="0">
                <a:solidFill>
                  <a:srgbClr val="C00000"/>
                </a:solidFill>
                <a:latin typeface="Times New Roman" panose="02020603050405020304" pitchFamily="18" charset="0"/>
                <a:cs typeface="Times New Roman" panose="02020603050405020304" pitchFamily="18" charset="0"/>
              </a:rPr>
              <a:t>it is 3</a:t>
            </a:r>
          </a:p>
        </p:txBody>
      </p:sp>
      <p:sp>
        <p:nvSpPr>
          <p:cNvPr id="6" name="Date Placeholder 5"/>
          <p:cNvSpPr>
            <a:spLocks noGrp="1"/>
          </p:cNvSpPr>
          <p:nvPr>
            <p:ph type="dt" sz="half" idx="10"/>
          </p:nvPr>
        </p:nvSpPr>
        <p:spPr/>
        <p:txBody>
          <a:bodyPr/>
          <a:lstStyle/>
          <a:p>
            <a:fld id="{30F7C1EC-7C30-4FD8-883D-3C4263FA7CA2}" type="datetime1">
              <a:rPr lang="en-IN" smtClean="0"/>
              <a:t>21-03-2026</a:t>
            </a:fld>
            <a:endParaRPr lang="en-IN"/>
          </a:p>
        </p:txBody>
      </p:sp>
      <p:pic>
        <p:nvPicPr>
          <p:cNvPr id="3074"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95135" y="1179651"/>
            <a:ext cx="3657600" cy="234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20"/>
          <p:cNvPicPr>
            <a:picLocks noChangeAspect="1"/>
          </p:cNvPicPr>
          <p:nvPr/>
        </p:nvPicPr>
        <p:blipFill>
          <a:blip r:embed="rId5"/>
          <a:stretch>
            <a:fillRect/>
          </a:stretch>
        </p:blipFill>
        <p:spPr>
          <a:xfrm>
            <a:off x="116919" y="1179651"/>
            <a:ext cx="2006097" cy="1628326"/>
          </a:xfrm>
          <a:prstGeom prst="rect">
            <a:avLst/>
          </a:prstGeom>
        </p:spPr>
      </p:pic>
    </p:spTree>
    <p:extLst>
      <p:ext uri="{BB962C8B-B14F-4D97-AF65-F5344CB8AC3E}">
        <p14:creationId xmlns:p14="http://schemas.microsoft.com/office/powerpoint/2010/main" val="3518728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P spid="18" grpId="0"/>
      <p:bldP spid="19" grpId="0"/>
      <p:bldP spid="20"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7576" y="732885"/>
            <a:ext cx="12084424" cy="5627707"/>
          </a:xfrm>
        </p:spPr>
        <p:txBody>
          <a:bodyPr>
            <a:normAutofit/>
          </a:bodyPr>
          <a:lstStyle/>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Source removal method</a:t>
            </a:r>
          </a:p>
          <a:p>
            <a:pPr algn="just"/>
            <a:r>
              <a:rPr lang="en-IN" sz="2000" b="1" dirty="0" smtClean="0">
                <a:solidFill>
                  <a:srgbClr val="002060"/>
                </a:solidFill>
                <a:latin typeface="Times New Roman" panose="02020603050405020304" pitchFamily="18" charset="0"/>
                <a:cs typeface="Times New Roman" panose="02020603050405020304" pitchFamily="18" charset="0"/>
              </a:rPr>
              <a:t>Solution:</a:t>
            </a:r>
            <a:endParaRPr lang="en-US" sz="2000" b="1" dirty="0" smtClean="0">
              <a:solidFill>
                <a:srgbClr val="FF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150</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1"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cxnSp>
        <p:nvCxnSpPr>
          <p:cNvPr id="15" name="Straight Arrow Connector 14"/>
          <p:cNvCxnSpPr/>
          <p:nvPr/>
        </p:nvCxnSpPr>
        <p:spPr>
          <a:xfrm flipV="1">
            <a:off x="757764" y="2496493"/>
            <a:ext cx="950259" cy="896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57764" y="2616000"/>
            <a:ext cx="1183341" cy="369332"/>
          </a:xfrm>
          <a:prstGeom prst="rect">
            <a:avLst/>
          </a:prstGeom>
          <a:noFill/>
        </p:spPr>
        <p:txBody>
          <a:bodyPr wrap="square" rtlCol="0">
            <a:spAutoFit/>
          </a:bodyPr>
          <a:lstStyle/>
          <a:p>
            <a:r>
              <a:rPr lang="en-IN" dirty="0" smtClean="0"/>
              <a:t>Delete 3</a:t>
            </a:r>
            <a:endParaRPr lang="en-IN" dirty="0"/>
          </a:p>
        </p:txBody>
      </p:sp>
      <p:pic>
        <p:nvPicPr>
          <p:cNvPr id="6" name="Picture 5"/>
          <p:cNvPicPr>
            <a:picLocks noChangeAspect="1"/>
          </p:cNvPicPr>
          <p:nvPr/>
        </p:nvPicPr>
        <p:blipFill>
          <a:blip r:embed="rId5"/>
          <a:stretch>
            <a:fillRect/>
          </a:stretch>
        </p:blipFill>
        <p:spPr>
          <a:xfrm>
            <a:off x="1941105" y="1922649"/>
            <a:ext cx="869093" cy="1636339"/>
          </a:xfrm>
          <a:prstGeom prst="rect">
            <a:avLst/>
          </a:prstGeom>
        </p:spPr>
      </p:pic>
      <p:cxnSp>
        <p:nvCxnSpPr>
          <p:cNvPr id="18" name="Straight Arrow Connector 17"/>
          <p:cNvCxnSpPr/>
          <p:nvPr/>
        </p:nvCxnSpPr>
        <p:spPr>
          <a:xfrm flipV="1">
            <a:off x="3169270" y="2476869"/>
            <a:ext cx="950259" cy="896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182963" y="2662051"/>
            <a:ext cx="1183341" cy="369332"/>
          </a:xfrm>
          <a:prstGeom prst="rect">
            <a:avLst/>
          </a:prstGeom>
          <a:noFill/>
        </p:spPr>
        <p:txBody>
          <a:bodyPr wrap="square" rtlCol="0">
            <a:spAutoFit/>
          </a:bodyPr>
          <a:lstStyle/>
          <a:p>
            <a:r>
              <a:rPr lang="en-IN" dirty="0" smtClean="0"/>
              <a:t>Delete 4</a:t>
            </a:r>
            <a:endParaRPr lang="en-IN" dirty="0"/>
          </a:p>
        </p:txBody>
      </p:sp>
      <p:pic>
        <p:nvPicPr>
          <p:cNvPr id="13" name="Picture 12"/>
          <p:cNvPicPr>
            <a:picLocks noChangeAspect="1"/>
          </p:cNvPicPr>
          <p:nvPr/>
        </p:nvPicPr>
        <p:blipFill>
          <a:blip r:embed="rId6"/>
          <a:stretch>
            <a:fillRect/>
          </a:stretch>
        </p:blipFill>
        <p:spPr>
          <a:xfrm>
            <a:off x="4643727" y="2122762"/>
            <a:ext cx="725031" cy="708213"/>
          </a:xfrm>
          <a:prstGeom prst="rect">
            <a:avLst/>
          </a:prstGeom>
        </p:spPr>
      </p:pic>
      <p:sp>
        <p:nvSpPr>
          <p:cNvPr id="20" name="TextBox 19"/>
          <p:cNvSpPr txBox="1"/>
          <p:nvPr/>
        </p:nvSpPr>
        <p:spPr>
          <a:xfrm>
            <a:off x="304801" y="3496499"/>
            <a:ext cx="4061504" cy="369332"/>
          </a:xfrm>
          <a:prstGeom prst="rect">
            <a:avLst/>
          </a:prstGeom>
          <a:noFill/>
        </p:spPr>
        <p:txBody>
          <a:bodyPr wrap="square" rtlCol="0">
            <a:spAutoFit/>
          </a:bodyPr>
          <a:lstStyle/>
          <a:p>
            <a:r>
              <a:rPr lang="en-IN" dirty="0" smtClean="0">
                <a:solidFill>
                  <a:srgbClr val="C00000"/>
                </a:solidFill>
                <a:latin typeface="Times New Roman" panose="02020603050405020304" pitchFamily="18" charset="0"/>
                <a:cs typeface="Times New Roman" panose="02020603050405020304" pitchFamily="18" charset="0"/>
              </a:rPr>
              <a:t>Identify vertices with </a:t>
            </a:r>
            <a:r>
              <a:rPr lang="en-IN" dirty="0" err="1" smtClean="0">
                <a:solidFill>
                  <a:srgbClr val="C00000"/>
                </a:solidFill>
                <a:latin typeface="Times New Roman" panose="02020603050405020304" pitchFamily="18" charset="0"/>
                <a:cs typeface="Times New Roman" panose="02020603050405020304" pitchFamily="18" charset="0"/>
              </a:rPr>
              <a:t>indegree</a:t>
            </a:r>
            <a:r>
              <a:rPr lang="en-IN" dirty="0" smtClean="0">
                <a:solidFill>
                  <a:srgbClr val="C00000"/>
                </a:solidFill>
                <a:latin typeface="Times New Roman" panose="02020603050405020304" pitchFamily="18" charset="0"/>
                <a:cs typeface="Times New Roman" panose="02020603050405020304" pitchFamily="18" charset="0"/>
              </a:rPr>
              <a:t> zero, it is 4</a:t>
            </a:r>
            <a:endParaRPr lang="en-IN" dirty="0">
              <a:solidFill>
                <a:srgbClr val="C00000"/>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4888684" y="3265666"/>
            <a:ext cx="1545068" cy="369332"/>
          </a:xfrm>
          <a:prstGeom prst="rect">
            <a:avLst/>
          </a:prstGeom>
          <a:noFill/>
        </p:spPr>
        <p:txBody>
          <a:bodyPr wrap="square" rtlCol="0">
            <a:spAutoFit/>
          </a:bodyPr>
          <a:lstStyle/>
          <a:p>
            <a:r>
              <a:rPr lang="en-IN" dirty="0" smtClean="0">
                <a:solidFill>
                  <a:srgbClr val="C00000"/>
                </a:solidFill>
                <a:latin typeface="Times New Roman" panose="02020603050405020304" pitchFamily="18" charset="0"/>
                <a:cs typeface="Times New Roman" panose="02020603050405020304" pitchFamily="18" charset="0"/>
              </a:rPr>
              <a:t>Delete 5</a:t>
            </a:r>
            <a:endParaRPr lang="en-IN" dirty="0">
              <a:solidFill>
                <a:srgbClr val="C00000"/>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2281640" y="4533794"/>
            <a:ext cx="6541084" cy="1015663"/>
          </a:xfrm>
          <a:prstGeom prst="rect">
            <a:avLst/>
          </a:prstGeom>
          <a:noFill/>
        </p:spPr>
        <p:txBody>
          <a:bodyPr wrap="square" rtlCol="0">
            <a:spAutoFit/>
          </a:bodyPr>
          <a:lstStyle/>
          <a:p>
            <a:r>
              <a:rPr lang="en-IN" sz="2000" b="1" dirty="0" smtClean="0">
                <a:solidFill>
                  <a:srgbClr val="FF0000"/>
                </a:solidFill>
                <a:latin typeface="Times New Roman" panose="02020603050405020304" pitchFamily="18" charset="0"/>
                <a:cs typeface="Times New Roman" panose="02020603050405020304" pitchFamily="18" charset="0"/>
              </a:rPr>
              <a:t>Topological sorting is 1, 2, 3, 4, 5</a:t>
            </a:r>
          </a:p>
          <a:p>
            <a:r>
              <a:rPr lang="en-IN" sz="2000" b="1" dirty="0" smtClean="0">
                <a:solidFill>
                  <a:srgbClr val="FF0000"/>
                </a:solidFill>
                <a:latin typeface="Times New Roman" panose="02020603050405020304" pitchFamily="18" charset="0"/>
                <a:cs typeface="Times New Roman" panose="02020603050405020304" pitchFamily="18" charset="0"/>
              </a:rPr>
              <a:t>Another solution is if first selected arbitrary vertex is 2</a:t>
            </a:r>
          </a:p>
          <a:p>
            <a:r>
              <a:rPr lang="en-IN" sz="2000" b="1" dirty="0" smtClean="0">
                <a:solidFill>
                  <a:srgbClr val="FF0000"/>
                </a:solidFill>
                <a:latin typeface="Times New Roman" panose="02020603050405020304" pitchFamily="18" charset="0"/>
                <a:cs typeface="Times New Roman" panose="02020603050405020304" pitchFamily="18" charset="0"/>
              </a:rPr>
              <a:t>2, 1, 3, 4, 5</a:t>
            </a:r>
            <a:endParaRPr lang="en-IN" sz="2000" b="1" dirty="0">
              <a:solidFill>
                <a:srgbClr val="FF0000"/>
              </a:solidFill>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2F632168-5FB7-44BE-93FC-675CD744377A}" type="datetime1">
              <a:rPr lang="en-IN" smtClean="0"/>
              <a:t>21-03-2026</a:t>
            </a:fld>
            <a:endParaRPr lang="en-IN"/>
          </a:p>
        </p:txBody>
      </p:sp>
    </p:spTree>
    <p:extLst>
      <p:ext uri="{BB962C8B-B14F-4D97-AF65-F5344CB8AC3E}">
        <p14:creationId xmlns:p14="http://schemas.microsoft.com/office/powerpoint/2010/main" val="196595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0" grpId="0"/>
      <p:bldP spid="21" grpId="0"/>
      <p:bldP spid="22"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7576" y="732885"/>
            <a:ext cx="12084424" cy="5627707"/>
          </a:xfrm>
        </p:spPr>
        <p:txBody>
          <a:bodyPr>
            <a:normAutofit/>
          </a:bodyPr>
          <a:lstStyle/>
          <a:p>
            <a:pPr algn="just"/>
            <a:endParaRPr lang="en-US" sz="2000" b="1" dirty="0" smtClean="0">
              <a:solidFill>
                <a:srgbClr val="002060"/>
              </a:solidFill>
              <a:latin typeface="Times New Roman" panose="02020603050405020304" pitchFamily="18" charset="0"/>
              <a:cs typeface="Times New Roman" panose="02020603050405020304" pitchFamily="18" charset="0"/>
            </a:endParaRPr>
          </a:p>
          <a:p>
            <a:pPr algn="just"/>
            <a:r>
              <a:rPr lang="en-US" sz="2000" b="1" dirty="0" smtClean="0">
                <a:solidFill>
                  <a:srgbClr val="002060"/>
                </a:solidFill>
                <a:latin typeface="Times New Roman" panose="02020603050405020304" pitchFamily="18" charset="0"/>
                <a:cs typeface="Times New Roman" panose="02020603050405020304" pitchFamily="18" charset="0"/>
              </a:rPr>
              <a:t>Source removal method</a:t>
            </a:r>
          </a:p>
          <a:p>
            <a:pPr algn="just"/>
            <a:r>
              <a:rPr lang="en-US" sz="2000" b="1" dirty="0" smtClean="0">
                <a:solidFill>
                  <a:srgbClr val="002060"/>
                </a:solidFill>
                <a:latin typeface="Times New Roman" panose="02020603050405020304" pitchFamily="18" charset="0"/>
                <a:cs typeface="Times New Roman" panose="02020603050405020304" pitchFamily="18" charset="0"/>
              </a:rPr>
              <a:t>Step 1: Find the vertices  </a:t>
            </a:r>
            <a:r>
              <a:rPr lang="en-US" sz="2000" b="1" dirty="0" smtClean="0">
                <a:solidFill>
                  <a:srgbClr val="FF0000"/>
                </a:solidFill>
                <a:latin typeface="Times New Roman" panose="02020603050405020304" pitchFamily="18" charset="0"/>
                <a:cs typeface="Times New Roman" panose="02020603050405020304" pitchFamily="18" charset="0"/>
              </a:rPr>
              <a:t>u</a:t>
            </a:r>
            <a:r>
              <a:rPr lang="en-US" sz="2000" b="1" dirty="0" smtClean="0">
                <a:solidFill>
                  <a:srgbClr val="002060"/>
                </a:solidFill>
                <a:latin typeface="Times New Roman" panose="02020603050405020304" pitchFamily="18" charset="0"/>
                <a:cs typeface="Times New Roman" panose="02020603050405020304" pitchFamily="18" charset="0"/>
              </a:rPr>
              <a:t> with </a:t>
            </a:r>
            <a:r>
              <a:rPr lang="en-US" sz="2000" b="1" dirty="0" err="1" smtClean="0">
                <a:solidFill>
                  <a:srgbClr val="00B0F0"/>
                </a:solidFill>
                <a:latin typeface="Times New Roman" panose="02020603050405020304" pitchFamily="18" charset="0"/>
                <a:cs typeface="Times New Roman" panose="02020603050405020304" pitchFamily="18" charset="0"/>
              </a:rPr>
              <a:t>indegree</a:t>
            </a:r>
            <a:r>
              <a:rPr lang="en-US" sz="2000" b="1" dirty="0" smtClean="0">
                <a:solidFill>
                  <a:srgbClr val="00B0F0"/>
                </a:solidFill>
                <a:latin typeface="Times New Roman" panose="02020603050405020304" pitchFamily="18" charset="0"/>
                <a:cs typeface="Times New Roman" panose="02020603050405020304" pitchFamily="18" charset="0"/>
              </a:rPr>
              <a:t> zero </a:t>
            </a:r>
            <a:r>
              <a:rPr lang="en-US" sz="2000" b="1" dirty="0" smtClean="0">
                <a:solidFill>
                  <a:srgbClr val="002060"/>
                </a:solidFill>
                <a:latin typeface="Times New Roman" panose="02020603050405020304" pitchFamily="18" charset="0"/>
                <a:cs typeface="Times New Roman" panose="02020603050405020304" pitchFamily="18" charset="0"/>
              </a:rPr>
              <a:t>and place them on stack.</a:t>
            </a:r>
          </a:p>
          <a:p>
            <a:pPr algn="just"/>
            <a:r>
              <a:rPr lang="en-US" sz="2000" b="1" dirty="0">
                <a:solidFill>
                  <a:srgbClr val="002060"/>
                </a:solidFill>
                <a:latin typeface="Times New Roman" panose="02020603050405020304" pitchFamily="18" charset="0"/>
                <a:cs typeface="Times New Roman" panose="02020603050405020304" pitchFamily="18" charset="0"/>
              </a:rPr>
              <a:t>Step 2</a:t>
            </a:r>
            <a:r>
              <a:rPr lang="en-US" sz="2000" b="1" dirty="0" smtClean="0">
                <a:solidFill>
                  <a:srgbClr val="002060"/>
                </a:solidFill>
                <a:latin typeface="Times New Roman" panose="02020603050405020304" pitchFamily="18" charset="0"/>
                <a:cs typeface="Times New Roman" panose="02020603050405020304" pitchFamily="18" charset="0"/>
              </a:rPr>
              <a:t>: Pop the top most vertex from the stack.</a:t>
            </a:r>
          </a:p>
          <a:p>
            <a:pPr algn="just"/>
            <a:r>
              <a:rPr lang="en-US" sz="2000" b="1" dirty="0">
                <a:solidFill>
                  <a:srgbClr val="002060"/>
                </a:solidFill>
                <a:latin typeface="Times New Roman" panose="02020603050405020304" pitchFamily="18" charset="0"/>
                <a:cs typeface="Times New Roman" panose="02020603050405020304" pitchFamily="18" charset="0"/>
              </a:rPr>
              <a:t>Step 3</a:t>
            </a:r>
            <a:r>
              <a:rPr lang="en-US" sz="2000" b="1" dirty="0" smtClean="0">
                <a:solidFill>
                  <a:srgbClr val="002060"/>
                </a:solidFill>
                <a:latin typeface="Times New Roman" panose="02020603050405020304" pitchFamily="18" charset="0"/>
                <a:cs typeface="Times New Roman" panose="02020603050405020304" pitchFamily="18" charset="0"/>
              </a:rPr>
              <a:t>: Find the vertex </a:t>
            </a:r>
            <a:r>
              <a:rPr lang="en-US" sz="2000" b="1" dirty="0">
                <a:solidFill>
                  <a:srgbClr val="FF0000"/>
                </a:solidFill>
                <a:latin typeface="Times New Roman" panose="02020603050405020304" pitchFamily="18" charset="0"/>
                <a:cs typeface="Times New Roman" panose="02020603050405020304" pitchFamily="18" charset="0"/>
              </a:rPr>
              <a:t>v</a:t>
            </a:r>
            <a:r>
              <a:rPr lang="en-US" sz="2000" b="1" dirty="0" smtClean="0">
                <a:solidFill>
                  <a:srgbClr val="002060"/>
                </a:solidFill>
                <a:latin typeface="Times New Roman" panose="02020603050405020304" pitchFamily="18" charset="0"/>
                <a:cs typeface="Times New Roman" panose="02020603050405020304" pitchFamily="18" charset="0"/>
              </a:rPr>
              <a:t> which is adjacent to </a:t>
            </a:r>
            <a:r>
              <a:rPr lang="en-US" sz="2000" b="1" dirty="0" err="1" smtClean="0">
                <a:solidFill>
                  <a:srgbClr val="002060"/>
                </a:solidFill>
                <a:latin typeface="Times New Roman" panose="02020603050405020304" pitchFamily="18" charset="0"/>
                <a:cs typeface="Times New Roman" panose="02020603050405020304" pitchFamily="18" charset="0"/>
              </a:rPr>
              <a:t>poped</a:t>
            </a:r>
            <a:r>
              <a:rPr lang="en-US" sz="2000" b="1" dirty="0" smtClean="0">
                <a:solidFill>
                  <a:srgbClr val="002060"/>
                </a:solidFill>
                <a:latin typeface="Times New Roman" panose="02020603050405020304" pitchFamily="18" charset="0"/>
                <a:cs typeface="Times New Roman" panose="02020603050405020304" pitchFamily="18" charset="0"/>
              </a:rPr>
              <a:t> vertex</a:t>
            </a:r>
            <a:r>
              <a:rPr lang="en-US" sz="2000" b="1" dirty="0" smtClean="0">
                <a:solidFill>
                  <a:srgbClr val="FF0000"/>
                </a:solidFill>
                <a:latin typeface="Times New Roman" panose="02020603050405020304" pitchFamily="18" charset="0"/>
                <a:cs typeface="Times New Roman" panose="02020603050405020304" pitchFamily="18" charset="0"/>
              </a:rPr>
              <a:t>,  decrement the </a:t>
            </a:r>
            <a:r>
              <a:rPr lang="en-US" sz="2000" b="1" dirty="0" err="1" smtClean="0">
                <a:solidFill>
                  <a:srgbClr val="FF0000"/>
                </a:solidFill>
                <a:latin typeface="Times New Roman" panose="02020603050405020304" pitchFamily="18" charset="0"/>
                <a:cs typeface="Times New Roman" panose="02020603050405020304" pitchFamily="18" charset="0"/>
              </a:rPr>
              <a:t>indegree</a:t>
            </a:r>
            <a:r>
              <a:rPr lang="en-US" sz="2000" b="1" dirty="0" smtClean="0">
                <a:solidFill>
                  <a:srgbClr val="FF0000"/>
                </a:solidFill>
                <a:latin typeface="Times New Roman" panose="02020603050405020304" pitchFamily="18" charset="0"/>
                <a:cs typeface="Times New Roman" panose="02020603050405020304" pitchFamily="18" charset="0"/>
              </a:rPr>
              <a:t> of v by 1,</a:t>
            </a:r>
          </a:p>
          <a:p>
            <a:pPr algn="just"/>
            <a:r>
              <a:rPr lang="en-US" sz="2000" b="1" dirty="0">
                <a:solidFill>
                  <a:srgbClr val="002060"/>
                </a:solidFill>
                <a:latin typeface="Times New Roman" panose="02020603050405020304" pitchFamily="18" charset="0"/>
                <a:cs typeface="Times New Roman" panose="02020603050405020304" pitchFamily="18" charset="0"/>
              </a:rPr>
              <a:t>Step 4. Repeat the steps 1 to 3</a:t>
            </a: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151</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1"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sp>
        <p:nvSpPr>
          <p:cNvPr id="2" name="Date Placeholder 1"/>
          <p:cNvSpPr>
            <a:spLocks noGrp="1"/>
          </p:cNvSpPr>
          <p:nvPr>
            <p:ph type="dt" sz="half" idx="10"/>
          </p:nvPr>
        </p:nvSpPr>
        <p:spPr/>
        <p:txBody>
          <a:bodyPr/>
          <a:lstStyle/>
          <a:p>
            <a:fld id="{9ABCE233-1CE9-4D21-8156-6A852176E4EB}" type="datetime1">
              <a:rPr lang="en-IN" smtClean="0"/>
              <a:t>21-03-2026</a:t>
            </a:fld>
            <a:endParaRPr lang="en-IN"/>
          </a:p>
        </p:txBody>
      </p:sp>
    </p:spTree>
    <p:extLst>
      <p:ext uri="{BB962C8B-B14F-4D97-AF65-F5344CB8AC3E}">
        <p14:creationId xmlns:p14="http://schemas.microsoft.com/office/powerpoint/2010/main" val="1290494943"/>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7576" y="732885"/>
            <a:ext cx="12084424" cy="5627707"/>
          </a:xfrm>
        </p:spPr>
        <p:txBody>
          <a:bodyPr>
            <a:normAutofit/>
          </a:bodyPr>
          <a:lstStyle/>
          <a:p>
            <a:pPr algn="just"/>
            <a:r>
              <a:rPr lang="en-US" sz="2000" b="1" dirty="0" smtClean="0">
                <a:solidFill>
                  <a:srgbClr val="002060"/>
                </a:solidFill>
                <a:latin typeface="Times New Roman" panose="02020603050405020304" pitchFamily="18" charset="0"/>
                <a:cs typeface="Times New Roman" panose="02020603050405020304" pitchFamily="18" charset="0"/>
              </a:rPr>
              <a:t>Source removal method</a:t>
            </a:r>
          </a:p>
          <a:p>
            <a:pPr algn="just"/>
            <a:r>
              <a:rPr lang="en-US" sz="2000" b="1" dirty="0">
                <a:solidFill>
                  <a:srgbClr val="002060"/>
                </a:solidFill>
                <a:latin typeface="Times New Roman" panose="02020603050405020304" pitchFamily="18" charset="0"/>
                <a:cs typeface="Times New Roman" panose="02020603050405020304" pitchFamily="18" charset="0"/>
              </a:rPr>
              <a:t>Apply the </a:t>
            </a:r>
            <a:r>
              <a:rPr lang="en-US" sz="2000" b="1" dirty="0" smtClean="0">
                <a:solidFill>
                  <a:srgbClr val="002060"/>
                </a:solidFill>
                <a:latin typeface="Times New Roman" panose="02020603050405020304" pitchFamily="18" charset="0"/>
                <a:cs typeface="Times New Roman" panose="02020603050405020304" pitchFamily="18" charset="0"/>
              </a:rPr>
              <a:t>Source removal method algorithm </a:t>
            </a:r>
            <a:r>
              <a:rPr lang="en-US" sz="2000" b="1" dirty="0">
                <a:solidFill>
                  <a:srgbClr val="002060"/>
                </a:solidFill>
                <a:latin typeface="Times New Roman" panose="02020603050405020304" pitchFamily="18" charset="0"/>
                <a:cs typeface="Times New Roman" panose="02020603050405020304" pitchFamily="18" charset="0"/>
              </a:rPr>
              <a:t>to solve the topological sorting problem for </a:t>
            </a:r>
            <a:r>
              <a:rPr lang="en-IN" sz="2000" b="1" dirty="0">
                <a:solidFill>
                  <a:srgbClr val="002060"/>
                </a:solidFill>
                <a:latin typeface="Times New Roman" panose="02020603050405020304" pitchFamily="18" charset="0"/>
                <a:cs typeface="Times New Roman" panose="02020603050405020304" pitchFamily="18" charset="0"/>
              </a:rPr>
              <a:t>the following </a:t>
            </a:r>
            <a:r>
              <a:rPr lang="en-IN" sz="2000" b="1" dirty="0" smtClean="0">
                <a:solidFill>
                  <a:srgbClr val="002060"/>
                </a:solidFill>
                <a:latin typeface="Times New Roman" panose="02020603050405020304" pitchFamily="18" charset="0"/>
                <a:cs typeface="Times New Roman" panose="02020603050405020304" pitchFamily="18" charset="0"/>
              </a:rPr>
              <a:t>digraph</a:t>
            </a: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endParaRPr lang="en-IN" sz="2000" b="1" dirty="0" smtClean="0">
              <a:solidFill>
                <a:srgbClr val="002060"/>
              </a:solidFill>
              <a:latin typeface="Times New Roman" panose="02020603050405020304" pitchFamily="18" charset="0"/>
              <a:cs typeface="Times New Roman" panose="02020603050405020304" pitchFamily="18" charset="0"/>
            </a:endParaRPr>
          </a:p>
          <a:p>
            <a:pPr algn="just"/>
            <a:endParaRPr lang="en-IN" sz="2000" b="1" dirty="0">
              <a:solidFill>
                <a:srgbClr val="00206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Solution:  Write a </a:t>
            </a:r>
            <a:r>
              <a:rPr lang="en-IN" sz="2000" b="1" dirty="0" err="1" smtClean="0">
                <a:solidFill>
                  <a:srgbClr val="002060"/>
                </a:solidFill>
                <a:latin typeface="Times New Roman" panose="02020603050405020304" pitchFamily="18" charset="0"/>
                <a:cs typeface="Times New Roman" panose="02020603050405020304" pitchFamily="18" charset="0"/>
              </a:rPr>
              <a:t>indegree</a:t>
            </a:r>
            <a:r>
              <a:rPr lang="en-IN" sz="2000" b="1" dirty="0" smtClean="0">
                <a:solidFill>
                  <a:srgbClr val="002060"/>
                </a:solidFill>
                <a:latin typeface="Times New Roman" panose="02020603050405020304" pitchFamily="18" charset="0"/>
                <a:cs typeface="Times New Roman" panose="02020603050405020304" pitchFamily="18" charset="0"/>
              </a:rPr>
              <a:t> of all nodes in  given graph</a:t>
            </a:r>
            <a:endParaRPr lang="en-US" sz="2000" b="1" dirty="0" smtClean="0">
              <a:solidFill>
                <a:srgbClr val="FF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33848" cy="701865"/>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152</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1"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smtClean="0">
                <a:solidFill>
                  <a:srgbClr val="002060"/>
                </a:solidFill>
                <a:latin typeface="Times New Roman" panose="02020603050405020304" pitchFamily="18" charset="0"/>
                <a:cs typeface="Times New Roman" panose="02020603050405020304" pitchFamily="18" charset="0"/>
              </a:rPr>
              <a:t>(Topological sorting)     						</a:t>
            </a:r>
            <a:endParaRPr lang="en-IN" sz="3600" b="1" dirty="0">
              <a:solidFill>
                <a:srgbClr val="002060"/>
              </a:solidFill>
            </a:endParaRPr>
          </a:p>
        </p:txBody>
      </p:sp>
      <p:pic>
        <p:nvPicPr>
          <p:cNvPr id="21" name="Picture 20"/>
          <p:cNvPicPr>
            <a:picLocks noChangeAspect="1"/>
          </p:cNvPicPr>
          <p:nvPr/>
        </p:nvPicPr>
        <p:blipFill>
          <a:blip r:embed="rId5"/>
          <a:stretch>
            <a:fillRect/>
          </a:stretch>
        </p:blipFill>
        <p:spPr>
          <a:xfrm>
            <a:off x="3148437" y="1524000"/>
            <a:ext cx="2857916" cy="1548507"/>
          </a:xfrm>
          <a:prstGeom prst="rect">
            <a:avLst/>
          </a:prstGeom>
        </p:spPr>
      </p:pic>
      <p:sp>
        <p:nvSpPr>
          <p:cNvPr id="2" name="Date Placeholder 1"/>
          <p:cNvSpPr>
            <a:spLocks noGrp="1"/>
          </p:cNvSpPr>
          <p:nvPr>
            <p:ph type="dt" sz="half" idx="10"/>
          </p:nvPr>
        </p:nvSpPr>
        <p:spPr/>
        <p:txBody>
          <a:bodyPr/>
          <a:lstStyle/>
          <a:p>
            <a:fld id="{CEEAC8C1-EEB1-4055-A950-94EEBBD9F126}" type="datetime1">
              <a:rPr lang="en-IN" smtClean="0"/>
              <a:t>21-03-2026</a:t>
            </a:fld>
            <a:endParaRPr lang="en-IN"/>
          </a:p>
        </p:txBody>
      </p:sp>
      <p:graphicFrame>
        <p:nvGraphicFramePr>
          <p:cNvPr id="9" name="Table 8"/>
          <p:cNvGraphicFramePr>
            <a:graphicFrameLocks noGrp="1"/>
          </p:cNvGraphicFramePr>
          <p:nvPr>
            <p:extLst>
              <p:ext uri="{D42A27DB-BD31-4B8C-83A1-F6EECF244321}">
                <p14:modId xmlns:p14="http://schemas.microsoft.com/office/powerpoint/2010/main" val="2044265373"/>
              </p:ext>
            </p:extLst>
          </p:nvPr>
        </p:nvGraphicFramePr>
        <p:xfrm>
          <a:off x="1859975" y="3399587"/>
          <a:ext cx="2316609" cy="2773680"/>
        </p:xfrm>
        <a:graphic>
          <a:graphicData uri="http://schemas.openxmlformats.org/drawingml/2006/table">
            <a:tbl>
              <a:tblPr firstRow="1" bandRow="1">
                <a:tableStyleId>{5C22544A-7EE6-4342-B048-85BDC9FD1C3A}</a:tableStyleId>
              </a:tblPr>
              <a:tblGrid>
                <a:gridCol w="1049543"/>
                <a:gridCol w="1267066"/>
              </a:tblGrid>
              <a:tr h="370840">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Node</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c>
                  <a:txBody>
                    <a:bodyPr/>
                    <a:lstStyle/>
                    <a:p>
                      <a:r>
                        <a:rPr lang="en-IN" sz="2000" b="1" kern="1200" dirty="0" err="1" smtClean="0">
                          <a:solidFill>
                            <a:srgbClr val="002060"/>
                          </a:solidFill>
                          <a:latin typeface="Times New Roman" panose="02020603050405020304" pitchFamily="18" charset="0"/>
                          <a:ea typeface="+mn-ea"/>
                          <a:cs typeface="Times New Roman" panose="02020603050405020304" pitchFamily="18" charset="0"/>
                        </a:rPr>
                        <a:t>indegree</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r>
              <a:tr h="370840">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a</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0</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r>
              <a:tr h="370840">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b</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0</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r>
              <a:tr h="370840">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c</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1</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r>
              <a:tr h="370840">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d</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2</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r>
              <a:tr h="370840">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e</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1</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r>
              <a:tr h="370840">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f</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3</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2757830594"/>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3827" y="209195"/>
            <a:ext cx="9144000" cy="643197"/>
          </a:xfrm>
        </p:spPr>
        <p:txBody>
          <a:bodyPr>
            <a:noAutofit/>
          </a:body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Decrease and Conquer  </a:t>
            </a:r>
            <a:r>
              <a:rPr lang="en-IN" sz="2400" b="1" dirty="0">
                <a:solidFill>
                  <a:srgbClr val="C00000"/>
                </a:solidFill>
                <a:latin typeface="Times New Roman" panose="02020603050405020304" pitchFamily="18" charset="0"/>
                <a:cs typeface="Times New Roman" panose="02020603050405020304" pitchFamily="18" charset="0"/>
              </a:rPr>
              <a:t> </a:t>
            </a:r>
            <a:r>
              <a:rPr lang="en-IN" sz="2400" b="1" dirty="0">
                <a:solidFill>
                  <a:srgbClr val="002060"/>
                </a:solidFill>
                <a:latin typeface="Times New Roman" panose="02020603050405020304" pitchFamily="18" charset="0"/>
                <a:cs typeface="Times New Roman" panose="02020603050405020304" pitchFamily="18" charset="0"/>
              </a:rPr>
              <a:t>(Topological sorting)     </a:t>
            </a:r>
            <a:r>
              <a:rPr lang="en-IN" sz="2400" b="1" dirty="0" smtClean="0">
                <a:solidFill>
                  <a:srgbClr val="002060"/>
                </a:solidFill>
                <a:latin typeface="Times New Roman" panose="02020603050405020304" pitchFamily="18" charset="0"/>
                <a:cs typeface="Times New Roman" panose="02020603050405020304" pitchFamily="18" charset="0"/>
              </a:rPr>
              <a:t>						</a:t>
            </a:r>
            <a:endParaRPr lang="en-IN" sz="3600" b="1" dirty="0">
              <a:solidFill>
                <a:srgbClr val="002060"/>
              </a:solidFill>
            </a:endParaRPr>
          </a:p>
        </p:txBody>
      </p:sp>
      <p:sp>
        <p:nvSpPr>
          <p:cNvPr id="3" name="Subtitle 2"/>
          <p:cNvSpPr>
            <a:spLocks noGrp="1"/>
          </p:cNvSpPr>
          <p:nvPr>
            <p:ph type="subTitle" idx="1"/>
          </p:nvPr>
        </p:nvSpPr>
        <p:spPr>
          <a:xfrm>
            <a:off x="177051" y="732885"/>
            <a:ext cx="11797552" cy="5627707"/>
          </a:xfrm>
        </p:spPr>
        <p:txBody>
          <a:bodyPr>
            <a:normAutofit/>
          </a:bodyPr>
          <a:lstStyle/>
          <a:p>
            <a:pPr algn="just"/>
            <a:endParaRPr lang="en-US" sz="2400"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21874" y="6694424"/>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153</a:t>
            </a:fld>
            <a:endParaRPr lang="en-IN" sz="1600" b="1" dirty="0">
              <a:solidFill>
                <a:srgbClr val="002060"/>
              </a:solidFill>
              <a:latin typeface="Times New Roman" panose="02020603050405020304" pitchFamily="18" charset="0"/>
              <a:cs typeface="Times New Roman" panose="02020603050405020304" pitchFamily="18" charset="0"/>
            </a:endParaRPr>
          </a:p>
        </p:txBody>
      </p:sp>
      <p:pic>
        <p:nvPicPr>
          <p:cNvPr id="29" name="Picture 28"/>
          <p:cNvPicPr>
            <a:picLocks noChangeAspect="1"/>
          </p:cNvPicPr>
          <p:nvPr/>
        </p:nvPicPr>
        <p:blipFill>
          <a:blip r:embed="rId5"/>
          <a:stretch>
            <a:fillRect/>
          </a:stretch>
        </p:blipFill>
        <p:spPr>
          <a:xfrm>
            <a:off x="3417378" y="539150"/>
            <a:ext cx="2857916" cy="1548507"/>
          </a:xfrm>
          <a:prstGeom prst="rect">
            <a:avLst/>
          </a:prstGeom>
        </p:spPr>
      </p:pic>
      <p:sp>
        <p:nvSpPr>
          <p:cNvPr id="50" name="TextBox 49"/>
          <p:cNvSpPr txBox="1"/>
          <p:nvPr/>
        </p:nvSpPr>
        <p:spPr>
          <a:xfrm>
            <a:off x="394447" y="2355244"/>
            <a:ext cx="4605921" cy="1477328"/>
          </a:xfrm>
          <a:prstGeom prst="rect">
            <a:avLst/>
          </a:prstGeom>
          <a:noFill/>
        </p:spPr>
        <p:txBody>
          <a:bodyPr wrap="square" rtlCol="0">
            <a:spAutoFit/>
          </a:bodyPr>
          <a:lstStyle/>
          <a:p>
            <a:r>
              <a:rPr lang="en-IN" b="1" dirty="0" smtClean="0">
                <a:solidFill>
                  <a:srgbClr val="0070C0"/>
                </a:solidFill>
              </a:rPr>
              <a:t>Select the node with </a:t>
            </a:r>
            <a:r>
              <a:rPr lang="en-IN" b="1" dirty="0" err="1" smtClean="0">
                <a:solidFill>
                  <a:srgbClr val="0070C0"/>
                </a:solidFill>
              </a:rPr>
              <a:t>indegree</a:t>
            </a:r>
            <a:r>
              <a:rPr lang="en-IN" b="1" dirty="0" smtClean="0">
                <a:solidFill>
                  <a:srgbClr val="0070C0"/>
                </a:solidFill>
              </a:rPr>
              <a:t> 0, let us consider </a:t>
            </a:r>
            <a:r>
              <a:rPr lang="en-IN" b="1" dirty="0" smtClean="0">
                <a:solidFill>
                  <a:srgbClr val="FF0000"/>
                </a:solidFill>
              </a:rPr>
              <a:t>a. </a:t>
            </a:r>
            <a:r>
              <a:rPr lang="en-IN" b="1" dirty="0" smtClean="0">
                <a:solidFill>
                  <a:srgbClr val="002060"/>
                </a:solidFill>
              </a:rPr>
              <a:t>Delete node </a:t>
            </a:r>
            <a:r>
              <a:rPr lang="en-IN" b="1" dirty="0" smtClean="0">
                <a:solidFill>
                  <a:srgbClr val="FF0000"/>
                </a:solidFill>
              </a:rPr>
              <a:t>a</a:t>
            </a:r>
            <a:r>
              <a:rPr lang="en-IN" b="1" dirty="0" smtClean="0">
                <a:solidFill>
                  <a:srgbClr val="002060"/>
                </a:solidFill>
              </a:rPr>
              <a:t> from the graph along with it delete its out going edges. By this </a:t>
            </a:r>
            <a:r>
              <a:rPr lang="en-IN" b="1" dirty="0" err="1" smtClean="0">
                <a:solidFill>
                  <a:srgbClr val="002060"/>
                </a:solidFill>
              </a:rPr>
              <a:t>indegree</a:t>
            </a:r>
            <a:r>
              <a:rPr lang="en-IN" b="1" dirty="0" smtClean="0">
                <a:solidFill>
                  <a:srgbClr val="002060"/>
                </a:solidFill>
              </a:rPr>
              <a:t> of </a:t>
            </a:r>
            <a:r>
              <a:rPr lang="en-IN" b="1" dirty="0" smtClean="0">
                <a:solidFill>
                  <a:srgbClr val="FF0000"/>
                </a:solidFill>
              </a:rPr>
              <a:t>c and d </a:t>
            </a:r>
            <a:r>
              <a:rPr lang="en-IN" b="1" dirty="0" smtClean="0">
                <a:solidFill>
                  <a:srgbClr val="002060"/>
                </a:solidFill>
              </a:rPr>
              <a:t>decreases by 1</a:t>
            </a:r>
          </a:p>
          <a:p>
            <a:endParaRPr lang="en-IN" b="1" dirty="0">
              <a:solidFill>
                <a:srgbClr val="0070C0"/>
              </a:solidFill>
            </a:endParaRPr>
          </a:p>
        </p:txBody>
      </p:sp>
      <p:sp>
        <p:nvSpPr>
          <p:cNvPr id="12" name="Date Placeholder 11"/>
          <p:cNvSpPr>
            <a:spLocks noGrp="1"/>
          </p:cNvSpPr>
          <p:nvPr>
            <p:ph type="dt" sz="half" idx="10"/>
          </p:nvPr>
        </p:nvSpPr>
        <p:spPr/>
        <p:txBody>
          <a:bodyPr/>
          <a:lstStyle/>
          <a:p>
            <a:fld id="{9479399A-B81A-41DB-BA84-89D0F26D5381}" type="datetime1">
              <a:rPr lang="en-IN" smtClean="0"/>
              <a:t>21-03-2026</a:t>
            </a:fld>
            <a:endParaRPr lang="en-IN" dirty="0"/>
          </a:p>
        </p:txBody>
      </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353" y="3904264"/>
            <a:ext cx="2867025"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1" name="Straight Arrow Connector 40"/>
          <p:cNvCxnSpPr/>
          <p:nvPr/>
        </p:nvCxnSpPr>
        <p:spPr>
          <a:xfrm flipV="1">
            <a:off x="394447" y="4310478"/>
            <a:ext cx="950259" cy="896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166093" y="3832572"/>
            <a:ext cx="1183341" cy="369332"/>
          </a:xfrm>
          <a:prstGeom prst="rect">
            <a:avLst/>
          </a:prstGeom>
          <a:noFill/>
        </p:spPr>
        <p:txBody>
          <a:bodyPr wrap="square" rtlCol="0">
            <a:spAutoFit/>
          </a:bodyPr>
          <a:lstStyle/>
          <a:p>
            <a:r>
              <a:rPr lang="en-IN" dirty="0" smtClean="0"/>
              <a:t>Delete a</a:t>
            </a:r>
            <a:endParaRPr lang="en-IN" dirty="0"/>
          </a:p>
        </p:txBody>
      </p:sp>
      <p:pic>
        <p:nvPicPr>
          <p:cNvPr id="307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90792" y="3729982"/>
            <a:ext cx="203835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7" name="Straight Arrow Connector 46"/>
          <p:cNvCxnSpPr/>
          <p:nvPr/>
        </p:nvCxnSpPr>
        <p:spPr>
          <a:xfrm flipV="1">
            <a:off x="3640533" y="4453913"/>
            <a:ext cx="950259" cy="896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417378" y="3955522"/>
            <a:ext cx="1183341" cy="369332"/>
          </a:xfrm>
          <a:prstGeom prst="rect">
            <a:avLst/>
          </a:prstGeom>
          <a:noFill/>
        </p:spPr>
        <p:txBody>
          <a:bodyPr wrap="square" rtlCol="0">
            <a:spAutoFit/>
          </a:bodyPr>
          <a:lstStyle/>
          <a:p>
            <a:r>
              <a:rPr lang="en-IN" dirty="0" smtClean="0"/>
              <a:t>Delete </a:t>
            </a:r>
            <a:r>
              <a:rPr lang="en-IN" dirty="0"/>
              <a:t>b</a:t>
            </a:r>
          </a:p>
        </p:txBody>
      </p:sp>
      <p:pic>
        <p:nvPicPr>
          <p:cNvPr id="3076"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57535" y="3832572"/>
            <a:ext cx="1828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2" name="Straight Arrow Connector 51"/>
          <p:cNvCxnSpPr/>
          <p:nvPr/>
        </p:nvCxnSpPr>
        <p:spPr>
          <a:xfrm flipV="1">
            <a:off x="6299900" y="3975645"/>
            <a:ext cx="950259" cy="896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6275294" y="3485194"/>
            <a:ext cx="1183341" cy="369332"/>
          </a:xfrm>
          <a:prstGeom prst="rect">
            <a:avLst/>
          </a:prstGeom>
          <a:noFill/>
        </p:spPr>
        <p:txBody>
          <a:bodyPr wrap="square" rtlCol="0">
            <a:spAutoFit/>
          </a:bodyPr>
          <a:lstStyle/>
          <a:p>
            <a:r>
              <a:rPr lang="en-IN" dirty="0" smtClean="0"/>
              <a:t>Delete c</a:t>
            </a:r>
            <a:endParaRPr lang="en-IN" dirty="0"/>
          </a:p>
        </p:txBody>
      </p:sp>
      <p:pic>
        <p:nvPicPr>
          <p:cNvPr id="3077"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10377" y="3663938"/>
            <a:ext cx="1787353"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4" name="Straight Arrow Connector 53"/>
          <p:cNvCxnSpPr/>
          <p:nvPr/>
        </p:nvCxnSpPr>
        <p:spPr>
          <a:xfrm flipV="1">
            <a:off x="9187262" y="3895299"/>
            <a:ext cx="950259" cy="896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9086335" y="3360650"/>
            <a:ext cx="1183341" cy="369332"/>
          </a:xfrm>
          <a:prstGeom prst="rect">
            <a:avLst/>
          </a:prstGeom>
          <a:noFill/>
        </p:spPr>
        <p:txBody>
          <a:bodyPr wrap="square" rtlCol="0">
            <a:spAutoFit/>
          </a:bodyPr>
          <a:lstStyle/>
          <a:p>
            <a:r>
              <a:rPr lang="en-IN" dirty="0" smtClean="0"/>
              <a:t>Delete d</a:t>
            </a:r>
            <a:endParaRPr lang="en-IN" dirty="0"/>
          </a:p>
        </p:txBody>
      </p:sp>
      <p:pic>
        <p:nvPicPr>
          <p:cNvPr id="3078"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16394" y="5678616"/>
            <a:ext cx="962025"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6" name="Straight Arrow Connector 55"/>
          <p:cNvCxnSpPr/>
          <p:nvPr/>
        </p:nvCxnSpPr>
        <p:spPr>
          <a:xfrm flipV="1">
            <a:off x="1033606" y="5959603"/>
            <a:ext cx="950259" cy="896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788894" y="5428264"/>
            <a:ext cx="1183341" cy="369332"/>
          </a:xfrm>
          <a:prstGeom prst="rect">
            <a:avLst/>
          </a:prstGeom>
          <a:noFill/>
        </p:spPr>
        <p:txBody>
          <a:bodyPr wrap="square" rtlCol="0">
            <a:spAutoFit/>
          </a:bodyPr>
          <a:lstStyle/>
          <a:p>
            <a:r>
              <a:rPr lang="en-IN" dirty="0" smtClean="0"/>
              <a:t>Delete e</a:t>
            </a:r>
            <a:endParaRPr lang="en-IN" dirty="0"/>
          </a:p>
        </p:txBody>
      </p:sp>
      <p:sp>
        <p:nvSpPr>
          <p:cNvPr id="58" name="TextBox 57"/>
          <p:cNvSpPr txBox="1"/>
          <p:nvPr/>
        </p:nvSpPr>
        <p:spPr>
          <a:xfrm>
            <a:off x="3523991" y="5598401"/>
            <a:ext cx="1183341" cy="369332"/>
          </a:xfrm>
          <a:prstGeom prst="rect">
            <a:avLst/>
          </a:prstGeom>
          <a:noFill/>
        </p:spPr>
        <p:txBody>
          <a:bodyPr wrap="square" rtlCol="0">
            <a:spAutoFit/>
          </a:bodyPr>
          <a:lstStyle/>
          <a:p>
            <a:r>
              <a:rPr lang="en-IN" dirty="0" smtClean="0"/>
              <a:t>Delete f</a:t>
            </a:r>
            <a:endParaRPr lang="en-IN" dirty="0"/>
          </a:p>
        </p:txBody>
      </p:sp>
      <p:sp>
        <p:nvSpPr>
          <p:cNvPr id="59" name="TextBox 58"/>
          <p:cNvSpPr txBox="1"/>
          <p:nvPr/>
        </p:nvSpPr>
        <p:spPr>
          <a:xfrm>
            <a:off x="4801754" y="5428264"/>
            <a:ext cx="6541084" cy="1015663"/>
          </a:xfrm>
          <a:prstGeom prst="rect">
            <a:avLst/>
          </a:prstGeom>
          <a:noFill/>
        </p:spPr>
        <p:txBody>
          <a:bodyPr wrap="square" rtlCol="0">
            <a:spAutoFit/>
          </a:bodyPr>
          <a:lstStyle/>
          <a:p>
            <a:r>
              <a:rPr lang="en-IN" sz="2000" b="1" dirty="0" smtClean="0">
                <a:solidFill>
                  <a:srgbClr val="FF0000"/>
                </a:solidFill>
                <a:latin typeface="Times New Roman" panose="02020603050405020304" pitchFamily="18" charset="0"/>
                <a:cs typeface="Times New Roman" panose="02020603050405020304" pitchFamily="18" charset="0"/>
              </a:rPr>
              <a:t>Topological sorting is </a:t>
            </a:r>
            <a:r>
              <a:rPr lang="en-IN" sz="2000" b="1" dirty="0" err="1" smtClean="0">
                <a:solidFill>
                  <a:srgbClr val="FF0000"/>
                </a:solidFill>
                <a:latin typeface="Times New Roman" panose="02020603050405020304" pitchFamily="18" charset="0"/>
                <a:cs typeface="Times New Roman" panose="02020603050405020304" pitchFamily="18" charset="0"/>
              </a:rPr>
              <a:t>a,b,c,d,e,f</a:t>
            </a:r>
            <a:endParaRPr lang="en-IN" sz="2000" b="1" dirty="0" smtClean="0">
              <a:solidFill>
                <a:srgbClr val="FF0000"/>
              </a:solidFill>
              <a:latin typeface="Times New Roman" panose="02020603050405020304" pitchFamily="18" charset="0"/>
              <a:cs typeface="Times New Roman" panose="02020603050405020304" pitchFamily="18" charset="0"/>
            </a:endParaRPr>
          </a:p>
          <a:p>
            <a:r>
              <a:rPr lang="en-IN" sz="2000" b="1" dirty="0" smtClean="0">
                <a:solidFill>
                  <a:srgbClr val="FF0000"/>
                </a:solidFill>
                <a:latin typeface="Times New Roman" panose="02020603050405020304" pitchFamily="18" charset="0"/>
                <a:cs typeface="Times New Roman" panose="02020603050405020304" pitchFamily="18" charset="0"/>
              </a:rPr>
              <a:t>Another solution is if first selected arbitrary vertex is b</a:t>
            </a:r>
          </a:p>
          <a:p>
            <a:r>
              <a:rPr lang="en-IN" sz="2000" b="1" dirty="0" err="1" smtClean="0">
                <a:solidFill>
                  <a:srgbClr val="FF0000"/>
                </a:solidFill>
                <a:latin typeface="Times New Roman" panose="02020603050405020304" pitchFamily="18" charset="0"/>
                <a:cs typeface="Times New Roman" panose="02020603050405020304" pitchFamily="18" charset="0"/>
              </a:rPr>
              <a:t>b,a,c,d,e,f</a:t>
            </a:r>
            <a:endParaRPr lang="en-IN" sz="2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7557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42" grpId="0"/>
      <p:bldP spid="51" grpId="0"/>
      <p:bldP spid="53" grpId="0"/>
      <p:bldP spid="55" grpId="0"/>
      <p:bldP spid="57" grpId="0"/>
      <p:bldP spid="58" grpId="0"/>
      <p:bldP spid="59"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7576" y="732885"/>
            <a:ext cx="12084424" cy="5627707"/>
          </a:xfrm>
        </p:spPr>
        <p:txBody>
          <a:bodyPr>
            <a:normAutofit/>
          </a:bodyPr>
          <a:lstStyle/>
          <a:p>
            <a:pPr algn="just"/>
            <a:r>
              <a:rPr lang="en-IN" sz="2000" b="1" dirty="0">
                <a:solidFill>
                  <a:srgbClr val="002060"/>
                </a:solidFill>
                <a:latin typeface="Times New Roman" panose="02020603050405020304" pitchFamily="18" charset="0"/>
                <a:cs typeface="Times New Roman" panose="02020603050405020304" pitchFamily="18" charset="0"/>
              </a:rPr>
              <a:t>Exhaustive </a:t>
            </a:r>
            <a:r>
              <a:rPr lang="en-IN" sz="2000" b="1" dirty="0" smtClean="0">
                <a:solidFill>
                  <a:srgbClr val="002060"/>
                </a:solidFill>
                <a:latin typeface="Times New Roman" panose="02020603050405020304" pitchFamily="18" charset="0"/>
                <a:cs typeface="Times New Roman" panose="02020603050405020304" pitchFamily="18" charset="0"/>
              </a:rPr>
              <a:t>Search is brute force algorithm design technique, it suggests generating each and every element of problem domain by selecting those of them that satisfy all the constraints and then finding  a desired element.</a:t>
            </a:r>
          </a:p>
          <a:p>
            <a:pPr algn="just"/>
            <a:r>
              <a:rPr lang="en-IN" sz="2000" b="1" dirty="0" smtClean="0">
                <a:solidFill>
                  <a:srgbClr val="002060"/>
                </a:solidFill>
                <a:latin typeface="Times New Roman" panose="02020603050405020304" pitchFamily="18" charset="0"/>
                <a:cs typeface="Times New Roman" panose="02020603050405020304" pitchFamily="18" charset="0"/>
              </a:rPr>
              <a:t>Knapsack problem</a:t>
            </a:r>
            <a:endParaRPr lang="en-US" sz="2000" b="1" dirty="0" smtClean="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17300"/>
            <a:ext cx="788894" cy="75451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4193" y="-28642"/>
            <a:ext cx="747807" cy="7478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p:cNvSpPr>
            <a:spLocks noGrp="1"/>
          </p:cNvSpPr>
          <p:nvPr>
            <p:ph type="ftr" sz="quarter" idx="11"/>
          </p:nvPr>
        </p:nvSpPr>
        <p:spPr>
          <a:xfrm>
            <a:off x="251011" y="6356350"/>
            <a:ext cx="10734955"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BF8153-9B6B-4F96-B9F5-FB4D5D4160F7}" type="slidenum">
              <a:rPr lang="en-IN" sz="1600" b="1" smtClean="0">
                <a:solidFill>
                  <a:srgbClr val="002060"/>
                </a:solidFill>
                <a:latin typeface="Times New Roman" panose="02020603050405020304" pitchFamily="18" charset="0"/>
                <a:cs typeface="Times New Roman" panose="02020603050405020304" pitchFamily="18" charset="0"/>
              </a:rPr>
              <a:t>154</a:t>
            </a:fld>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1" name="Title 1"/>
          <p:cNvSpPr txBox="1">
            <a:spLocks/>
          </p:cNvSpPr>
          <p:nvPr/>
        </p:nvSpPr>
        <p:spPr>
          <a:xfrm>
            <a:off x="1503827" y="209195"/>
            <a:ext cx="9144000" cy="64319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3200" b="1" dirty="0" smtClean="0">
                <a:solidFill>
                  <a:srgbClr val="002060"/>
                </a:solidFill>
                <a:latin typeface="Times New Roman" panose="02020603050405020304" pitchFamily="18" charset="0"/>
                <a:cs typeface="Times New Roman" panose="02020603050405020304" pitchFamily="18" charset="0"/>
              </a:rPr>
              <a:t/>
            </a:r>
            <a:br>
              <a:rPr lang="en-IN" sz="3200" b="1" dirty="0" smtClean="0">
                <a:solidFill>
                  <a:srgbClr val="002060"/>
                </a:solidFill>
                <a:latin typeface="Times New Roman" panose="02020603050405020304" pitchFamily="18" charset="0"/>
                <a:cs typeface="Times New Roman" panose="02020603050405020304" pitchFamily="18" charset="0"/>
              </a:rPr>
            </a:br>
            <a:r>
              <a:rPr lang="en-IN" sz="2400" b="1" dirty="0" smtClean="0">
                <a:solidFill>
                  <a:srgbClr val="C00000"/>
                </a:solidFill>
                <a:latin typeface="Times New Roman" panose="02020603050405020304" pitchFamily="18" charset="0"/>
                <a:cs typeface="Times New Roman" panose="02020603050405020304" pitchFamily="18" charset="0"/>
              </a:rPr>
              <a:t/>
            </a:r>
            <a:br>
              <a:rPr lang="en-IN" sz="2400" b="1" dirty="0" smtClean="0">
                <a:solidFill>
                  <a:srgbClr val="C00000"/>
                </a:solidFill>
                <a:latin typeface="Times New Roman" panose="02020603050405020304" pitchFamily="18" charset="0"/>
                <a:cs typeface="Times New Roman" panose="02020603050405020304" pitchFamily="18" charset="0"/>
              </a:rPr>
            </a:br>
            <a:r>
              <a:rPr lang="en-IN" sz="2000" b="1" dirty="0" smtClean="0">
                <a:solidFill>
                  <a:srgbClr val="C00000"/>
                </a:solidFill>
                <a:latin typeface="Times New Roman" panose="02020603050405020304" pitchFamily="18" charset="0"/>
                <a:cs typeface="Times New Roman" panose="02020603050405020304" pitchFamily="18" charset="0"/>
              </a:rPr>
              <a:t>MODULE 2 : </a:t>
            </a:r>
            <a:r>
              <a:rPr lang="en-IN" sz="2400" b="1" dirty="0" smtClean="0">
                <a:solidFill>
                  <a:srgbClr val="C00000"/>
                </a:solidFill>
                <a:latin typeface="Times New Roman" panose="02020603050405020304" pitchFamily="18" charset="0"/>
                <a:cs typeface="Times New Roman" panose="02020603050405020304" pitchFamily="18" charset="0"/>
              </a:rPr>
              <a:t>Brute force </a:t>
            </a:r>
            <a:r>
              <a:rPr lang="en-IN" sz="2400" b="1" dirty="0" smtClean="0">
                <a:solidFill>
                  <a:srgbClr val="002060"/>
                </a:solidFill>
                <a:latin typeface="Times New Roman" panose="02020603050405020304" pitchFamily="18" charset="0"/>
                <a:cs typeface="Times New Roman" panose="02020603050405020304" pitchFamily="18" charset="0"/>
              </a:rPr>
              <a:t>(Exhaustive Search)     						</a:t>
            </a:r>
            <a:endParaRPr lang="en-IN" sz="3600" b="1" dirty="0">
              <a:solidFill>
                <a:srgbClr val="002060"/>
              </a:solidFill>
            </a:endParaRPr>
          </a:p>
        </p:txBody>
      </p:sp>
      <p:sp>
        <p:nvSpPr>
          <p:cNvPr id="2" name="Date Placeholder 1"/>
          <p:cNvSpPr>
            <a:spLocks noGrp="1"/>
          </p:cNvSpPr>
          <p:nvPr>
            <p:ph type="dt" sz="half" idx="10"/>
          </p:nvPr>
        </p:nvSpPr>
        <p:spPr/>
        <p:txBody>
          <a:bodyPr/>
          <a:lstStyle/>
          <a:p>
            <a:fld id="{D3086391-B9BF-489E-BA12-46F690E47091}" type="datetime1">
              <a:rPr lang="en-IN" smtClean="0"/>
              <a:t>21-03-2026</a:t>
            </a:fld>
            <a:endParaRPr lang="en-IN"/>
          </a:p>
        </p:txBody>
      </p:sp>
    </p:spTree>
    <p:extLst>
      <p:ext uri="{BB962C8B-B14F-4D97-AF65-F5344CB8AC3E}">
        <p14:creationId xmlns:p14="http://schemas.microsoft.com/office/powerpoint/2010/main" val="3783226172"/>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097" y="114207"/>
            <a:ext cx="10515600" cy="652463"/>
          </a:xfrm>
        </p:spPr>
        <p:txBody>
          <a:bodyPr>
            <a:normAutofit/>
          </a:bodyPr>
          <a:lstStyle/>
          <a:p>
            <a:r>
              <a:rPr lang="en-IN" sz="2800" b="1" dirty="0">
                <a:solidFill>
                  <a:srgbClr val="C00000"/>
                </a:solidFill>
                <a:latin typeface="Times New Roman" panose="02020603050405020304" pitchFamily="18" charset="0"/>
                <a:cs typeface="Times New Roman" panose="02020603050405020304" pitchFamily="18" charset="0"/>
              </a:rPr>
              <a:t>MODULE 2 : </a:t>
            </a:r>
            <a:r>
              <a:rPr lang="en-IN" sz="3200" b="1" dirty="0">
                <a:solidFill>
                  <a:srgbClr val="C00000"/>
                </a:solidFill>
                <a:latin typeface="Times New Roman" panose="02020603050405020304" pitchFamily="18" charset="0"/>
                <a:cs typeface="Times New Roman" panose="02020603050405020304" pitchFamily="18" charset="0"/>
              </a:rPr>
              <a:t>Brute force </a:t>
            </a:r>
            <a:r>
              <a:rPr lang="en-IN" sz="3200" b="1" dirty="0">
                <a:solidFill>
                  <a:srgbClr val="002060"/>
                </a:solidFill>
                <a:latin typeface="Times New Roman" panose="02020603050405020304" pitchFamily="18" charset="0"/>
                <a:cs typeface="Times New Roman" panose="02020603050405020304" pitchFamily="18" charset="0"/>
              </a:rPr>
              <a:t>(Exhaustive Search)</a:t>
            </a:r>
            <a:endParaRPr lang="en-IN" sz="2400" b="1"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5164" y="766670"/>
                <a:ext cx="11967883" cy="5634130"/>
              </a:xfrm>
            </p:spPr>
            <p:txBody>
              <a:bodyPr>
                <a:normAutofit fontScale="85000" lnSpcReduction="20000"/>
              </a:bodyPr>
              <a:lstStyle/>
              <a:p>
                <a:pPr algn="just"/>
                <a:r>
                  <a:rPr lang="en-IN" sz="2400" b="1" dirty="0">
                    <a:solidFill>
                      <a:srgbClr val="002060"/>
                    </a:solidFill>
                    <a:latin typeface="Times New Roman" panose="02020603050405020304" pitchFamily="18" charset="0"/>
                    <a:cs typeface="Times New Roman" panose="02020603050405020304" pitchFamily="18" charset="0"/>
                  </a:rPr>
                  <a:t>Exhaustive Search is brute force algorithm design technique, it suggests generating each and every element of problem domain by selecting those of them that satisfy all the constraints and then finding  a desired element.</a:t>
                </a:r>
              </a:p>
              <a:p>
                <a:pPr marL="0" indent="0" algn="just">
                  <a:buNone/>
                </a:pPr>
                <a:r>
                  <a:rPr lang="en-IN" sz="2400" b="1" dirty="0" smtClean="0">
                    <a:solidFill>
                      <a:srgbClr val="00B0F0"/>
                    </a:solidFill>
                    <a:latin typeface="Times New Roman" panose="02020603050405020304" pitchFamily="18" charset="0"/>
                    <a:cs typeface="Times New Roman" panose="02020603050405020304" pitchFamily="18" charset="0"/>
                  </a:rPr>
                  <a:t>Knapsack problem</a:t>
                </a:r>
              </a:p>
              <a:p>
                <a:pPr marL="0" indent="0" algn="just">
                  <a:buNone/>
                </a:pPr>
                <a:r>
                  <a:rPr lang="en-IN" sz="2400" b="1" dirty="0" smtClean="0">
                    <a:solidFill>
                      <a:srgbClr val="00B0F0"/>
                    </a:solidFill>
                    <a:latin typeface="Times New Roman" panose="02020603050405020304" pitchFamily="18" charset="0"/>
                    <a:cs typeface="Times New Roman" panose="02020603050405020304" pitchFamily="18" charset="0"/>
                  </a:rPr>
                  <a:t>Definition </a:t>
                </a:r>
              </a:p>
              <a:p>
                <a:pPr algn="just">
                  <a:buFont typeface="Wingdings" panose="05000000000000000000" pitchFamily="2" charset="2"/>
                  <a:buChar char="Ø"/>
                </a:pPr>
                <a:r>
                  <a:rPr lang="en-IN" sz="2000" b="1" dirty="0" smtClean="0">
                    <a:solidFill>
                      <a:srgbClr val="002060"/>
                    </a:solidFill>
                    <a:latin typeface="Times New Roman" panose="02020603050405020304" pitchFamily="18" charset="0"/>
                    <a:cs typeface="Times New Roman" panose="02020603050405020304" pitchFamily="18" charset="0"/>
                  </a:rPr>
                  <a:t>We are given with</a:t>
                </a:r>
              </a:p>
              <a:p>
                <a:pPr algn="just"/>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smtClean="0">
                    <a:solidFill>
                      <a:srgbClr val="FF0000"/>
                    </a:solidFill>
                    <a:latin typeface="Times New Roman" panose="02020603050405020304" pitchFamily="18" charset="0"/>
                    <a:cs typeface="Times New Roman" panose="02020603050405020304" pitchFamily="18" charset="0"/>
                  </a:rPr>
                  <a:t>n</a:t>
                </a:r>
                <a:r>
                  <a:rPr lang="en-IN" sz="2000" b="1" dirty="0" smtClean="0">
                    <a:solidFill>
                      <a:srgbClr val="002060"/>
                    </a:solidFill>
                    <a:latin typeface="Times New Roman" panose="02020603050405020304" pitchFamily="18" charset="0"/>
                    <a:cs typeface="Times New Roman" panose="02020603050405020304" pitchFamily="18" charset="0"/>
                  </a:rPr>
                  <a:t> objects (</a:t>
                </a:r>
                <a:r>
                  <a:rPr lang="en-IN" sz="2000" b="1" dirty="0" smtClean="0">
                    <a:solidFill>
                      <a:srgbClr val="FF0000"/>
                    </a:solidFill>
                    <a:latin typeface="Times New Roman" panose="02020603050405020304" pitchFamily="18" charset="0"/>
                    <a:cs typeface="Times New Roman" panose="02020603050405020304" pitchFamily="18" charset="0"/>
                  </a:rPr>
                  <a:t>x</a:t>
                </a:r>
                <a:r>
                  <a:rPr lang="en-IN" sz="2000" b="1" baseline="-25000" dirty="0" smtClean="0">
                    <a:solidFill>
                      <a:srgbClr val="FF0000"/>
                    </a:solidFill>
                    <a:latin typeface="Times New Roman" panose="02020603050405020304" pitchFamily="18" charset="0"/>
                    <a:cs typeface="Times New Roman" panose="02020603050405020304" pitchFamily="18" charset="0"/>
                  </a:rPr>
                  <a:t>1</a:t>
                </a:r>
                <a:r>
                  <a:rPr lang="en-IN" sz="2000" b="1" dirty="0" smtClean="0">
                    <a:solidFill>
                      <a:srgbClr val="FF0000"/>
                    </a:solidFill>
                    <a:latin typeface="Times New Roman" panose="02020603050405020304" pitchFamily="18" charset="0"/>
                    <a:cs typeface="Times New Roman" panose="02020603050405020304" pitchFamily="18" charset="0"/>
                  </a:rPr>
                  <a:t>, x</a:t>
                </a:r>
                <a:r>
                  <a:rPr lang="en-IN" sz="2000" b="1" baseline="-25000" dirty="0" smtClean="0">
                    <a:solidFill>
                      <a:srgbClr val="FF0000"/>
                    </a:solidFill>
                    <a:latin typeface="Times New Roman" panose="02020603050405020304" pitchFamily="18" charset="0"/>
                    <a:cs typeface="Times New Roman" panose="02020603050405020304" pitchFamily="18" charset="0"/>
                  </a:rPr>
                  <a:t>2</a:t>
                </a:r>
                <a:r>
                  <a:rPr lang="en-IN" sz="2000" b="1" dirty="0" smtClean="0">
                    <a:solidFill>
                      <a:srgbClr val="FF0000"/>
                    </a:solidFill>
                    <a:latin typeface="Times New Roman" panose="02020603050405020304" pitchFamily="18" charset="0"/>
                    <a:cs typeface="Times New Roman" panose="02020603050405020304" pitchFamily="18" charset="0"/>
                  </a:rPr>
                  <a:t>, x</a:t>
                </a:r>
                <a:r>
                  <a:rPr lang="en-IN" sz="2000" b="1" baseline="-25000" dirty="0" smtClean="0">
                    <a:solidFill>
                      <a:srgbClr val="FF0000"/>
                    </a:solidFill>
                    <a:latin typeface="Times New Roman" panose="02020603050405020304" pitchFamily="18" charset="0"/>
                    <a:cs typeface="Times New Roman" panose="02020603050405020304" pitchFamily="18" charset="0"/>
                  </a:rPr>
                  <a:t>3</a:t>
                </a:r>
                <a:r>
                  <a:rPr lang="en-IN" sz="2000" b="1" dirty="0" smtClean="0">
                    <a:solidFill>
                      <a:srgbClr val="FF0000"/>
                    </a:solidFill>
                    <a:latin typeface="Times New Roman" panose="02020603050405020304" pitchFamily="18" charset="0"/>
                    <a:cs typeface="Times New Roman" panose="02020603050405020304" pitchFamily="18" charset="0"/>
                  </a:rPr>
                  <a:t>, ….. </a:t>
                </a:r>
                <a:r>
                  <a:rPr lang="en-IN" sz="2000" b="1" dirty="0" err="1" smtClean="0">
                    <a:solidFill>
                      <a:srgbClr val="FF0000"/>
                    </a:solidFill>
                    <a:latin typeface="Times New Roman" panose="02020603050405020304" pitchFamily="18" charset="0"/>
                    <a:cs typeface="Times New Roman" panose="02020603050405020304" pitchFamily="18" charset="0"/>
                  </a:rPr>
                  <a:t>x</a:t>
                </a:r>
                <a:r>
                  <a:rPr lang="en-IN" sz="2000" b="1" baseline="-25000" dirty="0" err="1" smtClean="0">
                    <a:solidFill>
                      <a:srgbClr val="FF0000"/>
                    </a:solidFill>
                    <a:latin typeface="Times New Roman" panose="02020603050405020304" pitchFamily="18" charset="0"/>
                    <a:cs typeface="Times New Roman" panose="02020603050405020304" pitchFamily="18" charset="0"/>
                  </a:rPr>
                  <a:t>n</a:t>
                </a:r>
                <a:r>
                  <a:rPr lang="en-IN" sz="2000" b="1" dirty="0" smtClean="0">
                    <a:solidFill>
                      <a:srgbClr val="FF0000"/>
                    </a:solidFill>
                    <a:latin typeface="Times New Roman" panose="02020603050405020304" pitchFamily="18" charset="0"/>
                    <a:cs typeface="Times New Roman" panose="02020603050405020304" pitchFamily="18" charset="0"/>
                  </a:rPr>
                  <a:t>) and every </a:t>
                </a:r>
                <a:r>
                  <a:rPr lang="en-IN" sz="1600" b="1" dirty="0" smtClean="0">
                    <a:solidFill>
                      <a:srgbClr val="002060"/>
                    </a:solidFill>
                    <a:latin typeface="Times New Roman" panose="02020603050405020304" pitchFamily="18" charset="0"/>
                    <a:cs typeface="Times New Roman" panose="02020603050405020304" pitchFamily="18" charset="0"/>
                  </a:rPr>
                  <a:t>Object </a:t>
                </a:r>
                <a:r>
                  <a:rPr lang="en-IN" sz="1600" b="1" dirty="0" err="1">
                    <a:solidFill>
                      <a:srgbClr val="FF0000"/>
                    </a:solidFill>
                    <a:latin typeface="Times New Roman" panose="02020603050405020304" pitchFamily="18" charset="0"/>
                    <a:cs typeface="Times New Roman" panose="02020603050405020304" pitchFamily="18" charset="0"/>
                  </a:rPr>
                  <a:t>i</a:t>
                </a:r>
                <a:r>
                  <a:rPr lang="en-IN" sz="1600" b="1" dirty="0">
                    <a:solidFill>
                      <a:srgbClr val="002060"/>
                    </a:solidFill>
                    <a:latin typeface="Times New Roman" panose="02020603050405020304" pitchFamily="18" charset="0"/>
                    <a:cs typeface="Times New Roman" panose="02020603050405020304" pitchFamily="18" charset="0"/>
                  </a:rPr>
                  <a:t> has a weight </a:t>
                </a:r>
                <a:r>
                  <a:rPr lang="en-IN" sz="1600" b="1" dirty="0" err="1">
                    <a:solidFill>
                      <a:srgbClr val="FF0000"/>
                    </a:solidFill>
                    <a:latin typeface="Times New Roman" panose="02020603050405020304" pitchFamily="18" charset="0"/>
                    <a:cs typeface="Times New Roman" panose="02020603050405020304" pitchFamily="18" charset="0"/>
                  </a:rPr>
                  <a:t>w</a:t>
                </a:r>
                <a:r>
                  <a:rPr lang="en-IN" sz="1600" b="1" baseline="-25000" dirty="0" err="1">
                    <a:solidFill>
                      <a:srgbClr val="FF0000"/>
                    </a:solidFill>
                    <a:latin typeface="Times New Roman" panose="02020603050405020304" pitchFamily="18" charset="0"/>
                    <a:cs typeface="Times New Roman" panose="02020603050405020304" pitchFamily="18" charset="0"/>
                  </a:rPr>
                  <a:t>i</a:t>
                </a:r>
                <a:r>
                  <a:rPr lang="en-IN" sz="1600" b="1" baseline="-25000" dirty="0" smtClean="0">
                    <a:solidFill>
                      <a:srgbClr val="FF0000"/>
                    </a:solidFill>
                    <a:latin typeface="Times New Roman" panose="02020603050405020304" pitchFamily="18" charset="0"/>
                    <a:cs typeface="Times New Roman" panose="02020603050405020304" pitchFamily="18" charset="0"/>
                  </a:rPr>
                  <a:t>. </a:t>
                </a:r>
                <a:r>
                  <a:rPr lang="en-IN" sz="1600" b="1" dirty="0">
                    <a:solidFill>
                      <a:srgbClr val="002060"/>
                    </a:solidFill>
                    <a:latin typeface="Times New Roman" panose="02020603050405020304" pitchFamily="18" charset="0"/>
                    <a:cs typeface="Times New Roman" panose="02020603050405020304" pitchFamily="18" charset="0"/>
                  </a:rPr>
                  <a:t>a</a:t>
                </a:r>
                <a:r>
                  <a:rPr lang="en-IN" sz="1600" b="1" dirty="0" smtClean="0">
                    <a:solidFill>
                      <a:srgbClr val="002060"/>
                    </a:solidFill>
                    <a:latin typeface="Times New Roman" panose="02020603050405020304" pitchFamily="18" charset="0"/>
                    <a:cs typeface="Times New Roman" panose="02020603050405020304" pitchFamily="18" charset="0"/>
                  </a:rPr>
                  <a:t>nd </a:t>
                </a:r>
                <a:r>
                  <a:rPr lang="en-IN" sz="1600" b="1" dirty="0">
                    <a:solidFill>
                      <a:srgbClr val="002060"/>
                    </a:solidFill>
                    <a:latin typeface="Times New Roman" panose="02020603050405020304" pitchFamily="18" charset="0"/>
                    <a:cs typeface="Times New Roman" panose="02020603050405020304" pitchFamily="18" charset="0"/>
                  </a:rPr>
                  <a:t>Profit </a:t>
                </a:r>
                <a:r>
                  <a:rPr lang="en-IN" sz="1600" b="1" dirty="0" smtClean="0">
                    <a:solidFill>
                      <a:srgbClr val="FF0000"/>
                    </a:solidFill>
                    <a:latin typeface="Times New Roman" panose="02020603050405020304" pitchFamily="18" charset="0"/>
                    <a:cs typeface="Times New Roman" panose="02020603050405020304" pitchFamily="18" charset="0"/>
                  </a:rPr>
                  <a:t>Pi</a:t>
                </a:r>
                <a:endParaRPr lang="en-IN" sz="1600" b="1" baseline="-25000" dirty="0">
                  <a:solidFill>
                    <a:srgbClr val="FF0000"/>
                  </a:solidFill>
                  <a:latin typeface="Times New Roman" panose="02020603050405020304" pitchFamily="18" charset="0"/>
                  <a:cs typeface="Times New Roman" panose="02020603050405020304" pitchFamily="18" charset="0"/>
                </a:endParaRPr>
              </a:p>
              <a:p>
                <a:pPr algn="just"/>
                <a:r>
                  <a:rPr lang="en-IN" sz="2000" b="1" dirty="0" smtClean="0">
                    <a:solidFill>
                      <a:srgbClr val="002060"/>
                    </a:solidFill>
                    <a:latin typeface="Times New Roman" panose="02020603050405020304" pitchFamily="18" charset="0"/>
                    <a:cs typeface="Times New Roman" panose="02020603050405020304" pitchFamily="18" charset="0"/>
                  </a:rPr>
                  <a:t> knapsack (bag or container) of capacity</a:t>
                </a:r>
                <a:r>
                  <a:rPr lang="en-IN" sz="2000" b="1" dirty="0" smtClean="0">
                    <a:solidFill>
                      <a:srgbClr val="FF0000"/>
                    </a:solidFill>
                    <a:latin typeface="Times New Roman" panose="02020603050405020304" pitchFamily="18" charset="0"/>
                    <a:cs typeface="Times New Roman" panose="02020603050405020304" pitchFamily="18" charset="0"/>
                  </a:rPr>
                  <a:t> m</a:t>
                </a:r>
                <a:r>
                  <a:rPr lang="en-IN" sz="2000" b="1" dirty="0" smtClean="0">
                    <a:solidFill>
                      <a:srgbClr val="002060"/>
                    </a:solidFill>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IN" sz="2000" b="1" dirty="0" smtClean="0">
                    <a:solidFill>
                      <a:srgbClr val="002060"/>
                    </a:solidFill>
                    <a:latin typeface="Times New Roman" panose="02020603050405020304" pitchFamily="18" charset="0"/>
                    <a:cs typeface="Times New Roman" panose="02020603050405020304" pitchFamily="18" charset="0"/>
                  </a:rPr>
                  <a:t>If a fraction </a:t>
                </a:r>
                <a:r>
                  <a:rPr lang="en-IN" sz="2000" b="1" dirty="0">
                    <a:solidFill>
                      <a:srgbClr val="002060"/>
                    </a:solidFill>
                    <a:latin typeface="Times New Roman" panose="02020603050405020304" pitchFamily="18" charset="0"/>
                    <a:cs typeface="Times New Roman" panose="02020603050405020304" pitchFamily="18" charset="0"/>
                  </a:rPr>
                  <a:t>of object </a:t>
                </a:r>
                <a:r>
                  <a:rPr lang="en-IN" sz="2000" b="1" dirty="0" smtClean="0">
                    <a:solidFill>
                      <a:srgbClr val="FF0000"/>
                    </a:solidFill>
                    <a:latin typeface="Times New Roman" panose="02020603050405020304" pitchFamily="18" charset="0"/>
                    <a:cs typeface="Times New Roman" panose="02020603050405020304" pitchFamily="18" charset="0"/>
                  </a:rPr>
                  <a:t>x</a:t>
                </a:r>
                <a:r>
                  <a:rPr lang="en-IN" sz="2000" b="1" baseline="-25000" dirty="0">
                    <a:solidFill>
                      <a:srgbClr val="FF000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is placed into the knapsack, then profit of </a:t>
                </a:r>
                <a:r>
                  <a:rPr lang="en-IN" sz="2000" b="1" dirty="0" err="1" smtClean="0">
                    <a:solidFill>
                      <a:srgbClr val="FF0000"/>
                    </a:solidFill>
                    <a:latin typeface="Times New Roman" panose="02020603050405020304" pitchFamily="18" charset="0"/>
                    <a:cs typeface="Times New Roman" panose="02020603050405020304" pitchFamily="18" charset="0"/>
                  </a:rPr>
                  <a:t>p</a:t>
                </a:r>
                <a:r>
                  <a:rPr lang="en-IN" sz="2000" b="1" baseline="-25000" dirty="0" err="1">
                    <a:solidFill>
                      <a:srgbClr val="FF0000"/>
                    </a:solidFill>
                    <a:latin typeface="Times New Roman" panose="02020603050405020304" pitchFamily="18" charset="0"/>
                    <a:cs typeface="Times New Roman" panose="02020603050405020304" pitchFamily="18" charset="0"/>
                  </a:rPr>
                  <a:t>i</a:t>
                </a:r>
                <a:r>
                  <a:rPr lang="en-IN" sz="2000" b="1" dirty="0" err="1" smtClean="0">
                    <a:solidFill>
                      <a:srgbClr val="FF0000"/>
                    </a:solidFill>
                    <a:latin typeface="Times New Roman" panose="02020603050405020304" pitchFamily="18" charset="0"/>
                    <a:cs typeface="Times New Roman" panose="02020603050405020304" pitchFamily="18" charset="0"/>
                  </a:rPr>
                  <a:t>x</a:t>
                </a:r>
                <a:r>
                  <a:rPr lang="en-IN" sz="2000" b="1" baseline="-25000" dirty="0" err="1">
                    <a:solidFill>
                      <a:srgbClr val="FF0000"/>
                    </a:solidFill>
                    <a:latin typeface="Times New Roman" panose="02020603050405020304" pitchFamily="18" charset="0"/>
                    <a:cs typeface="Times New Roman" panose="02020603050405020304" pitchFamily="18" charset="0"/>
                  </a:rPr>
                  <a:t>i</a:t>
                </a:r>
                <a:r>
                  <a:rPr lang="en-IN" sz="2000" b="1" dirty="0" smtClean="0">
                    <a:solidFill>
                      <a:srgbClr val="002060"/>
                    </a:solidFill>
                    <a:latin typeface="Times New Roman" panose="02020603050405020304" pitchFamily="18" charset="0"/>
                    <a:cs typeface="Times New Roman" panose="02020603050405020304" pitchFamily="18" charset="0"/>
                  </a:rPr>
                  <a:t>  is earned. </a:t>
                </a:r>
              </a:p>
              <a:p>
                <a:pPr algn="just">
                  <a:buFont typeface="Wingdings" panose="05000000000000000000" pitchFamily="2" charset="2"/>
                  <a:buChar char="Ø"/>
                </a:pPr>
                <a:r>
                  <a:rPr lang="en-IN" sz="2000" b="1" dirty="0" smtClean="0">
                    <a:solidFill>
                      <a:srgbClr val="002060"/>
                    </a:solidFill>
                    <a:latin typeface="Times New Roman" panose="02020603050405020304" pitchFamily="18" charset="0"/>
                    <a:cs typeface="Times New Roman" panose="02020603050405020304" pitchFamily="18" charset="0"/>
                  </a:rPr>
                  <a:t>The objective of knapsack problem is to fill the knapsack completely such that </a:t>
                </a:r>
                <a:r>
                  <a:rPr lang="en-IN" sz="2000" b="1" dirty="0" smtClean="0">
                    <a:solidFill>
                      <a:srgbClr val="0070C0"/>
                    </a:solidFill>
                    <a:latin typeface="Times New Roman" panose="02020603050405020304" pitchFamily="18" charset="0"/>
                    <a:cs typeface="Times New Roman" panose="02020603050405020304" pitchFamily="18" charset="0"/>
                  </a:rPr>
                  <a:t>the total profit gained is maximum</a:t>
                </a:r>
                <a:r>
                  <a:rPr lang="en-IN" sz="2000" b="1" dirty="0" smtClean="0">
                    <a:solidFill>
                      <a:srgbClr val="002060"/>
                    </a:solidFill>
                    <a:latin typeface="Times New Roman" panose="02020603050405020304" pitchFamily="18" charset="0"/>
                    <a:cs typeface="Times New Roman" panose="02020603050405020304" pitchFamily="18" charset="0"/>
                  </a:rPr>
                  <a:t>.</a:t>
                </a:r>
              </a:p>
              <a:p>
                <a:pPr marL="0" indent="0" algn="just">
                  <a:buNone/>
                </a:pPr>
                <a:r>
                  <a:rPr lang="en-IN" sz="2000" b="1" dirty="0" smtClean="0">
                    <a:solidFill>
                      <a:srgbClr val="002060"/>
                    </a:solidFill>
                    <a:latin typeface="Times New Roman" panose="02020603050405020304" pitchFamily="18" charset="0"/>
                    <a:cs typeface="Times New Roman" panose="02020603050405020304" pitchFamily="18" charset="0"/>
                  </a:rPr>
                  <a:t>Note: as the capacity of knapsack is </a:t>
                </a:r>
                <a:r>
                  <a:rPr lang="en-IN" sz="2000" b="1" dirty="0" smtClean="0">
                    <a:solidFill>
                      <a:srgbClr val="FF0000"/>
                    </a:solidFill>
                    <a:latin typeface="Times New Roman" panose="02020603050405020304" pitchFamily="18" charset="0"/>
                    <a:cs typeface="Times New Roman" panose="02020603050405020304" pitchFamily="18" charset="0"/>
                  </a:rPr>
                  <a:t>m</a:t>
                </a:r>
                <a:r>
                  <a:rPr lang="en-IN" sz="2000" b="1" dirty="0" smtClean="0">
                    <a:solidFill>
                      <a:srgbClr val="002060"/>
                    </a:solidFill>
                    <a:latin typeface="Times New Roman" panose="02020603050405020304" pitchFamily="18" charset="0"/>
                    <a:cs typeface="Times New Roman" panose="02020603050405020304" pitchFamily="18" charset="0"/>
                  </a:rPr>
                  <a:t>, we require the </a:t>
                </a:r>
                <a:r>
                  <a:rPr lang="en-IN" sz="2000" b="1" dirty="0" smtClean="0">
                    <a:solidFill>
                      <a:srgbClr val="0070C0"/>
                    </a:solidFill>
                    <a:latin typeface="Times New Roman" panose="02020603050405020304" pitchFamily="18" charset="0"/>
                    <a:cs typeface="Times New Roman" panose="02020603050405020304" pitchFamily="18" charset="0"/>
                  </a:rPr>
                  <a:t>total weight of all the chosen objects to be less than or equal to </a:t>
                </a:r>
                <a:r>
                  <a:rPr lang="en-IN" sz="2000" b="1" dirty="0" smtClean="0">
                    <a:solidFill>
                      <a:srgbClr val="FF0000"/>
                    </a:solidFill>
                    <a:latin typeface="Times New Roman" panose="02020603050405020304" pitchFamily="18" charset="0"/>
                    <a:cs typeface="Times New Roman" panose="02020603050405020304" pitchFamily="18" charset="0"/>
                  </a:rPr>
                  <a:t>m.</a:t>
                </a:r>
              </a:p>
              <a:p>
                <a:pPr marL="0" indent="0" algn="just">
                  <a:buNone/>
                </a:pPr>
                <a:r>
                  <a:rPr lang="en-IN" sz="2000" b="1" dirty="0" smtClean="0">
                    <a:solidFill>
                      <a:srgbClr val="FF0000"/>
                    </a:solidFill>
                    <a:latin typeface="Times New Roman" panose="02020603050405020304" pitchFamily="18" charset="0"/>
                    <a:cs typeface="Times New Roman" panose="02020603050405020304" pitchFamily="18" charset="0"/>
                  </a:rPr>
                  <a:t>Formally the problem can be stated as </a:t>
                </a:r>
              </a:p>
              <a:p>
                <a:pPr marL="0" indent="0" algn="just">
                  <a:buNone/>
                </a:pPr>
                <a:r>
                  <a:rPr lang="en-IN" sz="2400" b="1" dirty="0" smtClean="0">
                    <a:solidFill>
                      <a:srgbClr val="C00000"/>
                    </a:solidFill>
                    <a:latin typeface="Times New Roman" panose="02020603050405020304" pitchFamily="18" charset="0"/>
                    <a:cs typeface="Times New Roman" panose="02020603050405020304" pitchFamily="18" charset="0"/>
                  </a:rPr>
                  <a:t>maximize</a:t>
                </a:r>
                <a:r>
                  <a:rPr lang="en-IN" sz="2400" b="1" dirty="0" smtClean="0">
                    <a:solidFill>
                      <a:srgbClr val="00B0F0"/>
                    </a:solidFill>
                    <a:latin typeface="Times New Roman" panose="02020603050405020304" pitchFamily="18" charset="0"/>
                    <a:cs typeface="Times New Roman" panose="02020603050405020304" pitchFamily="18" charset="0"/>
                  </a:rPr>
                  <a:t> :    </a:t>
                </a:r>
                <a14:m>
                  <m:oMath xmlns:m="http://schemas.openxmlformats.org/officeDocument/2006/math">
                    <m:nary>
                      <m:naryPr>
                        <m:chr m:val="∑"/>
                        <m:supHide m:val="on"/>
                        <m:ctrlPr>
                          <a:rPr lang="en-IN" sz="2400" b="1" i="1" smtClean="0">
                            <a:solidFill>
                              <a:srgbClr val="00B0F0"/>
                            </a:solidFill>
                            <a:latin typeface="Cambria Math"/>
                            <a:cs typeface="Times New Roman" panose="02020603050405020304" pitchFamily="18" charset="0"/>
                          </a:rPr>
                        </m:ctrlPr>
                      </m:naryPr>
                      <m:sub>
                        <m:r>
                          <m:rPr>
                            <m:brk m:alnAt="7"/>
                          </m:rPr>
                          <a:rPr lang="en-IN" sz="2400" b="1" i="1" smtClean="0">
                            <a:solidFill>
                              <a:srgbClr val="00B0F0"/>
                            </a:solidFill>
                            <a:latin typeface="Cambria Math" panose="02040503050406030204" pitchFamily="18" charset="0"/>
                            <a:cs typeface="Times New Roman" panose="02020603050405020304" pitchFamily="18" charset="0"/>
                          </a:rPr>
                          <m:t>𝟏</m:t>
                        </m:r>
                        <m:r>
                          <a:rPr lang="en-IN" sz="2400" b="1" i="1" smtClean="0">
                            <a:solidFill>
                              <a:srgbClr val="00B0F0"/>
                            </a:solidFill>
                            <a:latin typeface="Cambria Math" panose="02040503050406030204" pitchFamily="18" charset="0"/>
                            <a:cs typeface="Times New Roman" panose="02020603050405020304" pitchFamily="18" charset="0"/>
                          </a:rPr>
                          <m:t>≤</m:t>
                        </m:r>
                        <m:r>
                          <a:rPr lang="en-IN" sz="2400" b="1" i="1" smtClean="0">
                            <a:solidFill>
                              <a:srgbClr val="00B0F0"/>
                            </a:solidFill>
                            <a:latin typeface="Cambria Math" panose="02040503050406030204" pitchFamily="18" charset="0"/>
                            <a:cs typeface="Times New Roman" panose="02020603050405020304" pitchFamily="18" charset="0"/>
                          </a:rPr>
                          <m:t>𝒊</m:t>
                        </m:r>
                        <m:r>
                          <a:rPr lang="en-IN" sz="2400" b="1" i="1" smtClean="0">
                            <a:solidFill>
                              <a:srgbClr val="00B0F0"/>
                            </a:solidFill>
                            <a:latin typeface="Cambria Math" panose="02040503050406030204" pitchFamily="18" charset="0"/>
                            <a:cs typeface="Times New Roman" panose="02020603050405020304" pitchFamily="18" charset="0"/>
                          </a:rPr>
                          <m:t>≤</m:t>
                        </m:r>
                        <m:r>
                          <a:rPr lang="en-IN" sz="2400" b="1" i="1" smtClean="0">
                            <a:solidFill>
                              <a:srgbClr val="00B0F0"/>
                            </a:solidFill>
                            <a:latin typeface="Cambria Math" panose="02040503050406030204" pitchFamily="18" charset="0"/>
                            <a:cs typeface="Times New Roman" panose="02020603050405020304" pitchFamily="18" charset="0"/>
                          </a:rPr>
                          <m:t>𝒏</m:t>
                        </m:r>
                      </m:sub>
                      <m:sup/>
                      <m:e>
                        <m:r>
                          <m:rPr>
                            <m:nor/>
                          </m:rPr>
                          <a:rPr lang="en-IN" sz="2400" b="1" dirty="0">
                            <a:solidFill>
                              <a:srgbClr val="00B0F0"/>
                            </a:solidFill>
                            <a:latin typeface="Times New Roman" panose="02020603050405020304" pitchFamily="18" charset="0"/>
                            <a:cs typeface="Times New Roman" panose="02020603050405020304" pitchFamily="18" charset="0"/>
                          </a:rPr>
                          <m:t>p</m:t>
                        </m:r>
                        <m:r>
                          <m:rPr>
                            <m:nor/>
                          </m:rPr>
                          <a:rPr lang="en-IN" sz="2400" b="1" baseline="-25000" dirty="0">
                            <a:solidFill>
                              <a:srgbClr val="00B0F0"/>
                            </a:solidFill>
                            <a:latin typeface="Times New Roman" panose="02020603050405020304" pitchFamily="18" charset="0"/>
                            <a:cs typeface="Times New Roman" panose="02020603050405020304" pitchFamily="18" charset="0"/>
                          </a:rPr>
                          <m:t>i</m:t>
                        </m:r>
                        <m:r>
                          <m:rPr>
                            <m:nor/>
                          </m:rPr>
                          <a:rPr lang="en-IN" sz="2400" b="1" dirty="0">
                            <a:solidFill>
                              <a:srgbClr val="00B0F0"/>
                            </a:solidFill>
                            <a:latin typeface="Times New Roman" panose="02020603050405020304" pitchFamily="18" charset="0"/>
                            <a:cs typeface="Times New Roman" panose="02020603050405020304" pitchFamily="18" charset="0"/>
                          </a:rPr>
                          <m:t>x</m:t>
                        </m:r>
                        <m:r>
                          <m:rPr>
                            <m:nor/>
                          </m:rPr>
                          <a:rPr lang="en-IN" sz="2400" b="1" baseline="-25000" dirty="0">
                            <a:solidFill>
                              <a:srgbClr val="00B0F0"/>
                            </a:solidFill>
                            <a:latin typeface="Times New Roman" panose="02020603050405020304" pitchFamily="18" charset="0"/>
                            <a:cs typeface="Times New Roman" panose="02020603050405020304" pitchFamily="18" charset="0"/>
                          </a:rPr>
                          <m:t>i</m:t>
                        </m:r>
                      </m:e>
                    </m:nary>
                  </m:oMath>
                </a14:m>
                <a:r>
                  <a:rPr lang="en-IN" sz="2400" b="1" dirty="0" smtClean="0">
                    <a:solidFill>
                      <a:srgbClr val="00B0F0"/>
                    </a:solidFill>
                    <a:latin typeface="Times New Roman" panose="02020603050405020304" pitchFamily="18" charset="0"/>
                    <a:cs typeface="Times New Roman" panose="02020603050405020304" pitchFamily="18" charset="0"/>
                  </a:rPr>
                  <a:t>                               </a:t>
                </a:r>
                <a:r>
                  <a:rPr lang="en-IN" sz="2400" b="1" dirty="0" err="1" smtClean="0">
                    <a:solidFill>
                      <a:srgbClr val="00B0F0"/>
                    </a:solidFill>
                    <a:latin typeface="Times New Roman" panose="02020603050405020304" pitchFamily="18" charset="0"/>
                    <a:cs typeface="Times New Roman" panose="02020603050405020304" pitchFamily="18" charset="0"/>
                  </a:rPr>
                  <a:t>Eq</a:t>
                </a:r>
                <a:r>
                  <a:rPr lang="en-IN" sz="2400" b="1" dirty="0" smtClean="0">
                    <a:solidFill>
                      <a:srgbClr val="00B0F0"/>
                    </a:solidFill>
                    <a:latin typeface="Times New Roman" panose="02020603050405020304" pitchFamily="18" charset="0"/>
                    <a:cs typeface="Times New Roman" panose="02020603050405020304" pitchFamily="18" charset="0"/>
                  </a:rPr>
                  <a:t> 1</a:t>
                </a:r>
              </a:p>
              <a:p>
                <a:pPr marL="0" indent="0" algn="just">
                  <a:buNone/>
                </a:pPr>
                <a:endParaRPr lang="en-IN" sz="2400" b="1" dirty="0">
                  <a:solidFill>
                    <a:srgbClr val="00B0F0"/>
                  </a:solidFill>
                  <a:latin typeface="Times New Roman" panose="02020603050405020304" pitchFamily="18" charset="0"/>
                  <a:cs typeface="Times New Roman" panose="02020603050405020304" pitchFamily="18" charset="0"/>
                </a:endParaRPr>
              </a:p>
              <a:p>
                <a:pPr marL="0" indent="0" algn="just">
                  <a:buNone/>
                </a:pPr>
                <a:r>
                  <a:rPr lang="en-IN" sz="2400" b="1" dirty="0" smtClean="0">
                    <a:solidFill>
                      <a:srgbClr val="C00000"/>
                    </a:solidFill>
                    <a:latin typeface="Times New Roman" panose="02020603050405020304" pitchFamily="18" charset="0"/>
                    <a:cs typeface="Times New Roman" panose="02020603050405020304" pitchFamily="18" charset="0"/>
                  </a:rPr>
                  <a:t>Subjected to</a:t>
                </a:r>
                <a14:m>
                  <m:oMath xmlns:m="http://schemas.openxmlformats.org/officeDocument/2006/math">
                    <m:r>
                      <a:rPr lang="en-IN" sz="2400" b="1" i="0" smtClean="0">
                        <a:solidFill>
                          <a:srgbClr val="C00000"/>
                        </a:solidFill>
                        <a:latin typeface="Cambria Math" panose="02040503050406030204" pitchFamily="18" charset="0"/>
                        <a:cs typeface="Times New Roman" panose="02020603050405020304" pitchFamily="18" charset="0"/>
                      </a:rPr>
                      <m:t>:</m:t>
                    </m:r>
                    <m:r>
                      <a:rPr lang="en-IN" sz="2400" b="1">
                        <a:solidFill>
                          <a:srgbClr val="C00000"/>
                        </a:solidFill>
                        <a:latin typeface="Cambria Math" panose="02040503050406030204" pitchFamily="18" charset="0"/>
                        <a:cs typeface="Times New Roman" panose="02020603050405020304" pitchFamily="18" charset="0"/>
                      </a:rPr>
                      <m:t> </m:t>
                    </m:r>
                    <m:nary>
                      <m:naryPr>
                        <m:chr m:val="∑"/>
                        <m:supHide m:val="on"/>
                        <m:ctrlPr>
                          <a:rPr lang="en-IN" sz="2400" b="1" i="1" smtClean="0">
                            <a:solidFill>
                              <a:srgbClr val="00B0F0"/>
                            </a:solidFill>
                            <a:latin typeface="Cambria Math"/>
                            <a:cs typeface="Times New Roman" panose="02020603050405020304" pitchFamily="18" charset="0"/>
                          </a:rPr>
                        </m:ctrlPr>
                      </m:naryPr>
                      <m:sub>
                        <m:r>
                          <m:rPr>
                            <m:brk m:alnAt="7"/>
                          </m:rPr>
                          <a:rPr lang="en-IN" sz="2400" b="1">
                            <a:solidFill>
                              <a:srgbClr val="00B0F0"/>
                            </a:solidFill>
                            <a:latin typeface="Cambria Math" panose="02040503050406030204" pitchFamily="18" charset="0"/>
                            <a:cs typeface="Times New Roman" panose="02020603050405020304" pitchFamily="18" charset="0"/>
                          </a:rPr>
                          <m:t>𝟏</m:t>
                        </m:r>
                        <m:r>
                          <a:rPr lang="en-IN" sz="2400" b="1">
                            <a:solidFill>
                              <a:srgbClr val="00B0F0"/>
                            </a:solidFill>
                            <a:latin typeface="Cambria Math" panose="02040503050406030204" pitchFamily="18" charset="0"/>
                            <a:cs typeface="Times New Roman" panose="02020603050405020304" pitchFamily="18" charset="0"/>
                          </a:rPr>
                          <m:t>≤</m:t>
                        </m:r>
                        <m:r>
                          <a:rPr lang="en-IN" sz="2400" b="1">
                            <a:solidFill>
                              <a:srgbClr val="00B0F0"/>
                            </a:solidFill>
                            <a:latin typeface="Cambria Math" panose="02040503050406030204" pitchFamily="18" charset="0"/>
                            <a:cs typeface="Times New Roman" panose="02020603050405020304" pitchFamily="18" charset="0"/>
                          </a:rPr>
                          <m:t>𝒊</m:t>
                        </m:r>
                        <m:r>
                          <a:rPr lang="en-IN" sz="2400" b="1">
                            <a:solidFill>
                              <a:srgbClr val="00B0F0"/>
                            </a:solidFill>
                            <a:latin typeface="Cambria Math" panose="02040503050406030204" pitchFamily="18" charset="0"/>
                            <a:cs typeface="Times New Roman" panose="02020603050405020304" pitchFamily="18" charset="0"/>
                          </a:rPr>
                          <m:t>≤</m:t>
                        </m:r>
                        <m:r>
                          <a:rPr lang="en-IN" sz="2400" b="1">
                            <a:solidFill>
                              <a:srgbClr val="00B0F0"/>
                            </a:solidFill>
                            <a:latin typeface="Cambria Math" panose="02040503050406030204" pitchFamily="18" charset="0"/>
                            <a:cs typeface="Times New Roman" panose="02020603050405020304" pitchFamily="18" charset="0"/>
                          </a:rPr>
                          <m:t>𝒏</m:t>
                        </m:r>
                      </m:sub>
                      <m:sup/>
                      <m:e>
                        <m:r>
                          <m:rPr>
                            <m:nor/>
                          </m:rPr>
                          <a:rPr lang="en-IN" sz="2400" b="1">
                            <a:solidFill>
                              <a:srgbClr val="00B0F0"/>
                            </a:solidFill>
                            <a:latin typeface="Times New Roman" panose="02020603050405020304" pitchFamily="18" charset="0"/>
                            <a:cs typeface="Times New Roman" panose="02020603050405020304" pitchFamily="18" charset="0"/>
                          </a:rPr>
                          <m:t>w</m:t>
                        </m:r>
                        <m:r>
                          <m:rPr>
                            <m:nor/>
                          </m:rPr>
                          <a:rPr lang="en-IN" sz="2400" b="1" baseline="-25000" dirty="0">
                            <a:solidFill>
                              <a:srgbClr val="00B0F0"/>
                            </a:solidFill>
                            <a:latin typeface="Times New Roman" panose="02020603050405020304" pitchFamily="18" charset="0"/>
                            <a:cs typeface="Times New Roman" panose="02020603050405020304" pitchFamily="18" charset="0"/>
                          </a:rPr>
                          <m:t>i</m:t>
                        </m:r>
                        <m:r>
                          <m:rPr>
                            <m:nor/>
                          </m:rPr>
                          <a:rPr lang="en-IN" sz="2400" b="1" dirty="0">
                            <a:solidFill>
                              <a:srgbClr val="00B0F0"/>
                            </a:solidFill>
                            <a:latin typeface="Times New Roman" panose="02020603050405020304" pitchFamily="18" charset="0"/>
                            <a:cs typeface="Times New Roman" panose="02020603050405020304" pitchFamily="18" charset="0"/>
                          </a:rPr>
                          <m:t>x</m:t>
                        </m:r>
                        <m:r>
                          <m:rPr>
                            <m:nor/>
                          </m:rPr>
                          <a:rPr lang="en-IN" sz="2400" b="1" baseline="-25000" dirty="0">
                            <a:solidFill>
                              <a:srgbClr val="00B0F0"/>
                            </a:solidFill>
                            <a:latin typeface="Times New Roman" panose="02020603050405020304" pitchFamily="18" charset="0"/>
                            <a:cs typeface="Times New Roman" panose="02020603050405020304" pitchFamily="18" charset="0"/>
                          </a:rPr>
                          <m:t>i</m:t>
                        </m:r>
                      </m:e>
                    </m:nary>
                  </m:oMath>
                </a14:m>
                <a:r>
                  <a:rPr lang="en-IN" sz="2400" b="1" dirty="0" smtClean="0">
                    <a:solidFill>
                      <a:srgbClr val="00B0F0"/>
                    </a:solidFill>
                    <a:latin typeface="Times New Roman" panose="02020603050405020304" pitchFamily="18" charset="0"/>
                    <a:cs typeface="Times New Roman" panose="02020603050405020304" pitchFamily="18" charset="0"/>
                  </a:rPr>
                  <a:t> ≤ m                      </a:t>
                </a:r>
                <a:r>
                  <a:rPr lang="en-IN" sz="2400" b="1" dirty="0" err="1" smtClean="0">
                    <a:solidFill>
                      <a:srgbClr val="00B0F0"/>
                    </a:solidFill>
                    <a:latin typeface="Times New Roman" panose="02020603050405020304" pitchFamily="18" charset="0"/>
                    <a:cs typeface="Times New Roman" panose="02020603050405020304" pitchFamily="18" charset="0"/>
                  </a:rPr>
                  <a:t>Eq</a:t>
                </a:r>
                <a:r>
                  <a:rPr lang="en-IN" sz="2400" b="1" dirty="0" smtClean="0">
                    <a:solidFill>
                      <a:srgbClr val="00B0F0"/>
                    </a:solidFill>
                    <a:latin typeface="Times New Roman" panose="02020603050405020304" pitchFamily="18" charset="0"/>
                    <a:cs typeface="Times New Roman" panose="02020603050405020304" pitchFamily="18" charset="0"/>
                  </a:rPr>
                  <a:t> 2</a:t>
                </a:r>
              </a:p>
              <a:p>
                <a:pPr marL="0" indent="0" algn="just">
                  <a:buNone/>
                </a:pPr>
                <a:endParaRPr lang="en-IN" sz="2400" b="1" dirty="0">
                  <a:solidFill>
                    <a:srgbClr val="00B0F0"/>
                  </a:solidFill>
                  <a:latin typeface="Times New Roman" panose="02020603050405020304" pitchFamily="18" charset="0"/>
                  <a:cs typeface="Times New Roman" panose="02020603050405020304" pitchFamily="18" charset="0"/>
                </a:endParaRPr>
              </a:p>
              <a:p>
                <a:pPr marL="0" indent="0" algn="just">
                  <a:buNone/>
                </a:pPr>
                <a:r>
                  <a:rPr lang="en-IN" sz="2400" b="1" dirty="0" smtClean="0">
                    <a:solidFill>
                      <a:srgbClr val="C00000"/>
                    </a:solidFill>
                    <a:latin typeface="Times New Roman" panose="02020603050405020304" pitchFamily="18" charset="0"/>
                    <a:cs typeface="Times New Roman" panose="02020603050405020304" pitchFamily="18" charset="0"/>
                  </a:rPr>
                  <a:t>                       And </a:t>
                </a:r>
                <a:r>
                  <a:rPr lang="en-IN" sz="2400" b="1" dirty="0" smtClean="0">
                    <a:solidFill>
                      <a:srgbClr val="00B0F0"/>
                    </a:solidFill>
                    <a:latin typeface="Times New Roman" panose="02020603050405020304" pitchFamily="18" charset="0"/>
                    <a:cs typeface="Times New Roman" panose="02020603050405020304" pitchFamily="18" charset="0"/>
                  </a:rPr>
                  <a:t>    0 ≤ x</a:t>
                </a:r>
                <a:r>
                  <a:rPr lang="en-IN" sz="2400" b="1" baseline="-25000" dirty="0" smtClean="0">
                    <a:solidFill>
                      <a:srgbClr val="00B0F0"/>
                    </a:solidFill>
                    <a:latin typeface="Times New Roman" panose="02020603050405020304" pitchFamily="18" charset="0"/>
                    <a:cs typeface="Times New Roman" panose="02020603050405020304" pitchFamily="18" charset="0"/>
                  </a:rPr>
                  <a:t>i</a:t>
                </a:r>
                <a:r>
                  <a:rPr lang="en-IN" sz="2400" b="1" dirty="0">
                    <a:solidFill>
                      <a:srgbClr val="00B0F0"/>
                    </a:solidFill>
                    <a:latin typeface="Times New Roman" panose="02020603050405020304" pitchFamily="18" charset="0"/>
                    <a:cs typeface="Times New Roman" panose="02020603050405020304" pitchFamily="18" charset="0"/>
                  </a:rPr>
                  <a:t> </a:t>
                </a:r>
                <a:r>
                  <a:rPr lang="en-IN" sz="2400" b="1" dirty="0" smtClean="0">
                    <a:solidFill>
                      <a:srgbClr val="00B0F0"/>
                    </a:solidFill>
                    <a:latin typeface="Times New Roman" panose="02020603050405020304" pitchFamily="18" charset="0"/>
                    <a:cs typeface="Times New Roman" panose="02020603050405020304" pitchFamily="18" charset="0"/>
                  </a:rPr>
                  <a:t>≤ 1,   and 0 </a:t>
                </a:r>
                <a:r>
                  <a:rPr lang="en-IN" sz="2400" b="1" dirty="0">
                    <a:solidFill>
                      <a:srgbClr val="00B0F0"/>
                    </a:solidFill>
                    <a:latin typeface="Times New Roman" panose="02020603050405020304" pitchFamily="18" charset="0"/>
                    <a:cs typeface="Times New Roman" panose="02020603050405020304" pitchFamily="18" charset="0"/>
                  </a:rPr>
                  <a:t>≤ </a:t>
                </a:r>
                <a:r>
                  <a:rPr lang="en-IN" sz="2400" b="1" dirty="0" err="1" smtClean="0">
                    <a:solidFill>
                      <a:srgbClr val="00B0F0"/>
                    </a:solidFill>
                    <a:latin typeface="Times New Roman" panose="02020603050405020304" pitchFamily="18" charset="0"/>
                    <a:cs typeface="Times New Roman" panose="02020603050405020304" pitchFamily="18" charset="0"/>
                  </a:rPr>
                  <a:t>i</a:t>
                </a:r>
                <a:r>
                  <a:rPr lang="en-IN" sz="2400" b="1" dirty="0" smtClean="0">
                    <a:solidFill>
                      <a:srgbClr val="00B0F0"/>
                    </a:solidFill>
                    <a:latin typeface="Times New Roman" panose="02020603050405020304" pitchFamily="18" charset="0"/>
                    <a:cs typeface="Times New Roman" panose="02020603050405020304" pitchFamily="18" charset="0"/>
                  </a:rPr>
                  <a:t> </a:t>
                </a:r>
                <a:r>
                  <a:rPr lang="en-IN" sz="2400" b="1" dirty="0">
                    <a:solidFill>
                      <a:srgbClr val="00B0F0"/>
                    </a:solidFill>
                    <a:latin typeface="Times New Roman" panose="02020603050405020304" pitchFamily="18" charset="0"/>
                    <a:cs typeface="Times New Roman" panose="02020603050405020304" pitchFamily="18" charset="0"/>
                  </a:rPr>
                  <a:t>≤ </a:t>
                </a:r>
                <a:r>
                  <a:rPr lang="en-IN" sz="2400" b="1" dirty="0" smtClean="0">
                    <a:solidFill>
                      <a:srgbClr val="00B0F0"/>
                    </a:solidFill>
                    <a:latin typeface="Times New Roman" panose="02020603050405020304" pitchFamily="18" charset="0"/>
                    <a:cs typeface="Times New Roman" panose="02020603050405020304" pitchFamily="18" charset="0"/>
                  </a:rPr>
                  <a:t>n,        </a:t>
                </a:r>
                <a:r>
                  <a:rPr lang="en-IN" sz="2400" b="1" dirty="0" err="1" smtClean="0">
                    <a:solidFill>
                      <a:srgbClr val="00B0F0"/>
                    </a:solidFill>
                    <a:latin typeface="Times New Roman" panose="02020603050405020304" pitchFamily="18" charset="0"/>
                    <a:cs typeface="Times New Roman" panose="02020603050405020304" pitchFamily="18" charset="0"/>
                  </a:rPr>
                  <a:t>Eq</a:t>
                </a:r>
                <a:r>
                  <a:rPr lang="en-IN" sz="2400" b="1" dirty="0" smtClean="0">
                    <a:solidFill>
                      <a:srgbClr val="00B0F0"/>
                    </a:solidFill>
                    <a:latin typeface="Times New Roman" panose="02020603050405020304" pitchFamily="18" charset="0"/>
                    <a:cs typeface="Times New Roman" panose="02020603050405020304" pitchFamily="18" charset="0"/>
                  </a:rPr>
                  <a:t> 3</a:t>
                </a:r>
                <a:endParaRPr lang="en-IN" sz="2400" b="1" dirty="0">
                  <a:solidFill>
                    <a:srgbClr val="00B0F0"/>
                  </a:solidFill>
                  <a:latin typeface="Times New Roman" panose="02020603050405020304" pitchFamily="18" charset="0"/>
                  <a:cs typeface="Times New Roman" panose="02020603050405020304" pitchFamily="18" charset="0"/>
                </a:endParaRPr>
              </a:p>
              <a:p>
                <a:pPr marL="0" indent="0" algn="just">
                  <a:buNone/>
                </a:pPr>
                <a:endParaRPr lang="en-IN" sz="2400" b="1" baseline="-25000" dirty="0">
                  <a:solidFill>
                    <a:srgbClr val="00B0F0"/>
                  </a:solidFill>
                  <a:latin typeface="Times New Roman" panose="02020603050405020304" pitchFamily="18" charset="0"/>
                  <a:cs typeface="Times New Roman" panose="02020603050405020304" pitchFamily="18" charset="0"/>
                </a:endParaRPr>
              </a:p>
              <a:p>
                <a:pPr marL="0" indent="0" algn="just">
                  <a:buNone/>
                </a:pPr>
                <a:endParaRPr lang="en-IN" sz="2400" b="1" baseline="-25000" dirty="0" smtClean="0">
                  <a:solidFill>
                    <a:srgbClr val="00B0F0"/>
                  </a:solidFill>
                  <a:latin typeface="Times New Roman" panose="02020603050405020304" pitchFamily="18" charset="0"/>
                  <a:cs typeface="Times New Roman" panose="02020603050405020304" pitchFamily="18" charset="0"/>
                </a:endParaRPr>
              </a:p>
              <a:p>
                <a:pPr marL="0" indent="0" algn="just">
                  <a:buNone/>
                </a:pPr>
                <a:endParaRPr lang="en-IN" sz="2000" b="1" dirty="0">
                  <a:solidFill>
                    <a:srgbClr val="00B0F0"/>
                  </a:solidFill>
                  <a:latin typeface="Times New Roman" panose="02020603050405020304" pitchFamily="18" charset="0"/>
                  <a:cs typeface="Times New Roman" panose="02020603050405020304" pitchFamily="18" charset="0"/>
                </a:endParaRPr>
              </a:p>
              <a:p>
                <a:pPr marL="0" indent="0" algn="just">
                  <a:buNone/>
                </a:pPr>
                <a:endParaRPr lang="en-IN" sz="2000" b="1" dirty="0">
                  <a:solidFill>
                    <a:srgbClr val="00B0F0"/>
                  </a:solidFill>
                  <a:latin typeface="Times New Roman" panose="02020603050405020304" pitchFamily="18" charset="0"/>
                  <a:cs typeface="Times New Roman" panose="02020603050405020304" pitchFamily="18" charset="0"/>
                </a:endParaRPr>
              </a:p>
              <a:p>
                <a:pPr marL="0" indent="0" algn="just">
                  <a:buNone/>
                </a:pPr>
                <a:endParaRPr lang="en-IN" sz="2000" b="1" dirty="0">
                  <a:solidFill>
                    <a:srgbClr val="00B0F0"/>
                  </a:solidFill>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5164" y="766670"/>
                <a:ext cx="11967883" cy="5634130"/>
              </a:xfrm>
              <a:blipFill rotWithShape="1">
                <a:blip r:embed="rId2"/>
                <a:stretch>
                  <a:fillRect l="-560" t="-2056" r="-1019" b="-21320"/>
                </a:stretch>
              </a:blipFill>
            </p:spPr>
            <p:txBody>
              <a:bodyPr/>
              <a:lstStyle/>
              <a:p>
                <a:r>
                  <a:rPr lang="en-IN">
                    <a:noFill/>
                  </a:rPr>
                  <a:t> </a:t>
                </a:r>
              </a:p>
            </p:txBody>
          </p:sp>
        </mc:Fallback>
      </mc:AlternateContent>
      <p:pic>
        <p:nvPicPr>
          <p:cNvPr id="4" name="Picture 3"/>
          <p:cNvPicPr>
            <a:picLocks noChangeAspect="1"/>
          </p:cNvPicPr>
          <p:nvPr/>
        </p:nvPicPr>
        <p:blipFill>
          <a:blip r:embed="rId3"/>
          <a:stretch>
            <a:fillRect/>
          </a:stretch>
        </p:blipFill>
        <p:spPr>
          <a:xfrm>
            <a:off x="0" y="-98921"/>
            <a:ext cx="699247" cy="668772"/>
          </a:xfrm>
          <a:prstGeom prst="rect">
            <a:avLst/>
          </a:prstGeom>
        </p:spPr>
      </p:pic>
      <p:pic>
        <p:nvPicPr>
          <p:cNvPr id="5" name="Picture 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84697" y="0"/>
            <a:ext cx="768351" cy="768351"/>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6"/>
          <p:cNvSpPr>
            <a:spLocks noGrp="1"/>
          </p:cNvSpPr>
          <p:nvPr>
            <p:ph type="ftr" sz="quarter" idx="11"/>
          </p:nvPr>
        </p:nvSpPr>
        <p:spPr>
          <a:xfrm>
            <a:off x="838200" y="6311900"/>
            <a:ext cx="11031071"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8C444B6C-4259-4C8B-9775-1F1A846BBF3A}" type="datetime1">
              <a:rPr lang="en-IN" smtClean="0"/>
              <a:t>21-03-2026</a:t>
            </a:fld>
            <a:endParaRPr lang="en-IN"/>
          </a:p>
        </p:txBody>
      </p:sp>
      <p:sp>
        <p:nvSpPr>
          <p:cNvPr id="8" name="Slide Number Placeholder 7"/>
          <p:cNvSpPr>
            <a:spLocks noGrp="1"/>
          </p:cNvSpPr>
          <p:nvPr>
            <p:ph type="sldNum" sz="quarter" idx="12"/>
          </p:nvPr>
        </p:nvSpPr>
        <p:spPr/>
        <p:txBody>
          <a:bodyPr/>
          <a:lstStyle/>
          <a:p>
            <a:fld id="{9DBF8153-9B6B-4F96-B9F5-FB4D5D4160F7}" type="slidenum">
              <a:rPr lang="en-IN" smtClean="0"/>
              <a:t>155</a:t>
            </a:fld>
            <a:endParaRPr lang="en-IN"/>
          </a:p>
        </p:txBody>
      </p:sp>
    </p:spTree>
    <p:extLst>
      <p:ext uri="{BB962C8B-B14F-4D97-AF65-F5344CB8AC3E}">
        <p14:creationId xmlns:p14="http://schemas.microsoft.com/office/powerpoint/2010/main" val="2301898329"/>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097" y="114207"/>
            <a:ext cx="10515600" cy="652463"/>
          </a:xfrm>
        </p:spPr>
        <p:txBody>
          <a:bodyPr>
            <a:normAutofit/>
          </a:bodyPr>
          <a:lstStyle/>
          <a:p>
            <a:r>
              <a:rPr lang="en-IN" sz="2800" b="1" dirty="0">
                <a:solidFill>
                  <a:srgbClr val="C00000"/>
                </a:solidFill>
                <a:latin typeface="Times New Roman" panose="02020603050405020304" pitchFamily="18" charset="0"/>
                <a:cs typeface="Times New Roman" panose="02020603050405020304" pitchFamily="18" charset="0"/>
              </a:rPr>
              <a:t>MODULE 2 : </a:t>
            </a:r>
            <a:r>
              <a:rPr lang="en-IN" sz="3200" b="1" dirty="0">
                <a:solidFill>
                  <a:srgbClr val="C00000"/>
                </a:solidFill>
                <a:latin typeface="Times New Roman" panose="02020603050405020304" pitchFamily="18" charset="0"/>
                <a:cs typeface="Times New Roman" panose="02020603050405020304" pitchFamily="18" charset="0"/>
              </a:rPr>
              <a:t>Brute force </a:t>
            </a:r>
            <a:r>
              <a:rPr lang="en-IN" sz="3200" b="1" dirty="0">
                <a:solidFill>
                  <a:srgbClr val="002060"/>
                </a:solidFill>
                <a:latin typeface="Times New Roman" panose="02020603050405020304" pitchFamily="18" charset="0"/>
                <a:cs typeface="Times New Roman" panose="02020603050405020304" pitchFamily="18" charset="0"/>
              </a:rPr>
              <a:t>(Exhaustive Search)</a:t>
            </a:r>
            <a:endParaRPr lang="en-IN" sz="24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5164" y="766670"/>
            <a:ext cx="11967883" cy="5634130"/>
          </a:xfrm>
        </p:spPr>
        <p:txBody>
          <a:bodyPr>
            <a:normAutofit/>
          </a:bodyPr>
          <a:lstStyle/>
          <a:p>
            <a:pPr marL="0" indent="0" algn="just">
              <a:buNone/>
            </a:pPr>
            <a:r>
              <a:rPr lang="en-IN" sz="2400" b="1" dirty="0" smtClean="0">
                <a:solidFill>
                  <a:srgbClr val="00B0F0"/>
                </a:solidFill>
                <a:latin typeface="Times New Roman" panose="02020603050405020304" pitchFamily="18" charset="0"/>
                <a:cs typeface="Times New Roman" panose="02020603050405020304" pitchFamily="18" charset="0"/>
              </a:rPr>
              <a:t>Knapsack problem</a:t>
            </a:r>
          </a:p>
          <a:p>
            <a:pPr marL="0" indent="0" algn="just">
              <a:buNone/>
            </a:pPr>
            <a:r>
              <a:rPr lang="en-IN" sz="2000" b="1" dirty="0" smtClean="0">
                <a:solidFill>
                  <a:srgbClr val="002060"/>
                </a:solidFill>
                <a:latin typeface="Times New Roman" panose="02020603050405020304" pitchFamily="18" charset="0"/>
                <a:cs typeface="Times New Roman" panose="02020603050405020304" pitchFamily="18" charset="0"/>
              </a:rPr>
              <a:t>The profit and weights are positive numbers </a:t>
            </a:r>
          </a:p>
          <a:p>
            <a:pPr marL="0" indent="0" algn="just">
              <a:buNone/>
            </a:pPr>
            <a:r>
              <a:rPr lang="en-IN" sz="2000" b="1" dirty="0" smtClean="0">
                <a:solidFill>
                  <a:srgbClr val="002060"/>
                </a:solidFill>
                <a:latin typeface="Times New Roman" panose="02020603050405020304" pitchFamily="18" charset="0"/>
                <a:cs typeface="Times New Roman" panose="02020603050405020304" pitchFamily="18" charset="0"/>
              </a:rPr>
              <a:t>A feasible solution is any set  of (x</a:t>
            </a:r>
            <a:r>
              <a:rPr lang="en-IN" sz="2000" b="1" baseline="-25000" dirty="0" smtClean="0">
                <a:solidFill>
                  <a:srgbClr val="002060"/>
                </a:solidFill>
                <a:latin typeface="Times New Roman" panose="02020603050405020304" pitchFamily="18" charset="0"/>
                <a:cs typeface="Times New Roman" panose="02020603050405020304" pitchFamily="18" charset="0"/>
              </a:rPr>
              <a:t>1</a:t>
            </a:r>
            <a:r>
              <a:rPr lang="en-IN" sz="2000" b="1" dirty="0" smtClean="0">
                <a:solidFill>
                  <a:srgbClr val="002060"/>
                </a:solidFill>
                <a:latin typeface="Times New Roman" panose="02020603050405020304" pitchFamily="18" charset="0"/>
                <a:cs typeface="Times New Roman" panose="02020603050405020304" pitchFamily="18" charset="0"/>
              </a:rPr>
              <a:t>, x</a:t>
            </a:r>
            <a:r>
              <a:rPr lang="en-IN" sz="2000" b="1" baseline="-25000" dirty="0">
                <a:solidFill>
                  <a:srgbClr val="002060"/>
                </a:solidFill>
                <a:latin typeface="Times New Roman" panose="02020603050405020304" pitchFamily="18" charset="0"/>
                <a:cs typeface="Times New Roman" panose="02020603050405020304" pitchFamily="18" charset="0"/>
              </a:rPr>
              <a:t>2</a:t>
            </a:r>
            <a:r>
              <a:rPr lang="en-IN" sz="2000" b="1" dirty="0" smtClean="0">
                <a:solidFill>
                  <a:srgbClr val="002060"/>
                </a:solidFill>
                <a:latin typeface="Times New Roman" panose="02020603050405020304" pitchFamily="18" charset="0"/>
                <a:cs typeface="Times New Roman" panose="02020603050405020304" pitchFamily="18" charset="0"/>
              </a:rPr>
              <a:t>, ……</a:t>
            </a:r>
            <a:r>
              <a:rPr lang="en-IN" sz="2000" b="1" dirty="0" err="1" smtClean="0">
                <a:solidFill>
                  <a:srgbClr val="002060"/>
                </a:solidFill>
                <a:latin typeface="Times New Roman" panose="02020603050405020304" pitchFamily="18" charset="0"/>
                <a:cs typeface="Times New Roman" panose="02020603050405020304" pitchFamily="18" charset="0"/>
              </a:rPr>
              <a:t>x</a:t>
            </a:r>
            <a:r>
              <a:rPr lang="en-IN" sz="2000" b="1" baseline="-25000" dirty="0" err="1">
                <a:solidFill>
                  <a:srgbClr val="002060"/>
                </a:solidFill>
                <a:latin typeface="Times New Roman" panose="02020603050405020304" pitchFamily="18" charset="0"/>
                <a:cs typeface="Times New Roman" panose="02020603050405020304" pitchFamily="18" charset="0"/>
              </a:rPr>
              <a:t>n</a:t>
            </a:r>
            <a:r>
              <a:rPr lang="en-IN" sz="2000" b="1" dirty="0" smtClean="0">
                <a:solidFill>
                  <a:srgbClr val="002060"/>
                </a:solidFill>
                <a:latin typeface="Times New Roman" panose="02020603050405020304" pitchFamily="18" charset="0"/>
                <a:cs typeface="Times New Roman" panose="02020603050405020304" pitchFamily="18" charset="0"/>
              </a:rPr>
              <a:t>)  that satisfies Eq. 2 and Eq. 3</a:t>
            </a:r>
          </a:p>
          <a:p>
            <a:pPr marL="0" indent="0" algn="just">
              <a:buNone/>
            </a:pPr>
            <a:r>
              <a:rPr lang="en-IN" sz="2000" b="1" dirty="0" smtClean="0">
                <a:solidFill>
                  <a:srgbClr val="002060"/>
                </a:solidFill>
                <a:latin typeface="Times New Roman" panose="02020603050405020304" pitchFamily="18" charset="0"/>
                <a:cs typeface="Times New Roman" panose="02020603050405020304" pitchFamily="18" charset="0"/>
              </a:rPr>
              <a:t>The optimal solution is a feasible solution for which Eq. 1 is maximized </a:t>
            </a:r>
            <a:endParaRPr lang="en-IN" sz="2000" b="1" dirty="0">
              <a:solidFill>
                <a:srgbClr val="002060"/>
              </a:solidFill>
              <a:latin typeface="Times New Roman" panose="02020603050405020304" pitchFamily="18" charset="0"/>
              <a:cs typeface="Times New Roman" panose="02020603050405020304" pitchFamily="18" charset="0"/>
            </a:endParaRPr>
          </a:p>
          <a:p>
            <a:pPr marL="0" indent="0" algn="just">
              <a:buNone/>
            </a:pPr>
            <a:endParaRPr lang="en-IN" sz="2400" b="1" baseline="-25000" dirty="0">
              <a:solidFill>
                <a:srgbClr val="00B0F0"/>
              </a:solidFill>
              <a:latin typeface="Times New Roman" panose="02020603050405020304" pitchFamily="18" charset="0"/>
              <a:cs typeface="Times New Roman" panose="02020603050405020304" pitchFamily="18" charset="0"/>
            </a:endParaRPr>
          </a:p>
          <a:p>
            <a:pPr marL="0" indent="0" algn="just">
              <a:buNone/>
            </a:pPr>
            <a:endParaRPr lang="en-IN" sz="2400" b="1" baseline="-25000" dirty="0" smtClean="0">
              <a:solidFill>
                <a:srgbClr val="00B0F0"/>
              </a:solidFill>
              <a:latin typeface="Times New Roman" panose="02020603050405020304" pitchFamily="18" charset="0"/>
              <a:cs typeface="Times New Roman" panose="02020603050405020304" pitchFamily="18" charset="0"/>
            </a:endParaRPr>
          </a:p>
          <a:p>
            <a:pPr marL="0" indent="0" algn="just">
              <a:buNone/>
            </a:pPr>
            <a:endParaRPr lang="en-IN" sz="2000" b="1" dirty="0">
              <a:solidFill>
                <a:srgbClr val="00B0F0"/>
              </a:solidFill>
              <a:latin typeface="Times New Roman" panose="02020603050405020304" pitchFamily="18" charset="0"/>
              <a:cs typeface="Times New Roman" panose="02020603050405020304" pitchFamily="18" charset="0"/>
            </a:endParaRPr>
          </a:p>
          <a:p>
            <a:pPr marL="0" indent="0" algn="just">
              <a:buNone/>
            </a:pPr>
            <a:endParaRPr lang="en-IN" sz="2000" b="1" dirty="0">
              <a:solidFill>
                <a:srgbClr val="00B0F0"/>
              </a:solidFill>
              <a:latin typeface="Times New Roman" panose="02020603050405020304" pitchFamily="18" charset="0"/>
              <a:cs typeface="Times New Roman" panose="02020603050405020304" pitchFamily="18" charset="0"/>
            </a:endParaRPr>
          </a:p>
          <a:p>
            <a:pPr marL="0" indent="0" algn="just">
              <a:buNone/>
            </a:pPr>
            <a:endParaRPr lang="en-IN" sz="2000" b="1" dirty="0">
              <a:solidFill>
                <a:srgbClr val="00B0F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0" y="-98921"/>
            <a:ext cx="699247" cy="668772"/>
          </a:xfrm>
          <a:prstGeom prst="rect">
            <a:avLst/>
          </a:prstGeom>
        </p:spPr>
      </p:pic>
      <p:pic>
        <p:nvPicPr>
          <p:cNvPr id="5" name="Picture 2" descr="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84697" y="0"/>
            <a:ext cx="768351" cy="768351"/>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6"/>
          <p:cNvSpPr>
            <a:spLocks noGrp="1"/>
          </p:cNvSpPr>
          <p:nvPr>
            <p:ph type="ftr" sz="quarter" idx="11"/>
          </p:nvPr>
        </p:nvSpPr>
        <p:spPr>
          <a:xfrm>
            <a:off x="838200" y="6311900"/>
            <a:ext cx="11031071"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64F809BB-FB4F-4570-AD0F-719707463BC3}" type="datetime1">
              <a:rPr lang="en-IN" smtClean="0"/>
              <a:t>21-03-2026</a:t>
            </a:fld>
            <a:endParaRPr lang="en-IN"/>
          </a:p>
        </p:txBody>
      </p:sp>
      <p:sp>
        <p:nvSpPr>
          <p:cNvPr id="8" name="Slide Number Placeholder 7"/>
          <p:cNvSpPr>
            <a:spLocks noGrp="1"/>
          </p:cNvSpPr>
          <p:nvPr>
            <p:ph type="sldNum" sz="quarter" idx="12"/>
          </p:nvPr>
        </p:nvSpPr>
        <p:spPr/>
        <p:txBody>
          <a:bodyPr/>
          <a:lstStyle/>
          <a:p>
            <a:fld id="{9DBF8153-9B6B-4F96-B9F5-FB4D5D4160F7}" type="slidenum">
              <a:rPr lang="en-IN" smtClean="0"/>
              <a:t>156</a:t>
            </a:fld>
            <a:endParaRPr lang="en-IN"/>
          </a:p>
        </p:txBody>
      </p:sp>
    </p:spTree>
    <p:extLst>
      <p:ext uri="{BB962C8B-B14F-4D97-AF65-F5344CB8AC3E}">
        <p14:creationId xmlns:p14="http://schemas.microsoft.com/office/powerpoint/2010/main" val="2814679107"/>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097" y="114207"/>
            <a:ext cx="10515600" cy="652463"/>
          </a:xfrm>
        </p:spPr>
        <p:txBody>
          <a:bodyPr>
            <a:normAutofit/>
          </a:bodyPr>
          <a:lstStyle/>
          <a:p>
            <a:r>
              <a:rPr lang="en-IN" sz="2800" b="1" dirty="0">
                <a:solidFill>
                  <a:srgbClr val="C00000"/>
                </a:solidFill>
                <a:latin typeface="Times New Roman" panose="02020603050405020304" pitchFamily="18" charset="0"/>
                <a:cs typeface="Times New Roman" panose="02020603050405020304" pitchFamily="18" charset="0"/>
              </a:rPr>
              <a:t>MODULE 2 : </a:t>
            </a:r>
            <a:r>
              <a:rPr lang="en-IN" sz="3200" b="1" dirty="0">
                <a:solidFill>
                  <a:srgbClr val="C00000"/>
                </a:solidFill>
                <a:latin typeface="Times New Roman" panose="02020603050405020304" pitchFamily="18" charset="0"/>
                <a:cs typeface="Times New Roman" panose="02020603050405020304" pitchFamily="18" charset="0"/>
              </a:rPr>
              <a:t>Brute force </a:t>
            </a:r>
            <a:r>
              <a:rPr lang="en-IN" sz="3200" b="1" dirty="0">
                <a:solidFill>
                  <a:srgbClr val="002060"/>
                </a:solidFill>
                <a:latin typeface="Times New Roman" panose="02020603050405020304" pitchFamily="18" charset="0"/>
                <a:cs typeface="Times New Roman" panose="02020603050405020304" pitchFamily="18" charset="0"/>
              </a:rPr>
              <a:t>(Exhaustive Search)</a:t>
            </a:r>
            <a:endParaRPr lang="en-IN" sz="24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5164" y="766670"/>
            <a:ext cx="11967883" cy="5634130"/>
          </a:xfrm>
        </p:spPr>
        <p:txBody>
          <a:bodyPr>
            <a:normAutofit/>
          </a:bodyPr>
          <a:lstStyle/>
          <a:p>
            <a:pPr marL="0" indent="0" algn="just">
              <a:buNone/>
            </a:pPr>
            <a:r>
              <a:rPr lang="en-IN" sz="3600" b="1" baseline="-25000" dirty="0" smtClean="0">
                <a:solidFill>
                  <a:srgbClr val="002060"/>
                </a:solidFill>
                <a:latin typeface="Times New Roman" panose="02020603050405020304" pitchFamily="18" charset="0"/>
                <a:cs typeface="Times New Roman" panose="02020603050405020304" pitchFamily="18" charset="0"/>
              </a:rPr>
              <a:t>Example 1: using</a:t>
            </a:r>
            <a:r>
              <a:rPr lang="en-IN" sz="3600" b="1" dirty="0" smtClean="0">
                <a:solidFill>
                  <a:srgbClr val="002060"/>
                </a:solidFill>
                <a:latin typeface="Times New Roman" panose="02020603050405020304" pitchFamily="18" charset="0"/>
                <a:cs typeface="Times New Roman" panose="02020603050405020304" pitchFamily="18" charset="0"/>
              </a:rPr>
              <a:t> </a:t>
            </a:r>
            <a:r>
              <a:rPr lang="en-IN" sz="3600" b="1" baseline="-25000" dirty="0" smtClean="0">
                <a:solidFill>
                  <a:srgbClr val="002060"/>
                </a:solidFill>
                <a:latin typeface="Times New Roman" panose="02020603050405020304" pitchFamily="18" charset="0"/>
                <a:cs typeface="Times New Roman" panose="02020603050405020304" pitchFamily="18" charset="0"/>
              </a:rPr>
              <a:t>Exhaustive </a:t>
            </a:r>
            <a:r>
              <a:rPr lang="en-IN" sz="3600" b="1" baseline="-25000" dirty="0">
                <a:solidFill>
                  <a:srgbClr val="002060"/>
                </a:solidFill>
                <a:latin typeface="Times New Roman" panose="02020603050405020304" pitchFamily="18" charset="0"/>
                <a:cs typeface="Times New Roman" panose="02020603050405020304" pitchFamily="18" charset="0"/>
              </a:rPr>
              <a:t>Search </a:t>
            </a:r>
            <a:r>
              <a:rPr lang="en-IN" sz="3600" b="1" baseline="-25000" dirty="0" smtClean="0">
                <a:solidFill>
                  <a:srgbClr val="002060"/>
                </a:solidFill>
                <a:latin typeface="Times New Roman" panose="02020603050405020304" pitchFamily="18" charset="0"/>
                <a:cs typeface="Times New Roman" panose="02020603050405020304" pitchFamily="18" charset="0"/>
              </a:rPr>
              <a:t>Find the optimal solution to the knapsack instance</a:t>
            </a:r>
            <a:r>
              <a:rPr lang="en-IN" sz="3600" b="1" dirty="0" smtClean="0">
                <a:solidFill>
                  <a:srgbClr val="002060"/>
                </a:solidFill>
                <a:latin typeface="Times New Roman" panose="02020603050405020304" pitchFamily="18" charset="0"/>
                <a:cs typeface="Times New Roman" panose="02020603050405020304" pitchFamily="18" charset="0"/>
              </a:rPr>
              <a:t> </a:t>
            </a:r>
          </a:p>
          <a:p>
            <a:pPr marL="0" indent="0" algn="just">
              <a:buNone/>
            </a:pPr>
            <a:r>
              <a:rPr lang="en-IN" sz="2000" b="1" dirty="0" smtClean="0">
                <a:solidFill>
                  <a:srgbClr val="002060"/>
                </a:solidFill>
                <a:latin typeface="Times New Roman" panose="02020603050405020304" pitchFamily="18" charset="0"/>
                <a:cs typeface="Times New Roman" panose="02020603050405020304" pitchFamily="18" charset="0"/>
              </a:rPr>
              <a:t>n=4, </a:t>
            </a:r>
            <a:r>
              <a:rPr lang="en-IN" sz="2000" b="1" dirty="0">
                <a:solidFill>
                  <a:srgbClr val="002060"/>
                </a:solidFill>
                <a:latin typeface="Times New Roman" panose="02020603050405020304" pitchFamily="18" charset="0"/>
                <a:cs typeface="Times New Roman" panose="02020603050405020304" pitchFamily="18" charset="0"/>
              </a:rPr>
              <a:t>m=20n=3, </a:t>
            </a:r>
            <a:r>
              <a:rPr lang="en-IN" sz="2000" b="1" dirty="0" smtClean="0">
                <a:solidFill>
                  <a:srgbClr val="002060"/>
                </a:solidFill>
                <a:latin typeface="Times New Roman" panose="02020603050405020304" pitchFamily="18" charset="0"/>
                <a:cs typeface="Times New Roman" panose="02020603050405020304" pitchFamily="18" charset="0"/>
              </a:rPr>
              <a:t>m=10</a:t>
            </a:r>
            <a:endParaRPr lang="en-IN" sz="2000" b="1" dirty="0">
              <a:solidFill>
                <a:srgbClr val="002060"/>
              </a:solidFill>
              <a:latin typeface="Times New Roman" panose="02020603050405020304" pitchFamily="18" charset="0"/>
              <a:cs typeface="Times New Roman" panose="02020603050405020304" pitchFamily="18" charset="0"/>
            </a:endParaRPr>
          </a:p>
          <a:p>
            <a:pPr marL="0" indent="0" algn="just">
              <a:buNone/>
            </a:pPr>
            <a:r>
              <a:rPr lang="en-IN" sz="2000" b="1" dirty="0">
                <a:solidFill>
                  <a:srgbClr val="002060"/>
                </a:solidFill>
                <a:latin typeface="Times New Roman" panose="02020603050405020304" pitchFamily="18" charset="0"/>
                <a:cs typeface="Times New Roman" panose="02020603050405020304" pitchFamily="18" charset="0"/>
              </a:rPr>
              <a:t>Profits (p</a:t>
            </a:r>
            <a:r>
              <a:rPr lang="en-IN" sz="2000" b="1" baseline="-25000" dirty="0">
                <a:solidFill>
                  <a:srgbClr val="002060"/>
                </a:solidFill>
                <a:latin typeface="Times New Roman" panose="02020603050405020304" pitchFamily="18" charset="0"/>
                <a:cs typeface="Times New Roman" panose="02020603050405020304" pitchFamily="18" charset="0"/>
              </a:rPr>
              <a:t>1</a:t>
            </a:r>
            <a:r>
              <a:rPr lang="en-IN" sz="2000" b="1" dirty="0">
                <a:solidFill>
                  <a:srgbClr val="002060"/>
                </a:solidFill>
                <a:latin typeface="Times New Roman" panose="02020603050405020304" pitchFamily="18" charset="0"/>
                <a:cs typeface="Times New Roman" panose="02020603050405020304" pitchFamily="18" charset="0"/>
              </a:rPr>
              <a:t>, p</a:t>
            </a:r>
            <a:r>
              <a:rPr lang="en-IN" sz="2000" b="1" baseline="-25000" dirty="0">
                <a:solidFill>
                  <a:srgbClr val="002060"/>
                </a:solidFill>
                <a:latin typeface="Times New Roman" panose="02020603050405020304" pitchFamily="18" charset="0"/>
                <a:cs typeface="Times New Roman" panose="02020603050405020304" pitchFamily="18" charset="0"/>
              </a:rPr>
              <a:t>2</a:t>
            </a:r>
            <a:r>
              <a:rPr lang="en-IN" sz="2000" b="1" dirty="0">
                <a:solidFill>
                  <a:srgbClr val="002060"/>
                </a:solidFill>
                <a:latin typeface="Times New Roman" panose="02020603050405020304" pitchFamily="18" charset="0"/>
                <a:cs typeface="Times New Roman" panose="02020603050405020304" pitchFamily="18" charset="0"/>
              </a:rPr>
              <a:t>, p</a:t>
            </a:r>
            <a:r>
              <a:rPr lang="en-IN" sz="2000" b="1" baseline="-25000" dirty="0">
                <a:solidFill>
                  <a:srgbClr val="002060"/>
                </a:solidFill>
                <a:latin typeface="Times New Roman" panose="02020603050405020304" pitchFamily="18" charset="0"/>
                <a:cs typeface="Times New Roman" panose="02020603050405020304" pitchFamily="18" charset="0"/>
              </a:rPr>
              <a:t>3</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(42, 12, 40, 25) </a:t>
            </a:r>
            <a:r>
              <a:rPr lang="en-IN" sz="2000" b="1" dirty="0">
                <a:solidFill>
                  <a:srgbClr val="002060"/>
                </a:solidFill>
                <a:latin typeface="Times New Roman" panose="02020603050405020304" pitchFamily="18" charset="0"/>
                <a:cs typeface="Times New Roman" panose="02020603050405020304" pitchFamily="18" charset="0"/>
              </a:rPr>
              <a:t>and </a:t>
            </a:r>
          </a:p>
          <a:p>
            <a:pPr marL="0" indent="0" algn="just">
              <a:buNone/>
            </a:pPr>
            <a:r>
              <a:rPr lang="en-IN" sz="2000" b="1" dirty="0">
                <a:solidFill>
                  <a:srgbClr val="002060"/>
                </a:solidFill>
                <a:latin typeface="Times New Roman" panose="02020603050405020304" pitchFamily="18" charset="0"/>
                <a:cs typeface="Times New Roman" panose="02020603050405020304" pitchFamily="18" charset="0"/>
              </a:rPr>
              <a:t>Weights (w</a:t>
            </a:r>
            <a:r>
              <a:rPr lang="en-IN" sz="2000" b="1" baseline="-25000" dirty="0">
                <a:solidFill>
                  <a:srgbClr val="002060"/>
                </a:solidFill>
                <a:latin typeface="Times New Roman" panose="02020603050405020304" pitchFamily="18" charset="0"/>
                <a:cs typeface="Times New Roman" panose="02020603050405020304" pitchFamily="18" charset="0"/>
              </a:rPr>
              <a:t>1</a:t>
            </a:r>
            <a:r>
              <a:rPr lang="en-IN" sz="2000" b="1" dirty="0">
                <a:solidFill>
                  <a:srgbClr val="002060"/>
                </a:solidFill>
                <a:latin typeface="Times New Roman" panose="02020603050405020304" pitchFamily="18" charset="0"/>
                <a:cs typeface="Times New Roman" panose="02020603050405020304" pitchFamily="18" charset="0"/>
              </a:rPr>
              <a:t>, w</a:t>
            </a:r>
            <a:r>
              <a:rPr lang="en-IN" sz="2000" b="1" baseline="-25000" dirty="0">
                <a:solidFill>
                  <a:srgbClr val="002060"/>
                </a:solidFill>
                <a:latin typeface="Times New Roman" panose="02020603050405020304" pitchFamily="18" charset="0"/>
                <a:cs typeface="Times New Roman" panose="02020603050405020304" pitchFamily="18" charset="0"/>
              </a:rPr>
              <a:t>2</a:t>
            </a:r>
            <a:r>
              <a:rPr lang="en-IN" sz="2000" b="1" dirty="0">
                <a:solidFill>
                  <a:srgbClr val="002060"/>
                </a:solidFill>
                <a:latin typeface="Times New Roman" panose="02020603050405020304" pitchFamily="18" charset="0"/>
                <a:cs typeface="Times New Roman" panose="02020603050405020304" pitchFamily="18" charset="0"/>
              </a:rPr>
              <a:t>, w</a:t>
            </a:r>
            <a:r>
              <a:rPr lang="en-IN" sz="2000" b="1" baseline="-25000" dirty="0">
                <a:solidFill>
                  <a:srgbClr val="002060"/>
                </a:solidFill>
                <a:latin typeface="Times New Roman" panose="02020603050405020304" pitchFamily="18" charset="0"/>
                <a:cs typeface="Times New Roman" panose="02020603050405020304" pitchFamily="18" charset="0"/>
              </a:rPr>
              <a:t>3</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(7, 3, 4, 5)</a:t>
            </a:r>
            <a:endParaRPr lang="en-IN" sz="2000" b="1" baseline="-25000" dirty="0">
              <a:solidFill>
                <a:srgbClr val="002060"/>
              </a:solidFill>
              <a:latin typeface="Times New Roman" panose="02020603050405020304" pitchFamily="18" charset="0"/>
              <a:cs typeface="Times New Roman" panose="02020603050405020304" pitchFamily="18" charset="0"/>
            </a:endParaRPr>
          </a:p>
          <a:p>
            <a:pPr marL="0" indent="0" algn="just">
              <a:buNone/>
            </a:pPr>
            <a:endParaRPr lang="en-IN" sz="2000" b="1" dirty="0" smtClean="0">
              <a:solidFill>
                <a:srgbClr val="002060"/>
              </a:solidFill>
              <a:latin typeface="Times New Roman" panose="02020603050405020304" pitchFamily="18" charset="0"/>
              <a:cs typeface="Times New Roman" panose="02020603050405020304" pitchFamily="18" charset="0"/>
            </a:endParaRPr>
          </a:p>
          <a:p>
            <a:pPr marL="0" indent="0" algn="just">
              <a:buNone/>
            </a:pPr>
            <a:endParaRPr lang="en-IN" sz="2400" b="1" baseline="-25000" dirty="0" smtClean="0">
              <a:solidFill>
                <a:srgbClr val="00B0F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0" y="-98921"/>
            <a:ext cx="699247" cy="668772"/>
          </a:xfrm>
          <a:prstGeom prst="rect">
            <a:avLst/>
          </a:prstGeom>
        </p:spPr>
      </p:pic>
      <p:pic>
        <p:nvPicPr>
          <p:cNvPr id="5" name="Picture 2" descr="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84697" y="0"/>
            <a:ext cx="768351" cy="768351"/>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6"/>
          <p:cNvSpPr>
            <a:spLocks noGrp="1"/>
          </p:cNvSpPr>
          <p:nvPr>
            <p:ph type="ftr" sz="quarter" idx="11"/>
          </p:nvPr>
        </p:nvSpPr>
        <p:spPr>
          <a:xfrm>
            <a:off x="838200" y="6311900"/>
            <a:ext cx="11031071"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180655315"/>
              </p:ext>
            </p:extLst>
          </p:nvPr>
        </p:nvGraphicFramePr>
        <p:xfrm>
          <a:off x="5506303" y="1454443"/>
          <a:ext cx="5450541" cy="4500880"/>
        </p:xfrm>
        <a:graphic>
          <a:graphicData uri="http://schemas.openxmlformats.org/drawingml/2006/table">
            <a:tbl>
              <a:tblPr firstRow="1" bandRow="1">
                <a:tableStyleId>{5C22544A-7EE6-4342-B048-85BDC9FD1C3A}</a:tableStyleId>
              </a:tblPr>
              <a:tblGrid>
                <a:gridCol w="1757082"/>
                <a:gridCol w="1846730"/>
                <a:gridCol w="1846729"/>
              </a:tblGrid>
              <a:tr h="370840">
                <a:tc>
                  <a:txBody>
                    <a:bodyPr/>
                    <a:lstStyle/>
                    <a:p>
                      <a:pPr marL="0" algn="l" defTabSz="914400" rtl="0" eaLnBrk="1" latinLnBrk="0" hangingPunct="1"/>
                      <a:r>
                        <a:rPr lang="en-IN" sz="1800" b="1" kern="1200" dirty="0" smtClean="0">
                          <a:solidFill>
                            <a:srgbClr val="C00000"/>
                          </a:solidFill>
                          <a:latin typeface="Times New Roman" panose="02020603050405020304" pitchFamily="18" charset="0"/>
                          <a:ea typeface="+mn-ea"/>
                          <a:cs typeface="Times New Roman" panose="02020603050405020304" pitchFamily="18" charset="0"/>
                        </a:rPr>
                        <a:t>Subset</a:t>
                      </a:r>
                      <a:endParaRPr lang="en-IN" sz="1800" b="1" kern="1200" dirty="0">
                        <a:solidFill>
                          <a:srgbClr val="C0000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2000" b="1" baseline="0" dirty="0" smtClean="0">
                          <a:solidFill>
                            <a:srgbClr val="002060"/>
                          </a:solidFill>
                          <a:latin typeface="Times New Roman" panose="02020603050405020304" pitchFamily="18" charset="0"/>
                          <a:cs typeface="Times New Roman" panose="02020603050405020304" pitchFamily="18" charset="0"/>
                        </a:rPr>
                        <a:t>Total weight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2000" b="1" baseline="0" dirty="0" smtClean="0">
                          <a:solidFill>
                            <a:srgbClr val="002060"/>
                          </a:solidFill>
                          <a:latin typeface="Times New Roman" panose="02020603050405020304" pitchFamily="18" charset="0"/>
                          <a:cs typeface="Times New Roman" panose="02020603050405020304" pitchFamily="18" charset="0"/>
                        </a:rPr>
                        <a:t>Total value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271732">
                <a:tc>
                  <a:txBody>
                    <a:bodyPr/>
                    <a:lstStyle/>
                    <a:p>
                      <a:r>
                        <a:rPr lang="en-IN" b="1" dirty="0" smtClean="0">
                          <a:solidFill>
                            <a:srgbClr val="C00000"/>
                          </a:solidFill>
                          <a:latin typeface="Times New Roman" panose="02020603050405020304" pitchFamily="18" charset="0"/>
                          <a:cs typeface="Times New Roman" panose="02020603050405020304" pitchFamily="18" charset="0"/>
                        </a:rPr>
                        <a:t>Null set</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0</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{1}</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42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{2}</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3</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12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{3}</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4</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40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{4}</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5</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25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{1, 2}</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10</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52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{1,3}</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11</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Not feasible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{1, 4}</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12</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Not feasible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{2,3}</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7</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52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{2, 4}</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8</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37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{3,4}</a:t>
                      </a:r>
                      <a:endParaRPr lang="en-IN" b="1" dirty="0">
                        <a:solidFill>
                          <a:srgbClr val="00206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002060"/>
                          </a:solidFill>
                          <a:latin typeface="Cambria Math" panose="02040503050406030204" pitchFamily="18" charset="0"/>
                          <a:ea typeface="+mn-ea"/>
                          <a:cs typeface="Times New Roman" panose="02020603050405020304" pitchFamily="18" charset="0"/>
                        </a:rPr>
                        <a:t>9</a:t>
                      </a:r>
                      <a:endParaRPr lang="en-IN" sz="1800" b="1" i="1" kern="1200" dirty="0">
                        <a:solidFill>
                          <a:srgbClr val="00206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b="1" dirty="0" smtClean="0">
                          <a:solidFill>
                            <a:srgbClr val="002060"/>
                          </a:solidFill>
                        </a:rPr>
                        <a:t>65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bl>
          </a:graphicData>
        </a:graphic>
      </p:graphicFrame>
      <p:sp>
        <p:nvSpPr>
          <p:cNvPr id="8" name="Date Placeholder 7"/>
          <p:cNvSpPr>
            <a:spLocks noGrp="1"/>
          </p:cNvSpPr>
          <p:nvPr>
            <p:ph type="dt" sz="half" idx="10"/>
          </p:nvPr>
        </p:nvSpPr>
        <p:spPr/>
        <p:txBody>
          <a:bodyPr/>
          <a:lstStyle/>
          <a:p>
            <a:fld id="{4AF99E07-62D9-49A2-BF04-A2A2DB2F7F62}" type="datetime1">
              <a:rPr lang="en-IN" smtClean="0"/>
              <a:t>21-03-2026</a:t>
            </a:fld>
            <a:endParaRPr lang="en-IN"/>
          </a:p>
        </p:txBody>
      </p:sp>
      <p:sp>
        <p:nvSpPr>
          <p:cNvPr id="9" name="Slide Number Placeholder 8"/>
          <p:cNvSpPr>
            <a:spLocks noGrp="1"/>
          </p:cNvSpPr>
          <p:nvPr>
            <p:ph type="sldNum" sz="quarter" idx="12"/>
          </p:nvPr>
        </p:nvSpPr>
        <p:spPr/>
        <p:txBody>
          <a:bodyPr/>
          <a:lstStyle/>
          <a:p>
            <a:fld id="{9DBF8153-9B6B-4F96-B9F5-FB4D5D4160F7}" type="slidenum">
              <a:rPr lang="en-IN" smtClean="0"/>
              <a:t>157</a:t>
            </a:fld>
            <a:endParaRPr lang="en-IN"/>
          </a:p>
        </p:txBody>
      </p:sp>
    </p:spTree>
    <p:extLst>
      <p:ext uri="{BB962C8B-B14F-4D97-AF65-F5344CB8AC3E}">
        <p14:creationId xmlns:p14="http://schemas.microsoft.com/office/powerpoint/2010/main" val="636212957"/>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097" y="114207"/>
            <a:ext cx="10515600" cy="652463"/>
          </a:xfrm>
        </p:spPr>
        <p:txBody>
          <a:bodyPr>
            <a:normAutofit/>
          </a:bodyPr>
          <a:lstStyle/>
          <a:p>
            <a:r>
              <a:rPr lang="en-IN" sz="2800" b="1" dirty="0">
                <a:solidFill>
                  <a:srgbClr val="C00000"/>
                </a:solidFill>
                <a:latin typeface="Times New Roman" panose="02020603050405020304" pitchFamily="18" charset="0"/>
                <a:cs typeface="Times New Roman" panose="02020603050405020304" pitchFamily="18" charset="0"/>
              </a:rPr>
              <a:t>MODULE 2 : </a:t>
            </a:r>
            <a:r>
              <a:rPr lang="en-IN" sz="3200" b="1" dirty="0">
                <a:solidFill>
                  <a:srgbClr val="C00000"/>
                </a:solidFill>
                <a:latin typeface="Times New Roman" panose="02020603050405020304" pitchFamily="18" charset="0"/>
                <a:cs typeface="Times New Roman" panose="02020603050405020304" pitchFamily="18" charset="0"/>
              </a:rPr>
              <a:t>Brute force </a:t>
            </a:r>
            <a:r>
              <a:rPr lang="en-IN" sz="3200" b="1" dirty="0">
                <a:solidFill>
                  <a:srgbClr val="002060"/>
                </a:solidFill>
                <a:latin typeface="Times New Roman" panose="02020603050405020304" pitchFamily="18" charset="0"/>
                <a:cs typeface="Times New Roman" panose="02020603050405020304" pitchFamily="18" charset="0"/>
              </a:rPr>
              <a:t>(Exhaustive Search)</a:t>
            </a:r>
            <a:endParaRPr lang="en-IN" sz="24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5164" y="766670"/>
            <a:ext cx="11967883" cy="5634130"/>
          </a:xfrm>
        </p:spPr>
        <p:txBody>
          <a:bodyPr>
            <a:normAutofit/>
          </a:bodyPr>
          <a:lstStyle/>
          <a:p>
            <a:pPr marL="0" indent="0" algn="just">
              <a:buNone/>
            </a:pPr>
            <a:r>
              <a:rPr lang="en-IN" sz="3600" b="1" baseline="-25000" dirty="0" smtClean="0">
                <a:solidFill>
                  <a:srgbClr val="002060"/>
                </a:solidFill>
                <a:latin typeface="Times New Roman" panose="02020603050405020304" pitchFamily="18" charset="0"/>
                <a:cs typeface="Times New Roman" panose="02020603050405020304" pitchFamily="18" charset="0"/>
              </a:rPr>
              <a:t>Example 1: using</a:t>
            </a:r>
            <a:r>
              <a:rPr lang="en-IN" sz="3600" b="1" dirty="0" smtClean="0">
                <a:solidFill>
                  <a:srgbClr val="002060"/>
                </a:solidFill>
                <a:latin typeface="Times New Roman" panose="02020603050405020304" pitchFamily="18" charset="0"/>
                <a:cs typeface="Times New Roman" panose="02020603050405020304" pitchFamily="18" charset="0"/>
              </a:rPr>
              <a:t> </a:t>
            </a:r>
            <a:r>
              <a:rPr lang="en-IN" sz="3600" b="1" baseline="-25000" dirty="0" smtClean="0">
                <a:solidFill>
                  <a:srgbClr val="002060"/>
                </a:solidFill>
                <a:latin typeface="Times New Roman" panose="02020603050405020304" pitchFamily="18" charset="0"/>
                <a:cs typeface="Times New Roman" panose="02020603050405020304" pitchFamily="18" charset="0"/>
              </a:rPr>
              <a:t>Exhaustive </a:t>
            </a:r>
            <a:r>
              <a:rPr lang="en-IN" sz="3600" b="1" baseline="-25000" dirty="0">
                <a:solidFill>
                  <a:srgbClr val="002060"/>
                </a:solidFill>
                <a:latin typeface="Times New Roman" panose="02020603050405020304" pitchFamily="18" charset="0"/>
                <a:cs typeface="Times New Roman" panose="02020603050405020304" pitchFamily="18" charset="0"/>
              </a:rPr>
              <a:t>Search </a:t>
            </a:r>
            <a:r>
              <a:rPr lang="en-IN" sz="3600" b="1" baseline="-25000" dirty="0" smtClean="0">
                <a:solidFill>
                  <a:srgbClr val="002060"/>
                </a:solidFill>
                <a:latin typeface="Times New Roman" panose="02020603050405020304" pitchFamily="18" charset="0"/>
                <a:cs typeface="Times New Roman" panose="02020603050405020304" pitchFamily="18" charset="0"/>
              </a:rPr>
              <a:t>Find the optimal solution to the knapsack instance</a:t>
            </a:r>
            <a:r>
              <a:rPr lang="en-IN" sz="3600" b="1" dirty="0" smtClean="0">
                <a:solidFill>
                  <a:srgbClr val="002060"/>
                </a:solidFill>
                <a:latin typeface="Times New Roman" panose="02020603050405020304" pitchFamily="18" charset="0"/>
                <a:cs typeface="Times New Roman" panose="02020603050405020304" pitchFamily="18" charset="0"/>
              </a:rPr>
              <a:t> </a:t>
            </a:r>
          </a:p>
          <a:p>
            <a:pPr marL="0" indent="0" algn="just">
              <a:buNone/>
            </a:pPr>
            <a:r>
              <a:rPr lang="en-IN" sz="2000" b="1" dirty="0" smtClean="0">
                <a:solidFill>
                  <a:srgbClr val="002060"/>
                </a:solidFill>
                <a:latin typeface="Times New Roman" panose="02020603050405020304" pitchFamily="18" charset="0"/>
                <a:cs typeface="Times New Roman" panose="02020603050405020304" pitchFamily="18" charset="0"/>
              </a:rPr>
              <a:t>n=4, </a:t>
            </a:r>
            <a:r>
              <a:rPr lang="en-IN" sz="2000" b="1" dirty="0">
                <a:solidFill>
                  <a:srgbClr val="002060"/>
                </a:solidFill>
                <a:latin typeface="Times New Roman" panose="02020603050405020304" pitchFamily="18" charset="0"/>
                <a:cs typeface="Times New Roman" panose="02020603050405020304" pitchFamily="18" charset="0"/>
              </a:rPr>
              <a:t>m=20n=3, </a:t>
            </a:r>
            <a:r>
              <a:rPr lang="en-IN" sz="2000" b="1" dirty="0" smtClean="0">
                <a:solidFill>
                  <a:srgbClr val="002060"/>
                </a:solidFill>
                <a:latin typeface="Times New Roman" panose="02020603050405020304" pitchFamily="18" charset="0"/>
                <a:cs typeface="Times New Roman" panose="02020603050405020304" pitchFamily="18" charset="0"/>
              </a:rPr>
              <a:t>m=10</a:t>
            </a:r>
            <a:endParaRPr lang="en-IN" sz="2000" b="1" dirty="0">
              <a:solidFill>
                <a:srgbClr val="002060"/>
              </a:solidFill>
              <a:latin typeface="Times New Roman" panose="02020603050405020304" pitchFamily="18" charset="0"/>
              <a:cs typeface="Times New Roman" panose="02020603050405020304" pitchFamily="18" charset="0"/>
            </a:endParaRPr>
          </a:p>
          <a:p>
            <a:pPr marL="0" indent="0" algn="just">
              <a:buNone/>
            </a:pPr>
            <a:r>
              <a:rPr lang="en-IN" sz="2000" b="1" dirty="0">
                <a:solidFill>
                  <a:srgbClr val="002060"/>
                </a:solidFill>
                <a:latin typeface="Times New Roman" panose="02020603050405020304" pitchFamily="18" charset="0"/>
                <a:cs typeface="Times New Roman" panose="02020603050405020304" pitchFamily="18" charset="0"/>
              </a:rPr>
              <a:t>Profits (p</a:t>
            </a:r>
            <a:r>
              <a:rPr lang="en-IN" sz="2000" b="1" baseline="-25000" dirty="0">
                <a:solidFill>
                  <a:srgbClr val="002060"/>
                </a:solidFill>
                <a:latin typeface="Times New Roman" panose="02020603050405020304" pitchFamily="18" charset="0"/>
                <a:cs typeface="Times New Roman" panose="02020603050405020304" pitchFamily="18" charset="0"/>
              </a:rPr>
              <a:t>1</a:t>
            </a:r>
            <a:r>
              <a:rPr lang="en-IN" sz="2000" b="1" dirty="0">
                <a:solidFill>
                  <a:srgbClr val="002060"/>
                </a:solidFill>
                <a:latin typeface="Times New Roman" panose="02020603050405020304" pitchFamily="18" charset="0"/>
                <a:cs typeface="Times New Roman" panose="02020603050405020304" pitchFamily="18" charset="0"/>
              </a:rPr>
              <a:t>, p</a:t>
            </a:r>
            <a:r>
              <a:rPr lang="en-IN" sz="2000" b="1" baseline="-25000" dirty="0">
                <a:solidFill>
                  <a:srgbClr val="002060"/>
                </a:solidFill>
                <a:latin typeface="Times New Roman" panose="02020603050405020304" pitchFamily="18" charset="0"/>
                <a:cs typeface="Times New Roman" panose="02020603050405020304" pitchFamily="18" charset="0"/>
              </a:rPr>
              <a:t>2</a:t>
            </a:r>
            <a:r>
              <a:rPr lang="en-IN" sz="2000" b="1" dirty="0">
                <a:solidFill>
                  <a:srgbClr val="002060"/>
                </a:solidFill>
                <a:latin typeface="Times New Roman" panose="02020603050405020304" pitchFamily="18" charset="0"/>
                <a:cs typeface="Times New Roman" panose="02020603050405020304" pitchFamily="18" charset="0"/>
              </a:rPr>
              <a:t>, p</a:t>
            </a:r>
            <a:r>
              <a:rPr lang="en-IN" sz="2000" b="1" baseline="-25000" dirty="0">
                <a:solidFill>
                  <a:srgbClr val="002060"/>
                </a:solidFill>
                <a:latin typeface="Times New Roman" panose="02020603050405020304" pitchFamily="18" charset="0"/>
                <a:cs typeface="Times New Roman" panose="02020603050405020304" pitchFamily="18" charset="0"/>
              </a:rPr>
              <a:t>3</a:t>
            </a:r>
            <a:r>
              <a:rPr lang="en-IN" sz="2000" b="1" dirty="0">
                <a:solidFill>
                  <a:srgbClr val="002060"/>
                </a:solidFill>
                <a:latin typeface="Times New Roman" panose="02020603050405020304" pitchFamily="18" charset="0"/>
                <a:cs typeface="Times New Roman" panose="02020603050405020304" pitchFamily="18" charset="0"/>
              </a:rPr>
              <a:t>) = </a:t>
            </a:r>
            <a:r>
              <a:rPr lang="en-IN" sz="2000" b="1" dirty="0" smtClean="0">
                <a:solidFill>
                  <a:srgbClr val="002060"/>
                </a:solidFill>
                <a:latin typeface="Times New Roman" panose="02020603050405020304" pitchFamily="18" charset="0"/>
                <a:cs typeface="Times New Roman" panose="02020603050405020304" pitchFamily="18" charset="0"/>
              </a:rPr>
              <a:t>(42, 12, 40, 25) </a:t>
            </a:r>
            <a:r>
              <a:rPr lang="en-IN" sz="2000" b="1" dirty="0">
                <a:solidFill>
                  <a:srgbClr val="002060"/>
                </a:solidFill>
                <a:latin typeface="Times New Roman" panose="02020603050405020304" pitchFamily="18" charset="0"/>
                <a:cs typeface="Times New Roman" panose="02020603050405020304" pitchFamily="18" charset="0"/>
              </a:rPr>
              <a:t>and </a:t>
            </a:r>
          </a:p>
          <a:p>
            <a:pPr marL="0" indent="0" algn="just">
              <a:buNone/>
            </a:pPr>
            <a:r>
              <a:rPr lang="en-IN" sz="2000" b="1" dirty="0">
                <a:solidFill>
                  <a:srgbClr val="002060"/>
                </a:solidFill>
                <a:latin typeface="Times New Roman" panose="02020603050405020304" pitchFamily="18" charset="0"/>
                <a:cs typeface="Times New Roman" panose="02020603050405020304" pitchFamily="18" charset="0"/>
              </a:rPr>
              <a:t>Weights (w</a:t>
            </a:r>
            <a:r>
              <a:rPr lang="en-IN" sz="2000" b="1" baseline="-25000" dirty="0">
                <a:solidFill>
                  <a:srgbClr val="002060"/>
                </a:solidFill>
                <a:latin typeface="Times New Roman" panose="02020603050405020304" pitchFamily="18" charset="0"/>
                <a:cs typeface="Times New Roman" panose="02020603050405020304" pitchFamily="18" charset="0"/>
              </a:rPr>
              <a:t>1</a:t>
            </a:r>
            <a:r>
              <a:rPr lang="en-IN" sz="2000" b="1" dirty="0">
                <a:solidFill>
                  <a:srgbClr val="002060"/>
                </a:solidFill>
                <a:latin typeface="Times New Roman" panose="02020603050405020304" pitchFamily="18" charset="0"/>
                <a:cs typeface="Times New Roman" panose="02020603050405020304" pitchFamily="18" charset="0"/>
              </a:rPr>
              <a:t>, w</a:t>
            </a:r>
            <a:r>
              <a:rPr lang="en-IN" sz="2000" b="1" baseline="-25000" dirty="0">
                <a:solidFill>
                  <a:srgbClr val="002060"/>
                </a:solidFill>
                <a:latin typeface="Times New Roman" panose="02020603050405020304" pitchFamily="18" charset="0"/>
                <a:cs typeface="Times New Roman" panose="02020603050405020304" pitchFamily="18" charset="0"/>
              </a:rPr>
              <a:t>2</a:t>
            </a:r>
            <a:r>
              <a:rPr lang="en-IN" sz="2000" b="1" dirty="0">
                <a:solidFill>
                  <a:srgbClr val="002060"/>
                </a:solidFill>
                <a:latin typeface="Times New Roman" panose="02020603050405020304" pitchFamily="18" charset="0"/>
                <a:cs typeface="Times New Roman" panose="02020603050405020304" pitchFamily="18" charset="0"/>
              </a:rPr>
              <a:t>, w</a:t>
            </a:r>
            <a:r>
              <a:rPr lang="en-IN" sz="2000" b="1" baseline="-25000" dirty="0">
                <a:solidFill>
                  <a:srgbClr val="002060"/>
                </a:solidFill>
                <a:latin typeface="Times New Roman" panose="02020603050405020304" pitchFamily="18" charset="0"/>
                <a:cs typeface="Times New Roman" panose="02020603050405020304" pitchFamily="18" charset="0"/>
              </a:rPr>
              <a:t>3</a:t>
            </a:r>
            <a:r>
              <a:rPr lang="en-IN" sz="2000" b="1" dirty="0">
                <a:solidFill>
                  <a:srgbClr val="002060"/>
                </a:solidFill>
                <a:latin typeface="Times New Roman" panose="02020603050405020304" pitchFamily="18" charset="0"/>
                <a:cs typeface="Times New Roman" panose="02020603050405020304" pitchFamily="18" charset="0"/>
              </a:rPr>
              <a:t> ) = </a:t>
            </a:r>
            <a:r>
              <a:rPr lang="en-IN" sz="2000" b="1" dirty="0" smtClean="0">
                <a:solidFill>
                  <a:srgbClr val="002060"/>
                </a:solidFill>
                <a:latin typeface="Times New Roman" panose="02020603050405020304" pitchFamily="18" charset="0"/>
                <a:cs typeface="Times New Roman" panose="02020603050405020304" pitchFamily="18" charset="0"/>
              </a:rPr>
              <a:t>(7, 3, 4, 5)</a:t>
            </a:r>
            <a:endParaRPr lang="en-IN" sz="2000" b="1" baseline="-25000" dirty="0">
              <a:solidFill>
                <a:srgbClr val="002060"/>
              </a:solidFill>
              <a:latin typeface="Times New Roman" panose="02020603050405020304" pitchFamily="18" charset="0"/>
              <a:cs typeface="Times New Roman" panose="02020603050405020304" pitchFamily="18" charset="0"/>
            </a:endParaRPr>
          </a:p>
          <a:p>
            <a:pPr marL="0" indent="0" algn="just">
              <a:buNone/>
            </a:pPr>
            <a:endParaRPr lang="en-IN" sz="2000" b="1" dirty="0" smtClean="0">
              <a:solidFill>
                <a:srgbClr val="002060"/>
              </a:solidFill>
              <a:latin typeface="Times New Roman" panose="02020603050405020304" pitchFamily="18" charset="0"/>
              <a:cs typeface="Times New Roman" panose="02020603050405020304" pitchFamily="18" charset="0"/>
            </a:endParaRPr>
          </a:p>
          <a:p>
            <a:pPr marL="0" indent="0" algn="just">
              <a:buNone/>
            </a:pPr>
            <a:endParaRPr lang="en-IN" sz="2400" b="1" baseline="-25000" dirty="0" smtClean="0">
              <a:solidFill>
                <a:srgbClr val="00B0F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0" y="-98921"/>
            <a:ext cx="699247" cy="668772"/>
          </a:xfrm>
          <a:prstGeom prst="rect">
            <a:avLst/>
          </a:prstGeom>
        </p:spPr>
      </p:pic>
      <p:pic>
        <p:nvPicPr>
          <p:cNvPr id="5" name="Picture 2" descr="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84697" y="0"/>
            <a:ext cx="768351" cy="768351"/>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6"/>
          <p:cNvSpPr>
            <a:spLocks noGrp="1"/>
          </p:cNvSpPr>
          <p:nvPr>
            <p:ph type="ftr" sz="quarter" idx="11"/>
          </p:nvPr>
        </p:nvSpPr>
        <p:spPr>
          <a:xfrm>
            <a:off x="838200" y="6311900"/>
            <a:ext cx="11031071"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499099631"/>
              </p:ext>
            </p:extLst>
          </p:nvPr>
        </p:nvGraphicFramePr>
        <p:xfrm>
          <a:off x="5506303" y="1454443"/>
          <a:ext cx="5450541" cy="4500880"/>
        </p:xfrm>
        <a:graphic>
          <a:graphicData uri="http://schemas.openxmlformats.org/drawingml/2006/table">
            <a:tbl>
              <a:tblPr firstRow="1" bandRow="1">
                <a:tableStyleId>{5C22544A-7EE6-4342-B048-85BDC9FD1C3A}</a:tableStyleId>
              </a:tblPr>
              <a:tblGrid>
                <a:gridCol w="1757082"/>
                <a:gridCol w="1846730"/>
                <a:gridCol w="1846729"/>
              </a:tblGrid>
              <a:tr h="370840">
                <a:tc>
                  <a:txBody>
                    <a:bodyPr/>
                    <a:lstStyle/>
                    <a:p>
                      <a:pPr marL="0" algn="l" defTabSz="914400" rtl="0" eaLnBrk="1" latinLnBrk="0" hangingPunct="1"/>
                      <a:r>
                        <a:rPr lang="en-IN" sz="1800" b="1" kern="1200" dirty="0" smtClean="0">
                          <a:solidFill>
                            <a:srgbClr val="C00000"/>
                          </a:solidFill>
                          <a:latin typeface="Times New Roman" panose="02020603050405020304" pitchFamily="18" charset="0"/>
                          <a:ea typeface="+mn-ea"/>
                          <a:cs typeface="Times New Roman" panose="02020603050405020304" pitchFamily="18" charset="0"/>
                        </a:rPr>
                        <a:t>Subset</a:t>
                      </a:r>
                      <a:endParaRPr lang="en-IN" sz="1800" b="1" kern="1200" dirty="0">
                        <a:solidFill>
                          <a:srgbClr val="C0000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2000" b="1" baseline="0" dirty="0" smtClean="0">
                          <a:solidFill>
                            <a:srgbClr val="002060"/>
                          </a:solidFill>
                          <a:latin typeface="Times New Roman" panose="02020603050405020304" pitchFamily="18" charset="0"/>
                          <a:cs typeface="Times New Roman" panose="02020603050405020304" pitchFamily="18" charset="0"/>
                        </a:rPr>
                        <a:t>Total weight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2000" b="1" baseline="0" dirty="0" smtClean="0">
                          <a:solidFill>
                            <a:srgbClr val="002060"/>
                          </a:solidFill>
                          <a:latin typeface="Times New Roman" panose="02020603050405020304" pitchFamily="18" charset="0"/>
                          <a:cs typeface="Times New Roman" panose="02020603050405020304" pitchFamily="18" charset="0"/>
                        </a:rPr>
                        <a:t>Total value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271732">
                <a:tc>
                  <a:txBody>
                    <a:bodyPr/>
                    <a:lstStyle/>
                    <a:p>
                      <a:r>
                        <a:rPr lang="en-IN" b="1" dirty="0" smtClean="0">
                          <a:solidFill>
                            <a:srgbClr val="C00000"/>
                          </a:solidFill>
                          <a:latin typeface="Times New Roman" panose="02020603050405020304" pitchFamily="18" charset="0"/>
                          <a:cs typeface="Times New Roman" panose="02020603050405020304" pitchFamily="18" charset="0"/>
                        </a:rPr>
                        <a:t>Null set</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2000" b="1" kern="1200" dirty="0" smtClean="0">
                          <a:solidFill>
                            <a:srgbClr val="002060"/>
                          </a:solidFill>
                          <a:latin typeface="Times New Roman" panose="02020603050405020304" pitchFamily="18" charset="0"/>
                          <a:ea typeface="+mn-ea"/>
                          <a:cs typeface="Times New Roman" panose="02020603050405020304" pitchFamily="18" charset="0"/>
                        </a:rPr>
                        <a:t>0</a:t>
                      </a:r>
                      <a:endParaRPr lang="en-IN" sz="2000" b="1" kern="1200" dirty="0">
                        <a:solidFill>
                          <a:srgbClr val="00206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{1}</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42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{2}</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3</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12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{3}</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4</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40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4}</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5</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25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{1, 2}</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10</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52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{1,3}</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11</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Not feasible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{1, 4}</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12</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Not feasible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{2,3}</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7</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52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C00000"/>
                          </a:solidFill>
                          <a:latin typeface="Times New Roman" panose="02020603050405020304" pitchFamily="18" charset="0"/>
                          <a:cs typeface="Times New Roman" panose="02020603050405020304" pitchFamily="18" charset="0"/>
                        </a:rPr>
                        <a:t>{2, 4}</a:t>
                      </a:r>
                      <a:endParaRPr lang="en-IN"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C00000"/>
                          </a:solidFill>
                          <a:latin typeface="Cambria Math" panose="02040503050406030204" pitchFamily="18" charset="0"/>
                          <a:ea typeface="+mn-ea"/>
                          <a:cs typeface="Times New Roman" panose="02020603050405020304" pitchFamily="18" charset="0"/>
                        </a:rPr>
                        <a:t>8</a:t>
                      </a:r>
                      <a:endParaRPr lang="en-IN" sz="1800" b="1" i="1" kern="1200" dirty="0">
                        <a:solidFill>
                          <a:srgbClr val="C0000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dirty="0" smtClean="0"/>
                        <a:t>37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70840">
                <a:tc>
                  <a:txBody>
                    <a:bodyPr/>
                    <a:lstStyle/>
                    <a:p>
                      <a:r>
                        <a:rPr lang="en-IN" b="1" dirty="0" smtClean="0">
                          <a:solidFill>
                            <a:srgbClr val="002060"/>
                          </a:solidFill>
                          <a:latin typeface="Times New Roman" panose="02020603050405020304" pitchFamily="18" charset="0"/>
                          <a:cs typeface="Times New Roman" panose="02020603050405020304" pitchFamily="18" charset="0"/>
                        </a:rPr>
                        <a:t>{3,4}</a:t>
                      </a:r>
                      <a:endParaRPr lang="en-IN" b="1" dirty="0">
                        <a:solidFill>
                          <a:srgbClr val="00206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sz="1800" b="1" i="1" kern="1200" dirty="0" smtClean="0">
                          <a:solidFill>
                            <a:srgbClr val="002060"/>
                          </a:solidFill>
                          <a:latin typeface="Cambria Math" panose="02040503050406030204" pitchFamily="18" charset="0"/>
                          <a:ea typeface="+mn-ea"/>
                          <a:cs typeface="Times New Roman" panose="02020603050405020304" pitchFamily="18" charset="0"/>
                        </a:rPr>
                        <a:t>9</a:t>
                      </a:r>
                      <a:endParaRPr lang="en-IN" sz="1800" b="1" i="1" kern="1200" dirty="0">
                        <a:solidFill>
                          <a:srgbClr val="002060"/>
                        </a:solidFill>
                        <a:latin typeface="Cambria Math" panose="020405030504060302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IN" b="1" dirty="0" smtClean="0">
                          <a:solidFill>
                            <a:srgbClr val="002060"/>
                          </a:solidFill>
                        </a:rPr>
                        <a:t>65</a:t>
                      </a:r>
                      <a:endParaRPr lang="en-IN"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bl>
          </a:graphicData>
        </a:graphic>
      </p:graphicFrame>
      <p:sp>
        <p:nvSpPr>
          <p:cNvPr id="8" name="Date Placeholder 7"/>
          <p:cNvSpPr>
            <a:spLocks noGrp="1"/>
          </p:cNvSpPr>
          <p:nvPr>
            <p:ph type="dt" sz="half" idx="10"/>
          </p:nvPr>
        </p:nvSpPr>
        <p:spPr/>
        <p:txBody>
          <a:bodyPr/>
          <a:lstStyle/>
          <a:p>
            <a:fld id="{4E8CD45F-9D73-443D-ADC8-AB87F360E260}" type="datetime1">
              <a:rPr lang="en-IN" smtClean="0"/>
              <a:t>21-03-2026</a:t>
            </a:fld>
            <a:endParaRPr lang="en-IN"/>
          </a:p>
        </p:txBody>
      </p:sp>
      <p:sp>
        <p:nvSpPr>
          <p:cNvPr id="9" name="Slide Number Placeholder 8"/>
          <p:cNvSpPr>
            <a:spLocks noGrp="1"/>
          </p:cNvSpPr>
          <p:nvPr>
            <p:ph type="sldNum" sz="quarter" idx="12"/>
          </p:nvPr>
        </p:nvSpPr>
        <p:spPr/>
        <p:txBody>
          <a:bodyPr/>
          <a:lstStyle/>
          <a:p>
            <a:fld id="{9DBF8153-9B6B-4F96-B9F5-FB4D5D4160F7}" type="slidenum">
              <a:rPr lang="en-IN" smtClean="0"/>
              <a:t>158</a:t>
            </a:fld>
            <a:endParaRPr lang="en-IN"/>
          </a:p>
        </p:txBody>
      </p:sp>
    </p:spTree>
    <p:extLst>
      <p:ext uri="{BB962C8B-B14F-4D97-AF65-F5344CB8AC3E}">
        <p14:creationId xmlns:p14="http://schemas.microsoft.com/office/powerpoint/2010/main" val="8093938"/>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097" y="114207"/>
            <a:ext cx="10515600" cy="652463"/>
          </a:xfrm>
        </p:spPr>
        <p:txBody>
          <a:bodyPr>
            <a:normAutofit/>
          </a:bodyPr>
          <a:lstStyle/>
          <a:p>
            <a:r>
              <a:rPr lang="en-IN" sz="2800" b="1" dirty="0">
                <a:solidFill>
                  <a:srgbClr val="C00000"/>
                </a:solidFill>
                <a:latin typeface="Times New Roman" panose="02020603050405020304" pitchFamily="18" charset="0"/>
                <a:cs typeface="Times New Roman" panose="02020603050405020304" pitchFamily="18" charset="0"/>
              </a:rPr>
              <a:t>MODULE 2 : </a:t>
            </a:r>
            <a:r>
              <a:rPr lang="en-IN" sz="3200" b="1" dirty="0">
                <a:solidFill>
                  <a:srgbClr val="C00000"/>
                </a:solidFill>
                <a:latin typeface="Times New Roman" panose="02020603050405020304" pitchFamily="18" charset="0"/>
                <a:cs typeface="Times New Roman" panose="02020603050405020304" pitchFamily="18" charset="0"/>
              </a:rPr>
              <a:t>Brute force </a:t>
            </a:r>
            <a:r>
              <a:rPr lang="en-IN" sz="3200" b="1" dirty="0">
                <a:solidFill>
                  <a:srgbClr val="002060"/>
                </a:solidFill>
                <a:latin typeface="Times New Roman" panose="02020603050405020304" pitchFamily="18" charset="0"/>
                <a:cs typeface="Times New Roman" panose="02020603050405020304" pitchFamily="18" charset="0"/>
              </a:rPr>
              <a:t>(Exhaustive Search)</a:t>
            </a:r>
            <a:endParaRPr lang="en-IN" sz="24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5164" y="766670"/>
            <a:ext cx="11967883" cy="5634130"/>
          </a:xfrm>
        </p:spPr>
        <p:txBody>
          <a:bodyPr>
            <a:normAutofit/>
          </a:bodyPr>
          <a:lstStyle/>
          <a:p>
            <a:pPr marL="0" indent="0" algn="just">
              <a:buNone/>
            </a:pPr>
            <a:r>
              <a:rPr lang="en-IN" sz="2000" b="1" dirty="0">
                <a:solidFill>
                  <a:srgbClr val="002060"/>
                </a:solidFill>
                <a:latin typeface="Times New Roman" panose="02020603050405020304" pitchFamily="18" charset="0"/>
                <a:cs typeface="Times New Roman" panose="02020603050405020304" pitchFamily="18" charset="0"/>
              </a:rPr>
              <a:t>Travelling salesmen </a:t>
            </a:r>
            <a:r>
              <a:rPr lang="en-IN" sz="2000" b="1" dirty="0" smtClean="0">
                <a:solidFill>
                  <a:srgbClr val="002060"/>
                </a:solidFill>
                <a:latin typeface="Times New Roman" panose="02020603050405020304" pitchFamily="18" charset="0"/>
                <a:cs typeface="Times New Roman" panose="02020603050405020304" pitchFamily="18" charset="0"/>
              </a:rPr>
              <a:t>problem (TSP)</a:t>
            </a:r>
          </a:p>
          <a:p>
            <a:pPr marL="0" indent="0" algn="just">
              <a:buNone/>
            </a:pPr>
            <a:endParaRPr lang="en-IN" sz="2000" b="1" dirty="0">
              <a:solidFill>
                <a:srgbClr val="002060"/>
              </a:solidFill>
              <a:latin typeface="Times New Roman" panose="02020603050405020304" pitchFamily="18" charset="0"/>
              <a:cs typeface="Times New Roman" panose="02020603050405020304" pitchFamily="18" charset="0"/>
            </a:endParaRPr>
          </a:p>
          <a:p>
            <a:pPr marL="0" indent="0" algn="just">
              <a:buNone/>
            </a:pPr>
            <a:endParaRPr lang="en-IN" sz="2000" b="1" dirty="0" smtClean="0">
              <a:solidFill>
                <a:srgbClr val="002060"/>
              </a:solidFill>
              <a:latin typeface="Times New Roman" panose="02020603050405020304" pitchFamily="18" charset="0"/>
              <a:cs typeface="Times New Roman" panose="02020603050405020304" pitchFamily="18" charset="0"/>
            </a:endParaRPr>
          </a:p>
          <a:p>
            <a:pPr marL="0" indent="0" algn="just">
              <a:buNone/>
            </a:pPr>
            <a:endParaRPr lang="en-IN" sz="2400" b="1" baseline="-25000" dirty="0" smtClean="0">
              <a:solidFill>
                <a:srgbClr val="00B0F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0" y="-98921"/>
            <a:ext cx="699247" cy="668772"/>
          </a:xfrm>
          <a:prstGeom prst="rect">
            <a:avLst/>
          </a:prstGeom>
        </p:spPr>
      </p:pic>
      <p:pic>
        <p:nvPicPr>
          <p:cNvPr id="5" name="Picture 2" descr="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84697" y="0"/>
            <a:ext cx="768351" cy="768351"/>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6"/>
          <p:cNvSpPr>
            <a:spLocks noGrp="1"/>
          </p:cNvSpPr>
          <p:nvPr>
            <p:ph type="ftr" sz="quarter" idx="11"/>
          </p:nvPr>
        </p:nvSpPr>
        <p:spPr>
          <a:xfrm>
            <a:off x="838200" y="6311900"/>
            <a:ext cx="11031071" cy="365125"/>
          </a:xfrm>
        </p:spPr>
        <p:txBody>
          <a:bodyPr/>
          <a:lstStyle/>
          <a:p>
            <a:pPr algn="just"/>
            <a:r>
              <a:rPr lang="en-IN" sz="1600" b="1" smtClean="0">
                <a:solidFill>
                  <a:srgbClr val="C00000"/>
                </a:solidFill>
                <a:latin typeface="Times New Roman" panose="02020603050405020304" pitchFamily="18" charset="0"/>
                <a:cs typeface="Times New Roman" panose="02020603050405020304" pitchFamily="18" charset="0"/>
              </a:rPr>
              <a:t>Dr. Vijayalaxmi Mekali, Professor, Dept of CSE, KSIT</a:t>
            </a:r>
            <a:endParaRPr lang="en-IN" sz="1400" b="1" dirty="0">
              <a:solidFill>
                <a:srgbClr val="C00000"/>
              </a:solidFill>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1707" y="1048623"/>
            <a:ext cx="4477679" cy="5285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Date Placeholder 6"/>
          <p:cNvSpPr>
            <a:spLocks noGrp="1"/>
          </p:cNvSpPr>
          <p:nvPr>
            <p:ph type="dt" sz="half" idx="10"/>
          </p:nvPr>
        </p:nvSpPr>
        <p:spPr/>
        <p:txBody>
          <a:bodyPr/>
          <a:lstStyle/>
          <a:p>
            <a:fld id="{CB9DBAC7-408B-4002-969F-8FD1C689ED62}" type="datetime1">
              <a:rPr lang="en-IN" smtClean="0"/>
              <a:t>21-03-2026</a:t>
            </a:fld>
            <a:endParaRPr lang="en-IN"/>
          </a:p>
        </p:txBody>
      </p:sp>
      <p:sp>
        <p:nvSpPr>
          <p:cNvPr id="8" name="Slide Number Placeholder 7"/>
          <p:cNvSpPr>
            <a:spLocks noGrp="1"/>
          </p:cNvSpPr>
          <p:nvPr>
            <p:ph type="sldNum" sz="quarter" idx="12"/>
          </p:nvPr>
        </p:nvSpPr>
        <p:spPr/>
        <p:txBody>
          <a:bodyPr/>
          <a:lstStyle/>
          <a:p>
            <a:fld id="{9DBF8153-9B6B-4F96-B9F5-FB4D5D4160F7}" type="slidenum">
              <a:rPr lang="en-IN" smtClean="0"/>
              <a:t>159</a:t>
            </a:fld>
            <a:endParaRPr lang="en-IN"/>
          </a:p>
        </p:txBody>
      </p:sp>
    </p:spTree>
    <p:extLst>
      <p:ext uri="{BB962C8B-B14F-4D97-AF65-F5344CB8AC3E}">
        <p14:creationId xmlns:p14="http://schemas.microsoft.com/office/powerpoint/2010/main" val="380903779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24649</TotalTime>
  <Words>20014</Words>
  <Application>Microsoft Office PowerPoint</Application>
  <PresentationFormat>Custom</PresentationFormat>
  <Paragraphs>4860</Paragraphs>
  <Slides>159</Slides>
  <Notes>154</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159</vt:i4>
      </vt:variant>
    </vt:vector>
  </HeadingPairs>
  <TitlesOfParts>
    <vt:vector size="161" baseType="lpstr">
      <vt:lpstr>Office Theme</vt:lpstr>
      <vt:lpstr>Bitmap Image</vt:lpstr>
      <vt:lpstr>K. S. Institute of Technology Department of Computer Science and Engineering</vt:lpstr>
      <vt:lpstr>     MODULE 2 : Exhaustive Search</vt:lpstr>
      <vt:lpstr>     MODULE 2 : Exhaustive Search</vt:lpstr>
      <vt:lpstr>       MODULE 2 : Exhaustive Search</vt:lpstr>
      <vt:lpstr>       MODULE 2 : Exhaustive Search</vt:lpstr>
      <vt:lpstr>     MODULE 2 : Exhaustive Search</vt:lpstr>
      <vt:lpstr>       MODULE 2 : Exhaustive Search</vt:lpstr>
      <vt:lpstr>     Analysis and Design and of Algorithm - BCS401  MODULE 2 : DIVIDE AND CONQUER</vt:lpstr>
      <vt:lpstr>     MODULE 2 : DIVIDE AND CONQUER- Introduction</vt:lpstr>
      <vt:lpstr>    MODULE 2 : DIVIDE AND CONQUER- Introduction  </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Introduction</vt:lpstr>
      <vt:lpstr>     MODULE 2 : DIVIDE AND CONQUER- Merge sort</vt:lpstr>
      <vt:lpstr>     MODULE 2 : DIVIDE AND CONQUER- Merge sort</vt:lpstr>
      <vt:lpstr>     MODULE 2 : DIVIDE AND CONQUER- Merge sort</vt:lpstr>
      <vt:lpstr>     MODULE 2 : DIVIDE AND CONQUER- Merge sort</vt:lpstr>
      <vt:lpstr>     MODULE 2 : DIVIDE AND CONQUER- Merge sort</vt:lpstr>
      <vt:lpstr>     MODULE 2 : DIVIDE AND CONQUER- Merge sort</vt:lpstr>
      <vt:lpstr>     MODULE 2 : DIVIDE AND CONQUER- Merge sort</vt:lpstr>
      <vt:lpstr>     MODULE 2 : DIVIDE AND CONQUER- Merge sort</vt:lpstr>
      <vt:lpstr>     MODULE 2 : DIVIDE AND CONQUER- Merge sort</vt:lpstr>
      <vt:lpstr>     MODULE 2 : DIVIDE AND CONQUER- Merge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Merge sort</vt:lpstr>
      <vt:lpstr>     MODULE 2 : DIVIDE AND CONQUER- Merge sort</vt:lpstr>
      <vt:lpstr>     MODULE 2 : DIVIDE AND CONQUER- Quick sort</vt:lpstr>
      <vt:lpstr>     MODULE 2 : DIVIDE AND CONQUER- Merge sort</vt:lpstr>
      <vt:lpstr>     MODULE 2 : DIVIDE AND CONQUER- Quick sort</vt:lpstr>
      <vt:lpstr>     MODULE 2 : DIVIDE AND CONQUER- Merge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Quick sort</vt:lpstr>
      <vt:lpstr>     MODULE 2 : DIVIDE AND CONQUER- Max-Min algorithm</vt:lpstr>
      <vt:lpstr>     MODULE 2 : DIVIDE AND CONQUER- Max-Min algorithm</vt:lpstr>
      <vt:lpstr>     MODULE 2 : DIVIDE AND CONQUER- Max-Min algorithm</vt:lpstr>
      <vt:lpstr>     MODULE 2 : DIVIDE AND CONQUER- Maxmin algorithm </vt:lpstr>
      <vt:lpstr>     MODULE 2 : DIVIDE AND CONQUER- Maxmin algorithm </vt:lpstr>
      <vt:lpstr>     MODULE 2 : DIVIDE AND CONQUER- Maxmin algorithm </vt:lpstr>
      <vt:lpstr>     MODULE 2 : DIVIDE AND CONQUER- Maxmin algorithm </vt:lpstr>
      <vt:lpstr>     MODULE 2 : DIVIDE AND CONQUER- Merge sort</vt:lpstr>
      <vt:lpstr>     MODULE 2 : DIVIDE AND CONQUER- Quick sort</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Strassens Matrix Multiplication </vt:lpstr>
      <vt:lpstr>     MODULE 2 : DIVIDE AND CONQUER- Decrease and Conquer</vt:lpstr>
      <vt:lpstr>     MODULE 2 : DIVIDE AND CONQUER- Decrease and Conquer</vt:lpstr>
      <vt:lpstr>     MODULE 2 : DIVIDE AND CONQUER- Decrease and Conquer</vt:lpstr>
      <vt:lpstr>     MODULE 2 : DIVIDE AND CONQUER- Decrease and Conquer</vt:lpstr>
      <vt:lpstr>     MODULE 2 : DIVIDE AND CONQUER- Decrease and Conquer</vt:lpstr>
      <vt:lpstr>     MODULE 2 : DIVIDE AND CONQUER- Decrease and Conquer</vt:lpstr>
      <vt:lpstr>     MODULE 2 : DIVIDE AND CONQUER- Decrease and Conquer</vt:lpstr>
      <vt:lpstr>     MODULE 2 : Decrease and Conquer</vt:lpstr>
      <vt:lpstr>     MODULE 2 : Decrease and Conquer</vt:lpstr>
      <vt:lpstr>     MODULE 2 : Decrease and Conquer</vt:lpstr>
      <vt:lpstr>     MODULE 2 : Decrease and Conquer</vt:lpstr>
      <vt:lpstr>     MODULE 2 : Decrease and Conquer</vt:lpstr>
      <vt:lpstr>     MODULE 2 : Decrease and Conquer</vt:lpstr>
      <vt:lpstr>     MODULE 2 : DIVIDE AND CONQUER- Decrease and Conquer                     (Topological sorting)</vt:lpstr>
      <vt:lpstr>     MODULE 2 : DIVIDE AND CONQUER- Decrease and Conquer                     (Topological sorting)</vt:lpstr>
      <vt:lpstr>     MODULE 2 : DIVIDE AND CONQUER- Decrease and Conquer                     (Topological sorting)</vt:lpstr>
      <vt:lpstr>     MODULE 2 : Decrease and Conquer   (Topological sorting)           </vt:lpstr>
      <vt:lpstr>PowerPoint Presentation</vt:lpstr>
      <vt:lpstr>PowerPoint Presentation</vt:lpstr>
      <vt:lpstr>PowerPoint Presentation</vt:lpstr>
      <vt:lpstr>PowerPoint Presentation</vt:lpstr>
      <vt:lpstr>     MODULE 2 : Decrease and Conquer  (Topological sorting)               </vt:lpstr>
      <vt:lpstr>PowerPoint Presentation</vt:lpstr>
      <vt:lpstr>PowerPoint Presentation</vt:lpstr>
      <vt:lpstr>     MODULE 2 : Decrease and Conquer  (Topological sorting)               </vt:lpstr>
      <vt:lpstr>PowerPoint Presentation</vt:lpstr>
      <vt:lpstr>     MODULE 2 : Decrease and Conquer   (Topological sorting)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MODULE 2 : Decrease and Conquer   (Topological sorting)           </vt:lpstr>
      <vt:lpstr>PowerPoint Presentation</vt:lpstr>
      <vt:lpstr>MODULE 2 : Brute force (Exhaustive Search)</vt:lpstr>
      <vt:lpstr>MODULE 2 : Brute force (Exhaustive Search)</vt:lpstr>
      <vt:lpstr>MODULE 2 : Brute force (Exhaustive Search)</vt:lpstr>
      <vt:lpstr>MODULE 2 : Brute force (Exhaustive Search)</vt:lpstr>
      <vt:lpstr>MODULE 2 : Brute force (Exhaustive Search)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 S. Institute of Technology Department of Computer Science and Engineering</dc:title>
  <dc:creator>Bharath</dc:creator>
  <cp:lastModifiedBy>Dr.Vijayalakshmi</cp:lastModifiedBy>
  <cp:revision>343</cp:revision>
  <dcterms:created xsi:type="dcterms:W3CDTF">2021-05-07T15:17:00Z</dcterms:created>
  <dcterms:modified xsi:type="dcterms:W3CDTF">2026-03-21T18:53:14Z</dcterms:modified>
</cp:coreProperties>
</file>